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7"/>
  </p:notesMasterIdLst>
  <p:sldIdLst>
    <p:sldId id="335" r:id="rId2"/>
    <p:sldId id="273" r:id="rId3"/>
    <p:sldId id="361" r:id="rId4"/>
    <p:sldId id="362" r:id="rId5"/>
    <p:sldId id="363" r:id="rId6"/>
    <p:sldId id="364" r:id="rId7"/>
    <p:sldId id="365" r:id="rId8"/>
    <p:sldId id="369" r:id="rId9"/>
    <p:sldId id="370" r:id="rId10"/>
    <p:sldId id="367" r:id="rId11"/>
    <p:sldId id="355" r:id="rId12"/>
    <p:sldId id="376" r:id="rId13"/>
    <p:sldId id="368" r:id="rId14"/>
    <p:sldId id="372" r:id="rId15"/>
    <p:sldId id="373" r:id="rId16"/>
    <p:sldId id="374" r:id="rId17"/>
    <p:sldId id="318" r:id="rId18"/>
    <p:sldId id="322" r:id="rId19"/>
    <p:sldId id="366" r:id="rId20"/>
    <p:sldId id="350" r:id="rId21"/>
    <p:sldId id="351" r:id="rId22"/>
    <p:sldId id="359" r:id="rId23"/>
    <p:sldId id="337" r:id="rId24"/>
    <p:sldId id="360" r:id="rId25"/>
    <p:sldId id="371"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5">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99"/>
    <a:srgbClr val="045C19"/>
    <a:srgbClr val="FFFFFF"/>
    <a:srgbClr val="EF8004"/>
    <a:srgbClr val="5B9BD5"/>
    <a:srgbClr val="265C04"/>
    <a:srgbClr val="3366AB"/>
    <a:srgbClr val="3467AB"/>
    <a:srgbClr val="0040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3" autoAdjust="0"/>
    <p:restoredTop sz="94689" autoAdjust="0"/>
  </p:normalViewPr>
  <p:slideViewPr>
    <p:cSldViewPr>
      <p:cViewPr varScale="1">
        <p:scale>
          <a:sx n="113" d="100"/>
          <a:sy n="113" d="100"/>
        </p:scale>
        <p:origin x="483" y="42"/>
      </p:cViewPr>
      <p:guideLst>
        <p:guide orient="horz" pos="2045"/>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5BF20-DF3B-4089-A157-C423B81941B8}" type="datetimeFigureOut">
              <a:rPr lang="zh-CN" altLang="en-US" smtClean="0"/>
              <a:t>2026/9/9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E15EC-5485-46CA-B1CB-CC3AF0B8A19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CFDD-9B4D-DF56-ADD7-34BED94669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2ACF57-8F46-AF27-A542-C225B6C471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57FD41-D53E-FC4B-B071-7919AFEF420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FAAD957-787E-D61E-3FB1-17A94AA6EB31}"/>
              </a:ext>
            </a:extLst>
          </p:cNvPr>
          <p:cNvSpPr>
            <a:spLocks noGrp="1"/>
          </p:cNvSpPr>
          <p:nvPr>
            <p:ph type="sldNum" sz="quarter" idx="10"/>
          </p:nvPr>
        </p:nvSpPr>
        <p:spPr/>
        <p:txBody>
          <a:bodyPr/>
          <a:lstStyle/>
          <a:p>
            <a:fld id="{576E15EC-5485-46CA-B1CB-CC3AF0B8A19D}" type="slidenum">
              <a:rPr lang="zh-CN" altLang="en-US" smtClean="0"/>
              <a:t>1</a:t>
            </a:fld>
            <a:endParaRPr lang="zh-CN" altLang="en-US"/>
          </a:p>
        </p:txBody>
      </p:sp>
    </p:spTree>
    <p:extLst>
      <p:ext uri="{BB962C8B-B14F-4D97-AF65-F5344CB8AC3E}">
        <p14:creationId xmlns:p14="http://schemas.microsoft.com/office/powerpoint/2010/main" val="1352419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C1387-A021-90EE-021F-AE80823268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C4A7EC-459C-91A4-2208-77101998CE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D336F1-A883-3280-EDF8-32A8FA9E03A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CAD84FD-1BAE-C5F0-EE10-960EE69F6C44}"/>
              </a:ext>
            </a:extLst>
          </p:cNvPr>
          <p:cNvSpPr>
            <a:spLocks noGrp="1"/>
          </p:cNvSpPr>
          <p:nvPr>
            <p:ph type="sldNum" sz="quarter" idx="10"/>
          </p:nvPr>
        </p:nvSpPr>
        <p:spPr/>
        <p:txBody>
          <a:bodyPr/>
          <a:lstStyle/>
          <a:p>
            <a:fld id="{576E15EC-5485-46CA-B1CB-CC3AF0B8A19D}" type="slidenum">
              <a:rPr lang="zh-CN" altLang="en-US" smtClean="0"/>
              <a:t>18</a:t>
            </a:fld>
            <a:endParaRPr lang="zh-CN" altLang="en-US"/>
          </a:p>
        </p:txBody>
      </p:sp>
    </p:spTree>
    <p:extLst>
      <p:ext uri="{BB962C8B-B14F-4D97-AF65-F5344CB8AC3E}">
        <p14:creationId xmlns:p14="http://schemas.microsoft.com/office/powerpoint/2010/main" val="1982245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CFDD-9B4D-DF56-ADD7-34BED94669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2ACF57-8F46-AF27-A542-C225B6C471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57FD41-D53E-FC4B-B071-7919AFEF420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FAAD957-787E-D61E-3FB1-17A94AA6EB31}"/>
              </a:ext>
            </a:extLst>
          </p:cNvPr>
          <p:cNvSpPr>
            <a:spLocks noGrp="1"/>
          </p:cNvSpPr>
          <p:nvPr>
            <p:ph type="sldNum" sz="quarter" idx="10"/>
          </p:nvPr>
        </p:nvSpPr>
        <p:spPr/>
        <p:txBody>
          <a:bodyPr/>
          <a:lstStyle/>
          <a:p>
            <a:fld id="{576E15EC-5485-46CA-B1CB-CC3AF0B8A19D}" type="slidenum">
              <a:rPr lang="zh-CN" altLang="en-US" smtClean="0"/>
              <a:t>23</a:t>
            </a:fld>
            <a:endParaRPr lang="zh-CN" altLang="en-US"/>
          </a:p>
        </p:txBody>
      </p:sp>
    </p:spTree>
    <p:extLst>
      <p:ext uri="{BB962C8B-B14F-4D97-AF65-F5344CB8AC3E}">
        <p14:creationId xmlns:p14="http://schemas.microsoft.com/office/powerpoint/2010/main" val="2951726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CBA26-B186-E8D0-F78F-9B92857D58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089E6F-0252-50A0-2A8F-86B7D54B79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D94292-088F-5862-F537-BA6BD2E97D4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35DDCDF-7A63-F517-84AD-E1F719B9DA12}"/>
              </a:ext>
            </a:extLst>
          </p:cNvPr>
          <p:cNvSpPr>
            <a:spLocks noGrp="1"/>
          </p:cNvSpPr>
          <p:nvPr>
            <p:ph type="sldNum" sz="quarter" idx="10"/>
          </p:nvPr>
        </p:nvSpPr>
        <p:spPr/>
        <p:txBody>
          <a:bodyPr/>
          <a:lstStyle/>
          <a:p>
            <a:fld id="{576E15EC-5485-46CA-B1CB-CC3AF0B8A19D}" type="slidenum">
              <a:rPr lang="zh-CN" altLang="en-US" smtClean="0"/>
              <a:t>24</a:t>
            </a:fld>
            <a:endParaRPr lang="zh-CN" altLang="en-US"/>
          </a:p>
        </p:txBody>
      </p:sp>
    </p:spTree>
    <p:extLst>
      <p:ext uri="{BB962C8B-B14F-4D97-AF65-F5344CB8AC3E}">
        <p14:creationId xmlns:p14="http://schemas.microsoft.com/office/powerpoint/2010/main" val="2129523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E2DD48E-8E4F-444A-B4BD-B64E6E3B346A}" type="datetime1">
              <a:rPr lang="zh-CN" altLang="en-US" smtClean="0"/>
              <a:t>2026/9/9</a:t>
            </a:fld>
            <a:endParaRPr lang="zh-CN" altLang="en-US"/>
          </a:p>
        </p:txBody>
      </p:sp>
      <p:sp>
        <p:nvSpPr>
          <p:cNvPr id="5" name="页脚占位符 4"/>
          <p:cNvSpPr>
            <a:spLocks noGrp="1"/>
          </p:cNvSpPr>
          <p:nvPr>
            <p:ph type="ftr" sz="quarter" idx="11"/>
          </p:nvPr>
        </p:nvSpPr>
        <p:spPr/>
        <p:txBody>
          <a:bodyPr/>
          <a:lstStyle/>
          <a:p>
            <a:r>
              <a:rPr lang="en-US" altLang="zh-CN"/>
              <a:t>1</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内页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B89D39F-753E-4A03-85CC-E3E8C51F34A0}" type="datetime1">
              <a:rPr lang="zh-CN" altLang="en-US" smtClean="0"/>
              <a:t>2026/9/9</a:t>
            </a:fld>
            <a:endParaRPr lang="zh-CN" altLang="en-US"/>
          </a:p>
        </p:txBody>
      </p:sp>
      <p:sp>
        <p:nvSpPr>
          <p:cNvPr id="5" name="页脚占位符 4"/>
          <p:cNvSpPr>
            <a:spLocks noGrp="1"/>
          </p:cNvSpPr>
          <p:nvPr>
            <p:ph type="ftr" sz="quarter" idx="11"/>
          </p:nvPr>
        </p:nvSpPr>
        <p:spPr/>
        <p:txBody>
          <a:bodyPr/>
          <a:lstStyle/>
          <a:p>
            <a:r>
              <a:rPr lang="en-US" altLang="zh-CN"/>
              <a:t>1</a:t>
            </a:r>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内页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71807B6-8CAD-4197-9F3F-A5A112C959FB}" type="datetime1">
              <a:rPr lang="zh-CN" altLang="en-US" smtClean="0">
                <a:solidFill>
                  <a:srgbClr val="003760">
                    <a:tint val="75000"/>
                  </a:srgbClr>
                </a:solidFill>
              </a:rPr>
              <a:t>2026/9/9</a:t>
            </a:fld>
            <a:endParaRPr lang="zh-CN" altLang="en-US">
              <a:solidFill>
                <a:srgbClr val="003760">
                  <a:tint val="75000"/>
                </a:srgbClr>
              </a:solidFill>
            </a:endParaRPr>
          </a:p>
        </p:txBody>
      </p:sp>
      <p:sp>
        <p:nvSpPr>
          <p:cNvPr id="4" name="页脚占位符 3"/>
          <p:cNvSpPr>
            <a:spLocks noGrp="1"/>
          </p:cNvSpPr>
          <p:nvPr>
            <p:ph type="ftr" sz="quarter" idx="11"/>
          </p:nvPr>
        </p:nvSpPr>
        <p:spPr/>
        <p:txBody>
          <a:bodyPr/>
          <a:lstStyle/>
          <a:p>
            <a:r>
              <a:rPr lang="en-US" altLang="zh-CN">
                <a:solidFill>
                  <a:srgbClr val="003760">
                    <a:tint val="75000"/>
                  </a:srgbClr>
                </a:solidFill>
              </a:rPr>
              <a:t>1</a:t>
            </a:r>
            <a:endParaRPr lang="zh-CN" altLang="en-US">
              <a:solidFill>
                <a:srgbClr val="003760">
                  <a:tint val="75000"/>
                </a:srgb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srgbClr val="003760">
                    <a:tint val="75000"/>
                  </a:srgbClr>
                </a:solidFill>
              </a:rPr>
              <a:t>‹#›</a:t>
            </a:fld>
            <a:endParaRPr lang="zh-CN" altLang="en-US">
              <a:solidFill>
                <a:srgbClr val="003760">
                  <a:tint val="75000"/>
                </a:srgb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1FB502-58F8-422C-9DE3-8AA001458616}" type="datetime1">
              <a:rPr lang="zh-CN" altLang="en-US" smtClean="0"/>
              <a:t>2026/9/9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lvl1pPr>
              <a:defRPr sz="1600">
                <a:solidFill>
                  <a:schemeClr val="tx1"/>
                </a:solidFill>
              </a:defRPr>
            </a:lvl1pPr>
          </a:lstStyle>
          <a:p>
            <a:fld id="{6AFD64F0-5018-4E6E-A20B-8D7DA5A17E99}" type="slidenum">
              <a:rPr lang="zh-CN" altLang="en-US" smtClean="0"/>
              <a:pPr/>
              <a:t>‹#›</a:t>
            </a:fld>
            <a:endParaRPr lang="zh-CN" altLang="en-US" dirty="0"/>
          </a:p>
        </p:txBody>
      </p:sp>
    </p:spTree>
    <p:extLst>
      <p:ext uri="{BB962C8B-B14F-4D97-AF65-F5344CB8AC3E}">
        <p14:creationId xmlns:p14="http://schemas.microsoft.com/office/powerpoint/2010/main" val="4081115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9F3272-2928-42E2-90D4-7E778ABD3CB6}" type="datetime1">
              <a:rPr lang="zh-CN" altLang="en-US" smtClean="0"/>
              <a:t>2026/9/9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1</a:t>
            </a: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jpeg"/><Relationship Id="rId7" Type="http://schemas.openxmlformats.org/officeDocument/2006/relationships/image" Target="../media/image15.jpe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17.png"/><Relationship Id="rId10" Type="http://schemas.openxmlformats.org/officeDocument/2006/relationships/image" Target="../media/image18.png"/><Relationship Id="rId4" Type="http://schemas.openxmlformats.org/officeDocument/2006/relationships/image" Target="../media/image14.jpe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30.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3.1"/><Relationship Id="rId5" Type="http://schemas.openxmlformats.org/officeDocument/2006/relationships/image" Target="../media/image22.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3.png"/><Relationship Id="rId4" Type="http://schemas.openxmlformats.org/officeDocument/2006/relationships/image" Target="../media/image38.png"/><Relationship Id="rId9"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6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EA2C205-C2D1-60EB-7B33-BCB1F960769F}"/>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0134A5A9-4063-DE66-E3F1-9D77199AF31A}"/>
              </a:ext>
            </a:extLst>
          </p:cNvPr>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a:extLst>
              <a:ext uri="{FF2B5EF4-FFF2-40B4-BE49-F238E27FC236}">
                <a16:creationId xmlns:a16="http://schemas.microsoft.com/office/drawing/2014/main" id="{55B91FFE-C1FF-B781-793F-86EB2CD0E442}"/>
              </a:ext>
            </a:extLst>
          </p:cNvPr>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a:extLst>
              <a:ext uri="{FF2B5EF4-FFF2-40B4-BE49-F238E27FC236}">
                <a16:creationId xmlns:a16="http://schemas.microsoft.com/office/drawing/2014/main" id="{53F7A69C-C482-F708-8385-BBB4397EA8E6}"/>
              </a:ext>
            </a:extLst>
          </p:cNvPr>
          <p:cNvSpPr/>
          <p:nvPr/>
        </p:nvSpPr>
        <p:spPr>
          <a:xfrm>
            <a:off x="2927648" y="150946"/>
            <a:ext cx="9264352"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a:extLst>
              <a:ext uri="{FF2B5EF4-FFF2-40B4-BE49-F238E27FC236}">
                <a16:creationId xmlns:a16="http://schemas.microsoft.com/office/drawing/2014/main" id="{472A0FA8-6FA7-CB4F-3439-0C30C7885C60}"/>
              </a:ext>
            </a:extLst>
          </p:cNvPr>
          <p:cNvSpPr txBox="1"/>
          <p:nvPr/>
        </p:nvSpPr>
        <p:spPr>
          <a:xfrm>
            <a:off x="2948196" y="221158"/>
            <a:ext cx="8404388" cy="58477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a:solidFill>
                  <a:srgbClr val="FFFFFF"/>
                </a:solidFill>
              </a:rPr>
              <a:t>项目调整方向</a:t>
            </a:r>
            <a:endParaRPr lang="zh-CN" altLang="en-US" sz="3200" dirty="0">
              <a:solidFill>
                <a:srgbClr val="FFFFFF"/>
              </a:solidFill>
            </a:endParaRPr>
          </a:p>
        </p:txBody>
      </p:sp>
      <p:sp>
        <p:nvSpPr>
          <p:cNvPr id="14" name="文本框 13">
            <a:extLst>
              <a:ext uri="{FF2B5EF4-FFF2-40B4-BE49-F238E27FC236}">
                <a16:creationId xmlns:a16="http://schemas.microsoft.com/office/drawing/2014/main" id="{296032C3-CB6E-8B71-B238-9B515534CDDE}"/>
              </a:ext>
            </a:extLst>
          </p:cNvPr>
          <p:cNvSpPr txBox="1"/>
          <p:nvPr/>
        </p:nvSpPr>
        <p:spPr>
          <a:xfrm>
            <a:off x="622935" y="190381"/>
            <a:ext cx="2304415" cy="646331"/>
          </a:xfrm>
          <a:prstGeom prst="rect">
            <a:avLst/>
          </a:prstGeom>
          <a:noFill/>
        </p:spPr>
        <p:txBody>
          <a:bodyPr wrap="square" rtlCol="0">
            <a:spAutoFit/>
          </a:bodyPr>
          <a:lstStyle/>
          <a:p>
            <a:pPr algn="ctr"/>
            <a:r>
              <a:rPr lang="en-US" altLang="zh-CN" sz="3600" b="1" dirty="0">
                <a:solidFill>
                  <a:srgbClr val="3467AB"/>
                </a:solidFill>
              </a:rPr>
              <a:t>8.24</a:t>
            </a:r>
          </a:p>
        </p:txBody>
      </p:sp>
      <mc:AlternateContent xmlns:mc="http://schemas.openxmlformats.org/markup-compatibility/2006" xmlns:a14="http://schemas.microsoft.com/office/drawing/2010/main">
        <mc:Choice Requires="a14">
          <p:sp>
            <p:nvSpPr>
              <p:cNvPr id="3" name="TextBox 1">
                <a:extLst>
                  <a:ext uri="{FF2B5EF4-FFF2-40B4-BE49-F238E27FC236}">
                    <a16:creationId xmlns:a16="http://schemas.microsoft.com/office/drawing/2014/main" id="{19069777-3B9D-9B95-65A3-063C8256CAB0}"/>
                  </a:ext>
                </a:extLst>
              </p:cNvPr>
              <p:cNvSpPr txBox="1"/>
              <p:nvPr/>
            </p:nvSpPr>
            <p:spPr>
              <a:xfrm>
                <a:off x="119336" y="1700808"/>
                <a:ext cx="11713120" cy="4078039"/>
              </a:xfrm>
              <a:prstGeom prst="rect">
                <a:avLst/>
              </a:prstGeom>
              <a:noFill/>
              <a:ln w="38100">
                <a:solidFill>
                  <a:schemeClr val="bg1"/>
                </a:solidFill>
              </a:ln>
            </p:spPr>
            <p:txBody>
              <a:bodyPr wrap="square" rtlCol="0">
                <a:spAutoFit/>
              </a:bodyPr>
              <a:lstStyle/>
              <a:p>
                <a:pPr>
                  <a:spcAft>
                    <a:spcPts val="600"/>
                  </a:spcAft>
                </a:pPr>
                <a:r>
                  <a:rPr lang="en-US" sz="1600">
                    <a:highlight>
                      <a:srgbClr val="FFFF00"/>
                    </a:highlight>
                  </a:rPr>
                  <a:t>当前方案的工作拆解与研究路线先后顺序尚不够清晰，建议按</a:t>
                </a:r>
                <a:r>
                  <a:rPr lang="zh-CN" altLang="en-US" sz="1600" b="1">
                    <a:highlight>
                      <a:srgbClr val="FFFF00"/>
                    </a:highlight>
                  </a:rPr>
                  <a:t>“</a:t>
                </a:r>
                <a:r>
                  <a:rPr lang="en-US" sz="1600" b="1">
                    <a:highlight>
                      <a:srgbClr val="FFFF00"/>
                    </a:highlight>
                  </a:rPr>
                  <a:t>先解耦验证，后系统集成，再明确优势</a:t>
                </a:r>
                <a:r>
                  <a:rPr lang="zh-CN" altLang="en-US" sz="1600" b="1">
                    <a:highlight>
                      <a:srgbClr val="FFFF00"/>
                    </a:highlight>
                  </a:rPr>
                  <a:t>”</a:t>
                </a:r>
                <a:r>
                  <a:rPr lang="en-US" sz="1600">
                    <a:highlight>
                      <a:srgbClr val="FFFF00"/>
                    </a:highlight>
                  </a:rPr>
                  <a:t>的逻辑重新梳理：</a:t>
                </a:r>
              </a:p>
              <a:p>
                <a:pPr lvl="0">
                  <a:spcAft>
                    <a:spcPts val="600"/>
                  </a:spcAft>
                </a:pPr>
                <a:r>
                  <a:rPr lang="en-US"/>
                  <a:t>第一步：先聚焦单点 PEM 偏振检测与解调验证（解耦 DMD 空间调制） </a:t>
                </a:r>
              </a:p>
              <a:p>
                <a:pPr marL="285750" lvl="0" indent="-285750">
                  <a:spcAft>
                    <a:spcPts val="600"/>
                  </a:spcAft>
                  <a:buFont typeface="Wingdings" panose="05000000000000000000" pitchFamily="2" charset="2"/>
                  <a:buChar char="Ø"/>
                </a:pPr>
                <a:r>
                  <a:rPr lang="en-US"/>
                  <a:t>暂不引入 DMD 空间调制，先在均匀光照明下，验证基于 PEM 的偏振态测量链路。</a:t>
                </a:r>
              </a:p>
              <a:p>
                <a:pPr marL="285750" lvl="0" indent="-285750">
                  <a:spcAft>
                    <a:spcPts val="600"/>
                  </a:spcAft>
                  <a:buFont typeface="Wingdings" panose="05000000000000000000" pitchFamily="2" charset="2"/>
                  <a:buChar char="Ø"/>
                </a:pPr>
                <a:r>
                  <a:rPr lang="en-US"/>
                  <a:t>重点明确：锁相放大器能否稳定、高精度地解调提取出所需的各路信号，包括 DC 直流分量、</a:t>
                </a:r>
                <a14:m>
                  <m:oMath xmlns:m="http://schemas.openxmlformats.org/officeDocument/2006/math">
                    <m:r>
                      <a:rPr lang="en-US" i="1">
                        <a:latin typeface="Cambria Math" panose="02040503050406030204" pitchFamily="18" charset="0"/>
                      </a:rPr>
                      <m:t>𝑓</m:t>
                    </m:r>
                  </m:oMath>
                </a14:m>
                <a:r>
                  <a:rPr lang="en-US"/>
                  <a:t> 基频分量（</a:t>
                </a:r>
                <a14:m>
                  <m:oMath xmlns:m="http://schemas.openxmlformats.org/officeDocument/2006/math">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oMath>
                </a14:m>
                <a:r>
                  <a:rPr lang="en-US"/>
                  <a:t> 通道） 以及 </a:t>
                </a:r>
                <a14:m>
                  <m:oMath xmlns:m="http://schemas.openxmlformats.org/officeDocument/2006/math">
                    <m:r>
                      <a:rPr lang="en-US">
                        <a:latin typeface="Cambria Math" panose="02040503050406030204" pitchFamily="18" charset="0"/>
                      </a:rPr>
                      <m:t>2</m:t>
                    </m:r>
                    <m:r>
                      <a:rPr lang="en-US" i="1">
                        <a:latin typeface="Cambria Math" panose="02040503050406030204" pitchFamily="18" charset="0"/>
                      </a:rPr>
                      <m:t>𝑓</m:t>
                    </m:r>
                  </m:oMath>
                </a14:m>
                <a:r>
                  <a:rPr lang="en-US"/>
                  <a:t>倍频分量（</a:t>
                </a:r>
                <a14:m>
                  <m:oMath xmlns:m="http://schemas.openxmlformats.org/officeDocument/2006/math">
                    <m:r>
                      <a:rPr lang="en-US" i="1">
                        <a:latin typeface="Cambria Math" panose="02040503050406030204" pitchFamily="18" charset="0"/>
                      </a:rPr>
                      <m:t>𝑋</m:t>
                    </m:r>
                    <m:r>
                      <a:rPr lang="en-US">
                        <a:latin typeface="Cambria Math" panose="02040503050406030204" pitchFamily="18" charset="0"/>
                      </a:rPr>
                      <m:t>/</m:t>
                    </m:r>
                    <m:r>
                      <a:rPr lang="en-US" i="1">
                        <a:latin typeface="Cambria Math" panose="02040503050406030204" pitchFamily="18" charset="0"/>
                      </a:rPr>
                      <m:t>𝑌</m:t>
                    </m:r>
                  </m:oMath>
                </a14:m>
                <a:r>
                  <a:rPr lang="en-US"/>
                  <a:t> 通道）。</a:t>
                </a:r>
              </a:p>
              <a:p>
                <a:pPr lvl="0">
                  <a:spcAft>
                    <a:spcPts val="600"/>
                  </a:spcAft>
                </a:pPr>
                <a:r>
                  <a:rPr lang="en-US"/>
                  <a:t>第二步：评估时间常数与 DMD 协同同步机制 </a:t>
                </a:r>
              </a:p>
              <a:p>
                <a:pPr marL="285750" lvl="0" indent="-285750">
                  <a:spcAft>
                    <a:spcPts val="600"/>
                  </a:spcAft>
                  <a:buFont typeface="Wingdings" panose="05000000000000000000" pitchFamily="2" charset="2"/>
                  <a:buChar char="Ø"/>
                </a:pPr>
                <a:r>
                  <a:rPr lang="en-US"/>
                  <a:t>明确单点偏振解调所需的最小积分/锁相时间（例如是否在 10 ms 量级）。</a:t>
                </a:r>
              </a:p>
              <a:p>
                <a:pPr marL="285750" lvl="0" indent="-285750">
                  <a:spcAft>
                    <a:spcPts val="600"/>
                  </a:spcAft>
                  <a:buFont typeface="Wingdings" panose="05000000000000000000" pitchFamily="2" charset="2"/>
                  <a:buChar char="Ø"/>
                </a:pPr>
                <a:r>
                  <a:rPr lang="en-US"/>
                  <a:t>评估该时间窗口与 DMD 空间调制刷新率（触发与时序匹配）的协同可行性。</a:t>
                </a:r>
              </a:p>
              <a:p>
                <a:pPr lvl="0">
                  <a:spcAft>
                    <a:spcPts val="600"/>
                  </a:spcAft>
                </a:pPr>
                <a:r>
                  <a:rPr lang="en-US"/>
                  <a:t>第三步：厘清核心技术优势与应用定位 </a:t>
                </a:r>
              </a:p>
              <a:p>
                <a:pPr marL="285750" lvl="0" indent="-285750">
                  <a:spcAft>
                    <a:spcPts val="600"/>
                  </a:spcAft>
                  <a:buFont typeface="Wingdings" panose="05000000000000000000" pitchFamily="2" charset="2"/>
                  <a:buChar char="Ø"/>
                </a:pPr>
                <a:r>
                  <a:rPr lang="en-US"/>
                  <a:t>如果实现了基于 PEM 的单像素偏振成像，相较于现有商用设备或其他学术工作，我们的核心壁垒和独特价值在哪里？</a:t>
                </a:r>
              </a:p>
              <a:p>
                <a:pPr marL="285750" lvl="0" indent="-285750">
                  <a:spcAft>
                    <a:spcPts val="600"/>
                  </a:spcAft>
                  <a:buFont typeface="Wingdings" panose="05000000000000000000" pitchFamily="2" charset="2"/>
                  <a:buChar char="Ø"/>
                </a:pPr>
                <a:r>
                  <a:rPr lang="en-US"/>
                  <a:t>时间分辨率（测量速度） 是否是决定性的突破口？明确这一优势是牵引整个项目研究方向和应用落地的关键。</a:t>
                </a:r>
              </a:p>
            </p:txBody>
          </p:sp>
        </mc:Choice>
        <mc:Fallback xmlns="">
          <p:sp>
            <p:nvSpPr>
              <p:cNvPr id="3" name="TextBox 1">
                <a:extLst>
                  <a:ext uri="{FF2B5EF4-FFF2-40B4-BE49-F238E27FC236}">
                    <a16:creationId xmlns:a16="http://schemas.microsoft.com/office/drawing/2014/main" id="{19069777-3B9D-9B95-65A3-063C8256CAB0}"/>
                  </a:ext>
                </a:extLst>
              </p:cNvPr>
              <p:cNvSpPr txBox="1">
                <a:spLocks noRot="1" noChangeAspect="1" noMove="1" noResize="1" noEditPoints="1" noAdjustHandles="1" noChangeArrowheads="1" noChangeShapeType="1" noTextEdit="1"/>
              </p:cNvSpPr>
              <p:nvPr/>
            </p:nvSpPr>
            <p:spPr>
              <a:xfrm>
                <a:off x="119336" y="1700808"/>
                <a:ext cx="11713120" cy="4078039"/>
              </a:xfrm>
              <a:prstGeom prst="rect">
                <a:avLst/>
              </a:prstGeom>
              <a:blipFill>
                <a:blip r:embed="rId3"/>
                <a:stretch>
                  <a:fillRect l="-311" b="-1037"/>
                </a:stretch>
              </a:blipFill>
              <a:ln w="38100">
                <a:solidFill>
                  <a:schemeClr val="bg1"/>
                </a:solidFill>
              </a:ln>
            </p:spPr>
            <p:txBody>
              <a:bodyPr/>
              <a:lstStyle/>
              <a:p>
                <a:r>
                  <a:rPr lang="zh-CN" altLang="en-US">
                    <a:noFill/>
                  </a:rPr>
                  <a:t> </a:t>
                </a:r>
              </a:p>
            </p:txBody>
          </p:sp>
        </mc:Fallback>
      </mc:AlternateContent>
      <p:sp>
        <p:nvSpPr>
          <p:cNvPr id="4" name="Slide Number Placeholder 2">
            <a:extLst>
              <a:ext uri="{FF2B5EF4-FFF2-40B4-BE49-F238E27FC236}">
                <a16:creationId xmlns:a16="http://schemas.microsoft.com/office/drawing/2014/main" id="{74DA4493-E258-CB77-32D6-8386BB3F95D3}"/>
              </a:ext>
            </a:extLst>
          </p:cNvPr>
          <p:cNvSpPr txBox="1">
            <a:spLocks/>
          </p:cNvSpPr>
          <p:nvPr/>
        </p:nvSpPr>
        <p:spPr>
          <a:xfrm>
            <a:off x="11832456" y="6492875"/>
            <a:ext cx="355538"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1</a:t>
            </a:fld>
            <a:endParaRPr lang="zh-CN" altLang="en-US" sz="2000" dirty="0">
              <a:latin typeface="Arial"/>
              <a:ea typeface="Microsoft YaHei"/>
            </a:endParaRPr>
          </a:p>
        </p:txBody>
      </p:sp>
    </p:spTree>
    <p:extLst>
      <p:ext uri="{BB962C8B-B14F-4D97-AF65-F5344CB8AC3E}">
        <p14:creationId xmlns:p14="http://schemas.microsoft.com/office/powerpoint/2010/main" val="754433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imeline&#10;&#10;Description automatically generated with medium confidence">
            <a:extLst>
              <a:ext uri="{FF2B5EF4-FFF2-40B4-BE49-F238E27FC236}">
                <a16:creationId xmlns:a16="http://schemas.microsoft.com/office/drawing/2014/main" id="{E05511B2-9A3F-4B11-8208-E6FA349AC7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3589811" cy="964121"/>
          </a:xfrm>
          <a:prstGeom prst="rect">
            <a:avLst/>
          </a:prstGeom>
        </p:spPr>
      </p:pic>
      <p:sp>
        <p:nvSpPr>
          <p:cNvPr id="3" name="文本框 25">
            <a:extLst>
              <a:ext uri="{FF2B5EF4-FFF2-40B4-BE49-F238E27FC236}">
                <a16:creationId xmlns:a16="http://schemas.microsoft.com/office/drawing/2014/main" id="{24D4B188-98E9-42CA-A11D-154A256B7986}"/>
              </a:ext>
            </a:extLst>
          </p:cNvPr>
          <p:cNvSpPr txBox="1"/>
          <p:nvPr/>
        </p:nvSpPr>
        <p:spPr>
          <a:xfrm>
            <a:off x="335360" y="2274643"/>
            <a:ext cx="11544302" cy="1005019"/>
          </a:xfrm>
          <a:prstGeom prst="rect">
            <a:avLst/>
          </a:prstGeom>
          <a:noFill/>
        </p:spPr>
        <p:txBody>
          <a:bodyPr wrap="square" rtlCol="0">
            <a:spAutoFit/>
          </a:bodyPr>
          <a:lstStyle/>
          <a:p>
            <a:pPr algn="ctr" defTabSz="685800">
              <a:lnSpc>
                <a:spcPct val="120000"/>
              </a:lnSpc>
            </a:pPr>
            <a:r>
              <a:rPr lang="zh-CN" altLang="en-US" sz="5400" b="1">
                <a:latin typeface="微软雅黑" panose="020B0503020204020204" pitchFamily="34" charset="-122"/>
                <a:ea typeface="微软雅黑" panose="020B0503020204020204" pitchFamily="34" charset="-122"/>
                <a:cs typeface="Arial" panose="020B0604020202020204" pitchFamily="34" charset="0"/>
                <a:sym typeface="+mn-lt"/>
              </a:rPr>
              <a:t>基于</a:t>
            </a:r>
            <a:r>
              <a:rPr lang="en-US" altLang="zh-CN" sz="5400" b="1">
                <a:latin typeface="微软雅黑" panose="020B0503020204020204" pitchFamily="34" charset="-122"/>
                <a:ea typeface="微软雅黑" panose="020B0503020204020204" pitchFamily="34" charset="-122"/>
                <a:cs typeface="Arial" panose="020B0604020202020204" pitchFamily="34" charset="0"/>
                <a:sym typeface="+mn-lt"/>
              </a:rPr>
              <a:t>PEM</a:t>
            </a:r>
            <a:r>
              <a:rPr lang="zh-CN" altLang="en-US" sz="5400" b="1">
                <a:latin typeface="微软雅黑" panose="020B0503020204020204" pitchFamily="34" charset="-122"/>
                <a:ea typeface="微软雅黑" panose="020B0503020204020204" pitchFamily="34" charset="-122"/>
                <a:cs typeface="Arial" panose="020B0604020202020204" pitchFamily="34" charset="0"/>
                <a:sym typeface="+mn-lt"/>
              </a:rPr>
              <a:t>的单像素偏振成像</a:t>
            </a:r>
            <a:endParaRPr lang="zh-CN" altLang="en-US" sz="5400" b="1" dirty="0">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4" name="文本框 25">
            <a:extLst>
              <a:ext uri="{FF2B5EF4-FFF2-40B4-BE49-F238E27FC236}">
                <a16:creationId xmlns:a16="http://schemas.microsoft.com/office/drawing/2014/main" id="{E4DB4D3D-2ECF-4FE6-8EF4-489385D2F9A1}"/>
              </a:ext>
            </a:extLst>
          </p:cNvPr>
          <p:cNvSpPr txBox="1"/>
          <p:nvPr/>
        </p:nvSpPr>
        <p:spPr>
          <a:xfrm>
            <a:off x="1585137" y="3814606"/>
            <a:ext cx="9021724" cy="1692771"/>
          </a:xfrm>
          <a:prstGeom prst="rect">
            <a:avLst/>
          </a:prstGeom>
          <a:noFill/>
        </p:spPr>
        <p:txBody>
          <a:bodyPr wrap="square" rtlCol="0">
            <a:spAutoFit/>
          </a:bodyPr>
          <a:lstStyle/>
          <a:p>
            <a:pPr algn="ctr" defTabSz="685800">
              <a:spcBef>
                <a:spcPts val="600"/>
              </a:spcBef>
              <a:spcAft>
                <a:spcPts val="600"/>
              </a:spcAft>
            </a:pPr>
            <a:r>
              <a:rPr lang="zh-CN" altLang="en-US" sz="2800" b="1">
                <a:latin typeface="微软雅黑" panose="020B0503020204020204" pitchFamily="34" charset="-122"/>
                <a:ea typeface="微软雅黑" panose="020B0503020204020204" pitchFamily="34" charset="-122"/>
                <a:cs typeface="Arial" panose="020B0604020202020204" pitchFamily="34" charset="0"/>
                <a:sym typeface="+mn-lt"/>
              </a:rPr>
              <a:t>卢宇航</a:t>
            </a:r>
            <a:endParaRPr lang="en-US" altLang="zh-CN" sz="2800" b="1">
              <a:latin typeface="微软雅黑" panose="020B0503020204020204" pitchFamily="34" charset="-122"/>
              <a:ea typeface="微软雅黑" panose="020B0503020204020204" pitchFamily="34" charset="-122"/>
              <a:cs typeface="Arial" panose="020B0604020202020204" pitchFamily="34" charset="0"/>
              <a:sym typeface="+mn-lt"/>
            </a:endParaRPr>
          </a:p>
          <a:p>
            <a:pPr algn="ctr" defTabSz="685800">
              <a:spcBef>
                <a:spcPts val="600"/>
              </a:spcBef>
              <a:spcAft>
                <a:spcPts val="600"/>
              </a:spcAft>
            </a:pPr>
            <a:r>
              <a:rPr lang="zh-CN" altLang="en-US" sz="2800" b="1">
                <a:latin typeface="微软雅黑" panose="020B0503020204020204" pitchFamily="34" charset="-122"/>
                <a:ea typeface="微软雅黑" panose="020B0503020204020204" pitchFamily="34" charset="-122"/>
                <a:cs typeface="Arial" panose="020B0604020202020204" pitchFamily="34" charset="0"/>
                <a:sym typeface="+mn-lt"/>
              </a:rPr>
              <a:t>电</a:t>
            </a:r>
            <a:r>
              <a:rPr lang="zh-CN" altLang="en-US" sz="2800" b="1" dirty="0">
                <a:latin typeface="微软雅黑" panose="020B0503020204020204" pitchFamily="34" charset="-122"/>
                <a:ea typeface="微软雅黑" panose="020B0503020204020204" pitchFamily="34" charset="-122"/>
                <a:cs typeface="Arial" panose="020B0604020202020204" pitchFamily="34" charset="0"/>
                <a:sym typeface="+mn-lt"/>
              </a:rPr>
              <a:t>子科技大学</a:t>
            </a:r>
            <a:endParaRPr lang="en-US" altLang="zh-CN" sz="2800" dirty="0">
              <a:latin typeface="微软雅黑" panose="020B0503020204020204" pitchFamily="34" charset="-122"/>
              <a:ea typeface="微软雅黑" panose="020B0503020204020204" pitchFamily="34" charset="-122"/>
              <a:cs typeface="Arial" panose="020B0604020202020204" pitchFamily="34" charset="0"/>
              <a:sym typeface="+mn-lt"/>
            </a:endParaRPr>
          </a:p>
          <a:p>
            <a:pPr algn="ctr" defTabSz="685800">
              <a:spcBef>
                <a:spcPts val="600"/>
              </a:spcBef>
              <a:spcAft>
                <a:spcPts val="600"/>
              </a:spcAft>
            </a:pPr>
            <a:r>
              <a:rPr lang="en-US" altLang="zh-CN" sz="2800" dirty="0">
                <a:latin typeface="微软雅黑" panose="020B0503020204020204" pitchFamily="34" charset="-122"/>
                <a:ea typeface="微软雅黑" panose="020B0503020204020204" pitchFamily="34" charset="-122"/>
                <a:cs typeface="Arial" panose="020B0604020202020204" pitchFamily="34" charset="0"/>
                <a:sym typeface="+mn-lt"/>
              </a:rPr>
              <a:t>Email</a:t>
            </a:r>
            <a:r>
              <a:rPr lang="en-US" altLang="zh-CN" sz="2800">
                <a:latin typeface="微软雅黑" panose="020B0503020204020204" pitchFamily="34" charset="-122"/>
                <a:ea typeface="微软雅黑" panose="020B0503020204020204" pitchFamily="34" charset="-122"/>
                <a:cs typeface="Arial" panose="020B0604020202020204" pitchFamily="34" charset="0"/>
                <a:sym typeface="+mn-lt"/>
              </a:rPr>
              <a:t>: </a:t>
            </a:r>
            <a:r>
              <a:rPr lang="en-US" altLang="zh-CN" sz="2800" u="sng">
                <a:latin typeface="微软雅黑" panose="020B0503020204020204" pitchFamily="34" charset="-122"/>
                <a:ea typeface="微软雅黑" panose="020B0503020204020204" pitchFamily="34" charset="-122"/>
                <a:cs typeface="Arial" panose="020B0604020202020204" pitchFamily="34" charset="0"/>
                <a:sym typeface="+mn-lt"/>
              </a:rPr>
              <a:t>3121281994@qq.com</a:t>
            </a:r>
            <a:endParaRPr lang="en-US" altLang="zh-CN" sz="2800" u="sng" dirty="0">
              <a:latin typeface="微软雅黑" panose="020B0503020204020204" pitchFamily="34" charset="-122"/>
              <a:ea typeface="微软雅黑" panose="020B0503020204020204" pitchFamily="34" charset="-122"/>
              <a:cs typeface="Arial" panose="020B0604020202020204" pitchFamily="34" charset="0"/>
              <a:sym typeface="+mn-lt"/>
            </a:endParaRPr>
          </a:p>
        </p:txBody>
      </p:sp>
      <p:cxnSp>
        <p:nvCxnSpPr>
          <p:cNvPr id="5" name="Straight Connector 4">
            <a:extLst>
              <a:ext uri="{FF2B5EF4-FFF2-40B4-BE49-F238E27FC236}">
                <a16:creationId xmlns:a16="http://schemas.microsoft.com/office/drawing/2014/main" id="{ACEC1F0D-A587-4FCC-B638-C7A416366B4E}"/>
              </a:ext>
            </a:extLst>
          </p:cNvPr>
          <p:cNvCxnSpPr>
            <a:cxnSpLocks/>
          </p:cNvCxnSpPr>
          <p:nvPr/>
        </p:nvCxnSpPr>
        <p:spPr>
          <a:xfrm>
            <a:off x="0" y="964121"/>
            <a:ext cx="12192002" cy="0"/>
          </a:xfrm>
          <a:prstGeom prst="line">
            <a:avLst/>
          </a:prstGeom>
          <a:noFill/>
          <a:ln w="38100" cap="flat" cmpd="sng" algn="ctr">
            <a:solidFill>
              <a:srgbClr val="164C8C"/>
            </a:solidFill>
            <a:prstDash val="solid"/>
            <a:miter lim="800000"/>
          </a:ln>
          <a:effectLst/>
        </p:spPr>
      </p:cxnSp>
      <p:sp>
        <p:nvSpPr>
          <p:cNvPr id="6" name="TextBox 5">
            <a:extLst>
              <a:ext uri="{FF2B5EF4-FFF2-40B4-BE49-F238E27FC236}">
                <a16:creationId xmlns:a16="http://schemas.microsoft.com/office/drawing/2014/main" id="{E3C181C2-5D9E-4274-8D30-AAEFC94FE076}"/>
              </a:ext>
            </a:extLst>
          </p:cNvPr>
          <p:cNvSpPr txBox="1"/>
          <p:nvPr/>
        </p:nvSpPr>
        <p:spPr>
          <a:xfrm>
            <a:off x="7177314" y="220451"/>
            <a:ext cx="4779366" cy="584775"/>
          </a:xfrm>
          <a:prstGeom prst="rect">
            <a:avLst/>
          </a:prstGeom>
          <a:noFill/>
        </p:spPr>
        <p:txBody>
          <a:bodyPr wrap="square" rtlCol="0">
            <a:spAutoFit/>
          </a:bodyPr>
          <a:lstStyle/>
          <a:p>
            <a:pPr algn="r" defTabSz="457200"/>
            <a:r>
              <a:rPr lang="en-US" altLang="zh-CN" sz="3200" b="1">
                <a:solidFill>
                  <a:srgbClr val="000000"/>
                </a:solidFill>
                <a:latin typeface="Arial" panose="020B0604020202020204" pitchFamily="34" charset="0"/>
                <a:ea typeface="黑体" panose="02010609060101010101" pitchFamily="49" charset="-122"/>
                <a:cs typeface="Arial" panose="020B0604020202020204" pitchFamily="34" charset="0"/>
              </a:rPr>
              <a:t>2026.8.29</a:t>
            </a:r>
            <a:endParaRPr lang="en-US" sz="3200" b="1" dirty="0">
              <a:solidFill>
                <a:srgbClr val="000000"/>
              </a:solidFill>
              <a:latin typeface="Arial" panose="020B0604020202020204" pitchFamily="34" charset="0"/>
              <a:ea typeface="黑体" panose="02010609060101010101" pitchFamily="49" charset="-122"/>
              <a:cs typeface="Arial" panose="020B0604020202020204" pitchFamily="34" charset="0"/>
            </a:endParaRPr>
          </a:p>
        </p:txBody>
      </p:sp>
      <p:grpSp>
        <p:nvGrpSpPr>
          <p:cNvPr id="8" name="Group 7">
            <a:extLst>
              <a:ext uri="{FF2B5EF4-FFF2-40B4-BE49-F238E27FC236}">
                <a16:creationId xmlns:a16="http://schemas.microsoft.com/office/drawing/2014/main" id="{9CDFCEC1-C72C-4AFF-9C6E-EE15DF50B3A1}"/>
              </a:ext>
            </a:extLst>
          </p:cNvPr>
          <p:cNvGrpSpPr/>
          <p:nvPr/>
        </p:nvGrpSpPr>
        <p:grpSpPr>
          <a:xfrm>
            <a:off x="-1" y="6042322"/>
            <a:ext cx="12192002" cy="815678"/>
            <a:chOff x="-1" y="5114925"/>
            <a:chExt cx="12192002" cy="1743075"/>
          </a:xfrm>
        </p:grpSpPr>
        <p:sp>
          <p:nvSpPr>
            <p:cNvPr id="9" name="íṥ1íde">
              <a:extLst>
                <a:ext uri="{FF2B5EF4-FFF2-40B4-BE49-F238E27FC236}">
                  <a16:creationId xmlns:a16="http://schemas.microsoft.com/office/drawing/2014/main" id="{6E2BA51F-A4D9-4F46-8543-10DB138EA98E}"/>
                </a:ext>
              </a:extLst>
            </p:cNvPr>
            <p:cNvSpPr/>
            <p:nvPr/>
          </p:nvSpPr>
          <p:spPr>
            <a:xfrm>
              <a:off x="-1" y="5114925"/>
              <a:ext cx="12192001" cy="1743075"/>
            </a:xfrm>
            <a:custGeom>
              <a:avLst/>
              <a:gdLst/>
              <a:ahLst/>
              <a:cxnLst/>
              <a:rect l="0" t="0" r="0" b="0"/>
              <a:pathLst>
                <a:path w="12192001" h="3741094" extrusionOk="0">
                  <a:moveTo>
                    <a:pt x="0" y="51100"/>
                  </a:moveTo>
                  <a:cubicBezTo>
                    <a:pt x="1197428" y="-363602"/>
                    <a:pt x="4795521" y="1882077"/>
                    <a:pt x="6831875" y="1879900"/>
                  </a:cubicBezTo>
                  <a:cubicBezTo>
                    <a:pt x="8868229" y="1877723"/>
                    <a:pt x="11357429" y="825119"/>
                    <a:pt x="12192000" y="1239821"/>
                  </a:cubicBezTo>
                  <a:cubicBezTo>
                    <a:pt x="12192000" y="2073579"/>
                    <a:pt x="12192001" y="2907336"/>
                    <a:pt x="12192001" y="3741094"/>
                  </a:cubicBezTo>
                  <a:lnTo>
                    <a:pt x="1" y="3741094"/>
                  </a:lnTo>
                  <a:cubicBezTo>
                    <a:pt x="1" y="2511096"/>
                    <a:pt x="0" y="1281098"/>
                    <a:pt x="0" y="51100"/>
                  </a:cubicBezTo>
                  <a:close/>
                </a:path>
              </a:pathLst>
            </a:custGeom>
            <a:solidFill>
              <a:srgbClr val="FFFFFF">
                <a:lumMod val="85000"/>
              </a:srgbClr>
            </a:solidFill>
            <a:ln>
              <a:noFill/>
            </a:ln>
            <a:effectLst/>
          </p:spPr>
          <p:txBody>
            <a:bodyPr spcFirstLastPara="1" wrap="square" lIns="91440" tIns="45720" rIns="91440" bIns="45720"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9pPr>
            </a:lstStyle>
            <a:p>
              <a:pPr marL="0" marR="0" lvl="0" indent="0" algn="ctr" defTabSz="457200" rtl="0" eaLnBrk="1" fontAlgn="auto" latinLnBrk="0" hangingPunct="1">
                <a:lnSpc>
                  <a:spcPct val="100000"/>
                </a:lnSpc>
                <a:spcBef>
                  <a:spcPts val="0"/>
                </a:spcBef>
                <a:spcAft>
                  <a:spcPts val="0"/>
                </a:spcAft>
                <a:buClr>
                  <a:srgbClr val="000000"/>
                </a:buClr>
                <a:buSzTx/>
                <a:buFont typeface="Arial" panose="020B0604020202090204"/>
                <a:buNone/>
                <a:tabLst/>
                <a:defRPr/>
              </a:pPr>
              <a:endParaRPr kumimoji="0" sz="1400" b="0" i="0" u="none" strike="noStrike" kern="0" cap="none" spc="0" normalizeH="0" baseline="0" noProof="0">
                <a:ln>
                  <a:noFill/>
                </a:ln>
                <a:solidFill>
                  <a:srgbClr val="000000"/>
                </a:solidFill>
                <a:effectLst/>
                <a:uLnTx/>
                <a:uFillTx/>
                <a:latin typeface="Arial"/>
                <a:ea typeface="Microsoft YaHei"/>
              </a:endParaRPr>
            </a:p>
          </p:txBody>
        </p:sp>
        <p:sp>
          <p:nvSpPr>
            <p:cNvPr id="10" name="ïsļidê">
              <a:extLst>
                <a:ext uri="{FF2B5EF4-FFF2-40B4-BE49-F238E27FC236}">
                  <a16:creationId xmlns:a16="http://schemas.microsoft.com/office/drawing/2014/main" id="{E039ED5A-27C8-46FD-A729-046833071DC5}"/>
                </a:ext>
              </a:extLst>
            </p:cNvPr>
            <p:cNvSpPr/>
            <p:nvPr/>
          </p:nvSpPr>
          <p:spPr>
            <a:xfrm>
              <a:off x="0" y="5729076"/>
              <a:ext cx="12192001" cy="1128921"/>
            </a:xfrm>
            <a:custGeom>
              <a:avLst/>
              <a:gdLst/>
              <a:ahLst/>
              <a:cxnLst/>
              <a:rect l="0" t="0" r="0" b="0"/>
              <a:pathLst>
                <a:path w="12192001" h="3741094" extrusionOk="0">
                  <a:moveTo>
                    <a:pt x="0" y="51100"/>
                  </a:moveTo>
                  <a:cubicBezTo>
                    <a:pt x="1197428" y="-363602"/>
                    <a:pt x="4795521" y="1882077"/>
                    <a:pt x="6831875" y="1879900"/>
                  </a:cubicBezTo>
                  <a:cubicBezTo>
                    <a:pt x="8868229" y="1877723"/>
                    <a:pt x="11357429" y="825119"/>
                    <a:pt x="12192000" y="1239821"/>
                  </a:cubicBezTo>
                  <a:cubicBezTo>
                    <a:pt x="12192000" y="2073579"/>
                    <a:pt x="12192001" y="2907336"/>
                    <a:pt x="12192001" y="3741094"/>
                  </a:cubicBezTo>
                  <a:lnTo>
                    <a:pt x="1" y="3741094"/>
                  </a:lnTo>
                  <a:cubicBezTo>
                    <a:pt x="1" y="2511096"/>
                    <a:pt x="0" y="1281098"/>
                    <a:pt x="0" y="51100"/>
                  </a:cubicBezTo>
                  <a:close/>
                </a:path>
              </a:pathLst>
            </a:custGeom>
            <a:solidFill>
              <a:srgbClr val="083F7F"/>
            </a:solidFill>
            <a:ln>
              <a:noFill/>
            </a:ln>
            <a:effectLst/>
          </p:spPr>
          <p:txBody>
            <a:bodyPr spcFirstLastPara="1" wrap="square" lIns="91440" tIns="45720" rIns="91440" bIns="45720"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9pPr>
            </a:lstStyle>
            <a:p>
              <a:pPr marL="0" marR="0" lvl="0" indent="0" algn="ctr" defTabSz="457200" rtl="0" eaLnBrk="1" fontAlgn="auto" latinLnBrk="0" hangingPunct="1">
                <a:lnSpc>
                  <a:spcPct val="100000"/>
                </a:lnSpc>
                <a:spcBef>
                  <a:spcPts val="0"/>
                </a:spcBef>
                <a:spcAft>
                  <a:spcPts val="0"/>
                </a:spcAft>
                <a:buClr>
                  <a:srgbClr val="000000"/>
                </a:buClr>
                <a:buSzTx/>
                <a:buFont typeface="Arial" panose="020B0604020202090204"/>
                <a:buNone/>
                <a:tabLst/>
                <a:defRPr/>
              </a:pPr>
              <a:endParaRPr kumimoji="0" sz="1400" b="0" i="0" u="none" strike="noStrike" kern="0" cap="none" spc="0" normalizeH="0" baseline="0" noProof="0">
                <a:ln>
                  <a:noFill/>
                </a:ln>
                <a:solidFill>
                  <a:srgbClr val="000000"/>
                </a:solidFill>
                <a:effectLst/>
                <a:uLnTx/>
                <a:uFillTx/>
                <a:latin typeface="Arial"/>
                <a:ea typeface="Microsoft YaHei"/>
              </a:endParaRPr>
            </a:p>
          </p:txBody>
        </p:sp>
      </p:grpSp>
      <p:sp>
        <p:nvSpPr>
          <p:cNvPr id="11" name="Slide Number Placeholder 2">
            <a:extLst>
              <a:ext uri="{FF2B5EF4-FFF2-40B4-BE49-F238E27FC236}">
                <a16:creationId xmlns:a16="http://schemas.microsoft.com/office/drawing/2014/main" id="{F22F27CA-5E6E-4762-8DE2-3B18CBE709A2}"/>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2</a:t>
            </a:fld>
            <a:endParaRPr lang="zh-CN" altLang="en-US" sz="2000" dirty="0">
              <a:solidFill>
                <a:schemeClr val="bg1"/>
              </a:solidFill>
              <a:latin typeface="Arial"/>
              <a:ea typeface="Microsoft YaHei"/>
            </a:endParaRPr>
          </a:p>
        </p:txBody>
      </p:sp>
      <p:pic>
        <p:nvPicPr>
          <p:cNvPr id="15" name="图片 1">
            <a:extLst>
              <a:ext uri="{FF2B5EF4-FFF2-40B4-BE49-F238E27FC236}">
                <a16:creationId xmlns:a16="http://schemas.microsoft.com/office/drawing/2014/main" id="{9E88EFE0-685C-4824-9D5F-1BB1CF8EDE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 y="0"/>
            <a:ext cx="990599" cy="985742"/>
          </a:xfrm>
          <a:prstGeom prst="rect">
            <a:avLst/>
          </a:prstGeom>
        </p:spPr>
      </p:pic>
    </p:spTree>
    <p:extLst>
      <p:ext uri="{BB962C8B-B14F-4D97-AF65-F5344CB8AC3E}">
        <p14:creationId xmlns:p14="http://schemas.microsoft.com/office/powerpoint/2010/main" val="19887816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D2403-D22B-675C-3913-6DF010970BCA}"/>
            </a:ext>
          </a:extLst>
        </p:cNvPr>
        <p:cNvGrpSpPr/>
        <p:nvPr/>
      </p:nvGrpSpPr>
      <p:grpSpPr>
        <a:xfrm>
          <a:off x="0" y="0"/>
          <a:ext cx="0" cy="0"/>
          <a:chOff x="0" y="0"/>
          <a:chExt cx="0" cy="0"/>
        </a:xfrm>
      </p:grpSpPr>
      <p:sp>
        <p:nvSpPr>
          <p:cNvPr id="22" name="block-1-background">
            <a:extLst>
              <a:ext uri="{FF2B5EF4-FFF2-40B4-BE49-F238E27FC236}">
                <a16:creationId xmlns:a16="http://schemas.microsoft.com/office/drawing/2014/main" id="{6CE82B7E-C0DF-1F7E-5B8E-B150FB39A4CF}"/>
              </a:ext>
            </a:extLst>
          </p:cNvPr>
          <p:cNvSpPr>
            <a:spLocks noGrp="1"/>
          </p:cNvSpPr>
          <p:nvPr/>
        </p:nvSpPr>
        <p:spPr>
          <a:xfrm>
            <a:off x="34086" y="529835"/>
            <a:ext cx="12038577" cy="1758834"/>
          </a:xfrm>
          <a:prstGeom prst="rect">
            <a:avLst/>
          </a:prstGeom>
          <a:solidFill>
            <a:srgbClr val="EAF5EF"/>
          </a:solidFill>
          <a:ln w="0">
            <a:solidFill>
              <a:srgbClr val="EAF5EF"/>
            </a:solidFill>
            <a:prstDash val="solid"/>
          </a:ln>
        </p:spPr>
        <p:txBody>
          <a:bodyPr/>
          <a:lstStyle/>
          <a:p>
            <a:endParaRPr lang="zh-CN" altLang="en-US"/>
          </a:p>
        </p:txBody>
      </p:sp>
      <p:cxnSp>
        <p:nvCxnSpPr>
          <p:cNvPr id="5" name="Straight Connector 4">
            <a:extLst>
              <a:ext uri="{FF2B5EF4-FFF2-40B4-BE49-F238E27FC236}">
                <a16:creationId xmlns:a16="http://schemas.microsoft.com/office/drawing/2014/main" id="{FA1E170A-9591-20B5-15F1-A693A7F33C02}"/>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pic>
        <p:nvPicPr>
          <p:cNvPr id="13" name="图片 1">
            <a:extLst>
              <a:ext uri="{FF2B5EF4-FFF2-40B4-BE49-F238E27FC236}">
                <a16:creationId xmlns:a16="http://schemas.microsoft.com/office/drawing/2014/main" id="{A270C0B9-C950-A10A-A96E-81E8B5BB09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DEE52ACB-A19B-8A8A-A1FE-7621483419DE}"/>
              </a:ext>
            </a:extLst>
          </p:cNvPr>
          <p:cNvSpPr txBox="1"/>
          <p:nvPr/>
        </p:nvSpPr>
        <p:spPr>
          <a:xfrm>
            <a:off x="623392" y="69315"/>
            <a:ext cx="11568608" cy="369332"/>
          </a:xfrm>
          <a:prstGeom prst="rect">
            <a:avLst/>
          </a:prstGeom>
          <a:noFill/>
        </p:spPr>
        <p:txBody>
          <a:bodyPr wrap="square" rtlCol="0">
            <a:spAutoFit/>
          </a:bodyPr>
          <a:lstStyle/>
          <a:p>
            <a:r>
              <a:rPr lang="zh-CN" altLang="en-US">
                <a:solidFill>
                  <a:srgbClr val="FF0000"/>
                </a:solidFill>
              </a:rPr>
              <a:t>课题背景</a:t>
            </a:r>
            <a:endParaRPr lang="en-US" altLang="zh-CN" dirty="0">
              <a:solidFill>
                <a:srgbClr val="FF0000"/>
              </a:solidFill>
            </a:endParaRPr>
          </a:p>
        </p:txBody>
      </p:sp>
      <p:sp>
        <p:nvSpPr>
          <p:cNvPr id="7" name="文本框 6">
            <a:extLst>
              <a:ext uri="{FF2B5EF4-FFF2-40B4-BE49-F238E27FC236}">
                <a16:creationId xmlns:a16="http://schemas.microsoft.com/office/drawing/2014/main" id="{A1BC80E4-383F-DCC5-0FF1-19600A32DB28}"/>
              </a:ext>
            </a:extLst>
          </p:cNvPr>
          <p:cNvSpPr txBox="1"/>
          <p:nvPr/>
        </p:nvSpPr>
        <p:spPr>
          <a:xfrm>
            <a:off x="0" y="734398"/>
            <a:ext cx="12144671" cy="1554272"/>
          </a:xfrm>
          <a:prstGeom prst="rect">
            <a:avLst/>
          </a:prstGeom>
          <a:noFill/>
        </p:spPr>
        <p:txBody>
          <a:bodyPr wrap="square">
            <a:spAutoFit/>
          </a:bodyPr>
          <a:lstStyle/>
          <a:p>
            <a:pPr indent="457200">
              <a:lnSpc>
                <a:spcPct val="100000"/>
              </a:lnSpc>
              <a:spcAft>
                <a:spcPts val="600"/>
              </a:spcAft>
              <a:buNone/>
            </a:pPr>
            <a:r>
              <a:rPr lang="zh-CN" altLang="zh-CN" sz="1800">
                <a:solidFill>
                  <a:schemeClr val="tx1"/>
                </a:solidFill>
                <a:effectLst/>
                <a:latin typeface="+mn-lt"/>
                <a:ea typeface="微软雅黑" panose="020B0503020204020204" pitchFamily="34" charset="-122"/>
                <a:cs typeface="微软雅黑" panose="020B0503020204020204" pitchFamily="34" charset="-122"/>
              </a:rPr>
              <a:t>传统</a:t>
            </a:r>
            <a:r>
              <a:rPr lang="en-US" altLang="zh-CN" sz="1800">
                <a:solidFill>
                  <a:schemeClr val="tx1"/>
                </a:solidFill>
                <a:effectLst/>
                <a:latin typeface="+mn-lt"/>
                <a:ea typeface="微软雅黑" panose="020B0503020204020204" pitchFamily="34" charset="-122"/>
                <a:cs typeface="微软雅黑" panose="020B0503020204020204" pitchFamily="34" charset="-122"/>
              </a:rPr>
              <a:t>Stokes polarimeter</a:t>
            </a:r>
            <a:r>
              <a:rPr lang="zh-CN" altLang="zh-CN" sz="1800">
                <a:solidFill>
                  <a:schemeClr val="tx1"/>
                </a:solidFill>
                <a:effectLst/>
                <a:latin typeface="+mn-lt"/>
                <a:ea typeface="微软雅黑" panose="020B0503020204020204" pitchFamily="34" charset="-122"/>
                <a:cs typeface="微软雅黑" panose="020B0503020204020204" pitchFamily="34" charset="-122"/>
              </a:rPr>
              <a:t>通常给出整束入射光的整体</a:t>
            </a:r>
            <a:r>
              <a:rPr lang="en-US" altLang="zh-CN" sz="1800">
                <a:solidFill>
                  <a:schemeClr val="tx1"/>
                </a:solidFill>
                <a:effectLst/>
                <a:latin typeface="+mn-lt"/>
                <a:ea typeface="微软雅黑" panose="020B0503020204020204" pitchFamily="34" charset="-122"/>
                <a:cs typeface="微软雅黑" panose="020B0503020204020204" pitchFamily="34" charset="-122"/>
              </a:rPr>
              <a:t>Stokes</a:t>
            </a:r>
            <a:r>
              <a:rPr lang="zh-CN" altLang="zh-CN" sz="1800">
                <a:solidFill>
                  <a:schemeClr val="tx1"/>
                </a:solidFill>
                <a:effectLst/>
                <a:latin typeface="+mn-lt"/>
                <a:ea typeface="微软雅黑" panose="020B0503020204020204" pitchFamily="34" charset="-122"/>
                <a:cs typeface="微软雅黑" panose="020B0503020204020204" pitchFamily="34" charset="-122"/>
              </a:rPr>
              <a:t>向量，</a:t>
            </a:r>
            <a:r>
              <a:rPr lang="zh-CN" altLang="zh-CN" sz="1800">
                <a:solidFill>
                  <a:srgbClr val="FF0000"/>
                </a:solidFill>
                <a:effectLst/>
                <a:latin typeface="+mn-lt"/>
                <a:ea typeface="微软雅黑" panose="020B0503020204020204" pitchFamily="34" charset="-122"/>
                <a:cs typeface="微软雅黑" panose="020B0503020204020204" pitchFamily="34" charset="-122"/>
              </a:rPr>
              <a:t>不能直接区分物体不同空间位置的偏振信息</a:t>
            </a:r>
            <a:r>
              <a:rPr lang="zh-CN" altLang="zh-CN" sz="1800">
                <a:solidFill>
                  <a:schemeClr val="tx1"/>
                </a:solidFill>
                <a:effectLst/>
                <a:latin typeface="+mn-lt"/>
                <a:ea typeface="微软雅黑" panose="020B0503020204020204" pitchFamily="34" charset="-122"/>
                <a:cs typeface="微软雅黑" panose="020B0503020204020204" pitchFamily="34" charset="-122"/>
              </a:rPr>
              <a:t>。</a:t>
            </a:r>
            <a:r>
              <a:rPr lang="en-US" altLang="zh-CN" sz="1800">
                <a:solidFill>
                  <a:schemeClr val="tx1"/>
                </a:solidFill>
                <a:effectLst/>
                <a:latin typeface="+mn-lt"/>
                <a:ea typeface="微软雅黑" panose="020B0503020204020204" pitchFamily="34" charset="-122"/>
                <a:cs typeface="微软雅黑" panose="020B0503020204020204" pitchFamily="34" charset="-122"/>
              </a:rPr>
              <a:t>PPT</a:t>
            </a:r>
            <a:r>
              <a:rPr lang="zh-CN" altLang="zh-CN" sz="1800">
                <a:solidFill>
                  <a:schemeClr val="tx1"/>
                </a:solidFill>
                <a:effectLst/>
                <a:latin typeface="+mn-lt"/>
                <a:ea typeface="微软雅黑" panose="020B0503020204020204" pitchFamily="34" charset="-122"/>
                <a:cs typeface="微软雅黑" panose="020B0503020204020204" pitchFamily="34" charset="-122"/>
              </a:rPr>
              <a:t>引用的</a:t>
            </a:r>
            <a:r>
              <a:rPr lang="en-US" altLang="zh-CN" sz="1800">
                <a:solidFill>
                  <a:schemeClr val="tx1"/>
                </a:solidFill>
                <a:effectLst/>
                <a:latin typeface="+mn-lt"/>
                <a:ea typeface="微软雅黑" panose="020B0503020204020204" pitchFamily="34" charset="-122"/>
                <a:cs typeface="微软雅黑" panose="020B0503020204020204" pitchFamily="34" charset="-122"/>
              </a:rPr>
              <a:t>2012</a:t>
            </a:r>
            <a:r>
              <a:rPr lang="zh-CN" altLang="zh-CN" sz="1800">
                <a:solidFill>
                  <a:schemeClr val="tx1"/>
                </a:solidFill>
                <a:effectLst/>
                <a:latin typeface="+mn-lt"/>
                <a:ea typeface="微软雅黑" panose="020B0503020204020204" pitchFamily="34" charset="-122"/>
                <a:cs typeface="微软雅黑" panose="020B0503020204020204" pitchFamily="34" charset="-122"/>
              </a:rPr>
              <a:t>年单像素偏振成像工作</a:t>
            </a:r>
            <a:r>
              <a:rPr lang="en-US" altLang="zh-CN">
                <a:ea typeface="微软雅黑" panose="020B0503020204020204" pitchFamily="34" charset="-122"/>
                <a:cs typeface="微软雅黑" panose="020B0503020204020204" pitchFamily="34" charset="-122"/>
              </a:rPr>
              <a:t>Single-pixel polarimetric imaging</a:t>
            </a:r>
            <a:r>
              <a:rPr lang="zh-CN" altLang="zh-CN" sz="1800">
                <a:solidFill>
                  <a:schemeClr val="tx1"/>
                </a:solidFill>
                <a:effectLst/>
                <a:latin typeface="+mn-lt"/>
                <a:ea typeface="微软雅黑" panose="020B0503020204020204" pitchFamily="34" charset="-122"/>
                <a:cs typeface="微软雅黑" panose="020B0503020204020204" pitchFamily="34" charset="-122"/>
              </a:rPr>
              <a:t>，将</a:t>
            </a:r>
            <a:r>
              <a:rPr lang="en-US" altLang="zh-CN" sz="1800">
                <a:solidFill>
                  <a:schemeClr val="tx1"/>
                </a:solidFill>
                <a:effectLst/>
                <a:latin typeface="+mn-lt"/>
                <a:ea typeface="微软雅黑" panose="020B0503020204020204" pitchFamily="34" charset="-122"/>
                <a:cs typeface="微软雅黑" panose="020B0503020204020204" pitchFamily="34" charset="-122"/>
              </a:rPr>
              <a:t>Hadamard</a:t>
            </a:r>
            <a:r>
              <a:rPr lang="zh-CN" altLang="zh-CN" sz="1800">
                <a:solidFill>
                  <a:schemeClr val="tx1"/>
                </a:solidFill>
                <a:effectLst/>
                <a:latin typeface="+mn-lt"/>
                <a:ea typeface="微软雅黑" panose="020B0503020204020204" pitchFamily="34" charset="-122"/>
                <a:cs typeface="微软雅黑" panose="020B0503020204020204" pitchFamily="34" charset="-122"/>
              </a:rPr>
              <a:t>空间编码与整体偏振测量结合：逐次投影空间基底，记录每个基底对应的整体</a:t>
            </a:r>
            <a:r>
              <a:rPr lang="en-US" altLang="zh-CN" sz="1800">
                <a:solidFill>
                  <a:schemeClr val="tx1"/>
                </a:solidFill>
                <a:effectLst/>
                <a:latin typeface="+mn-lt"/>
                <a:ea typeface="微软雅黑" panose="020B0503020204020204" pitchFamily="34" charset="-122"/>
                <a:cs typeface="微软雅黑" panose="020B0503020204020204" pitchFamily="34" charset="-122"/>
              </a:rPr>
              <a:t>Stokes</a:t>
            </a:r>
            <a:r>
              <a:rPr lang="zh-CN" altLang="zh-CN" sz="1800">
                <a:solidFill>
                  <a:schemeClr val="tx1"/>
                </a:solidFill>
                <a:effectLst/>
                <a:latin typeface="+mn-lt"/>
                <a:ea typeface="微软雅黑" panose="020B0503020204020204" pitchFamily="34" charset="-122"/>
                <a:cs typeface="微软雅黑" panose="020B0503020204020204" pitchFamily="34" charset="-122"/>
              </a:rPr>
              <a:t>响应，再通过逆变换恢复各像素的</a:t>
            </a:r>
            <a:r>
              <a:rPr lang="en-US" altLang="zh-CN" sz="1800">
                <a:solidFill>
                  <a:schemeClr val="tx1"/>
                </a:solidFill>
                <a:effectLst/>
                <a:latin typeface="+mn-lt"/>
                <a:ea typeface="微软雅黑" panose="020B0503020204020204" pitchFamily="34" charset="-122"/>
                <a:cs typeface="微软雅黑" panose="020B0503020204020204" pitchFamily="34" charset="-122"/>
              </a:rPr>
              <a:t>Stokes</a:t>
            </a:r>
            <a:r>
              <a:rPr lang="zh-CN" altLang="zh-CN" sz="1800">
                <a:solidFill>
                  <a:schemeClr val="tx1"/>
                </a:solidFill>
                <a:effectLst/>
                <a:latin typeface="+mn-lt"/>
                <a:ea typeface="微软雅黑" panose="020B0503020204020204" pitchFamily="34" charset="-122"/>
                <a:cs typeface="微软雅黑" panose="020B0503020204020204" pitchFamily="34" charset="-122"/>
              </a:rPr>
              <a:t>参数。</a:t>
            </a:r>
            <a:endParaRPr lang="zh-CN" altLang="zh-CN" sz="1800">
              <a:solidFill>
                <a:schemeClr val="tx1"/>
              </a:solidFill>
              <a:effectLst/>
              <a:latin typeface="+mn-lt"/>
              <a:ea typeface="微软雅黑" panose="020B0503020204020204" pitchFamily="34" charset="-122"/>
              <a:cs typeface="Times New Roman" panose="02020603050405020304" pitchFamily="18" charset="0"/>
            </a:endParaRPr>
          </a:p>
          <a:p>
            <a:pPr indent="457200">
              <a:lnSpc>
                <a:spcPct val="100000"/>
              </a:lnSpc>
              <a:spcAft>
                <a:spcPts val="600"/>
              </a:spcAft>
              <a:buNone/>
            </a:pPr>
            <a:r>
              <a:rPr lang="zh-CN" altLang="zh-CN" sz="1800">
                <a:solidFill>
                  <a:schemeClr val="tx1"/>
                </a:solidFill>
                <a:effectLst/>
                <a:latin typeface="+mn-lt"/>
                <a:ea typeface="微软雅黑" panose="020B0503020204020204" pitchFamily="34" charset="-122"/>
                <a:cs typeface="微软雅黑" panose="020B0503020204020204" pitchFamily="34" charset="-122"/>
              </a:rPr>
              <a:t>本课题沿用</a:t>
            </a:r>
            <a:r>
              <a:rPr lang="en-US" altLang="zh-CN" sz="1800">
                <a:solidFill>
                  <a:schemeClr val="tx1"/>
                </a:solidFill>
                <a:effectLst/>
                <a:latin typeface="+mn-lt"/>
                <a:ea typeface="微软雅黑" panose="020B0503020204020204" pitchFamily="34" charset="-122"/>
                <a:cs typeface="微软雅黑" panose="020B0503020204020204" pitchFamily="34" charset="-122"/>
              </a:rPr>
              <a:t>“</a:t>
            </a:r>
            <a:r>
              <a:rPr lang="zh-CN" altLang="zh-CN" sz="1800">
                <a:solidFill>
                  <a:srgbClr val="FF0000"/>
                </a:solidFill>
                <a:effectLst/>
                <a:latin typeface="+mn-lt"/>
                <a:ea typeface="微软雅黑" panose="020B0503020204020204" pitchFamily="34" charset="-122"/>
                <a:cs typeface="微软雅黑" panose="020B0503020204020204" pitchFamily="34" charset="-122"/>
              </a:rPr>
              <a:t>空间编码</a:t>
            </a:r>
            <a:r>
              <a:rPr lang="en-US" altLang="zh-CN" sz="1800">
                <a:solidFill>
                  <a:srgbClr val="FF0000"/>
                </a:solidFill>
                <a:effectLst/>
                <a:latin typeface="+mn-lt"/>
                <a:ea typeface="微软雅黑" panose="020B0503020204020204" pitchFamily="34" charset="-122"/>
                <a:cs typeface="微软雅黑" panose="020B0503020204020204" pitchFamily="34" charset="-122"/>
              </a:rPr>
              <a:t> + </a:t>
            </a:r>
            <a:r>
              <a:rPr lang="zh-CN" altLang="zh-CN" sz="1800">
                <a:solidFill>
                  <a:srgbClr val="FF0000"/>
                </a:solidFill>
                <a:effectLst/>
                <a:latin typeface="+mn-lt"/>
                <a:ea typeface="微软雅黑" panose="020B0503020204020204" pitchFamily="34" charset="-122"/>
                <a:cs typeface="微软雅黑" panose="020B0503020204020204" pitchFamily="34" charset="-122"/>
              </a:rPr>
              <a:t>偏振测量</a:t>
            </a:r>
            <a:r>
              <a:rPr lang="en-US" altLang="zh-CN" sz="1800">
                <a:solidFill>
                  <a:srgbClr val="FF0000"/>
                </a:solidFill>
                <a:effectLst/>
                <a:latin typeface="+mn-lt"/>
                <a:ea typeface="微软雅黑" panose="020B0503020204020204" pitchFamily="34" charset="-122"/>
                <a:cs typeface="微软雅黑" panose="020B0503020204020204" pitchFamily="34" charset="-122"/>
              </a:rPr>
              <a:t> + </a:t>
            </a:r>
            <a:r>
              <a:rPr lang="zh-CN" altLang="zh-CN" sz="1800">
                <a:solidFill>
                  <a:srgbClr val="FF0000"/>
                </a:solidFill>
                <a:effectLst/>
                <a:latin typeface="+mn-lt"/>
                <a:ea typeface="微软雅黑" panose="020B0503020204020204" pitchFamily="34" charset="-122"/>
                <a:cs typeface="微软雅黑" panose="020B0503020204020204" pitchFamily="34" charset="-122"/>
              </a:rPr>
              <a:t>图像反演</a:t>
            </a:r>
            <a:r>
              <a:rPr lang="en-US" altLang="zh-CN" sz="1800">
                <a:solidFill>
                  <a:schemeClr val="tx1"/>
                </a:solidFill>
                <a:effectLst/>
                <a:latin typeface="+mn-lt"/>
                <a:ea typeface="微软雅黑" panose="020B0503020204020204" pitchFamily="34" charset="-122"/>
                <a:cs typeface="微软雅黑" panose="020B0503020204020204" pitchFamily="34" charset="-122"/>
              </a:rPr>
              <a:t>”</a:t>
            </a:r>
            <a:r>
              <a:rPr lang="zh-CN" altLang="zh-CN" sz="1800">
                <a:solidFill>
                  <a:schemeClr val="tx1"/>
                </a:solidFill>
                <a:effectLst/>
                <a:latin typeface="+mn-lt"/>
                <a:ea typeface="微软雅黑" panose="020B0503020204020204" pitchFamily="34" charset="-122"/>
                <a:cs typeface="微软雅黑" panose="020B0503020204020204" pitchFamily="34" charset="-122"/>
              </a:rPr>
              <a:t>的总体思路，但当前系统以</a:t>
            </a:r>
            <a:r>
              <a:rPr lang="en-US" altLang="zh-CN" sz="1800">
                <a:solidFill>
                  <a:schemeClr val="tx1"/>
                </a:solidFill>
                <a:effectLst/>
                <a:latin typeface="+mn-lt"/>
                <a:ea typeface="微软雅黑" panose="020B0503020204020204" pitchFamily="34" charset="-122"/>
                <a:cs typeface="微软雅黑" panose="020B0503020204020204" pitchFamily="34" charset="-122"/>
              </a:rPr>
              <a:t>DMD</a:t>
            </a:r>
            <a:r>
              <a:rPr lang="zh-CN" altLang="zh-CN" sz="1800">
                <a:solidFill>
                  <a:schemeClr val="tx1"/>
                </a:solidFill>
                <a:effectLst/>
                <a:latin typeface="+mn-lt"/>
                <a:ea typeface="微软雅黑" panose="020B0503020204020204" pitchFamily="34" charset="-122"/>
                <a:cs typeface="微软雅黑" panose="020B0503020204020204" pitchFamily="34" charset="-122"/>
              </a:rPr>
              <a:t>承担空间编码，以</a:t>
            </a:r>
            <a:r>
              <a:rPr lang="en-US" altLang="zh-CN" sz="1800">
                <a:solidFill>
                  <a:schemeClr val="tx1"/>
                </a:solidFill>
                <a:effectLst/>
                <a:latin typeface="+mn-lt"/>
                <a:ea typeface="微软雅黑" panose="020B0503020204020204" pitchFamily="34" charset="-122"/>
                <a:cs typeface="微软雅黑" panose="020B0503020204020204" pitchFamily="34" charset="-122"/>
              </a:rPr>
              <a:t>PEM</a:t>
            </a:r>
            <a:r>
              <a:rPr lang="zh-CN" altLang="zh-CN" sz="1800">
                <a:solidFill>
                  <a:schemeClr val="tx1"/>
                </a:solidFill>
                <a:effectLst/>
                <a:latin typeface="+mn-lt"/>
                <a:ea typeface="微软雅黑" panose="020B0503020204020204" pitchFamily="34" charset="-122"/>
                <a:cs typeface="微软雅黑" panose="020B0503020204020204" pitchFamily="34" charset="-122"/>
              </a:rPr>
              <a:t>和检偏器完成偏振到频率</a:t>
            </a:r>
            <a:r>
              <a:rPr lang="en-US" altLang="zh-CN" sz="1800">
                <a:solidFill>
                  <a:schemeClr val="tx1"/>
                </a:solidFill>
                <a:effectLst/>
                <a:latin typeface="+mn-lt"/>
                <a:ea typeface="微软雅黑" panose="020B0503020204020204" pitchFamily="34" charset="-122"/>
                <a:cs typeface="微软雅黑" panose="020B0503020204020204" pitchFamily="34" charset="-122"/>
              </a:rPr>
              <a:t>/</a:t>
            </a:r>
            <a:r>
              <a:rPr lang="zh-CN" altLang="zh-CN" sz="1800">
                <a:solidFill>
                  <a:schemeClr val="tx1"/>
                </a:solidFill>
                <a:effectLst/>
                <a:latin typeface="+mn-lt"/>
                <a:ea typeface="微软雅黑" panose="020B0503020204020204" pitchFamily="34" charset="-122"/>
                <a:cs typeface="微软雅黑" panose="020B0503020204020204" pitchFamily="34" charset="-122"/>
              </a:rPr>
              <a:t>强度信号的转换，并以锁相放大器提取谐波分量。</a:t>
            </a:r>
            <a:endParaRPr lang="zh-CN" altLang="zh-CN" sz="1100">
              <a:solidFill>
                <a:srgbClr val="1F2937"/>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0" name="图片 19">
            <a:extLst>
              <a:ext uri="{FF2B5EF4-FFF2-40B4-BE49-F238E27FC236}">
                <a16:creationId xmlns:a16="http://schemas.microsoft.com/office/drawing/2014/main" id="{A785C01D-6627-A3DA-7928-AC5245DAF26F}"/>
              </a:ext>
            </a:extLst>
          </p:cNvPr>
          <p:cNvPicPr>
            <a:picLocks noChangeAspect="1"/>
          </p:cNvPicPr>
          <p:nvPr/>
        </p:nvPicPr>
        <p:blipFill>
          <a:blip r:embed="rId3"/>
          <a:stretch>
            <a:fillRect/>
          </a:stretch>
        </p:blipFill>
        <p:spPr>
          <a:xfrm>
            <a:off x="407368" y="2288669"/>
            <a:ext cx="10297144" cy="4558526"/>
          </a:xfrm>
          <a:prstGeom prst="rect">
            <a:avLst/>
          </a:prstGeom>
        </p:spPr>
      </p:pic>
      <p:sp>
        <p:nvSpPr>
          <p:cNvPr id="8" name="Slide Number Placeholder 2">
            <a:extLst>
              <a:ext uri="{FF2B5EF4-FFF2-40B4-BE49-F238E27FC236}">
                <a16:creationId xmlns:a16="http://schemas.microsoft.com/office/drawing/2014/main" id="{EA5A1DE6-4254-332C-337A-9963B67E3013}"/>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3</a:t>
            </a:fld>
            <a:endParaRPr lang="zh-CN" altLang="en-US" sz="2000" dirty="0">
              <a:latin typeface="Arial"/>
              <a:ea typeface="Microsoft YaHei"/>
            </a:endParaRPr>
          </a:p>
        </p:txBody>
      </p:sp>
    </p:spTree>
    <p:extLst>
      <p:ext uri="{BB962C8B-B14F-4D97-AF65-F5344CB8AC3E}">
        <p14:creationId xmlns:p14="http://schemas.microsoft.com/office/powerpoint/2010/main" val="3239546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48479-649C-BEFA-47E8-A72F9D43B10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B5927E9-082F-2190-D28D-1C70EF9F1D0A}"/>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DC014CD6-552D-B9C6-9376-56A0EFBB2B48}"/>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4</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D723305C-E23F-9C5E-6036-5FAFEBB792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FC832984-A620-4981-A3DB-8B1802B639FF}"/>
              </a:ext>
            </a:extLst>
          </p:cNvPr>
          <p:cNvSpPr txBox="1"/>
          <p:nvPr/>
        </p:nvSpPr>
        <p:spPr>
          <a:xfrm>
            <a:off x="581011" y="74525"/>
            <a:ext cx="5544616" cy="369332"/>
          </a:xfrm>
          <a:prstGeom prst="rect">
            <a:avLst/>
          </a:prstGeom>
          <a:noFill/>
        </p:spPr>
        <p:txBody>
          <a:bodyPr wrap="square" rtlCol="0">
            <a:spAutoFit/>
          </a:bodyPr>
          <a:lstStyle/>
          <a:p>
            <a:r>
              <a:rPr lang="zh-CN" altLang="en-US">
                <a:solidFill>
                  <a:srgbClr val="FF0000"/>
                </a:solidFill>
              </a:rPr>
              <a:t>课题目标</a:t>
            </a:r>
            <a:endParaRPr lang="en-US" altLang="zh-CN" dirty="0">
              <a:solidFill>
                <a:srgbClr val="FF0000"/>
              </a:solidFill>
            </a:endParaRPr>
          </a:p>
        </p:txBody>
      </p:sp>
      <p:sp>
        <p:nvSpPr>
          <p:cNvPr id="4" name="block-1-background">
            <a:extLst>
              <a:ext uri="{FF2B5EF4-FFF2-40B4-BE49-F238E27FC236}">
                <a16:creationId xmlns:a16="http://schemas.microsoft.com/office/drawing/2014/main" id="{1D934D4E-64CA-2A0C-DB31-56FB2E76E103}"/>
              </a:ext>
            </a:extLst>
          </p:cNvPr>
          <p:cNvSpPr>
            <a:spLocks noGrp="1"/>
          </p:cNvSpPr>
          <p:nvPr/>
        </p:nvSpPr>
        <p:spPr>
          <a:xfrm>
            <a:off x="266700" y="680511"/>
            <a:ext cx="11658600" cy="804271"/>
          </a:xfrm>
          <a:prstGeom prst="rect">
            <a:avLst/>
          </a:prstGeom>
          <a:solidFill>
            <a:srgbClr val="EAF5EF"/>
          </a:solidFill>
          <a:ln w="0">
            <a:solidFill>
              <a:srgbClr val="EAF5EF"/>
            </a:solidFill>
            <a:prstDash val="solid"/>
          </a:ln>
        </p:spPr>
        <p:txBody>
          <a:bodyPr/>
          <a:lstStyle/>
          <a:p>
            <a:endParaRPr lang="zh-CN" altLang="en-US"/>
          </a:p>
        </p:txBody>
      </p:sp>
      <p:sp>
        <p:nvSpPr>
          <p:cNvPr id="8" name="block-1-accent">
            <a:extLst>
              <a:ext uri="{FF2B5EF4-FFF2-40B4-BE49-F238E27FC236}">
                <a16:creationId xmlns:a16="http://schemas.microsoft.com/office/drawing/2014/main" id="{DDB7A47E-A63F-E635-E810-33143A2E7F89}"/>
              </a:ext>
            </a:extLst>
          </p:cNvPr>
          <p:cNvSpPr>
            <a:spLocks noGrp="1"/>
          </p:cNvSpPr>
          <p:nvPr/>
        </p:nvSpPr>
        <p:spPr>
          <a:xfrm>
            <a:off x="266700" y="680511"/>
            <a:ext cx="76200" cy="804271"/>
          </a:xfrm>
          <a:prstGeom prst="rect">
            <a:avLst/>
          </a:prstGeom>
          <a:solidFill>
            <a:srgbClr val="16704E"/>
          </a:solidFill>
          <a:ln w="0">
            <a:solidFill>
              <a:srgbClr val="16704E"/>
            </a:solidFill>
            <a:prstDash val="solid"/>
          </a:ln>
        </p:spPr>
        <p:txBody>
          <a:bodyPr/>
          <a:lstStyle/>
          <a:p>
            <a:endParaRPr lang="zh-CN" altLang="en-US"/>
          </a:p>
        </p:txBody>
      </p:sp>
      <p:sp>
        <p:nvSpPr>
          <p:cNvPr id="10" name="current-goal-label">
            <a:extLst>
              <a:ext uri="{FF2B5EF4-FFF2-40B4-BE49-F238E27FC236}">
                <a16:creationId xmlns:a16="http://schemas.microsoft.com/office/drawing/2014/main" id="{26F5EB54-4620-0789-FBC4-2954D1D25550}"/>
              </a:ext>
            </a:extLst>
          </p:cNvPr>
          <p:cNvSpPr>
            <a:spLocks noGrp="1"/>
          </p:cNvSpPr>
          <p:nvPr/>
        </p:nvSpPr>
        <p:spPr>
          <a:xfrm>
            <a:off x="476250" y="890061"/>
            <a:ext cx="1238250" cy="361950"/>
          </a:xfrm>
          <a:prstGeom prst="rect">
            <a:avLst/>
          </a:prstGeom>
        </p:spPr>
        <p:txBody>
          <a:bodyPr wrap="square" lIns="0" tIns="0" rIns="0" bIns="0" anchor="t">
            <a:noAutofit/>
          </a:bodyPr>
          <a:lstStyle/>
          <a:p>
            <a:pPr algn="l">
              <a:defRPr sz="2100" b="1">
                <a:solidFill>
                  <a:srgbClr val="16704E"/>
                </a:solidFill>
                <a:latin typeface="Microsoft YaHei"/>
                <a:ea typeface="Microsoft YaHei"/>
                <a:cs typeface="Microsoft YaHei"/>
              </a:defRPr>
            </a:pPr>
            <a:r>
              <a:rPr lang="zh-CN" altLang="en-US"/>
              <a:t>最终</a:t>
            </a:r>
            <a:r>
              <a:t>目标</a:t>
            </a:r>
          </a:p>
        </p:txBody>
      </p:sp>
      <p:sp>
        <p:nvSpPr>
          <p:cNvPr id="14" name="current-goal-body">
            <a:extLst>
              <a:ext uri="{FF2B5EF4-FFF2-40B4-BE49-F238E27FC236}">
                <a16:creationId xmlns:a16="http://schemas.microsoft.com/office/drawing/2014/main" id="{B57AFD81-50E4-BC43-3A20-340361711818}"/>
              </a:ext>
            </a:extLst>
          </p:cNvPr>
          <p:cNvSpPr>
            <a:spLocks noGrp="1"/>
          </p:cNvSpPr>
          <p:nvPr/>
        </p:nvSpPr>
        <p:spPr>
          <a:xfrm>
            <a:off x="1695450" y="808009"/>
            <a:ext cx="10161190" cy="623296"/>
          </a:xfrm>
          <a:prstGeom prst="rect">
            <a:avLst/>
          </a:prstGeom>
        </p:spPr>
        <p:txBody>
          <a:bodyPr wrap="square" lIns="0" tIns="0" rIns="0" bIns="0" anchor="t">
            <a:noAutofit/>
          </a:bodyPr>
          <a:lstStyle/>
          <a:p>
            <a:pPr algn="l">
              <a:defRPr sz="1763" b="0">
                <a:solidFill>
                  <a:srgbClr val="1D2A3A"/>
                </a:solidFill>
                <a:latin typeface="Microsoft YaHei"/>
                <a:ea typeface="Microsoft YaHei"/>
                <a:cs typeface="Microsoft YaHei"/>
              </a:defRPr>
            </a:pPr>
            <a:r>
              <a:t>搭建以 DMD 进行空间编码、以 PEM 进行偏振调制、以锁相放大器提取 DC/1f/2f 分量
的单像素偏振成像系统，并据此重构具有空间分辨率的 Stokes 参数图像。</a:t>
            </a:r>
          </a:p>
        </p:txBody>
      </p:sp>
      <p:pic>
        <p:nvPicPr>
          <p:cNvPr id="19" name="图片 18" descr="图片预览">
            <a:extLst>
              <a:ext uri="{FF2B5EF4-FFF2-40B4-BE49-F238E27FC236}">
                <a16:creationId xmlns:a16="http://schemas.microsoft.com/office/drawing/2014/main" id="{8FCE4C57-DD2C-A28C-C8F5-35E04CD74980}"/>
              </a:ext>
            </a:extLst>
          </p:cNvPr>
          <p:cNvPicPr>
            <a:picLocks noChangeAspect="1"/>
          </p:cNvPicPr>
          <p:nvPr/>
        </p:nvPicPr>
        <p:blipFill>
          <a:blip r:embed="rId3"/>
          <a:srcRect t="14118" r="1123" b="36686"/>
          <a:stretch>
            <a:fillRect/>
          </a:stretch>
        </p:blipFill>
        <p:spPr>
          <a:xfrm>
            <a:off x="1415480" y="1483196"/>
            <a:ext cx="6336704" cy="1360890"/>
          </a:xfrm>
          <a:prstGeom prst="rect">
            <a:avLst/>
          </a:prstGeom>
        </p:spPr>
      </p:pic>
      <p:pic>
        <p:nvPicPr>
          <p:cNvPr id="20" name="图片 19" descr="图片预览">
            <a:extLst>
              <a:ext uri="{FF2B5EF4-FFF2-40B4-BE49-F238E27FC236}">
                <a16:creationId xmlns:a16="http://schemas.microsoft.com/office/drawing/2014/main" id="{6D1B802F-D81B-E9BF-0CDF-3471E7DEF0DF}"/>
              </a:ext>
            </a:extLst>
          </p:cNvPr>
          <p:cNvPicPr>
            <a:picLocks noChangeAspect="1"/>
          </p:cNvPicPr>
          <p:nvPr/>
        </p:nvPicPr>
        <p:blipFill>
          <a:blip r:embed="rId3"/>
          <a:srcRect l="76405" t="62221" r="4494" b="9544"/>
          <a:stretch>
            <a:fillRect/>
          </a:stretch>
        </p:blipFill>
        <p:spPr>
          <a:xfrm>
            <a:off x="7896200" y="1609710"/>
            <a:ext cx="1224136" cy="781050"/>
          </a:xfrm>
          <a:prstGeom prst="rect">
            <a:avLst/>
          </a:prstGeom>
        </p:spPr>
      </p:pic>
      <p:sp>
        <p:nvSpPr>
          <p:cNvPr id="12" name="block-1-background">
            <a:extLst>
              <a:ext uri="{FF2B5EF4-FFF2-40B4-BE49-F238E27FC236}">
                <a16:creationId xmlns:a16="http://schemas.microsoft.com/office/drawing/2014/main" id="{A84F06C3-69EC-ABFA-EAD7-FD9B670D6F7B}"/>
              </a:ext>
            </a:extLst>
          </p:cNvPr>
          <p:cNvSpPr>
            <a:spLocks noGrp="1"/>
          </p:cNvSpPr>
          <p:nvPr/>
        </p:nvSpPr>
        <p:spPr>
          <a:xfrm>
            <a:off x="266700" y="2828558"/>
            <a:ext cx="11517932" cy="1170074"/>
          </a:xfrm>
          <a:prstGeom prst="rect">
            <a:avLst/>
          </a:prstGeom>
          <a:solidFill>
            <a:schemeClr val="accent5">
              <a:lumMod val="20000"/>
              <a:lumOff val="80000"/>
            </a:schemeClr>
          </a:solidFill>
          <a:ln w="0">
            <a:solidFill>
              <a:srgbClr val="EAF5EF"/>
            </a:solidFill>
            <a:prstDash val="solid"/>
          </a:ln>
        </p:spPr>
        <p:txBody>
          <a:bodyPr/>
          <a:lstStyle/>
          <a:p>
            <a:endParaRPr lang="zh-CN" altLang="en-US"/>
          </a:p>
        </p:txBody>
      </p:sp>
      <p:sp>
        <p:nvSpPr>
          <p:cNvPr id="15" name="block-1-accent">
            <a:extLst>
              <a:ext uri="{FF2B5EF4-FFF2-40B4-BE49-F238E27FC236}">
                <a16:creationId xmlns:a16="http://schemas.microsoft.com/office/drawing/2014/main" id="{A989398C-2BA3-EC06-6E77-AA391588EDCD}"/>
              </a:ext>
            </a:extLst>
          </p:cNvPr>
          <p:cNvSpPr>
            <a:spLocks noGrp="1"/>
          </p:cNvSpPr>
          <p:nvPr/>
        </p:nvSpPr>
        <p:spPr>
          <a:xfrm>
            <a:off x="266700" y="2828558"/>
            <a:ext cx="68660" cy="1170074"/>
          </a:xfrm>
          <a:prstGeom prst="rect">
            <a:avLst/>
          </a:prstGeom>
          <a:solidFill>
            <a:schemeClr val="accent5">
              <a:lumMod val="50000"/>
            </a:schemeClr>
          </a:solidFill>
          <a:ln w="0">
            <a:solidFill>
              <a:schemeClr val="accent5">
                <a:lumMod val="50000"/>
              </a:schemeClr>
            </a:solidFill>
            <a:prstDash val="solid"/>
          </a:ln>
        </p:spPr>
        <p:txBody>
          <a:bodyPr/>
          <a:lstStyle/>
          <a:p>
            <a:endParaRPr lang="zh-CN" altLang="en-US"/>
          </a:p>
        </p:txBody>
      </p:sp>
      <p:sp>
        <p:nvSpPr>
          <p:cNvPr id="16" name="current-goal-label">
            <a:extLst>
              <a:ext uri="{FF2B5EF4-FFF2-40B4-BE49-F238E27FC236}">
                <a16:creationId xmlns:a16="http://schemas.microsoft.com/office/drawing/2014/main" id="{038614E9-3DBD-3C28-CCA2-C25F0F420D80}"/>
              </a:ext>
            </a:extLst>
          </p:cNvPr>
          <p:cNvSpPr>
            <a:spLocks noGrp="1"/>
          </p:cNvSpPr>
          <p:nvPr/>
        </p:nvSpPr>
        <p:spPr>
          <a:xfrm>
            <a:off x="423113" y="3265406"/>
            <a:ext cx="1238250" cy="361950"/>
          </a:xfrm>
          <a:prstGeom prst="rect">
            <a:avLst/>
          </a:prstGeom>
        </p:spPr>
        <p:txBody>
          <a:bodyPr wrap="square" lIns="0" tIns="0" rIns="0" bIns="0" anchor="t">
            <a:noAutofit/>
          </a:bodyPr>
          <a:lstStyle/>
          <a:p>
            <a:pPr algn="l">
              <a:defRPr sz="2100" b="1">
                <a:solidFill>
                  <a:srgbClr val="16704E"/>
                </a:solidFill>
                <a:latin typeface="Microsoft YaHei"/>
                <a:ea typeface="Microsoft YaHei"/>
                <a:cs typeface="Microsoft YaHei"/>
              </a:defRPr>
            </a:pPr>
            <a:r>
              <a:rPr>
                <a:solidFill>
                  <a:schemeClr val="accent1"/>
                </a:solidFill>
              </a:rPr>
              <a:t>目标</a:t>
            </a:r>
            <a:r>
              <a:rPr lang="zh-CN" altLang="en-US">
                <a:solidFill>
                  <a:schemeClr val="accent1"/>
                </a:solidFill>
              </a:rPr>
              <a:t>拆解</a:t>
            </a:r>
            <a:endParaRPr>
              <a:solidFill>
                <a:schemeClr val="accent1"/>
              </a:solidFill>
            </a:endParaRPr>
          </a:p>
        </p:txBody>
      </p:sp>
      <mc:AlternateContent xmlns:mc="http://schemas.openxmlformats.org/markup-compatibility/2006" xmlns:a14="http://schemas.microsoft.com/office/drawing/2010/main">
        <mc:Choice Requires="a14">
          <p:sp>
            <p:nvSpPr>
              <p:cNvPr id="21" name="current-goal-body">
                <a:extLst>
                  <a:ext uri="{FF2B5EF4-FFF2-40B4-BE49-F238E27FC236}">
                    <a16:creationId xmlns:a16="http://schemas.microsoft.com/office/drawing/2014/main" id="{F1F4E908-4714-F0AF-2723-116521144DDC}"/>
                  </a:ext>
                </a:extLst>
              </p:cNvPr>
              <p:cNvSpPr>
                <a:spLocks noGrp="1"/>
              </p:cNvSpPr>
              <p:nvPr/>
            </p:nvSpPr>
            <p:spPr>
              <a:xfrm>
                <a:off x="1695450" y="2881565"/>
                <a:ext cx="10161190" cy="1079587"/>
              </a:xfrm>
              <a:prstGeom prst="rect">
                <a:avLst/>
              </a:prstGeom>
            </p:spPr>
            <p:txBody>
              <a:bodyPr wrap="square" lIns="0" tIns="0" rIns="0" bIns="0" anchor="t">
                <a:noAutofit/>
              </a:bodyPr>
              <a:lstStyle/>
              <a:p>
                <a:pPr marL="285750" indent="-285750">
                  <a:buFont typeface="Wingdings" panose="05000000000000000000" pitchFamily="2" charset="2"/>
                  <a:buChar char="Ø"/>
                </a:pPr>
                <a:r>
                  <a:rPr lang="zh-CN" altLang="en-US"/>
                  <a:t>第一步：</a:t>
                </a:r>
                <a:r>
                  <a:rPr lang="zh-CN" altLang="zh-CN"/>
                  <a:t>先聚焦</a:t>
                </a:r>
                <a:r>
                  <a:rPr lang="en-US" altLang="zh-CN"/>
                  <a:t>PEM </a:t>
                </a:r>
                <a:r>
                  <a:rPr lang="zh-CN" altLang="zh-CN"/>
                  <a:t>偏振检测与解调验证（解耦</a:t>
                </a:r>
                <a:r>
                  <a:rPr lang="en-US" altLang="zh-CN"/>
                  <a:t> DMD </a:t>
                </a:r>
                <a:r>
                  <a:rPr lang="zh-CN" altLang="zh-CN"/>
                  <a:t>空间调制）</a:t>
                </a:r>
                <a:r>
                  <a:rPr lang="zh-CN" altLang="en-US"/>
                  <a:t>：</a:t>
                </a:r>
                <a:endParaRPr lang="en-US" altLang="zh-CN"/>
              </a:p>
              <a:p>
                <a:pPr lvl="0"/>
                <a:r>
                  <a:rPr lang="zh-CN" altLang="zh-CN"/>
                  <a:t>暂不引入</a:t>
                </a:r>
                <a:r>
                  <a:rPr lang="en-US" altLang="zh-CN"/>
                  <a:t> DMD </a:t>
                </a:r>
                <a:r>
                  <a:rPr lang="zh-CN" altLang="zh-CN"/>
                  <a:t>空间调制，先在</a:t>
                </a:r>
                <a:r>
                  <a:rPr lang="en-US" altLang="zh-CN"/>
                  <a:t>633nm</a:t>
                </a:r>
                <a:r>
                  <a:rPr lang="zh-CN" altLang="zh-CN"/>
                  <a:t>滤波片均匀光照明下，验证基于</a:t>
                </a:r>
                <a:r>
                  <a:rPr lang="en-US" altLang="zh-CN"/>
                  <a:t> PEM </a:t>
                </a:r>
                <a:r>
                  <a:rPr lang="zh-CN" altLang="zh-CN"/>
                  <a:t>的偏振态测量链路。</a:t>
                </a:r>
              </a:p>
              <a:p>
                <a:pPr lvl="0"/>
                <a:r>
                  <a:rPr lang="zh-CN" altLang="zh-CN"/>
                  <a:t>重点明确：锁相放大器能否稳定、高精度地解调提取出所需的各路信号，包括</a:t>
                </a:r>
                <a:r>
                  <a:rPr lang="en-US" altLang="zh-CN"/>
                  <a:t> DC </a:t>
                </a:r>
                <a:r>
                  <a:rPr lang="zh-CN" altLang="zh-CN"/>
                  <a:t>直流分量、</a:t>
                </a:r>
                <a14:m>
                  <m:oMath xmlns:m="http://schemas.openxmlformats.org/officeDocument/2006/math">
                    <m:r>
                      <a:rPr lang="zh-CN" altLang="en-US" b="1" i="1">
                        <a:latin typeface="Cambria Math" panose="02040503050406030204" pitchFamily="18" charset="0"/>
                      </a:rPr>
                      <m:t>𝒇</m:t>
                    </m:r>
                  </m:oMath>
                </a14:m>
                <a:r>
                  <a:rPr lang="en-US" altLang="zh-CN"/>
                  <a:t> </a:t>
                </a:r>
                <a:r>
                  <a:rPr lang="zh-CN" altLang="zh-CN"/>
                  <a:t>基频分量（</a:t>
                </a:r>
                <a14:m>
                  <m:oMath xmlns:m="http://schemas.openxmlformats.org/officeDocument/2006/math">
                    <m:r>
                      <a:rPr lang="zh-CN" altLang="en-US" b="1" i="1">
                        <a:latin typeface="Cambria Math" panose="02040503050406030204" pitchFamily="18" charset="0"/>
                      </a:rPr>
                      <m:t>𝑿</m:t>
                    </m:r>
                    <m:r>
                      <a:rPr lang="en-US" altLang="zh-CN">
                        <a:latin typeface="Cambria Math" panose="02040503050406030204" pitchFamily="18" charset="0"/>
                      </a:rPr>
                      <m:t>/</m:t>
                    </m:r>
                    <m:r>
                      <a:rPr lang="zh-CN" altLang="en-US" b="1" i="1">
                        <a:latin typeface="Cambria Math" panose="02040503050406030204" pitchFamily="18" charset="0"/>
                      </a:rPr>
                      <m:t>𝒀</m:t>
                    </m:r>
                  </m:oMath>
                </a14:m>
                <a:r>
                  <a:rPr lang="en-US" altLang="zh-CN"/>
                  <a:t> </a:t>
                </a:r>
                <a:r>
                  <a:rPr lang="zh-CN" altLang="zh-CN"/>
                  <a:t>通道） 以及 </a:t>
                </a:r>
                <a14:m>
                  <m:oMath xmlns:m="http://schemas.openxmlformats.org/officeDocument/2006/math">
                    <m:r>
                      <a:rPr lang="zh-CN" altLang="en-US" b="1">
                        <a:latin typeface="Cambria Math" panose="02040503050406030204" pitchFamily="18" charset="0"/>
                      </a:rPr>
                      <m:t>𝟐</m:t>
                    </m:r>
                    <m:r>
                      <a:rPr lang="zh-CN" altLang="en-US" b="1" i="1">
                        <a:latin typeface="Cambria Math" panose="02040503050406030204" pitchFamily="18" charset="0"/>
                      </a:rPr>
                      <m:t>𝒇</m:t>
                    </m:r>
                  </m:oMath>
                </a14:m>
                <a:r>
                  <a:rPr lang="zh-CN" altLang="zh-CN"/>
                  <a:t>倍频分量（</a:t>
                </a:r>
                <a14:m>
                  <m:oMath xmlns:m="http://schemas.openxmlformats.org/officeDocument/2006/math">
                    <m:r>
                      <a:rPr lang="zh-CN" altLang="en-US" b="1" i="1">
                        <a:latin typeface="Cambria Math" panose="02040503050406030204" pitchFamily="18" charset="0"/>
                      </a:rPr>
                      <m:t>𝑿</m:t>
                    </m:r>
                    <m:r>
                      <a:rPr lang="en-US" altLang="zh-CN">
                        <a:latin typeface="Cambria Math" panose="02040503050406030204" pitchFamily="18" charset="0"/>
                      </a:rPr>
                      <m:t>/</m:t>
                    </m:r>
                    <m:r>
                      <a:rPr lang="zh-CN" altLang="en-US" b="1" i="1">
                        <a:latin typeface="Cambria Math" panose="02040503050406030204" pitchFamily="18" charset="0"/>
                      </a:rPr>
                      <m:t>𝒀</m:t>
                    </m:r>
                  </m:oMath>
                </a14:m>
                <a:r>
                  <a:rPr lang="en-US" altLang="zh-CN"/>
                  <a:t> </a:t>
                </a:r>
                <a:r>
                  <a:rPr lang="zh-CN" altLang="zh-CN"/>
                  <a:t>通道）。</a:t>
                </a:r>
              </a:p>
              <a:p>
                <a:r>
                  <a:rPr lang="zh-CN" altLang="zh-CN"/>
                  <a:t> </a:t>
                </a:r>
              </a:p>
            </p:txBody>
          </p:sp>
        </mc:Choice>
        <mc:Fallback xmlns="">
          <p:sp>
            <p:nvSpPr>
              <p:cNvPr id="21" name="current-goal-body">
                <a:extLst>
                  <a:ext uri="{FF2B5EF4-FFF2-40B4-BE49-F238E27FC236}">
                    <a16:creationId xmlns:a16="http://schemas.microsoft.com/office/drawing/2014/main" id="{F1F4E908-4714-F0AF-2723-116521144DDC}"/>
                  </a:ext>
                </a:extLst>
              </p:cNvPr>
              <p:cNvSpPr>
                <a:spLocks noGrp="1" noRot="1" noChangeAspect="1" noMove="1" noResize="1" noEditPoints="1" noAdjustHandles="1" noChangeArrowheads="1" noChangeShapeType="1" noTextEdit="1"/>
              </p:cNvSpPr>
              <p:nvPr/>
            </p:nvSpPr>
            <p:spPr>
              <a:xfrm>
                <a:off x="1695450" y="2881565"/>
                <a:ext cx="10161190" cy="1079587"/>
              </a:xfrm>
              <a:prstGeom prst="rect">
                <a:avLst/>
              </a:prstGeom>
              <a:blipFill>
                <a:blip r:embed="rId4"/>
                <a:stretch>
                  <a:fillRect l="-1380" t="-7345" b="-14689"/>
                </a:stretch>
              </a:blipFill>
            </p:spPr>
            <p:txBody>
              <a:bodyPr/>
              <a:lstStyle/>
              <a:p>
                <a:r>
                  <a:rPr lang="zh-CN" altLang="en-US">
                    <a:noFill/>
                  </a:rPr>
                  <a:t> </a:t>
                </a:r>
              </a:p>
            </p:txBody>
          </p:sp>
        </mc:Fallback>
      </mc:AlternateContent>
      <p:sp>
        <p:nvSpPr>
          <p:cNvPr id="22" name="block-1-background">
            <a:extLst>
              <a:ext uri="{FF2B5EF4-FFF2-40B4-BE49-F238E27FC236}">
                <a16:creationId xmlns:a16="http://schemas.microsoft.com/office/drawing/2014/main" id="{3E496A72-2AFB-7B18-72AF-E5BD1B1146BA}"/>
              </a:ext>
            </a:extLst>
          </p:cNvPr>
          <p:cNvSpPr>
            <a:spLocks noGrp="1"/>
          </p:cNvSpPr>
          <p:nvPr/>
        </p:nvSpPr>
        <p:spPr>
          <a:xfrm>
            <a:off x="266700" y="4073589"/>
            <a:ext cx="11517932" cy="1170074"/>
          </a:xfrm>
          <a:prstGeom prst="rect">
            <a:avLst/>
          </a:prstGeom>
          <a:solidFill>
            <a:schemeClr val="accent4">
              <a:lumMod val="20000"/>
              <a:lumOff val="80000"/>
            </a:schemeClr>
          </a:solidFill>
          <a:ln w="0">
            <a:solidFill>
              <a:srgbClr val="EAF5EF"/>
            </a:solidFill>
            <a:prstDash val="solid"/>
          </a:ln>
        </p:spPr>
        <p:txBody>
          <a:bodyPr/>
          <a:lstStyle/>
          <a:p>
            <a:endParaRPr lang="zh-CN" altLang="en-US"/>
          </a:p>
        </p:txBody>
      </p:sp>
      <p:sp>
        <p:nvSpPr>
          <p:cNvPr id="23" name="block-1-accent">
            <a:extLst>
              <a:ext uri="{FF2B5EF4-FFF2-40B4-BE49-F238E27FC236}">
                <a16:creationId xmlns:a16="http://schemas.microsoft.com/office/drawing/2014/main" id="{A923F3DE-004E-66FA-8233-F74B487EBCBB}"/>
              </a:ext>
            </a:extLst>
          </p:cNvPr>
          <p:cNvSpPr>
            <a:spLocks noGrp="1"/>
          </p:cNvSpPr>
          <p:nvPr/>
        </p:nvSpPr>
        <p:spPr>
          <a:xfrm>
            <a:off x="266700" y="4073589"/>
            <a:ext cx="68660" cy="1170074"/>
          </a:xfrm>
          <a:prstGeom prst="rect">
            <a:avLst/>
          </a:prstGeom>
          <a:solidFill>
            <a:schemeClr val="accent4">
              <a:lumMod val="50000"/>
            </a:schemeClr>
          </a:solidFill>
          <a:ln w="0">
            <a:solidFill>
              <a:schemeClr val="accent5">
                <a:lumMod val="50000"/>
              </a:schemeClr>
            </a:solidFill>
            <a:prstDash val="solid"/>
          </a:ln>
        </p:spPr>
        <p:txBody>
          <a:bodyPr/>
          <a:lstStyle/>
          <a:p>
            <a:endParaRPr lang="zh-CN" altLang="en-US"/>
          </a:p>
        </p:txBody>
      </p:sp>
      <p:sp>
        <p:nvSpPr>
          <p:cNvPr id="24" name="current-goal-label">
            <a:extLst>
              <a:ext uri="{FF2B5EF4-FFF2-40B4-BE49-F238E27FC236}">
                <a16:creationId xmlns:a16="http://schemas.microsoft.com/office/drawing/2014/main" id="{229EDAB2-094E-EC67-1F3E-14894B600284}"/>
              </a:ext>
            </a:extLst>
          </p:cNvPr>
          <p:cNvSpPr>
            <a:spLocks noGrp="1"/>
          </p:cNvSpPr>
          <p:nvPr/>
        </p:nvSpPr>
        <p:spPr>
          <a:xfrm>
            <a:off x="423113" y="4510437"/>
            <a:ext cx="1238250" cy="361950"/>
          </a:xfrm>
          <a:prstGeom prst="rect">
            <a:avLst/>
          </a:prstGeom>
        </p:spPr>
        <p:txBody>
          <a:bodyPr wrap="square" lIns="0" tIns="0" rIns="0" bIns="0" anchor="t">
            <a:noAutofit/>
          </a:bodyPr>
          <a:lstStyle/>
          <a:p>
            <a:pPr algn="l">
              <a:defRPr sz="2100" b="1">
                <a:solidFill>
                  <a:srgbClr val="16704E"/>
                </a:solidFill>
                <a:latin typeface="Microsoft YaHei"/>
                <a:ea typeface="Microsoft YaHei"/>
                <a:cs typeface="Microsoft YaHei"/>
              </a:defRPr>
            </a:pPr>
            <a:r>
              <a:rPr>
                <a:solidFill>
                  <a:schemeClr val="accent4">
                    <a:lumMod val="50000"/>
                  </a:schemeClr>
                </a:solidFill>
              </a:rPr>
              <a:t>目标</a:t>
            </a:r>
            <a:r>
              <a:rPr lang="zh-CN" altLang="en-US">
                <a:solidFill>
                  <a:schemeClr val="accent4">
                    <a:lumMod val="50000"/>
                  </a:schemeClr>
                </a:solidFill>
              </a:rPr>
              <a:t>拆解</a:t>
            </a:r>
            <a:endParaRPr>
              <a:solidFill>
                <a:schemeClr val="accent4">
                  <a:lumMod val="50000"/>
                </a:schemeClr>
              </a:solidFill>
            </a:endParaRPr>
          </a:p>
        </p:txBody>
      </p:sp>
      <p:sp>
        <p:nvSpPr>
          <p:cNvPr id="27" name="current-goal-body">
            <a:extLst>
              <a:ext uri="{FF2B5EF4-FFF2-40B4-BE49-F238E27FC236}">
                <a16:creationId xmlns:a16="http://schemas.microsoft.com/office/drawing/2014/main" id="{DC439C9D-0493-757B-4E80-8B3446837D78}"/>
              </a:ext>
            </a:extLst>
          </p:cNvPr>
          <p:cNvSpPr>
            <a:spLocks noGrp="1"/>
          </p:cNvSpPr>
          <p:nvPr/>
        </p:nvSpPr>
        <p:spPr>
          <a:xfrm>
            <a:off x="1695450" y="4222142"/>
            <a:ext cx="10161190" cy="901738"/>
          </a:xfrm>
          <a:prstGeom prst="rect">
            <a:avLst/>
          </a:prstGeom>
        </p:spPr>
        <p:txBody>
          <a:bodyPr wrap="square" lIns="0" tIns="0" rIns="0" bIns="0" anchor="t">
            <a:noAutofit/>
          </a:bodyPr>
          <a:lstStyle/>
          <a:p>
            <a:pPr marL="285750" indent="-285750">
              <a:buFont typeface="Wingdings" panose="05000000000000000000" pitchFamily="2" charset="2"/>
              <a:buChar char="Ø"/>
            </a:pPr>
            <a:r>
              <a:rPr lang="zh-CN" altLang="en-US"/>
              <a:t>第二步：</a:t>
            </a:r>
            <a:r>
              <a:rPr lang="zh-CN" altLang="zh-CN"/>
              <a:t>评估时间常数与</a:t>
            </a:r>
            <a:r>
              <a:rPr lang="en-US" altLang="zh-CN"/>
              <a:t> DMD </a:t>
            </a:r>
            <a:r>
              <a:rPr lang="zh-CN" altLang="zh-CN"/>
              <a:t>协同同步机制</a:t>
            </a:r>
            <a:r>
              <a:rPr lang="zh-CN" altLang="en-US"/>
              <a:t>：</a:t>
            </a:r>
            <a:endParaRPr lang="en-US" altLang="zh-CN"/>
          </a:p>
          <a:p>
            <a:r>
              <a:rPr lang="zh-CN" altLang="zh-CN"/>
              <a:t>明确单点偏振解调所需的最小积分</a:t>
            </a:r>
            <a:r>
              <a:rPr lang="en-US" altLang="zh-CN"/>
              <a:t>/</a:t>
            </a:r>
            <a:r>
              <a:rPr lang="zh-CN" altLang="zh-CN"/>
              <a:t>锁相时间（例如</a:t>
            </a:r>
            <a:r>
              <a:rPr lang="zh-CN" altLang="en-US"/>
              <a:t>：</a:t>
            </a:r>
            <a:r>
              <a:rPr lang="zh-CN" altLang="zh-CN"/>
              <a:t>是否在</a:t>
            </a:r>
            <a:r>
              <a:rPr lang="en-US" altLang="zh-CN"/>
              <a:t> 10 ms</a:t>
            </a:r>
            <a:r>
              <a:rPr lang="zh-CN" altLang="en-US"/>
              <a:t>，频率分布是否在</a:t>
            </a:r>
            <a:r>
              <a:rPr lang="en-US" altLang="zh-CN"/>
              <a:t>+_500Hz </a:t>
            </a:r>
            <a:r>
              <a:rPr lang="zh-CN" altLang="en-US"/>
              <a:t>之间</a:t>
            </a:r>
            <a:r>
              <a:rPr lang="zh-CN" altLang="zh-CN"/>
              <a:t>）</a:t>
            </a:r>
          </a:p>
          <a:p>
            <a:r>
              <a:rPr lang="zh-CN" altLang="zh-CN"/>
              <a:t>评估</a:t>
            </a:r>
            <a:r>
              <a:rPr lang="zh-CN" altLang="en-US"/>
              <a:t>测试</a:t>
            </a:r>
            <a:r>
              <a:rPr lang="zh-CN" altLang="zh-CN"/>
              <a:t>该时间窗口与</a:t>
            </a:r>
            <a:r>
              <a:rPr lang="en-US" altLang="zh-CN"/>
              <a:t> DMD </a:t>
            </a:r>
            <a:r>
              <a:rPr lang="zh-CN" altLang="zh-CN"/>
              <a:t>空间调制刷新率（触发与时序匹配）的协同可行性。</a:t>
            </a:r>
          </a:p>
        </p:txBody>
      </p:sp>
      <p:sp>
        <p:nvSpPr>
          <p:cNvPr id="28" name="block-1-background">
            <a:extLst>
              <a:ext uri="{FF2B5EF4-FFF2-40B4-BE49-F238E27FC236}">
                <a16:creationId xmlns:a16="http://schemas.microsoft.com/office/drawing/2014/main" id="{824F980E-2026-BC03-13AE-6FBBDC62C6BC}"/>
              </a:ext>
            </a:extLst>
          </p:cNvPr>
          <p:cNvSpPr>
            <a:spLocks noGrp="1"/>
          </p:cNvSpPr>
          <p:nvPr/>
        </p:nvSpPr>
        <p:spPr>
          <a:xfrm>
            <a:off x="266700" y="5301449"/>
            <a:ext cx="11517932" cy="1170074"/>
          </a:xfrm>
          <a:prstGeom prst="rect">
            <a:avLst/>
          </a:prstGeom>
          <a:solidFill>
            <a:schemeClr val="accent3">
              <a:lumMod val="20000"/>
              <a:lumOff val="80000"/>
            </a:schemeClr>
          </a:solidFill>
          <a:ln w="0">
            <a:solidFill>
              <a:srgbClr val="EAF5EF"/>
            </a:solidFill>
            <a:prstDash val="solid"/>
          </a:ln>
        </p:spPr>
        <p:txBody>
          <a:bodyPr/>
          <a:lstStyle/>
          <a:p>
            <a:endParaRPr lang="zh-CN" altLang="en-US"/>
          </a:p>
        </p:txBody>
      </p:sp>
      <p:sp>
        <p:nvSpPr>
          <p:cNvPr id="29" name="block-1-accent">
            <a:extLst>
              <a:ext uri="{FF2B5EF4-FFF2-40B4-BE49-F238E27FC236}">
                <a16:creationId xmlns:a16="http://schemas.microsoft.com/office/drawing/2014/main" id="{CFDCE35A-926C-5D06-DF1A-7A655D757617}"/>
              </a:ext>
            </a:extLst>
          </p:cNvPr>
          <p:cNvSpPr>
            <a:spLocks noGrp="1"/>
          </p:cNvSpPr>
          <p:nvPr/>
        </p:nvSpPr>
        <p:spPr>
          <a:xfrm>
            <a:off x="266700" y="5301449"/>
            <a:ext cx="68660" cy="1170074"/>
          </a:xfrm>
          <a:prstGeom prst="rect">
            <a:avLst/>
          </a:prstGeom>
          <a:solidFill>
            <a:schemeClr val="accent3">
              <a:lumMod val="50000"/>
            </a:schemeClr>
          </a:solidFill>
          <a:ln w="0">
            <a:solidFill>
              <a:schemeClr val="accent5">
                <a:lumMod val="50000"/>
              </a:schemeClr>
            </a:solidFill>
            <a:prstDash val="solid"/>
          </a:ln>
        </p:spPr>
        <p:txBody>
          <a:bodyPr/>
          <a:lstStyle/>
          <a:p>
            <a:endParaRPr lang="zh-CN" altLang="en-US"/>
          </a:p>
        </p:txBody>
      </p:sp>
      <p:sp>
        <p:nvSpPr>
          <p:cNvPr id="30" name="current-goal-label">
            <a:extLst>
              <a:ext uri="{FF2B5EF4-FFF2-40B4-BE49-F238E27FC236}">
                <a16:creationId xmlns:a16="http://schemas.microsoft.com/office/drawing/2014/main" id="{7D68052C-5A99-BDB1-0929-B8DA88507270}"/>
              </a:ext>
            </a:extLst>
          </p:cNvPr>
          <p:cNvSpPr>
            <a:spLocks noGrp="1"/>
          </p:cNvSpPr>
          <p:nvPr/>
        </p:nvSpPr>
        <p:spPr>
          <a:xfrm>
            <a:off x="423113" y="5738297"/>
            <a:ext cx="1238250" cy="361950"/>
          </a:xfrm>
          <a:prstGeom prst="rect">
            <a:avLst/>
          </a:prstGeom>
          <a:solidFill>
            <a:schemeClr val="accent3">
              <a:lumMod val="20000"/>
              <a:lumOff val="80000"/>
            </a:schemeClr>
          </a:solidFill>
        </p:spPr>
        <p:txBody>
          <a:bodyPr wrap="square" lIns="0" tIns="0" rIns="0" bIns="0" anchor="t">
            <a:noAutofit/>
          </a:bodyPr>
          <a:lstStyle/>
          <a:p>
            <a:pPr algn="l">
              <a:defRPr sz="2100" b="1">
                <a:solidFill>
                  <a:srgbClr val="16704E"/>
                </a:solidFill>
                <a:latin typeface="Microsoft YaHei"/>
                <a:ea typeface="Microsoft YaHei"/>
                <a:cs typeface="Microsoft YaHei"/>
              </a:defRPr>
            </a:pPr>
            <a:r>
              <a:rPr>
                <a:solidFill>
                  <a:schemeClr val="accent3">
                    <a:lumMod val="50000"/>
                  </a:schemeClr>
                </a:solidFill>
              </a:rPr>
              <a:t>目标</a:t>
            </a:r>
            <a:r>
              <a:rPr lang="zh-CN" altLang="en-US">
                <a:solidFill>
                  <a:schemeClr val="accent3">
                    <a:lumMod val="50000"/>
                  </a:schemeClr>
                </a:solidFill>
              </a:rPr>
              <a:t>拆解</a:t>
            </a:r>
            <a:endParaRPr>
              <a:solidFill>
                <a:schemeClr val="accent3">
                  <a:lumMod val="50000"/>
                </a:schemeClr>
              </a:solidFill>
            </a:endParaRPr>
          </a:p>
        </p:txBody>
      </p:sp>
      <p:sp>
        <p:nvSpPr>
          <p:cNvPr id="31" name="current-goal-body">
            <a:extLst>
              <a:ext uri="{FF2B5EF4-FFF2-40B4-BE49-F238E27FC236}">
                <a16:creationId xmlns:a16="http://schemas.microsoft.com/office/drawing/2014/main" id="{BBE27DC5-D3AC-9933-91CE-E3290F73A56B}"/>
              </a:ext>
            </a:extLst>
          </p:cNvPr>
          <p:cNvSpPr>
            <a:spLocks noGrp="1"/>
          </p:cNvSpPr>
          <p:nvPr/>
        </p:nvSpPr>
        <p:spPr>
          <a:xfrm>
            <a:off x="1695450" y="5446740"/>
            <a:ext cx="10161190" cy="901738"/>
          </a:xfrm>
          <a:prstGeom prst="rect">
            <a:avLst/>
          </a:prstGeom>
        </p:spPr>
        <p:txBody>
          <a:bodyPr wrap="square" lIns="0" tIns="0" rIns="0" bIns="0" anchor="t">
            <a:noAutofit/>
          </a:bodyPr>
          <a:lstStyle/>
          <a:p>
            <a:pPr marL="285750" indent="-285750">
              <a:buFont typeface="Wingdings" panose="05000000000000000000" pitchFamily="2" charset="2"/>
              <a:buChar char="Ø"/>
            </a:pPr>
            <a:r>
              <a:rPr lang="zh-CN" altLang="en-US"/>
              <a:t>第三步：</a:t>
            </a:r>
            <a:r>
              <a:rPr lang="zh-CN" altLang="zh-CN"/>
              <a:t>厘清核心技术优势与应用定位 </a:t>
            </a:r>
            <a:endParaRPr lang="en-US" altLang="zh-CN"/>
          </a:p>
          <a:p>
            <a:r>
              <a:rPr lang="zh-CN" altLang="zh-CN"/>
              <a:t>如果实现了基于</a:t>
            </a:r>
            <a:r>
              <a:rPr lang="en-US" altLang="zh-CN"/>
              <a:t> PEM </a:t>
            </a:r>
            <a:r>
              <a:rPr lang="zh-CN" altLang="zh-CN"/>
              <a:t>的单像素偏振成像，相较于现有商用设备或其他学术工作，我们的核心壁垒和独特价值在哪里？时间分辨率（测量速度） 是否是决定性的突破口？</a:t>
            </a:r>
            <a:endParaRPr lang="en-US" altLang="zh-CN"/>
          </a:p>
          <a:p>
            <a:endParaRPr lang="zh-CN" altLang="zh-CN"/>
          </a:p>
        </p:txBody>
      </p:sp>
    </p:spTree>
    <p:extLst>
      <p:ext uri="{BB962C8B-B14F-4D97-AF65-F5344CB8AC3E}">
        <p14:creationId xmlns:p14="http://schemas.microsoft.com/office/powerpoint/2010/main" val="41749568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3DDA2-15DA-B6EA-AEAF-D7F2594955B3}"/>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23C191A-FDE6-FB18-14B4-58456BAF908C}"/>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pic>
        <p:nvPicPr>
          <p:cNvPr id="13" name="图片 1">
            <a:extLst>
              <a:ext uri="{FF2B5EF4-FFF2-40B4-BE49-F238E27FC236}">
                <a16:creationId xmlns:a16="http://schemas.microsoft.com/office/drawing/2014/main" id="{09C5E1B5-D230-3BE0-D00F-DE2DCF2CFB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F8C9DA98-E65F-150C-794C-E1F50C270BF1}"/>
              </a:ext>
            </a:extLst>
          </p:cNvPr>
          <p:cNvSpPr txBox="1"/>
          <p:nvPr/>
        </p:nvSpPr>
        <p:spPr>
          <a:xfrm>
            <a:off x="623392" y="69315"/>
            <a:ext cx="11568608" cy="369332"/>
          </a:xfrm>
          <a:prstGeom prst="rect">
            <a:avLst/>
          </a:prstGeom>
          <a:noFill/>
        </p:spPr>
        <p:txBody>
          <a:bodyPr wrap="square" rtlCol="0">
            <a:spAutoFit/>
          </a:bodyPr>
          <a:lstStyle/>
          <a:p>
            <a:r>
              <a:rPr lang="zh-CN" altLang="en-US"/>
              <a:t>第一部目标实施：</a:t>
            </a:r>
            <a:endParaRPr lang="en-US" altLang="zh-CN" dirty="0"/>
          </a:p>
        </p:txBody>
      </p:sp>
      <p:sp>
        <p:nvSpPr>
          <p:cNvPr id="4" name="Slide Number Placeholder 2">
            <a:extLst>
              <a:ext uri="{FF2B5EF4-FFF2-40B4-BE49-F238E27FC236}">
                <a16:creationId xmlns:a16="http://schemas.microsoft.com/office/drawing/2014/main" id="{FA04D8FD-706A-5D5F-9973-472A4D22C314}"/>
              </a:ext>
            </a:extLst>
          </p:cNvPr>
          <p:cNvSpPr txBox="1">
            <a:spLocks/>
          </p:cNvSpPr>
          <p:nvPr/>
        </p:nvSpPr>
        <p:spPr>
          <a:xfrm>
            <a:off x="11832456" y="6492875"/>
            <a:ext cx="355538"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5</a:t>
            </a:fld>
            <a:endParaRPr lang="zh-CN" altLang="en-US" sz="2000" dirty="0">
              <a:latin typeface="Arial"/>
              <a:ea typeface="Microsoft YaHei"/>
            </a:endParaRPr>
          </a:p>
        </p:txBody>
      </p:sp>
      <p:sp>
        <p:nvSpPr>
          <p:cNvPr id="7" name="block-1-background">
            <a:extLst>
              <a:ext uri="{FF2B5EF4-FFF2-40B4-BE49-F238E27FC236}">
                <a16:creationId xmlns:a16="http://schemas.microsoft.com/office/drawing/2014/main" id="{595491C0-EE86-F331-6346-78D68D217FBC}"/>
              </a:ext>
            </a:extLst>
          </p:cNvPr>
          <p:cNvSpPr>
            <a:spLocks noGrp="1"/>
          </p:cNvSpPr>
          <p:nvPr/>
        </p:nvSpPr>
        <p:spPr>
          <a:xfrm>
            <a:off x="266700" y="567681"/>
            <a:ext cx="11517932" cy="1170074"/>
          </a:xfrm>
          <a:prstGeom prst="rect">
            <a:avLst/>
          </a:prstGeom>
          <a:solidFill>
            <a:schemeClr val="accent5">
              <a:lumMod val="20000"/>
              <a:lumOff val="80000"/>
            </a:schemeClr>
          </a:solidFill>
          <a:ln w="0">
            <a:solidFill>
              <a:srgbClr val="EAF5EF"/>
            </a:solidFill>
            <a:prstDash val="solid"/>
          </a:ln>
        </p:spPr>
        <p:txBody>
          <a:bodyPr/>
          <a:lstStyle/>
          <a:p>
            <a:endParaRPr lang="zh-CN" altLang="en-US"/>
          </a:p>
        </p:txBody>
      </p:sp>
      <p:sp>
        <p:nvSpPr>
          <p:cNvPr id="9" name="block-1-accent">
            <a:extLst>
              <a:ext uri="{FF2B5EF4-FFF2-40B4-BE49-F238E27FC236}">
                <a16:creationId xmlns:a16="http://schemas.microsoft.com/office/drawing/2014/main" id="{F4F81B93-45E4-3608-06D0-E931B0400575}"/>
              </a:ext>
            </a:extLst>
          </p:cNvPr>
          <p:cNvSpPr>
            <a:spLocks noGrp="1"/>
          </p:cNvSpPr>
          <p:nvPr/>
        </p:nvSpPr>
        <p:spPr>
          <a:xfrm>
            <a:off x="266700" y="567681"/>
            <a:ext cx="68660" cy="1170074"/>
          </a:xfrm>
          <a:prstGeom prst="rect">
            <a:avLst/>
          </a:prstGeom>
          <a:solidFill>
            <a:schemeClr val="accent5">
              <a:lumMod val="50000"/>
            </a:schemeClr>
          </a:solidFill>
          <a:ln w="0">
            <a:solidFill>
              <a:schemeClr val="accent5">
                <a:lumMod val="50000"/>
              </a:schemeClr>
            </a:solidFill>
            <a:prstDash val="solid"/>
          </a:ln>
        </p:spPr>
        <p:txBody>
          <a:bodyPr/>
          <a:lstStyle/>
          <a:p>
            <a:endParaRPr lang="zh-CN" altLang="en-US"/>
          </a:p>
        </p:txBody>
      </p:sp>
      <p:sp>
        <p:nvSpPr>
          <p:cNvPr id="12" name="current-goal-label">
            <a:extLst>
              <a:ext uri="{FF2B5EF4-FFF2-40B4-BE49-F238E27FC236}">
                <a16:creationId xmlns:a16="http://schemas.microsoft.com/office/drawing/2014/main" id="{3ADD4CCF-281D-4432-74F9-4CB9F0579052}"/>
              </a:ext>
            </a:extLst>
          </p:cNvPr>
          <p:cNvSpPr>
            <a:spLocks noGrp="1"/>
          </p:cNvSpPr>
          <p:nvPr/>
        </p:nvSpPr>
        <p:spPr>
          <a:xfrm>
            <a:off x="423113" y="1004529"/>
            <a:ext cx="1238250" cy="361950"/>
          </a:xfrm>
          <a:prstGeom prst="rect">
            <a:avLst/>
          </a:prstGeom>
        </p:spPr>
        <p:txBody>
          <a:bodyPr wrap="square" lIns="0" tIns="0" rIns="0" bIns="0" anchor="t">
            <a:noAutofit/>
          </a:bodyPr>
          <a:lstStyle/>
          <a:p>
            <a:pPr algn="l">
              <a:defRPr sz="2100" b="1">
                <a:solidFill>
                  <a:srgbClr val="16704E"/>
                </a:solidFill>
                <a:latin typeface="Microsoft YaHei"/>
                <a:ea typeface="Microsoft YaHei"/>
                <a:cs typeface="Microsoft YaHei"/>
              </a:defRPr>
            </a:pPr>
            <a:r>
              <a:rPr>
                <a:solidFill>
                  <a:schemeClr val="accent1"/>
                </a:solidFill>
              </a:rPr>
              <a:t>目标</a:t>
            </a:r>
            <a:r>
              <a:rPr lang="zh-CN" altLang="en-US">
                <a:solidFill>
                  <a:schemeClr val="accent1"/>
                </a:solidFill>
              </a:rPr>
              <a:t>拆解</a:t>
            </a:r>
            <a:endParaRPr>
              <a:solidFill>
                <a:schemeClr val="accent1"/>
              </a:solidFill>
            </a:endParaRPr>
          </a:p>
        </p:txBody>
      </p:sp>
      <mc:AlternateContent xmlns:mc="http://schemas.openxmlformats.org/markup-compatibility/2006" xmlns:a14="http://schemas.microsoft.com/office/drawing/2010/main">
        <mc:Choice Requires="a14">
          <p:sp>
            <p:nvSpPr>
              <p:cNvPr id="15" name="current-goal-body">
                <a:extLst>
                  <a:ext uri="{FF2B5EF4-FFF2-40B4-BE49-F238E27FC236}">
                    <a16:creationId xmlns:a16="http://schemas.microsoft.com/office/drawing/2014/main" id="{62EAAB31-12DA-DF56-3941-2E441F2F0480}"/>
                  </a:ext>
                </a:extLst>
              </p:cNvPr>
              <p:cNvSpPr>
                <a:spLocks noGrp="1"/>
              </p:cNvSpPr>
              <p:nvPr/>
            </p:nvSpPr>
            <p:spPr>
              <a:xfrm>
                <a:off x="1695450" y="620688"/>
                <a:ext cx="10161190" cy="1079587"/>
              </a:xfrm>
              <a:prstGeom prst="rect">
                <a:avLst/>
              </a:prstGeom>
            </p:spPr>
            <p:txBody>
              <a:bodyPr wrap="square" lIns="0" tIns="0" rIns="0" bIns="0" anchor="t">
                <a:noAutofit/>
              </a:bodyPr>
              <a:lstStyle/>
              <a:p>
                <a:pPr marL="285750" indent="-285750">
                  <a:buFont typeface="Wingdings" panose="05000000000000000000" pitchFamily="2" charset="2"/>
                  <a:buChar char="Ø"/>
                </a:pPr>
                <a:r>
                  <a:rPr lang="zh-CN" altLang="en-US"/>
                  <a:t>第一步：</a:t>
                </a:r>
                <a:r>
                  <a:rPr lang="zh-CN" altLang="zh-CN"/>
                  <a:t>先聚焦</a:t>
                </a:r>
                <a:r>
                  <a:rPr lang="en-US" altLang="zh-CN"/>
                  <a:t>PEM </a:t>
                </a:r>
                <a:r>
                  <a:rPr lang="zh-CN" altLang="zh-CN"/>
                  <a:t>偏振检测与解调验证（解耦</a:t>
                </a:r>
                <a:r>
                  <a:rPr lang="en-US" altLang="zh-CN"/>
                  <a:t> DMD </a:t>
                </a:r>
                <a:r>
                  <a:rPr lang="zh-CN" altLang="zh-CN"/>
                  <a:t>空间调制）</a:t>
                </a:r>
                <a:r>
                  <a:rPr lang="zh-CN" altLang="en-US"/>
                  <a:t>：</a:t>
                </a:r>
                <a:endParaRPr lang="en-US" altLang="zh-CN"/>
              </a:p>
              <a:p>
                <a:pPr lvl="0"/>
                <a:r>
                  <a:rPr lang="zh-CN" altLang="zh-CN"/>
                  <a:t>暂不引入</a:t>
                </a:r>
                <a:r>
                  <a:rPr lang="en-US" altLang="zh-CN"/>
                  <a:t> DMD </a:t>
                </a:r>
                <a:r>
                  <a:rPr lang="zh-CN" altLang="zh-CN"/>
                  <a:t>空间调制，先在</a:t>
                </a:r>
                <a:r>
                  <a:rPr lang="en-US" altLang="zh-CN"/>
                  <a:t>633nm</a:t>
                </a:r>
                <a:r>
                  <a:rPr lang="zh-CN" altLang="zh-CN"/>
                  <a:t>滤波片均匀光照明下，验证基于</a:t>
                </a:r>
                <a:r>
                  <a:rPr lang="en-US" altLang="zh-CN"/>
                  <a:t> PEM </a:t>
                </a:r>
                <a:r>
                  <a:rPr lang="zh-CN" altLang="zh-CN"/>
                  <a:t>的偏振态测量链路。</a:t>
                </a:r>
              </a:p>
              <a:p>
                <a:pPr lvl="0"/>
                <a:r>
                  <a:rPr lang="zh-CN" altLang="zh-CN"/>
                  <a:t>重点明确：锁相放大器能否稳定、高精度地解调提取出所需的各路信号，包括</a:t>
                </a:r>
                <a:r>
                  <a:rPr lang="en-US" altLang="zh-CN"/>
                  <a:t> DC </a:t>
                </a:r>
                <a:r>
                  <a:rPr lang="zh-CN" altLang="zh-CN"/>
                  <a:t>直流分量、</a:t>
                </a:r>
                <a14:m>
                  <m:oMath xmlns:m="http://schemas.openxmlformats.org/officeDocument/2006/math">
                    <m:r>
                      <a:rPr lang="zh-CN" altLang="en-US" b="1" i="1">
                        <a:latin typeface="Cambria Math" panose="02040503050406030204" pitchFamily="18" charset="0"/>
                      </a:rPr>
                      <m:t>𝒇</m:t>
                    </m:r>
                  </m:oMath>
                </a14:m>
                <a:r>
                  <a:rPr lang="en-US" altLang="zh-CN"/>
                  <a:t> </a:t>
                </a:r>
                <a:r>
                  <a:rPr lang="zh-CN" altLang="zh-CN"/>
                  <a:t>基频分量（</a:t>
                </a:r>
                <a14:m>
                  <m:oMath xmlns:m="http://schemas.openxmlformats.org/officeDocument/2006/math">
                    <m:r>
                      <a:rPr lang="zh-CN" altLang="en-US" b="1" i="1">
                        <a:latin typeface="Cambria Math" panose="02040503050406030204" pitchFamily="18" charset="0"/>
                      </a:rPr>
                      <m:t>𝑿</m:t>
                    </m:r>
                    <m:r>
                      <a:rPr lang="en-US" altLang="zh-CN">
                        <a:latin typeface="Cambria Math" panose="02040503050406030204" pitchFamily="18" charset="0"/>
                      </a:rPr>
                      <m:t>/</m:t>
                    </m:r>
                    <m:r>
                      <a:rPr lang="zh-CN" altLang="en-US" b="1" i="1">
                        <a:latin typeface="Cambria Math" panose="02040503050406030204" pitchFamily="18" charset="0"/>
                      </a:rPr>
                      <m:t>𝒀</m:t>
                    </m:r>
                  </m:oMath>
                </a14:m>
                <a:r>
                  <a:rPr lang="en-US" altLang="zh-CN"/>
                  <a:t> </a:t>
                </a:r>
                <a:r>
                  <a:rPr lang="zh-CN" altLang="zh-CN"/>
                  <a:t>通道） 以及 </a:t>
                </a:r>
                <a14:m>
                  <m:oMath xmlns:m="http://schemas.openxmlformats.org/officeDocument/2006/math">
                    <m:r>
                      <a:rPr lang="zh-CN" altLang="en-US" b="1">
                        <a:latin typeface="Cambria Math" panose="02040503050406030204" pitchFamily="18" charset="0"/>
                      </a:rPr>
                      <m:t>𝟐</m:t>
                    </m:r>
                    <m:r>
                      <a:rPr lang="zh-CN" altLang="en-US" b="1" i="1">
                        <a:latin typeface="Cambria Math" panose="02040503050406030204" pitchFamily="18" charset="0"/>
                      </a:rPr>
                      <m:t>𝒇</m:t>
                    </m:r>
                  </m:oMath>
                </a14:m>
                <a:r>
                  <a:rPr lang="zh-CN" altLang="zh-CN"/>
                  <a:t>倍频分量（</a:t>
                </a:r>
                <a14:m>
                  <m:oMath xmlns:m="http://schemas.openxmlformats.org/officeDocument/2006/math">
                    <m:r>
                      <a:rPr lang="zh-CN" altLang="en-US" b="1" i="1">
                        <a:latin typeface="Cambria Math" panose="02040503050406030204" pitchFamily="18" charset="0"/>
                      </a:rPr>
                      <m:t>𝑿</m:t>
                    </m:r>
                    <m:r>
                      <a:rPr lang="en-US" altLang="zh-CN">
                        <a:latin typeface="Cambria Math" panose="02040503050406030204" pitchFamily="18" charset="0"/>
                      </a:rPr>
                      <m:t>/</m:t>
                    </m:r>
                    <m:r>
                      <a:rPr lang="zh-CN" altLang="en-US" b="1" i="1">
                        <a:latin typeface="Cambria Math" panose="02040503050406030204" pitchFamily="18" charset="0"/>
                      </a:rPr>
                      <m:t>𝒀</m:t>
                    </m:r>
                  </m:oMath>
                </a14:m>
                <a:r>
                  <a:rPr lang="en-US" altLang="zh-CN"/>
                  <a:t> </a:t>
                </a:r>
                <a:r>
                  <a:rPr lang="zh-CN" altLang="zh-CN"/>
                  <a:t>通道）。</a:t>
                </a:r>
              </a:p>
              <a:p>
                <a:r>
                  <a:rPr lang="zh-CN" altLang="zh-CN"/>
                  <a:t> </a:t>
                </a:r>
              </a:p>
            </p:txBody>
          </p:sp>
        </mc:Choice>
        <mc:Fallback xmlns="">
          <p:sp>
            <p:nvSpPr>
              <p:cNvPr id="15" name="current-goal-body">
                <a:extLst>
                  <a:ext uri="{FF2B5EF4-FFF2-40B4-BE49-F238E27FC236}">
                    <a16:creationId xmlns:a16="http://schemas.microsoft.com/office/drawing/2014/main" id="{62EAAB31-12DA-DF56-3941-2E441F2F0480}"/>
                  </a:ext>
                </a:extLst>
              </p:cNvPr>
              <p:cNvSpPr>
                <a:spLocks noGrp="1" noRot="1" noChangeAspect="1" noMove="1" noResize="1" noEditPoints="1" noAdjustHandles="1" noChangeArrowheads="1" noChangeShapeType="1" noTextEdit="1"/>
              </p:cNvSpPr>
              <p:nvPr/>
            </p:nvSpPr>
            <p:spPr>
              <a:xfrm>
                <a:off x="1695450" y="620688"/>
                <a:ext cx="10161190" cy="1079587"/>
              </a:xfrm>
              <a:prstGeom prst="rect">
                <a:avLst/>
              </a:prstGeom>
              <a:blipFill>
                <a:blip r:embed="rId3"/>
                <a:stretch>
                  <a:fillRect l="-1380" t="-7345" b="-14689"/>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CFC491C8-A7EF-99A7-B6FE-0742E0418CDF}"/>
              </a:ext>
            </a:extLst>
          </p:cNvPr>
          <p:cNvSpPr txBox="1"/>
          <p:nvPr/>
        </p:nvSpPr>
        <p:spPr>
          <a:xfrm>
            <a:off x="266700" y="1828763"/>
            <a:ext cx="6264696" cy="369332"/>
          </a:xfrm>
          <a:prstGeom prst="rect">
            <a:avLst/>
          </a:prstGeom>
          <a:noFill/>
        </p:spPr>
        <p:txBody>
          <a:bodyPr wrap="square" rtlCol="0">
            <a:spAutoFit/>
          </a:bodyPr>
          <a:lstStyle/>
          <a:p>
            <a:r>
              <a:rPr lang="en-US" altLang="zh-CN"/>
              <a:t>1.1</a:t>
            </a:r>
            <a:r>
              <a:rPr lang="zh-CN" altLang="en-US"/>
              <a:t>：测量</a:t>
            </a:r>
            <a:r>
              <a:rPr lang="en-US" altLang="zh-CN"/>
              <a:t>PEM</a:t>
            </a:r>
            <a:r>
              <a:rPr lang="zh-CN" altLang="en-US"/>
              <a:t>主轴</a:t>
            </a:r>
          </a:p>
        </p:txBody>
      </p:sp>
      <p:sp>
        <p:nvSpPr>
          <p:cNvPr id="22" name="箭头: 上 21">
            <a:extLst>
              <a:ext uri="{FF2B5EF4-FFF2-40B4-BE49-F238E27FC236}">
                <a16:creationId xmlns:a16="http://schemas.microsoft.com/office/drawing/2014/main" id="{6E64A613-207C-E9B6-0806-3037686BAC00}"/>
              </a:ext>
            </a:extLst>
          </p:cNvPr>
          <p:cNvSpPr/>
          <p:nvPr/>
        </p:nvSpPr>
        <p:spPr>
          <a:xfrm rot="10800000">
            <a:off x="332676" y="2433079"/>
            <a:ext cx="422171" cy="272759"/>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6BF129A4-B72E-09D4-8874-B635EF443C22}"/>
              </a:ext>
            </a:extLst>
          </p:cNvPr>
          <p:cNvSpPr txBox="1"/>
          <p:nvPr/>
        </p:nvSpPr>
        <p:spPr>
          <a:xfrm>
            <a:off x="266700" y="3836879"/>
            <a:ext cx="11925300" cy="369332"/>
          </a:xfrm>
          <a:prstGeom prst="rect">
            <a:avLst/>
          </a:prstGeom>
          <a:noFill/>
        </p:spPr>
        <p:txBody>
          <a:bodyPr wrap="square" rtlCol="0">
            <a:spAutoFit/>
          </a:bodyPr>
          <a:lstStyle/>
          <a:p>
            <a:r>
              <a:rPr lang="en-US" altLang="zh-CN"/>
              <a:t>1.3</a:t>
            </a:r>
            <a:r>
              <a:rPr lang="zh-CN" altLang="en-US"/>
              <a:t>：用偏振相机对偏振参数进行标定，测量出</a:t>
            </a:r>
            <a:r>
              <a:rPr lang="en-US" altLang="zh-CN"/>
              <a:t>S0</a:t>
            </a:r>
            <a:r>
              <a:rPr lang="zh-CN" altLang="en-US"/>
              <a:t>和</a:t>
            </a:r>
            <a:r>
              <a:rPr lang="en-US" altLang="zh-CN"/>
              <a:t>S1</a:t>
            </a:r>
            <a:r>
              <a:rPr lang="zh-CN" altLang="en-US"/>
              <a:t>（或</a:t>
            </a:r>
            <a:r>
              <a:rPr lang="en-US" altLang="zh-CN"/>
              <a:t>S2</a:t>
            </a:r>
            <a:r>
              <a:rPr lang="zh-CN" altLang="en-US"/>
              <a:t>）分量大小</a:t>
            </a:r>
            <a:r>
              <a:rPr lang="en-US" altLang="zh-CN"/>
              <a:t>,</a:t>
            </a:r>
            <a:r>
              <a:rPr lang="zh-CN" altLang="en-US"/>
              <a:t>用于对比后续逆向推导</a:t>
            </a:r>
            <a:r>
              <a:rPr lang="en-US" altLang="zh-CN"/>
              <a:t>S1</a:t>
            </a:r>
            <a:r>
              <a:rPr lang="zh-CN" altLang="en-US"/>
              <a:t> （或</a:t>
            </a:r>
            <a:r>
              <a:rPr lang="en-US" altLang="zh-CN"/>
              <a:t>S2</a:t>
            </a:r>
            <a:r>
              <a:rPr lang="zh-CN" altLang="en-US"/>
              <a:t>）分量</a:t>
            </a:r>
          </a:p>
        </p:txBody>
      </p:sp>
      <p:sp>
        <p:nvSpPr>
          <p:cNvPr id="25" name="箭头: 上 24">
            <a:extLst>
              <a:ext uri="{FF2B5EF4-FFF2-40B4-BE49-F238E27FC236}">
                <a16:creationId xmlns:a16="http://schemas.microsoft.com/office/drawing/2014/main" id="{5D6E4228-4632-51B3-11F7-6060DC9BC786}"/>
              </a:ext>
            </a:extLst>
          </p:cNvPr>
          <p:cNvSpPr/>
          <p:nvPr/>
        </p:nvSpPr>
        <p:spPr>
          <a:xfrm rot="10800000">
            <a:off x="340297" y="3355070"/>
            <a:ext cx="422171" cy="272759"/>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A547A3FE-66FF-355D-06D8-A8289D130B6A}"/>
              </a:ext>
            </a:extLst>
          </p:cNvPr>
          <p:cNvSpPr txBox="1"/>
          <p:nvPr/>
        </p:nvSpPr>
        <p:spPr>
          <a:xfrm>
            <a:off x="266700" y="4913295"/>
            <a:ext cx="11373916" cy="369332"/>
          </a:xfrm>
          <a:prstGeom prst="rect">
            <a:avLst/>
          </a:prstGeom>
          <a:noFill/>
        </p:spPr>
        <p:txBody>
          <a:bodyPr wrap="square" rtlCol="0">
            <a:spAutoFit/>
          </a:bodyPr>
          <a:lstStyle/>
          <a:p>
            <a:r>
              <a:rPr lang="en-US" altLang="zh-CN"/>
              <a:t>1.4</a:t>
            </a:r>
            <a:r>
              <a:rPr lang="zh-CN" altLang="en-US"/>
              <a:t>：用锁相放大器测量</a:t>
            </a:r>
            <a:r>
              <a:rPr lang="en-US" altLang="zh-CN"/>
              <a:t>2f</a:t>
            </a:r>
            <a:r>
              <a:rPr lang="zh-CN" altLang="en-US"/>
              <a:t>分量，并且对比示波器数据，同时验证所测量得到的信号不是噪声</a:t>
            </a:r>
          </a:p>
        </p:txBody>
      </p:sp>
      <p:sp>
        <p:nvSpPr>
          <p:cNvPr id="29" name="文本框 28">
            <a:extLst>
              <a:ext uri="{FF2B5EF4-FFF2-40B4-BE49-F238E27FC236}">
                <a16:creationId xmlns:a16="http://schemas.microsoft.com/office/drawing/2014/main" id="{E33FDACB-B708-CF76-FADB-DC17C3CE6391}"/>
              </a:ext>
            </a:extLst>
          </p:cNvPr>
          <p:cNvSpPr txBox="1"/>
          <p:nvPr/>
        </p:nvSpPr>
        <p:spPr>
          <a:xfrm>
            <a:off x="266700" y="2847890"/>
            <a:ext cx="7056784" cy="369332"/>
          </a:xfrm>
          <a:prstGeom prst="rect">
            <a:avLst/>
          </a:prstGeom>
          <a:noFill/>
        </p:spPr>
        <p:txBody>
          <a:bodyPr wrap="square" rtlCol="0">
            <a:spAutoFit/>
          </a:bodyPr>
          <a:lstStyle/>
          <a:p>
            <a:r>
              <a:rPr lang="en-US" altLang="zh-CN"/>
              <a:t>1.2</a:t>
            </a:r>
            <a:r>
              <a:rPr lang="zh-CN" altLang="en-US"/>
              <a:t>：基于</a:t>
            </a:r>
            <a:r>
              <a:rPr lang="en-US" altLang="zh-CN"/>
              <a:t>PEM</a:t>
            </a:r>
            <a:r>
              <a:rPr lang="zh-CN" altLang="en-US"/>
              <a:t>主轴测试阶段的波形数据做正向和逆向仿真</a:t>
            </a:r>
          </a:p>
        </p:txBody>
      </p:sp>
      <p:sp>
        <p:nvSpPr>
          <p:cNvPr id="30" name="箭头: 上 29">
            <a:extLst>
              <a:ext uri="{FF2B5EF4-FFF2-40B4-BE49-F238E27FC236}">
                <a16:creationId xmlns:a16="http://schemas.microsoft.com/office/drawing/2014/main" id="{CC3D4C2D-974E-DBCE-8225-DFFCF2040A5C}"/>
              </a:ext>
            </a:extLst>
          </p:cNvPr>
          <p:cNvSpPr/>
          <p:nvPr/>
        </p:nvSpPr>
        <p:spPr>
          <a:xfrm rot="10800000">
            <a:off x="318739" y="4394355"/>
            <a:ext cx="422171" cy="272759"/>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DDFC922-BF05-0852-B787-A94643EA1783}"/>
              </a:ext>
            </a:extLst>
          </p:cNvPr>
          <p:cNvSpPr txBox="1"/>
          <p:nvPr/>
        </p:nvSpPr>
        <p:spPr>
          <a:xfrm>
            <a:off x="266700" y="5881378"/>
            <a:ext cx="8208912" cy="369332"/>
          </a:xfrm>
          <a:prstGeom prst="rect">
            <a:avLst/>
          </a:prstGeom>
          <a:noFill/>
        </p:spPr>
        <p:txBody>
          <a:bodyPr wrap="square" rtlCol="0">
            <a:spAutoFit/>
          </a:bodyPr>
          <a:lstStyle/>
          <a:p>
            <a:r>
              <a:rPr lang="en-US" altLang="zh-CN"/>
              <a:t>1.5</a:t>
            </a:r>
            <a:r>
              <a:rPr lang="zh-CN" altLang="en-US"/>
              <a:t>：根据锁相放大器的的数据尝试反演出</a:t>
            </a:r>
            <a:r>
              <a:rPr lang="en-US" altLang="zh-CN"/>
              <a:t>S1</a:t>
            </a:r>
            <a:r>
              <a:rPr lang="zh-CN" altLang="en-US"/>
              <a:t>（或</a:t>
            </a:r>
            <a:r>
              <a:rPr lang="en-US" altLang="zh-CN"/>
              <a:t>S2</a:t>
            </a:r>
            <a:r>
              <a:rPr lang="zh-CN" altLang="en-US"/>
              <a:t>）</a:t>
            </a:r>
          </a:p>
        </p:txBody>
      </p:sp>
      <p:sp>
        <p:nvSpPr>
          <p:cNvPr id="6" name="箭头: 上 5">
            <a:extLst>
              <a:ext uri="{FF2B5EF4-FFF2-40B4-BE49-F238E27FC236}">
                <a16:creationId xmlns:a16="http://schemas.microsoft.com/office/drawing/2014/main" id="{6292F74A-AC49-FE3B-835B-41A3E56CCD07}"/>
              </a:ext>
            </a:extLst>
          </p:cNvPr>
          <p:cNvSpPr/>
          <p:nvPr/>
        </p:nvSpPr>
        <p:spPr>
          <a:xfrm rot="10800000">
            <a:off x="318739" y="5421921"/>
            <a:ext cx="422171" cy="272759"/>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1219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762DF-FA08-F314-2242-D2C0EF5C8160}"/>
            </a:ext>
          </a:extLst>
        </p:cNvPr>
        <p:cNvGrpSpPr/>
        <p:nvPr/>
      </p:nvGrpSpPr>
      <p:grpSpPr>
        <a:xfrm>
          <a:off x="0" y="0"/>
          <a:ext cx="0" cy="0"/>
          <a:chOff x="0" y="0"/>
          <a:chExt cx="0" cy="0"/>
        </a:xfrm>
      </p:grpSpPr>
      <p:sp>
        <p:nvSpPr>
          <p:cNvPr id="22" name="slide-2-evidence-frame">
            <a:extLst>
              <a:ext uri="{FF2B5EF4-FFF2-40B4-BE49-F238E27FC236}">
                <a16:creationId xmlns:a16="http://schemas.microsoft.com/office/drawing/2014/main" id="{62A4FEBE-CC95-BF42-51C2-6F8F31EE831E}"/>
              </a:ext>
            </a:extLst>
          </p:cNvPr>
          <p:cNvSpPr>
            <a:spLocks noGrp="1"/>
          </p:cNvSpPr>
          <p:nvPr/>
        </p:nvSpPr>
        <p:spPr>
          <a:xfrm>
            <a:off x="5669784" y="1188985"/>
            <a:ext cx="6121259" cy="2590932"/>
          </a:xfrm>
          <a:prstGeom prst="rect">
            <a:avLst/>
          </a:prstGeom>
          <a:solidFill>
            <a:schemeClr val="accent3">
              <a:lumMod val="20000"/>
              <a:lumOff val="80000"/>
            </a:schemeClr>
          </a:solidFill>
          <a:ln w="9525">
            <a:solidFill>
              <a:srgbClr val="B8BCC4"/>
            </a:solidFill>
            <a:prstDash val="solid"/>
          </a:ln>
        </p:spPr>
        <p:txBody>
          <a:bodyPr/>
          <a:lstStyle/>
          <a:p>
            <a:endParaRPr lang="zh-CN" altLang="en-US"/>
          </a:p>
        </p:txBody>
      </p:sp>
      <p:sp>
        <p:nvSpPr>
          <p:cNvPr id="85" name="slide-2-evidence-frame">
            <a:extLst>
              <a:ext uri="{FF2B5EF4-FFF2-40B4-BE49-F238E27FC236}">
                <a16:creationId xmlns:a16="http://schemas.microsoft.com/office/drawing/2014/main" id="{0AB71728-F1DD-FEF6-73C1-DC629430AADA}"/>
              </a:ext>
            </a:extLst>
          </p:cNvPr>
          <p:cNvSpPr>
            <a:spLocks noGrp="1"/>
          </p:cNvSpPr>
          <p:nvPr/>
        </p:nvSpPr>
        <p:spPr>
          <a:xfrm>
            <a:off x="57150" y="3307610"/>
            <a:ext cx="5174754" cy="923330"/>
          </a:xfrm>
          <a:prstGeom prst="rect">
            <a:avLst/>
          </a:prstGeom>
          <a:solidFill>
            <a:srgbClr val="EAF5FB"/>
          </a:solidFill>
          <a:ln w="9525">
            <a:solidFill>
              <a:srgbClr val="B8BCC4"/>
            </a:solidFill>
            <a:prstDash val="solid"/>
          </a:ln>
        </p:spPr>
        <p:txBody>
          <a:bodyPr/>
          <a:lstStyle/>
          <a:p>
            <a:endParaRPr lang="zh-CN" altLang="en-US"/>
          </a:p>
        </p:txBody>
      </p:sp>
      <p:cxnSp>
        <p:nvCxnSpPr>
          <p:cNvPr id="5" name="Straight Connector 4">
            <a:extLst>
              <a:ext uri="{FF2B5EF4-FFF2-40B4-BE49-F238E27FC236}">
                <a16:creationId xmlns:a16="http://schemas.microsoft.com/office/drawing/2014/main" id="{4F85D44B-194B-2E9B-5B84-07E310D81C47}"/>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pic>
        <p:nvPicPr>
          <p:cNvPr id="13" name="图片 1">
            <a:extLst>
              <a:ext uri="{FF2B5EF4-FFF2-40B4-BE49-F238E27FC236}">
                <a16:creationId xmlns:a16="http://schemas.microsoft.com/office/drawing/2014/main" id="{574D94FC-E12C-729C-8089-2C32112C67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BC3CB76D-1B07-2C84-BFD3-8FC64075015D}"/>
              </a:ext>
            </a:extLst>
          </p:cNvPr>
          <p:cNvSpPr txBox="1"/>
          <p:nvPr/>
        </p:nvSpPr>
        <p:spPr>
          <a:xfrm>
            <a:off x="623392" y="69315"/>
            <a:ext cx="3168352" cy="369332"/>
          </a:xfrm>
          <a:prstGeom prst="rect">
            <a:avLst/>
          </a:prstGeom>
          <a:noFill/>
        </p:spPr>
        <p:txBody>
          <a:bodyPr wrap="square" rtlCol="0">
            <a:spAutoFit/>
          </a:bodyPr>
          <a:lstStyle/>
          <a:p>
            <a:r>
              <a:rPr lang="en-US" altLang="zh-CN"/>
              <a:t>1.1</a:t>
            </a:r>
            <a:r>
              <a:rPr lang="zh-CN" altLang="en-US"/>
              <a:t>：</a:t>
            </a:r>
            <a:r>
              <a:rPr lang="en-US" altLang="zh-CN"/>
              <a:t>PEM</a:t>
            </a:r>
            <a:r>
              <a:rPr lang="zh-CN" altLang="en-US"/>
              <a:t>设备主轴确定实验</a:t>
            </a:r>
            <a:endParaRPr lang="en-US" altLang="zh-CN" dirty="0"/>
          </a:p>
        </p:txBody>
      </p:sp>
      <p:sp>
        <p:nvSpPr>
          <p:cNvPr id="4" name="Slide Number Placeholder 2">
            <a:extLst>
              <a:ext uri="{FF2B5EF4-FFF2-40B4-BE49-F238E27FC236}">
                <a16:creationId xmlns:a16="http://schemas.microsoft.com/office/drawing/2014/main" id="{2BC605F1-15ED-3D0D-A1B9-781E61B6D49A}"/>
              </a:ext>
            </a:extLst>
          </p:cNvPr>
          <p:cNvSpPr txBox="1">
            <a:spLocks/>
          </p:cNvSpPr>
          <p:nvPr/>
        </p:nvSpPr>
        <p:spPr>
          <a:xfrm>
            <a:off x="11832456" y="6492875"/>
            <a:ext cx="355538"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6</a:t>
            </a:fld>
            <a:endParaRPr lang="zh-CN" altLang="en-US" sz="2000" dirty="0">
              <a:latin typeface="Arial"/>
              <a:ea typeface="Microsoft YaHei"/>
            </a:endParaRPr>
          </a:p>
        </p:txBody>
      </p:sp>
      <p:sp>
        <p:nvSpPr>
          <p:cNvPr id="8" name="slide-1-purpose">
            <a:extLst>
              <a:ext uri="{FF2B5EF4-FFF2-40B4-BE49-F238E27FC236}">
                <a16:creationId xmlns:a16="http://schemas.microsoft.com/office/drawing/2014/main" id="{C6FCFF6E-5E67-B6AE-18E1-8A786A750E96}"/>
              </a:ext>
            </a:extLst>
          </p:cNvPr>
          <p:cNvSpPr>
            <a:spLocks noGrp="1"/>
          </p:cNvSpPr>
          <p:nvPr/>
        </p:nvSpPr>
        <p:spPr>
          <a:xfrm>
            <a:off x="57150" y="630179"/>
            <a:ext cx="5695950" cy="990600"/>
          </a:xfrm>
          <a:prstGeom prst="rect">
            <a:avLst/>
          </a:prstGeom>
          <a:noFill/>
          <a:ln w="0">
            <a:noFill/>
            <a:prstDash val="solid"/>
          </a:ln>
        </p:spPr>
        <p:txBody>
          <a:bodyPr anchor="t">
            <a:normAutofit/>
          </a:bodyPr>
          <a:lstStyle/>
          <a:p>
            <a:pPr>
              <a:defRPr sz="1650" b="0">
                <a:solidFill>
                  <a:srgbClr val="000000"/>
                </a:solidFill>
                <a:latin typeface="Microsoft YaHei"/>
                <a:ea typeface="Microsoft YaHei"/>
                <a:cs typeface="Microsoft YaHei"/>
              </a:defRPr>
            </a:pPr>
            <a:r>
              <a:rPr sz="1650" b="0">
                <a:solidFill>
                  <a:srgbClr val="000000"/>
                </a:solidFill>
                <a:latin typeface="Microsoft YaHei"/>
                <a:ea typeface="Microsoft YaHei"/>
                <a:cs typeface="Microsoft YaHei"/>
              </a:rPr>
              <a:t>PEM实际</a:t>
            </a:r>
            <a:r>
              <a:rPr lang="zh-CN" altLang="en-US"/>
              <a:t>主轴</a:t>
            </a:r>
            <a:r>
              <a:rPr sz="1650" b="0">
                <a:solidFill>
                  <a:srgbClr val="000000"/>
                </a:solidFill>
                <a:latin typeface="Microsoft YaHei"/>
                <a:ea typeface="Microsoft YaHei"/>
                <a:cs typeface="Microsoft YaHei"/>
              </a:rPr>
              <a:t>受驻波和机械共振影响，可能偏离外壳边缘。定轴依据：入射偏振平行本征轴时，不产生相对相位调制。</a:t>
            </a:r>
          </a:p>
        </p:txBody>
      </p:sp>
      <p:sp>
        <p:nvSpPr>
          <p:cNvPr id="10" name="slide-1-arrow-1">
            <a:extLst>
              <a:ext uri="{FF2B5EF4-FFF2-40B4-BE49-F238E27FC236}">
                <a16:creationId xmlns:a16="http://schemas.microsoft.com/office/drawing/2014/main" id="{F1538F23-3BFD-3A77-661A-8F81B981C89D}"/>
              </a:ext>
            </a:extLst>
          </p:cNvPr>
          <p:cNvSpPr>
            <a:spLocks noGrp="1"/>
          </p:cNvSpPr>
          <p:nvPr/>
        </p:nvSpPr>
        <p:spPr>
          <a:xfrm>
            <a:off x="781050" y="1505333"/>
            <a:ext cx="228600" cy="171450"/>
          </a:xfrm>
          <a:prstGeom prst="rightArrow">
            <a:avLst/>
          </a:prstGeom>
          <a:solidFill>
            <a:srgbClr val="B8BCC4"/>
          </a:solidFill>
          <a:ln w="0">
            <a:solidFill>
              <a:srgbClr val="B8BCC4"/>
            </a:solidFill>
            <a:prstDash val="solid"/>
          </a:ln>
        </p:spPr>
        <p:txBody>
          <a:bodyPr/>
          <a:lstStyle/>
          <a:p>
            <a:endParaRPr lang="zh-CN" altLang="en-US"/>
          </a:p>
        </p:txBody>
      </p:sp>
      <p:sp>
        <p:nvSpPr>
          <p:cNvPr id="12" name="slide-1-arrow-2">
            <a:extLst>
              <a:ext uri="{FF2B5EF4-FFF2-40B4-BE49-F238E27FC236}">
                <a16:creationId xmlns:a16="http://schemas.microsoft.com/office/drawing/2014/main" id="{B2E4E65C-270C-0A3B-94BC-CCA73B83BE17}"/>
              </a:ext>
            </a:extLst>
          </p:cNvPr>
          <p:cNvSpPr>
            <a:spLocks noGrp="1"/>
          </p:cNvSpPr>
          <p:nvPr/>
        </p:nvSpPr>
        <p:spPr>
          <a:xfrm>
            <a:off x="1676400" y="1505333"/>
            <a:ext cx="228600" cy="171450"/>
          </a:xfrm>
          <a:prstGeom prst="rightArrow">
            <a:avLst/>
          </a:prstGeom>
          <a:solidFill>
            <a:srgbClr val="B8BCC4"/>
          </a:solidFill>
          <a:ln w="0">
            <a:solidFill>
              <a:srgbClr val="B8BCC4"/>
            </a:solidFill>
            <a:prstDash val="solid"/>
          </a:ln>
        </p:spPr>
        <p:txBody>
          <a:bodyPr/>
          <a:lstStyle/>
          <a:p>
            <a:endParaRPr lang="zh-CN" altLang="en-US"/>
          </a:p>
        </p:txBody>
      </p:sp>
      <p:sp>
        <p:nvSpPr>
          <p:cNvPr id="15" name="slide-1-arrow-3">
            <a:extLst>
              <a:ext uri="{FF2B5EF4-FFF2-40B4-BE49-F238E27FC236}">
                <a16:creationId xmlns:a16="http://schemas.microsoft.com/office/drawing/2014/main" id="{22BCBA32-1F60-FC05-07D1-5CEB2817E0C2}"/>
              </a:ext>
            </a:extLst>
          </p:cNvPr>
          <p:cNvSpPr>
            <a:spLocks noGrp="1"/>
          </p:cNvSpPr>
          <p:nvPr/>
        </p:nvSpPr>
        <p:spPr>
          <a:xfrm>
            <a:off x="2571750" y="1505333"/>
            <a:ext cx="228600" cy="171450"/>
          </a:xfrm>
          <a:prstGeom prst="rightArrow">
            <a:avLst/>
          </a:prstGeom>
          <a:solidFill>
            <a:srgbClr val="B8BCC4"/>
          </a:solidFill>
          <a:ln w="0">
            <a:solidFill>
              <a:srgbClr val="B8BCC4"/>
            </a:solidFill>
            <a:prstDash val="solid"/>
          </a:ln>
        </p:spPr>
        <p:txBody>
          <a:bodyPr/>
          <a:lstStyle/>
          <a:p>
            <a:endParaRPr lang="zh-CN" altLang="en-US"/>
          </a:p>
        </p:txBody>
      </p:sp>
      <p:sp>
        <p:nvSpPr>
          <p:cNvPr id="17" name="slide-1-arrow-4">
            <a:extLst>
              <a:ext uri="{FF2B5EF4-FFF2-40B4-BE49-F238E27FC236}">
                <a16:creationId xmlns:a16="http://schemas.microsoft.com/office/drawing/2014/main" id="{25407C17-1C24-ED5E-46A1-7C96816F18C8}"/>
              </a:ext>
            </a:extLst>
          </p:cNvPr>
          <p:cNvSpPr>
            <a:spLocks noGrp="1"/>
          </p:cNvSpPr>
          <p:nvPr/>
        </p:nvSpPr>
        <p:spPr>
          <a:xfrm>
            <a:off x="3467100" y="1505333"/>
            <a:ext cx="228600" cy="171450"/>
          </a:xfrm>
          <a:prstGeom prst="rightArrow">
            <a:avLst/>
          </a:prstGeom>
          <a:solidFill>
            <a:srgbClr val="B8BCC4"/>
          </a:solidFill>
          <a:ln w="0">
            <a:solidFill>
              <a:srgbClr val="B8BCC4"/>
            </a:solidFill>
            <a:prstDash val="solid"/>
          </a:ln>
        </p:spPr>
        <p:txBody>
          <a:bodyPr/>
          <a:lstStyle/>
          <a:p>
            <a:endParaRPr lang="zh-CN" altLang="en-US"/>
          </a:p>
        </p:txBody>
      </p:sp>
      <p:sp>
        <p:nvSpPr>
          <p:cNvPr id="19" name="slide-1-arrow-5">
            <a:extLst>
              <a:ext uri="{FF2B5EF4-FFF2-40B4-BE49-F238E27FC236}">
                <a16:creationId xmlns:a16="http://schemas.microsoft.com/office/drawing/2014/main" id="{C844CAE2-82D3-362A-B187-684601E254D2}"/>
              </a:ext>
            </a:extLst>
          </p:cNvPr>
          <p:cNvSpPr>
            <a:spLocks noGrp="1"/>
          </p:cNvSpPr>
          <p:nvPr/>
        </p:nvSpPr>
        <p:spPr>
          <a:xfrm>
            <a:off x="4362450" y="1505333"/>
            <a:ext cx="228600" cy="171450"/>
          </a:xfrm>
          <a:prstGeom prst="rightArrow">
            <a:avLst/>
          </a:prstGeom>
          <a:solidFill>
            <a:srgbClr val="B8BCC4"/>
          </a:solidFill>
          <a:ln w="0">
            <a:solidFill>
              <a:srgbClr val="B8BCC4"/>
            </a:solidFill>
            <a:prstDash val="solid"/>
          </a:ln>
        </p:spPr>
        <p:txBody>
          <a:bodyPr/>
          <a:lstStyle/>
          <a:p>
            <a:endParaRPr lang="zh-CN" altLang="en-US"/>
          </a:p>
        </p:txBody>
      </p:sp>
      <p:sp>
        <p:nvSpPr>
          <p:cNvPr id="21" name="slide-1-optic-1">
            <a:extLst>
              <a:ext uri="{FF2B5EF4-FFF2-40B4-BE49-F238E27FC236}">
                <a16:creationId xmlns:a16="http://schemas.microsoft.com/office/drawing/2014/main" id="{BE15F505-41E6-BE41-6CCD-D260D29296B9}"/>
              </a:ext>
            </a:extLst>
          </p:cNvPr>
          <p:cNvSpPr>
            <a:spLocks noGrp="1"/>
          </p:cNvSpPr>
          <p:nvPr/>
        </p:nvSpPr>
        <p:spPr>
          <a:xfrm>
            <a:off x="95250" y="1267208"/>
            <a:ext cx="742950" cy="647700"/>
          </a:xfrm>
          <a:prstGeom prst="rect">
            <a:avLst/>
          </a:prstGeom>
          <a:solidFill>
            <a:srgbClr val="EDEDED"/>
          </a:solidFill>
          <a:ln w="9525">
            <a:solidFill>
              <a:srgbClr val="B8BCC4"/>
            </a:solidFill>
            <a:prstDash val="solid"/>
          </a:ln>
        </p:spPr>
        <p:txBody>
          <a:bodyPr anchor="ctr">
            <a:normAutofit/>
          </a:bodyPr>
          <a:lstStyle/>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光源</a:t>
            </a:r>
          </a:p>
        </p:txBody>
      </p:sp>
      <p:sp>
        <p:nvSpPr>
          <p:cNvPr id="23" name="slide-1-optic-2">
            <a:extLst>
              <a:ext uri="{FF2B5EF4-FFF2-40B4-BE49-F238E27FC236}">
                <a16:creationId xmlns:a16="http://schemas.microsoft.com/office/drawing/2014/main" id="{ABB8EEB7-B553-A4F4-BA49-444F041A8F1F}"/>
              </a:ext>
            </a:extLst>
          </p:cNvPr>
          <p:cNvSpPr>
            <a:spLocks noGrp="1"/>
          </p:cNvSpPr>
          <p:nvPr/>
        </p:nvSpPr>
        <p:spPr>
          <a:xfrm>
            <a:off x="990600" y="1267208"/>
            <a:ext cx="742950" cy="647700"/>
          </a:xfrm>
          <a:prstGeom prst="rect">
            <a:avLst/>
          </a:prstGeom>
          <a:solidFill>
            <a:srgbClr val="EDEDED"/>
          </a:solidFill>
          <a:ln w="9525">
            <a:solidFill>
              <a:srgbClr val="B8BCC4"/>
            </a:solidFill>
            <a:prstDash val="solid"/>
          </a:ln>
        </p:spPr>
        <p:txBody>
          <a:bodyPr anchor="ctr">
            <a:normAutofit fontScale="91076" lnSpcReduction="20000"/>
          </a:bodyPr>
          <a:lstStyle/>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起偏器</a:t>
            </a:r>
          </a:p>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P₁</a:t>
            </a:r>
          </a:p>
        </p:txBody>
      </p:sp>
      <p:sp>
        <p:nvSpPr>
          <p:cNvPr id="25" name="slide-1-optic-3">
            <a:extLst>
              <a:ext uri="{FF2B5EF4-FFF2-40B4-BE49-F238E27FC236}">
                <a16:creationId xmlns:a16="http://schemas.microsoft.com/office/drawing/2014/main" id="{60E68414-34DB-3901-E17F-668BD46CC0E7}"/>
              </a:ext>
            </a:extLst>
          </p:cNvPr>
          <p:cNvSpPr>
            <a:spLocks noGrp="1"/>
          </p:cNvSpPr>
          <p:nvPr/>
        </p:nvSpPr>
        <p:spPr>
          <a:xfrm>
            <a:off x="1885950" y="1267208"/>
            <a:ext cx="742950" cy="647700"/>
          </a:xfrm>
          <a:prstGeom prst="rect">
            <a:avLst/>
          </a:prstGeom>
          <a:solidFill>
            <a:srgbClr val="D0EDFA"/>
          </a:solidFill>
          <a:ln w="19050">
            <a:solidFill>
              <a:srgbClr val="3D8DFF"/>
            </a:solidFill>
            <a:prstDash val="solid"/>
          </a:ln>
        </p:spPr>
        <p:txBody>
          <a:bodyPr anchor="ctr">
            <a:normAutofit/>
          </a:bodyPr>
          <a:lstStyle/>
          <a:p>
            <a:pPr algn="ctr">
              <a:defRPr sz="1613" b="1">
                <a:solidFill>
                  <a:srgbClr val="000000"/>
                </a:solidFill>
                <a:latin typeface="Microsoft YaHei"/>
                <a:ea typeface="Microsoft YaHei"/>
                <a:cs typeface="Microsoft YaHei"/>
              </a:defRPr>
            </a:pPr>
            <a:r>
              <a:rPr sz="1613" b="1">
                <a:solidFill>
                  <a:srgbClr val="000000"/>
                </a:solidFill>
                <a:latin typeface="Microsoft YaHei"/>
                <a:ea typeface="Microsoft YaHei"/>
                <a:cs typeface="Microsoft YaHei"/>
              </a:rPr>
              <a:t>PEM</a:t>
            </a:r>
          </a:p>
        </p:txBody>
      </p:sp>
      <p:sp>
        <p:nvSpPr>
          <p:cNvPr id="27" name="slide-1-optic-4">
            <a:extLst>
              <a:ext uri="{FF2B5EF4-FFF2-40B4-BE49-F238E27FC236}">
                <a16:creationId xmlns:a16="http://schemas.microsoft.com/office/drawing/2014/main" id="{B98B0299-B911-2B47-6CDF-001185F8AA38}"/>
              </a:ext>
            </a:extLst>
          </p:cNvPr>
          <p:cNvSpPr>
            <a:spLocks noGrp="1"/>
          </p:cNvSpPr>
          <p:nvPr/>
        </p:nvSpPr>
        <p:spPr>
          <a:xfrm>
            <a:off x="2781300" y="1267208"/>
            <a:ext cx="742950" cy="647700"/>
          </a:xfrm>
          <a:prstGeom prst="rect">
            <a:avLst/>
          </a:prstGeom>
          <a:solidFill>
            <a:srgbClr val="EDEDED"/>
          </a:solidFill>
          <a:ln w="9525">
            <a:solidFill>
              <a:srgbClr val="B8BCC4"/>
            </a:solidFill>
            <a:prstDash val="solid"/>
          </a:ln>
        </p:spPr>
        <p:txBody>
          <a:bodyPr anchor="ctr">
            <a:normAutofit fontScale="91076" lnSpcReduction="20000"/>
          </a:bodyPr>
          <a:lstStyle/>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检偏器</a:t>
            </a:r>
          </a:p>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P₂</a:t>
            </a:r>
          </a:p>
        </p:txBody>
      </p:sp>
      <p:sp>
        <p:nvSpPr>
          <p:cNvPr id="29" name="slide-1-optic-5">
            <a:extLst>
              <a:ext uri="{FF2B5EF4-FFF2-40B4-BE49-F238E27FC236}">
                <a16:creationId xmlns:a16="http://schemas.microsoft.com/office/drawing/2014/main" id="{2745F6C3-71C5-5284-76AF-31D8CFB9D574}"/>
              </a:ext>
            </a:extLst>
          </p:cNvPr>
          <p:cNvSpPr>
            <a:spLocks noGrp="1"/>
          </p:cNvSpPr>
          <p:nvPr/>
        </p:nvSpPr>
        <p:spPr>
          <a:xfrm>
            <a:off x="3676650" y="1267208"/>
            <a:ext cx="742950" cy="647700"/>
          </a:xfrm>
          <a:prstGeom prst="rect">
            <a:avLst/>
          </a:prstGeom>
          <a:solidFill>
            <a:srgbClr val="EDEDED"/>
          </a:solidFill>
          <a:ln w="9525">
            <a:solidFill>
              <a:srgbClr val="B8BCC4"/>
            </a:solidFill>
            <a:prstDash val="solid"/>
          </a:ln>
        </p:spPr>
        <p:txBody>
          <a:bodyPr anchor="ctr">
            <a:normAutofit/>
          </a:bodyPr>
          <a:lstStyle/>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探测器</a:t>
            </a:r>
          </a:p>
        </p:txBody>
      </p:sp>
      <p:sp>
        <p:nvSpPr>
          <p:cNvPr id="31" name="slide-1-optic-6">
            <a:extLst>
              <a:ext uri="{FF2B5EF4-FFF2-40B4-BE49-F238E27FC236}">
                <a16:creationId xmlns:a16="http://schemas.microsoft.com/office/drawing/2014/main" id="{4BD0357A-0559-28E2-FC7F-FEB08CD06BF9}"/>
              </a:ext>
            </a:extLst>
          </p:cNvPr>
          <p:cNvSpPr>
            <a:spLocks noGrp="1"/>
          </p:cNvSpPr>
          <p:nvPr/>
        </p:nvSpPr>
        <p:spPr>
          <a:xfrm>
            <a:off x="4572000" y="1267208"/>
            <a:ext cx="742950" cy="647700"/>
          </a:xfrm>
          <a:prstGeom prst="rect">
            <a:avLst/>
          </a:prstGeom>
          <a:solidFill>
            <a:srgbClr val="EDEDED"/>
          </a:solidFill>
          <a:ln w="9525">
            <a:solidFill>
              <a:srgbClr val="B8BCC4"/>
            </a:solidFill>
            <a:prstDash val="solid"/>
          </a:ln>
        </p:spPr>
        <p:txBody>
          <a:bodyPr anchor="ctr">
            <a:normAutofit fontScale="97929"/>
          </a:bodyPr>
          <a:lstStyle/>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示波器</a:t>
            </a:r>
          </a:p>
        </p:txBody>
      </p:sp>
      <p:sp>
        <p:nvSpPr>
          <p:cNvPr id="33" name="slide-1-angle-note">
            <a:extLst>
              <a:ext uri="{FF2B5EF4-FFF2-40B4-BE49-F238E27FC236}">
                <a16:creationId xmlns:a16="http://schemas.microsoft.com/office/drawing/2014/main" id="{5A7CE7A1-3E73-966F-E453-7DDAB5A3273B}"/>
              </a:ext>
            </a:extLst>
          </p:cNvPr>
          <p:cNvSpPr>
            <a:spLocks noGrp="1"/>
          </p:cNvSpPr>
          <p:nvPr/>
        </p:nvSpPr>
        <p:spPr>
          <a:xfrm>
            <a:off x="57150" y="2586885"/>
            <a:ext cx="5467350" cy="723900"/>
          </a:xfrm>
          <a:prstGeom prst="rect">
            <a:avLst/>
          </a:prstGeom>
          <a:noFill/>
          <a:ln w="0">
            <a:noFill/>
            <a:prstDash val="solid"/>
          </a:ln>
        </p:spPr>
        <p:txBody>
          <a:bodyPr anchor="t">
            <a:normAutofit/>
          </a:bodyPr>
          <a:lstStyle/>
          <a:p>
            <a:pPr>
              <a:defRPr sz="1613" b="0">
                <a:solidFill>
                  <a:srgbClr val="5D636E"/>
                </a:solidFill>
                <a:latin typeface="Microsoft YaHei"/>
                <a:ea typeface="Microsoft YaHei"/>
                <a:cs typeface="Microsoft YaHei"/>
              </a:defRPr>
            </a:pPr>
            <a:r>
              <a:rPr sz="1613" b="0">
                <a:solidFill>
                  <a:srgbClr val="5D636E"/>
                </a:solidFill>
                <a:latin typeface="Microsoft YaHei"/>
                <a:ea typeface="Microsoft YaHei"/>
                <a:cs typeface="Microsoft YaHei"/>
              </a:rPr>
              <a:t>初始：P₁≈</a:t>
            </a:r>
            <a:r>
              <a:rPr lang="zh-CN" altLang="en-US" sz="1613">
                <a:solidFill>
                  <a:srgbClr val="5D636E"/>
                </a:solidFill>
                <a:latin typeface="Microsoft YaHei"/>
                <a:ea typeface="Microsoft YaHei"/>
                <a:cs typeface="Microsoft YaHei"/>
              </a:rPr>
              <a:t>−</a:t>
            </a:r>
            <a:r>
              <a:rPr sz="1613" b="0">
                <a:solidFill>
                  <a:srgbClr val="5D636E"/>
                </a:solidFill>
                <a:latin typeface="Microsoft YaHei"/>
                <a:ea typeface="Microsoft YaHei"/>
                <a:cs typeface="Microsoft YaHei"/>
              </a:rPr>
              <a:t>45°、P₂≈</a:t>
            </a:r>
            <a:r>
              <a:rPr lang="zh-CN" altLang="en-US" sz="1613">
                <a:solidFill>
                  <a:srgbClr val="5D636E"/>
                </a:solidFill>
                <a:latin typeface="Microsoft YaHei"/>
                <a:ea typeface="Microsoft YaHei"/>
                <a:cs typeface="Microsoft YaHei"/>
              </a:rPr>
              <a:t> </a:t>
            </a:r>
            <a:r>
              <a:rPr lang="en-US" altLang="zh-CN" sz="1613">
                <a:solidFill>
                  <a:srgbClr val="5D636E"/>
                </a:solidFill>
                <a:latin typeface="Microsoft YaHei"/>
                <a:ea typeface="Microsoft YaHei"/>
                <a:cs typeface="Microsoft YaHei"/>
              </a:rPr>
              <a:t>+ </a:t>
            </a:r>
            <a:r>
              <a:rPr sz="1613" b="0">
                <a:solidFill>
                  <a:srgbClr val="5D636E"/>
                </a:solidFill>
                <a:latin typeface="Microsoft YaHei"/>
                <a:ea typeface="Microsoft YaHei"/>
                <a:cs typeface="Microsoft YaHei"/>
              </a:rPr>
              <a:t>45°，两者近似正交</a:t>
            </a:r>
          </a:p>
          <a:p>
            <a:pPr algn="l">
              <a:defRPr sz="1613" b="0">
                <a:solidFill>
                  <a:srgbClr val="5D636E"/>
                </a:solidFill>
                <a:latin typeface="Microsoft YaHei"/>
                <a:ea typeface="Microsoft YaHei"/>
                <a:cs typeface="Microsoft YaHei"/>
              </a:defRPr>
            </a:pPr>
            <a:r>
              <a:rPr sz="1613" b="0">
                <a:solidFill>
                  <a:srgbClr val="5D636E"/>
                </a:solidFill>
                <a:latin typeface="Microsoft YaHei"/>
                <a:ea typeface="Microsoft YaHei"/>
                <a:cs typeface="Microsoft YaHei"/>
              </a:rPr>
              <a:t>±45°均相对PEM光轴定义，不是实验室固定坐标</a:t>
            </a:r>
          </a:p>
        </p:txBody>
      </p:sp>
      <p:sp>
        <p:nvSpPr>
          <p:cNvPr id="35" name="slide-1-readout-note">
            <a:extLst>
              <a:ext uri="{FF2B5EF4-FFF2-40B4-BE49-F238E27FC236}">
                <a16:creationId xmlns:a16="http://schemas.microsoft.com/office/drawing/2014/main" id="{39D336A6-D987-501D-1E98-2F8E9158F0D9}"/>
              </a:ext>
            </a:extLst>
          </p:cNvPr>
          <p:cNvSpPr>
            <a:spLocks noGrp="1"/>
          </p:cNvSpPr>
          <p:nvPr/>
        </p:nvSpPr>
        <p:spPr>
          <a:xfrm>
            <a:off x="57853" y="4258658"/>
            <a:ext cx="2149715" cy="336401"/>
          </a:xfrm>
          <a:prstGeom prst="rect">
            <a:avLst/>
          </a:prstGeom>
          <a:noFill/>
          <a:ln w="0">
            <a:noFill/>
            <a:prstDash val="solid"/>
          </a:ln>
        </p:spPr>
        <p:txBody>
          <a:bodyPr anchor="t">
            <a:normAutofit fontScale="95591"/>
          </a:bodyPr>
          <a:lstStyle/>
          <a:p>
            <a:pPr algn="l">
              <a:defRPr sz="1613" b="1">
                <a:solidFill>
                  <a:srgbClr val="000000"/>
                </a:solidFill>
                <a:latin typeface="Microsoft YaHei"/>
                <a:ea typeface="Microsoft YaHei"/>
                <a:cs typeface="Microsoft YaHei"/>
              </a:defRPr>
            </a:pPr>
            <a:r>
              <a:rPr sz="1613">
                <a:solidFill>
                  <a:srgbClr val="000000"/>
                </a:solidFill>
                <a:latin typeface="Microsoft YaHei"/>
                <a:ea typeface="Microsoft YaHei"/>
                <a:cs typeface="Microsoft YaHei"/>
              </a:rPr>
              <a:t>示波器：观察完整波形</a:t>
            </a:r>
          </a:p>
        </p:txBody>
      </p:sp>
      <p:sp>
        <p:nvSpPr>
          <p:cNvPr id="56" name="slide-1-delta-formula">
            <a:extLst>
              <a:ext uri="{FF2B5EF4-FFF2-40B4-BE49-F238E27FC236}">
                <a16:creationId xmlns:a16="http://schemas.microsoft.com/office/drawing/2014/main" id="{8FA16419-DED9-C4E2-D6F1-884AAA538625}"/>
              </a:ext>
            </a:extLst>
          </p:cNvPr>
          <p:cNvSpPr>
            <a:spLocks noGrp="1"/>
          </p:cNvSpPr>
          <p:nvPr/>
        </p:nvSpPr>
        <p:spPr>
          <a:xfrm>
            <a:off x="1009650" y="2208308"/>
            <a:ext cx="2330056" cy="266391"/>
          </a:xfrm>
          <a:prstGeom prst="rect">
            <a:avLst/>
          </a:prstGeom>
          <a:noFill/>
          <a:ln w="0">
            <a:noFill/>
            <a:prstDash val="solid"/>
          </a:ln>
        </p:spPr>
        <p:txBody>
          <a:bodyPr anchor="t">
            <a:noAutofit/>
          </a:bodyPr>
          <a:lstStyle/>
          <a:p>
            <a:pPr algn="ctr">
              <a:defRPr sz="2400" b="1">
                <a:solidFill>
                  <a:srgbClr val="000000"/>
                </a:solidFill>
                <a:latin typeface="Arial"/>
                <a:ea typeface="Arial"/>
                <a:cs typeface="Arial"/>
              </a:defRPr>
            </a:pPr>
            <a:r>
              <a:rPr sz="1400">
                <a:solidFill>
                  <a:srgbClr val="000000"/>
                </a:solidFill>
                <a:latin typeface="Arial"/>
                <a:ea typeface="Arial"/>
                <a:cs typeface="Arial"/>
              </a:rPr>
              <a:t>δ₀ = π，   δ(t) = </a:t>
            </a:r>
            <a:r>
              <a:rPr lang="el-GR" altLang="zh-CN" sz="1400">
                <a:solidFill>
                  <a:srgbClr val="000000"/>
                </a:solidFill>
                <a:latin typeface="Arial"/>
                <a:ea typeface="Arial"/>
                <a:cs typeface="Arial"/>
              </a:rPr>
              <a:t>δ₀</a:t>
            </a:r>
            <a:r>
              <a:rPr sz="1400">
                <a:solidFill>
                  <a:srgbClr val="000000"/>
                </a:solidFill>
                <a:latin typeface="Arial"/>
                <a:ea typeface="Arial"/>
                <a:cs typeface="Arial"/>
              </a:rPr>
              <a:t> sin(ωt)</a:t>
            </a:r>
          </a:p>
        </p:txBody>
      </p:sp>
      <p:sp>
        <p:nvSpPr>
          <p:cNvPr id="59" name="箭头: 上 58">
            <a:extLst>
              <a:ext uri="{FF2B5EF4-FFF2-40B4-BE49-F238E27FC236}">
                <a16:creationId xmlns:a16="http://schemas.microsoft.com/office/drawing/2014/main" id="{D37C490A-E816-3E10-2259-F59A85E66760}"/>
              </a:ext>
            </a:extLst>
          </p:cNvPr>
          <p:cNvSpPr/>
          <p:nvPr/>
        </p:nvSpPr>
        <p:spPr>
          <a:xfrm rot="10800000">
            <a:off x="2008609" y="1951115"/>
            <a:ext cx="542925" cy="216024"/>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1" name="slide-2-evidence-frame">
            <a:extLst>
              <a:ext uri="{FF2B5EF4-FFF2-40B4-BE49-F238E27FC236}">
                <a16:creationId xmlns:a16="http://schemas.microsoft.com/office/drawing/2014/main" id="{42CF66B6-E3AA-33FE-04C7-E66DA06C87A4}"/>
              </a:ext>
            </a:extLst>
          </p:cNvPr>
          <p:cNvSpPr>
            <a:spLocks noGrp="1"/>
          </p:cNvSpPr>
          <p:nvPr/>
        </p:nvSpPr>
        <p:spPr>
          <a:xfrm>
            <a:off x="57150" y="4595059"/>
            <a:ext cx="4680521" cy="1985725"/>
          </a:xfrm>
          <a:prstGeom prst="rect">
            <a:avLst/>
          </a:prstGeom>
          <a:solidFill>
            <a:schemeClr val="accent6">
              <a:lumMod val="20000"/>
              <a:lumOff val="80000"/>
            </a:schemeClr>
          </a:solidFill>
          <a:ln w="9525">
            <a:solidFill>
              <a:srgbClr val="B8BCC4"/>
            </a:solidFill>
            <a:prstDash val="solid"/>
          </a:ln>
        </p:spPr>
        <p:txBody>
          <a:bodyPr/>
          <a:lstStyle/>
          <a:p>
            <a:endParaRPr lang="zh-CN" altLang="en-US"/>
          </a:p>
        </p:txBody>
      </p:sp>
      <p:sp>
        <p:nvSpPr>
          <p:cNvPr id="63" name="slide-2-figure-heading">
            <a:extLst>
              <a:ext uri="{FF2B5EF4-FFF2-40B4-BE49-F238E27FC236}">
                <a16:creationId xmlns:a16="http://schemas.microsoft.com/office/drawing/2014/main" id="{E8E8DF61-9DA0-FBF2-BECB-543BE2F28949}"/>
              </a:ext>
            </a:extLst>
          </p:cNvPr>
          <p:cNvSpPr>
            <a:spLocks noGrp="1"/>
          </p:cNvSpPr>
          <p:nvPr/>
        </p:nvSpPr>
        <p:spPr>
          <a:xfrm>
            <a:off x="305677" y="4708489"/>
            <a:ext cx="2291680" cy="323850"/>
          </a:xfrm>
          <a:prstGeom prst="rect">
            <a:avLst/>
          </a:prstGeom>
          <a:noFill/>
          <a:ln w="0">
            <a:noFill/>
            <a:prstDash val="solid"/>
          </a:ln>
        </p:spPr>
        <p:txBody>
          <a:bodyPr anchor="t">
            <a:noAutofit/>
          </a:bodyPr>
          <a:lstStyle/>
          <a:p>
            <a:pPr algn="l">
              <a:defRPr sz="1800" b="1">
                <a:solidFill>
                  <a:srgbClr val="000000"/>
                </a:solidFill>
                <a:latin typeface="Microsoft YaHei"/>
                <a:ea typeface="Microsoft YaHei"/>
                <a:cs typeface="Microsoft YaHei"/>
              </a:defRPr>
            </a:pPr>
            <a:r>
              <a:rPr sz="1800" b="1">
                <a:solidFill>
                  <a:srgbClr val="000000"/>
                </a:solidFill>
                <a:latin typeface="Microsoft YaHei"/>
                <a:ea typeface="Microsoft YaHei"/>
                <a:cs typeface="Microsoft YaHei"/>
              </a:rPr>
              <a:t>半波驱动的波形特征</a:t>
            </a:r>
          </a:p>
        </p:txBody>
      </p:sp>
      <p:pic>
        <p:nvPicPr>
          <p:cNvPr id="65" name="图片 64">
            <a:extLst>
              <a:ext uri="{FF2B5EF4-FFF2-40B4-BE49-F238E27FC236}">
                <a16:creationId xmlns:a16="http://schemas.microsoft.com/office/drawing/2014/main" id="{E1706C58-CC40-F17D-F295-40F2A4705EA6}"/>
              </a:ext>
            </a:extLst>
          </p:cNvPr>
          <p:cNvPicPr>
            <a:picLocks noChangeAspect="1"/>
          </p:cNvPicPr>
          <p:nvPr/>
        </p:nvPicPr>
        <p:blipFill>
          <a:blip r:embed="rId3"/>
          <a:stretch/>
        </p:blipFill>
        <p:spPr>
          <a:xfrm>
            <a:off x="124739" y="5032339"/>
            <a:ext cx="4351394" cy="1276981"/>
          </a:xfrm>
          <a:prstGeom prst="rect">
            <a:avLst/>
          </a:prstGeom>
        </p:spPr>
      </p:pic>
      <p:sp>
        <p:nvSpPr>
          <p:cNvPr id="67" name="slide-2-figure-caption">
            <a:extLst>
              <a:ext uri="{FF2B5EF4-FFF2-40B4-BE49-F238E27FC236}">
                <a16:creationId xmlns:a16="http://schemas.microsoft.com/office/drawing/2014/main" id="{C4C4EEEE-E651-15BC-0A95-7817445A6226}"/>
              </a:ext>
            </a:extLst>
          </p:cNvPr>
          <p:cNvSpPr>
            <a:spLocks noGrp="1"/>
          </p:cNvSpPr>
          <p:nvPr/>
        </p:nvSpPr>
        <p:spPr>
          <a:xfrm>
            <a:off x="305677" y="6358765"/>
            <a:ext cx="4266323" cy="513547"/>
          </a:xfrm>
          <a:prstGeom prst="rect">
            <a:avLst/>
          </a:prstGeom>
          <a:noFill/>
          <a:ln w="0">
            <a:noFill/>
            <a:prstDash val="solid"/>
          </a:ln>
        </p:spPr>
        <p:txBody>
          <a:bodyPr anchor="t">
            <a:normAutofit fontScale="95000"/>
          </a:bodyPr>
          <a:lstStyle/>
          <a:p>
            <a:pPr algn="l">
              <a:defRPr sz="1500" b="0">
                <a:solidFill>
                  <a:srgbClr val="5D636E"/>
                </a:solidFill>
                <a:latin typeface="Microsoft YaHei"/>
                <a:ea typeface="Microsoft YaHei"/>
                <a:cs typeface="Microsoft YaHei"/>
              </a:defRPr>
            </a:pPr>
            <a:endParaRPr sz="1500" b="0">
              <a:solidFill>
                <a:srgbClr val="5D636E"/>
              </a:solidFill>
              <a:latin typeface="Microsoft YaHei"/>
              <a:ea typeface="Microsoft YaHei"/>
              <a:cs typeface="Microsoft YaHei"/>
            </a:endParaRPr>
          </a:p>
        </p:txBody>
      </p:sp>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E82A8C1E-679B-57A3-04BB-514F1A8B1CF7}"/>
                  </a:ext>
                </a:extLst>
              </p:cNvPr>
              <p:cNvSpPr txBox="1"/>
              <p:nvPr/>
            </p:nvSpPr>
            <p:spPr>
              <a:xfrm>
                <a:off x="1" y="3307609"/>
                <a:ext cx="5231904" cy="646331"/>
              </a:xfrm>
              <a:prstGeom prst="rect">
                <a:avLst/>
              </a:prstGeom>
              <a:noFill/>
            </p:spPr>
            <p:txBody>
              <a:bodyPr wrap="square">
                <a:spAutoFit/>
              </a:bodyPr>
              <a:lstStyle/>
              <a:p>
                <a:r>
                  <a:rPr lang="zh-CN" altLang="zh-CN"/>
                  <a:t>P₁</a:t>
                </a:r>
                <a:r>
                  <a:rPr lang="en-US" altLang="zh-CN"/>
                  <a:t>, P2</a:t>
                </a:r>
                <a:r>
                  <a:rPr lang="zh-CN" altLang="zh-CN"/>
                  <a:t>与PEM本征轴夹角为 </a:t>
                </a:r>
                <a:r>
                  <a:rPr lang="el-GR" altLang="zh-CN">
                    <a:solidFill>
                      <a:srgbClr val="FF0000"/>
                    </a:solidFill>
                  </a:rPr>
                  <a:t>α</a:t>
                </a:r>
                <a:r>
                  <a:rPr lang="zh-CN" altLang="en-US"/>
                  <a:t>，</a:t>
                </a:r>
                <a14:m>
                  <m:oMath xmlns:m="http://schemas.openxmlformats.org/officeDocument/2006/math">
                    <m:r>
                      <a:rPr lang="zh-CN" altLang="en-US" i="1" smtClean="0">
                        <a:solidFill>
                          <a:srgbClr val="FF0000"/>
                        </a:solidFill>
                        <a:latin typeface="Cambria Math" panose="02040503050406030204" pitchFamily="18" charset="0"/>
                      </a:rPr>
                      <m:t>𝛽</m:t>
                    </m:r>
                  </m:oMath>
                </a14:m>
                <a:r>
                  <a:rPr lang="en-US" altLang="zh-CN"/>
                  <a:t>,PEM</a:t>
                </a:r>
                <a:r>
                  <a:rPr lang="zh-CN" altLang="en-US"/>
                  <a:t>引入延迟为</a:t>
                </a:r>
                <a:r>
                  <a:rPr lang="el-GR" altLang="zh-CN">
                    <a:solidFill>
                      <a:srgbClr val="000000"/>
                    </a:solidFill>
                    <a:latin typeface="Arial"/>
                    <a:ea typeface="Arial"/>
                    <a:cs typeface="Arial"/>
                  </a:rPr>
                  <a:t>δ₀ = π</a:t>
                </a:r>
                <a:r>
                  <a:rPr lang="en-US" altLang="zh-CN">
                    <a:solidFill>
                      <a:srgbClr val="000000"/>
                    </a:solidFill>
                    <a:latin typeface="Arial"/>
                    <a:ea typeface="Arial"/>
                    <a:cs typeface="Arial"/>
                  </a:rPr>
                  <a:t>,</a:t>
                </a:r>
                <a:r>
                  <a:rPr lang="zh-CN" altLang="el-GR">
                    <a:solidFill>
                      <a:srgbClr val="000000"/>
                    </a:solidFill>
                    <a:latin typeface="Arial"/>
                    <a:ea typeface="Arial"/>
                    <a:cs typeface="Arial"/>
                  </a:rPr>
                  <a:t> </a:t>
                </a:r>
                <a:r>
                  <a:rPr lang="el-GR" altLang="zh-CN">
                    <a:solidFill>
                      <a:srgbClr val="000000"/>
                    </a:solidFill>
                    <a:latin typeface="Arial"/>
                    <a:ea typeface="Arial"/>
                    <a:cs typeface="Arial"/>
                  </a:rPr>
                  <a:t>δ(</a:t>
                </a:r>
                <a:r>
                  <a:rPr lang="en-US" altLang="zh-CN">
                    <a:solidFill>
                      <a:srgbClr val="000000"/>
                    </a:solidFill>
                    <a:latin typeface="Arial"/>
                    <a:ea typeface="Arial"/>
                    <a:cs typeface="Arial"/>
                  </a:rPr>
                  <a:t>t) = </a:t>
                </a:r>
                <a:r>
                  <a:rPr lang="el-GR" altLang="zh-CN">
                    <a:solidFill>
                      <a:srgbClr val="000000"/>
                    </a:solidFill>
                    <a:latin typeface="Arial"/>
                    <a:ea typeface="Arial"/>
                    <a:cs typeface="Arial"/>
                  </a:rPr>
                  <a:t>δ₀ </a:t>
                </a:r>
                <a:r>
                  <a:rPr lang="en-US" altLang="zh-CN">
                    <a:solidFill>
                      <a:srgbClr val="000000"/>
                    </a:solidFill>
                    <a:latin typeface="Arial"/>
                    <a:ea typeface="Arial"/>
                    <a:cs typeface="Arial"/>
                  </a:rPr>
                  <a:t>sin(</a:t>
                </a:r>
                <a:r>
                  <a:rPr lang="el-GR" altLang="zh-CN">
                    <a:solidFill>
                      <a:srgbClr val="000000"/>
                    </a:solidFill>
                    <a:latin typeface="Arial"/>
                    <a:ea typeface="Arial"/>
                    <a:cs typeface="Arial"/>
                  </a:rPr>
                  <a:t>ω</a:t>
                </a:r>
                <a:r>
                  <a:rPr lang="en-US" altLang="zh-CN">
                    <a:solidFill>
                      <a:srgbClr val="000000"/>
                    </a:solidFill>
                    <a:latin typeface="Arial"/>
                    <a:ea typeface="Arial"/>
                    <a:cs typeface="Arial"/>
                  </a:rPr>
                  <a:t>t)</a:t>
                </a:r>
                <a:r>
                  <a:rPr lang="zh-CN" altLang="en-US">
                    <a:solidFill>
                      <a:srgbClr val="000000"/>
                    </a:solidFill>
                    <a:latin typeface="Arial"/>
                    <a:ea typeface="Arial"/>
                    <a:cs typeface="Arial"/>
                  </a:rPr>
                  <a:t>，</a:t>
                </a:r>
                <a:r>
                  <a:rPr lang="zh-CN" altLang="en-US"/>
                  <a:t>探测器输出的电压为</a:t>
                </a:r>
                <a:endParaRPr lang="en-US" altLang="zh-CN"/>
              </a:p>
            </p:txBody>
          </p:sp>
        </mc:Choice>
        <mc:Fallback xmlns="">
          <p:sp>
            <p:nvSpPr>
              <p:cNvPr id="69" name="文本框 68">
                <a:extLst>
                  <a:ext uri="{FF2B5EF4-FFF2-40B4-BE49-F238E27FC236}">
                    <a16:creationId xmlns:a16="http://schemas.microsoft.com/office/drawing/2014/main" id="{E82A8C1E-679B-57A3-04BB-514F1A8B1CF7}"/>
                  </a:ext>
                </a:extLst>
              </p:cNvPr>
              <p:cNvSpPr txBox="1">
                <a:spLocks noRot="1" noChangeAspect="1" noMove="1" noResize="1" noEditPoints="1" noAdjustHandles="1" noChangeArrowheads="1" noChangeShapeType="1" noTextEdit="1"/>
              </p:cNvSpPr>
              <p:nvPr/>
            </p:nvSpPr>
            <p:spPr>
              <a:xfrm>
                <a:off x="1" y="3307609"/>
                <a:ext cx="5231904" cy="646331"/>
              </a:xfrm>
              <a:prstGeom prst="rect">
                <a:avLst/>
              </a:prstGeom>
              <a:blipFill>
                <a:blip r:embed="rId4"/>
                <a:stretch>
                  <a:fillRect l="-932" t="-5660" b="-14151"/>
                </a:stretch>
              </a:blipFill>
            </p:spPr>
            <p:txBody>
              <a:bodyPr/>
              <a:lstStyle/>
              <a:p>
                <a:r>
                  <a:rPr lang="zh-CN" altLang="en-US">
                    <a:noFill/>
                  </a:rPr>
                  <a:t> </a:t>
                </a:r>
              </a:p>
            </p:txBody>
          </p:sp>
        </mc:Fallback>
      </mc:AlternateContent>
      <p:sp>
        <p:nvSpPr>
          <p:cNvPr id="90" name="箭头: 上 89">
            <a:extLst>
              <a:ext uri="{FF2B5EF4-FFF2-40B4-BE49-F238E27FC236}">
                <a16:creationId xmlns:a16="http://schemas.microsoft.com/office/drawing/2014/main" id="{A75AD2EF-3772-8B64-9E6E-C76CEDD0D467}"/>
              </a:ext>
            </a:extLst>
          </p:cNvPr>
          <p:cNvSpPr/>
          <p:nvPr/>
        </p:nvSpPr>
        <p:spPr>
          <a:xfrm rot="10800000">
            <a:off x="2054432" y="4318847"/>
            <a:ext cx="542925" cy="216024"/>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1" name="箭头: 上 90">
            <a:extLst>
              <a:ext uri="{FF2B5EF4-FFF2-40B4-BE49-F238E27FC236}">
                <a16:creationId xmlns:a16="http://schemas.microsoft.com/office/drawing/2014/main" id="{754D2C1B-A330-AA4F-2913-6A9590AB9D37}"/>
              </a:ext>
            </a:extLst>
          </p:cNvPr>
          <p:cNvSpPr/>
          <p:nvPr/>
        </p:nvSpPr>
        <p:spPr>
          <a:xfrm rot="5400000">
            <a:off x="5140461" y="6129303"/>
            <a:ext cx="542925" cy="360040"/>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2" name="slide-2-evidence-frame">
            <a:extLst>
              <a:ext uri="{FF2B5EF4-FFF2-40B4-BE49-F238E27FC236}">
                <a16:creationId xmlns:a16="http://schemas.microsoft.com/office/drawing/2014/main" id="{5A7CDCFB-81B6-C542-298F-09D7B7DB4767}"/>
              </a:ext>
            </a:extLst>
          </p:cNvPr>
          <p:cNvSpPr>
            <a:spLocks noGrp="1"/>
          </p:cNvSpPr>
          <p:nvPr/>
        </p:nvSpPr>
        <p:spPr>
          <a:xfrm>
            <a:off x="6096000" y="5982795"/>
            <a:ext cx="5184576" cy="751939"/>
          </a:xfrm>
          <a:prstGeom prst="rect">
            <a:avLst/>
          </a:prstGeom>
          <a:solidFill>
            <a:schemeClr val="accent4">
              <a:lumMod val="20000"/>
              <a:lumOff val="80000"/>
            </a:schemeClr>
          </a:solidFill>
          <a:ln w="9525">
            <a:solidFill>
              <a:srgbClr val="B8BCC4"/>
            </a:solidFill>
            <a:prstDash val="solid"/>
          </a:ln>
        </p:spPr>
        <p:txBody>
          <a:bodyPr/>
          <a:lstStyle/>
          <a:p>
            <a:r>
              <a:rPr lang="zh-CN" altLang="en-US"/>
              <a:t>保持</a:t>
            </a:r>
            <a:r>
              <a:rPr lang="en-US" altLang="zh-CN"/>
              <a:t>P2</a:t>
            </a:r>
            <a:r>
              <a:rPr lang="zh-CN" altLang="en-US"/>
              <a:t>不变，旋转</a:t>
            </a:r>
            <a:r>
              <a:rPr lang="en-US" altLang="zh-CN"/>
              <a:t>P1,</a:t>
            </a:r>
            <a:r>
              <a:rPr lang="zh-CN" altLang="en-US"/>
              <a:t>改变</a:t>
            </a:r>
            <a:r>
              <a:rPr lang="el-GR" altLang="zh-CN"/>
              <a:t>α</a:t>
            </a:r>
            <a:r>
              <a:rPr lang="zh-CN" altLang="en-US"/>
              <a:t>，当</a:t>
            </a:r>
            <a:r>
              <a:rPr lang="en-US" altLang="zh-CN">
                <a:solidFill>
                  <a:srgbClr val="C00000"/>
                </a:solidFill>
              </a:rPr>
              <a:t>I(t)</a:t>
            </a:r>
            <a:r>
              <a:rPr lang="zh-CN" altLang="en-US">
                <a:solidFill>
                  <a:srgbClr val="C00000"/>
                </a:solidFill>
              </a:rPr>
              <a:t>只有直流分量</a:t>
            </a:r>
            <a:r>
              <a:rPr lang="zh-CN" altLang="en-US"/>
              <a:t>时，此时</a:t>
            </a:r>
            <a:r>
              <a:rPr lang="en-US" altLang="zh-CN"/>
              <a:t>P1</a:t>
            </a:r>
            <a:r>
              <a:rPr lang="zh-CN" altLang="en-US"/>
              <a:t>的偏振片透光方向即为</a:t>
            </a:r>
            <a:r>
              <a:rPr lang="en-US" altLang="zh-CN"/>
              <a:t>PEM</a:t>
            </a:r>
            <a:r>
              <a:rPr lang="zh-CN" altLang="en-US"/>
              <a:t>光轴方向</a:t>
            </a:r>
          </a:p>
        </p:txBody>
      </p:sp>
      <p:sp>
        <p:nvSpPr>
          <p:cNvPr id="9" name="文本框 8">
            <a:extLst>
              <a:ext uri="{FF2B5EF4-FFF2-40B4-BE49-F238E27FC236}">
                <a16:creationId xmlns:a16="http://schemas.microsoft.com/office/drawing/2014/main" id="{A5E9FF29-360F-9257-9A09-03677E41060D}"/>
              </a:ext>
            </a:extLst>
          </p:cNvPr>
          <p:cNvSpPr txBox="1"/>
          <p:nvPr/>
        </p:nvSpPr>
        <p:spPr>
          <a:xfrm>
            <a:off x="5879976" y="1340768"/>
            <a:ext cx="5904656" cy="923330"/>
          </a:xfrm>
          <a:prstGeom prst="rect">
            <a:avLst/>
          </a:prstGeom>
          <a:noFill/>
        </p:spPr>
        <p:txBody>
          <a:bodyPr wrap="square" rtlCol="0">
            <a:spAutoFit/>
          </a:bodyPr>
          <a:lstStyle/>
          <a:p>
            <a:r>
              <a:rPr lang="zh-CN" altLang="en-US" b="1"/>
              <a:t>实验要点：</a:t>
            </a:r>
            <a:endParaRPr lang="en-US" altLang="zh-CN" b="1"/>
          </a:p>
          <a:p>
            <a:r>
              <a:rPr lang="zh-CN" altLang="en-US"/>
              <a:t>需要观察平均值和峰峰值，峰峰值会在旋转</a:t>
            </a:r>
            <a:r>
              <a:rPr lang="en-US" altLang="zh-CN"/>
              <a:t>P1(</a:t>
            </a:r>
            <a:r>
              <a:rPr lang="el-GR" altLang="zh-CN"/>
              <a:t>α</a:t>
            </a:r>
            <a:r>
              <a:rPr lang="en-US" altLang="zh-CN"/>
              <a:t>)</a:t>
            </a:r>
            <a:r>
              <a:rPr lang="zh-CN" altLang="en-US"/>
              <a:t>的</a:t>
            </a:r>
            <a:r>
              <a:rPr lang="en-US" altLang="zh-CN"/>
              <a:t>45°</a:t>
            </a:r>
            <a:r>
              <a:rPr lang="zh-CN" altLang="en-US"/>
              <a:t>变化范围内周期性变大，在</a:t>
            </a:r>
            <a:r>
              <a:rPr lang="en-US" altLang="zh-CN"/>
              <a:t>90°</a:t>
            </a:r>
            <a:r>
              <a:rPr lang="zh-CN" altLang="en-US"/>
              <a:t>范围内周期性变小</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498B477-7B6E-D552-C79F-2BF3D1ED038C}"/>
                  </a:ext>
                </a:extLst>
              </p:cNvPr>
              <p:cNvSpPr txBox="1"/>
              <p:nvPr/>
            </p:nvSpPr>
            <p:spPr>
              <a:xfrm>
                <a:off x="5591944" y="2231654"/>
                <a:ext cx="6192689" cy="491417"/>
              </a:xfrm>
              <a:prstGeom prst="rect">
                <a:avLst/>
              </a:prstGeom>
              <a:noFill/>
            </p:spPr>
            <p:txBody>
              <a:bodyPr wrap="square" rtlCol="0">
                <a:spAutoFit/>
              </a:bodyPr>
              <a:lstStyle/>
              <a:p>
                <a:r>
                  <a:rPr lang="en-US" altLang="zh-CN"/>
                  <a:t>V</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r>
                          <m:rPr>
                            <m:sty m:val="p"/>
                          </m:rPr>
                          <a:rPr lang="en-US" altLang="zh-CN" b="0" i="1" smtClean="0">
                            <a:latin typeface="Cambria Math" panose="02040503050406030204" pitchFamily="18" charset="0"/>
                          </a:rPr>
                          <m:t>G</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0</m:t>
                            </m:r>
                          </m:sub>
                        </m:sSub>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1+</m:t>
                        </m:r>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𝛼</m:t>
                                </m:r>
                              </m:e>
                            </m:d>
                          </m:e>
                        </m:func>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𝛽</m:t>
                                </m:r>
                              </m:e>
                            </m:d>
                          </m:e>
                        </m:func>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𝛼</m:t>
                                </m:r>
                              </m:e>
                            </m:d>
                          </m:e>
                        </m:func>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𝛽</m:t>
                                </m:r>
                              </m:e>
                            </m:d>
                          </m:e>
                        </m:func>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ctrlPr>
                                  <a:rPr lang="en-US" altLang="zh-CN" i="1">
                                    <a:latin typeface="Cambria Math" panose="02040503050406030204" pitchFamily="18" charset="0"/>
                                  </a:rPr>
                                </m:ctrlPr>
                              </m:dPr>
                              <m:e>
                                <m:r>
                                  <a:rPr lang="en-US" altLang="zh-CN" i="1">
                                    <a:latin typeface="Cambria Math" panose="02040503050406030204" pitchFamily="18" charset="0"/>
                                  </a:rPr>
                                  <m:t>𝛿</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e>
                            </m:d>
                          </m:e>
                        </m:func>
                      </m:e>
                    </m:d>
                  </m:oMath>
                </a14:m>
                <a:endParaRPr lang="zh-CN" altLang="en-US"/>
              </a:p>
            </p:txBody>
          </p:sp>
        </mc:Choice>
        <mc:Fallback xmlns="">
          <p:sp>
            <p:nvSpPr>
              <p:cNvPr id="11" name="文本框 10">
                <a:extLst>
                  <a:ext uri="{FF2B5EF4-FFF2-40B4-BE49-F238E27FC236}">
                    <a16:creationId xmlns:a16="http://schemas.microsoft.com/office/drawing/2014/main" id="{9498B477-7B6E-D552-C79F-2BF3D1ED038C}"/>
                  </a:ext>
                </a:extLst>
              </p:cNvPr>
              <p:cNvSpPr txBox="1">
                <a:spLocks noRot="1" noChangeAspect="1" noMove="1" noResize="1" noEditPoints="1" noAdjustHandles="1" noChangeArrowheads="1" noChangeShapeType="1" noTextEdit="1"/>
              </p:cNvSpPr>
              <p:nvPr/>
            </p:nvSpPr>
            <p:spPr>
              <a:xfrm>
                <a:off x="5591944" y="2231654"/>
                <a:ext cx="6192689" cy="491417"/>
              </a:xfrm>
              <a:prstGeom prst="rect">
                <a:avLst/>
              </a:prstGeom>
              <a:blipFill>
                <a:blip r:embed="rId5"/>
                <a:stretch>
                  <a:fillRect l="-787" b="-6173"/>
                </a:stretch>
              </a:blipFill>
            </p:spPr>
            <p:txBody>
              <a:bodyPr/>
              <a:lstStyle/>
              <a:p>
                <a:r>
                  <a:rPr lang="zh-CN" altLang="en-US">
                    <a:noFill/>
                  </a:rPr>
                  <a:t> </a:t>
                </a:r>
              </a:p>
            </p:txBody>
          </p:sp>
        </mc:Fallback>
      </mc:AlternateContent>
      <p:sp>
        <p:nvSpPr>
          <p:cNvPr id="14" name="箭头: 上 13">
            <a:extLst>
              <a:ext uri="{FF2B5EF4-FFF2-40B4-BE49-F238E27FC236}">
                <a16:creationId xmlns:a16="http://schemas.microsoft.com/office/drawing/2014/main" id="{7974DC61-FAA5-7424-8BE8-38D5729DA7E1}"/>
              </a:ext>
            </a:extLst>
          </p:cNvPr>
          <p:cNvSpPr/>
          <p:nvPr/>
        </p:nvSpPr>
        <p:spPr>
          <a:xfrm rot="10800000">
            <a:off x="8397679" y="2923104"/>
            <a:ext cx="542925" cy="216024"/>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D621B2B-12E9-9403-B641-EAFB141B3913}"/>
                  </a:ext>
                </a:extLst>
              </p:cNvPr>
              <p:cNvSpPr txBox="1"/>
              <p:nvPr/>
            </p:nvSpPr>
            <p:spPr>
              <a:xfrm>
                <a:off x="5472519" y="3154984"/>
                <a:ext cx="6537706" cy="491417"/>
              </a:xfrm>
              <a:prstGeom prst="rect">
                <a:avLst/>
              </a:prstGeom>
              <a:noFill/>
            </p:spPr>
            <p:txBody>
              <a:bodyPr wrap="square" rtlCol="0">
                <a:spAutoFit/>
              </a:bodyPr>
              <a:lstStyle/>
              <a:p>
                <a:pPr algn="ctr"/>
                <a:r>
                  <a:rPr lang="zh-CN" altLang="en-US">
                    <a:solidFill>
                      <a:srgbClr val="C00000"/>
                    </a:solidFill>
                  </a:rPr>
                  <a:t>结论：示波器输出波形表达式</a:t>
                </a:r>
                <a:r>
                  <a:rPr lang="en-US" altLang="zh-CN">
                    <a:solidFill>
                      <a:srgbClr val="C00000"/>
                    </a:solidFill>
                  </a:rPr>
                  <a:t>V</a:t>
                </a:r>
                <a14:m>
                  <m:oMath xmlns:m="http://schemas.openxmlformats.org/officeDocument/2006/math">
                    <m:d>
                      <m:dPr>
                        <m:ctrlPr>
                          <a:rPr lang="en-US" altLang="zh-CN" i="1">
                            <a:solidFill>
                              <a:srgbClr val="C00000"/>
                            </a:solidFill>
                            <a:latin typeface="Cambria Math" panose="02040503050406030204" pitchFamily="18" charset="0"/>
                          </a:rPr>
                        </m:ctrlPr>
                      </m:dPr>
                      <m:e>
                        <m:r>
                          <a:rPr lang="en-US" altLang="zh-CN" i="1">
                            <a:solidFill>
                              <a:srgbClr val="C00000"/>
                            </a:solidFill>
                            <a:latin typeface="Cambria Math" panose="02040503050406030204" pitchFamily="18" charset="0"/>
                          </a:rPr>
                          <m:t>𝑡</m:t>
                        </m:r>
                      </m:e>
                    </m:d>
                    <m:r>
                      <a:rPr lang="en-US" altLang="zh-CN" i="1">
                        <a:solidFill>
                          <a:srgbClr val="C00000"/>
                        </a:solidFill>
                        <a:latin typeface="Cambria Math" panose="02040503050406030204" pitchFamily="18" charset="0"/>
                      </a:rPr>
                      <m:t>=</m:t>
                    </m:r>
                    <m:f>
                      <m:fPr>
                        <m:ctrlPr>
                          <a:rPr lang="en-US" altLang="zh-CN" b="0" i="1" smtClean="0">
                            <a:solidFill>
                              <a:srgbClr val="C00000"/>
                            </a:solidFill>
                            <a:latin typeface="Cambria Math" panose="02040503050406030204" pitchFamily="18" charset="0"/>
                          </a:rPr>
                        </m:ctrlPr>
                      </m:fPr>
                      <m:num>
                        <m:r>
                          <m:rPr>
                            <m:sty m:val="p"/>
                          </m:rPr>
                          <a:rPr lang="en-US" altLang="zh-CN" b="0" i="1" smtClean="0">
                            <a:solidFill>
                              <a:srgbClr val="C00000"/>
                            </a:solidFill>
                            <a:latin typeface="Cambria Math" panose="02040503050406030204" pitchFamily="18" charset="0"/>
                          </a:rPr>
                          <m:t>G</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𝐼</m:t>
                            </m:r>
                          </m:e>
                          <m:sub>
                            <m:r>
                              <a:rPr lang="en-US" altLang="zh-CN" i="1">
                                <a:solidFill>
                                  <a:srgbClr val="C00000"/>
                                </a:solidFill>
                                <a:latin typeface="Cambria Math" panose="02040503050406030204" pitchFamily="18" charset="0"/>
                              </a:rPr>
                              <m:t>0</m:t>
                            </m:r>
                          </m:sub>
                        </m:sSub>
                      </m:num>
                      <m:den>
                        <m:r>
                          <a:rPr lang="en-US" altLang="zh-CN" i="1">
                            <a:solidFill>
                              <a:srgbClr val="C00000"/>
                            </a:solidFill>
                            <a:latin typeface="Cambria Math" panose="02040503050406030204" pitchFamily="18" charset="0"/>
                          </a:rPr>
                          <m:t>2</m:t>
                        </m:r>
                      </m:den>
                    </m:f>
                    <m:d>
                      <m:dPr>
                        <m:begChr m:val="["/>
                        <m:endChr m:val="]"/>
                        <m:ctrlPr>
                          <a:rPr lang="en-US" altLang="zh-CN" i="1">
                            <a:solidFill>
                              <a:srgbClr val="C00000"/>
                            </a:solidFill>
                            <a:latin typeface="Cambria Math" panose="02040503050406030204" pitchFamily="18" charset="0"/>
                          </a:rPr>
                        </m:ctrlPr>
                      </m:dPr>
                      <m:e>
                        <m:r>
                          <a:rPr lang="en-US" altLang="zh-CN" i="1">
                            <a:solidFill>
                              <a:srgbClr val="C00000"/>
                            </a:solidFill>
                            <a:latin typeface="Cambria Math" panose="02040503050406030204" pitchFamily="18" charset="0"/>
                          </a:rPr>
                          <m:t>1</m:t>
                        </m:r>
                        <m:r>
                          <a:rPr lang="en-US" altLang="zh-CN" b="0" i="1" smtClean="0">
                            <a:solidFill>
                              <a:srgbClr val="C00000"/>
                            </a:solidFill>
                            <a:latin typeface="Cambria Math" panose="02040503050406030204" pitchFamily="18" charset="0"/>
                          </a:rPr>
                          <m:t>−</m:t>
                        </m:r>
                        <m:func>
                          <m:funcPr>
                            <m:ctrlPr>
                              <a:rPr lang="en-US" altLang="zh-CN" i="1">
                                <a:solidFill>
                                  <a:srgbClr val="C00000"/>
                                </a:solidFill>
                                <a:latin typeface="Cambria Math" panose="02040503050406030204" pitchFamily="18" charset="0"/>
                              </a:rPr>
                            </m:ctrlPr>
                          </m:funcPr>
                          <m:fName>
                            <m:r>
                              <m:rPr>
                                <m:sty m:val="p"/>
                              </m:rPr>
                              <a:rPr lang="en-US" altLang="zh-CN" i="1">
                                <a:solidFill>
                                  <a:srgbClr val="C00000"/>
                                </a:solidFill>
                                <a:latin typeface="Cambria Math" panose="02040503050406030204" pitchFamily="18" charset="0"/>
                              </a:rPr>
                              <m:t>sin</m:t>
                            </m:r>
                          </m:fName>
                          <m:e>
                            <m:d>
                              <m:dPr>
                                <m:ctrlPr>
                                  <a:rPr lang="en-US" altLang="zh-CN" i="1">
                                    <a:solidFill>
                                      <a:srgbClr val="C00000"/>
                                    </a:solidFill>
                                    <a:latin typeface="Cambria Math" panose="02040503050406030204" pitchFamily="18" charset="0"/>
                                  </a:rPr>
                                </m:ctrlPr>
                              </m:dPr>
                              <m:e>
                                <m:r>
                                  <a:rPr lang="en-US" altLang="zh-CN" i="1">
                                    <a:solidFill>
                                      <a:srgbClr val="C00000"/>
                                    </a:solidFill>
                                    <a:latin typeface="Cambria Math" panose="02040503050406030204" pitchFamily="18" charset="0"/>
                                  </a:rPr>
                                  <m:t>2</m:t>
                                </m:r>
                                <m:r>
                                  <a:rPr lang="en-US" altLang="zh-CN" i="1">
                                    <a:solidFill>
                                      <a:srgbClr val="C00000"/>
                                    </a:solidFill>
                                    <a:latin typeface="Cambria Math" panose="02040503050406030204" pitchFamily="18" charset="0"/>
                                  </a:rPr>
                                  <m:t>𝛼</m:t>
                                </m:r>
                              </m:e>
                            </m:d>
                          </m:e>
                        </m:func>
                        <m:func>
                          <m:funcPr>
                            <m:ctrlPr>
                              <a:rPr lang="en-US" altLang="zh-CN" i="1">
                                <a:solidFill>
                                  <a:srgbClr val="C00000"/>
                                </a:solidFill>
                                <a:latin typeface="Cambria Math" panose="02040503050406030204" pitchFamily="18" charset="0"/>
                              </a:rPr>
                            </m:ctrlPr>
                          </m:funcPr>
                          <m:fName>
                            <m:r>
                              <m:rPr>
                                <m:sty m:val="p"/>
                              </m:rPr>
                              <a:rPr lang="en-US" altLang="zh-CN" i="1">
                                <a:solidFill>
                                  <a:srgbClr val="C00000"/>
                                </a:solidFill>
                                <a:latin typeface="Cambria Math" panose="02040503050406030204" pitchFamily="18" charset="0"/>
                              </a:rPr>
                              <m:t>cos</m:t>
                            </m:r>
                          </m:fName>
                          <m:e>
                            <m:r>
                              <a:rPr lang="zh-CN" altLang="en-US" i="1" smtClean="0">
                                <a:solidFill>
                                  <a:srgbClr val="C00000"/>
                                </a:solidFill>
                                <a:latin typeface="Cambria Math" panose="02040503050406030204" pitchFamily="18" charset="0"/>
                              </a:rPr>
                              <m:t>𝛿</m:t>
                            </m:r>
                            <m:r>
                              <a:rPr lang="en-US" altLang="zh-CN" b="0" i="1" smtClean="0">
                                <a:solidFill>
                                  <a:srgbClr val="C00000"/>
                                </a:solidFill>
                                <a:latin typeface="Cambria Math" panose="02040503050406030204" pitchFamily="18" charset="0"/>
                              </a:rPr>
                              <m:t>(</m:t>
                            </m:r>
                            <m:r>
                              <m:rPr>
                                <m:sty m:val="p"/>
                              </m:rPr>
                              <a:rPr lang="en-US" altLang="zh-CN" b="0" i="1" smtClean="0">
                                <a:solidFill>
                                  <a:srgbClr val="C00000"/>
                                </a:solidFill>
                                <a:latin typeface="Cambria Math" panose="02040503050406030204" pitchFamily="18" charset="0"/>
                              </a:rPr>
                              <m:t>t</m:t>
                            </m:r>
                            <m:r>
                              <a:rPr lang="en-US" altLang="zh-CN" b="0" i="1" smtClean="0">
                                <a:solidFill>
                                  <a:srgbClr val="C00000"/>
                                </a:solidFill>
                                <a:latin typeface="Cambria Math" panose="02040503050406030204" pitchFamily="18" charset="0"/>
                              </a:rPr>
                              <m:t>)</m:t>
                            </m:r>
                          </m:e>
                        </m:func>
                      </m:e>
                    </m:d>
                  </m:oMath>
                </a14:m>
                <a:endParaRPr lang="zh-CN" altLang="en-US"/>
              </a:p>
            </p:txBody>
          </p:sp>
        </mc:Choice>
        <mc:Fallback xmlns="">
          <p:sp>
            <p:nvSpPr>
              <p:cNvPr id="16" name="文本框 15">
                <a:extLst>
                  <a:ext uri="{FF2B5EF4-FFF2-40B4-BE49-F238E27FC236}">
                    <a16:creationId xmlns:a16="http://schemas.microsoft.com/office/drawing/2014/main" id="{8D621B2B-12E9-9403-B641-EAFB141B3913}"/>
                  </a:ext>
                </a:extLst>
              </p:cNvPr>
              <p:cNvSpPr txBox="1">
                <a:spLocks noRot="1" noChangeAspect="1" noMove="1" noResize="1" noEditPoints="1" noAdjustHandles="1" noChangeArrowheads="1" noChangeShapeType="1" noTextEdit="1"/>
              </p:cNvSpPr>
              <p:nvPr/>
            </p:nvSpPr>
            <p:spPr>
              <a:xfrm>
                <a:off x="5472519" y="3154984"/>
                <a:ext cx="6537706" cy="491417"/>
              </a:xfrm>
              <a:prstGeom prst="rect">
                <a:avLst/>
              </a:prstGeom>
              <a:blipFill>
                <a:blip r:embed="rId6"/>
                <a:stretch>
                  <a:fillRect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435BCCB-227F-AA9D-2AA6-785B20C1C7B4}"/>
                  </a:ext>
                </a:extLst>
              </p:cNvPr>
              <p:cNvSpPr txBox="1"/>
              <p:nvPr/>
            </p:nvSpPr>
            <p:spPr>
              <a:xfrm>
                <a:off x="8976320" y="2842515"/>
                <a:ext cx="2160240" cy="340542"/>
              </a:xfrm>
              <a:prstGeom prst="rect">
                <a:avLst/>
              </a:prstGeom>
              <a:noFill/>
            </p:spPr>
            <p:txBody>
              <a:bodyPr wrap="square">
                <a:spAutoFit/>
              </a:bodyPr>
              <a:lstStyle/>
              <a:p>
                <a:r>
                  <a:rPr lang="en-US" altLang="zh-CN" sz="1613" b="0">
                    <a:solidFill>
                      <a:srgbClr val="5D636E"/>
                    </a:solidFill>
                    <a:latin typeface="Microsoft YaHei"/>
                    <a:ea typeface="Microsoft YaHei"/>
                    <a:cs typeface="Microsoft YaHei"/>
                  </a:rPr>
                  <a:t>P₂</a:t>
                </a:r>
                <a:r>
                  <a:rPr lang="zh-CN" altLang="en-US" sz="1613" b="0">
                    <a:solidFill>
                      <a:srgbClr val="5D636E"/>
                    </a:solidFill>
                    <a:latin typeface="Microsoft YaHei"/>
                    <a:ea typeface="Microsoft YaHei"/>
                    <a:cs typeface="Microsoft YaHei"/>
                  </a:rPr>
                  <a:t>（</a:t>
                </a:r>
                <a14:m>
                  <m:oMath xmlns:m="http://schemas.openxmlformats.org/officeDocument/2006/math">
                    <m:r>
                      <a:rPr lang="zh-CN" altLang="en-US" sz="1600" i="1">
                        <a:latin typeface="Cambria Math" panose="02040503050406030204" pitchFamily="18" charset="0"/>
                      </a:rPr>
                      <m:t>𝛽</m:t>
                    </m:r>
                  </m:oMath>
                </a14:m>
                <a:r>
                  <a:rPr lang="zh-CN" altLang="en-US" sz="1613" b="0">
                    <a:solidFill>
                      <a:srgbClr val="5D636E"/>
                    </a:solidFill>
                    <a:latin typeface="Microsoft YaHei"/>
                    <a:ea typeface="Microsoft YaHei"/>
                    <a:cs typeface="Microsoft YaHei"/>
                  </a:rPr>
                  <a:t>）</a:t>
                </a:r>
                <a:r>
                  <a:rPr lang="en-US" altLang="zh-CN" sz="1613" b="0">
                    <a:solidFill>
                      <a:srgbClr val="5D636E"/>
                    </a:solidFill>
                    <a:latin typeface="Microsoft YaHei"/>
                    <a:ea typeface="Microsoft YaHei"/>
                    <a:cs typeface="Microsoft YaHei"/>
                  </a:rPr>
                  <a:t>≈</a:t>
                </a:r>
                <a:r>
                  <a:rPr lang="en-US" altLang="zh-CN" sz="1613">
                    <a:solidFill>
                      <a:srgbClr val="5D636E"/>
                    </a:solidFill>
                    <a:latin typeface="Microsoft YaHei"/>
                    <a:ea typeface="Microsoft YaHei"/>
                    <a:cs typeface="Microsoft YaHei"/>
                  </a:rPr>
                  <a:t> + </a:t>
                </a:r>
                <a:r>
                  <a:rPr lang="en-US" altLang="zh-CN" sz="1613" b="0">
                    <a:solidFill>
                      <a:srgbClr val="5D636E"/>
                    </a:solidFill>
                    <a:latin typeface="Microsoft YaHei"/>
                    <a:ea typeface="Microsoft YaHei"/>
                    <a:cs typeface="Microsoft YaHei"/>
                  </a:rPr>
                  <a:t>45°</a:t>
                </a:r>
                <a:r>
                  <a:rPr lang="zh-CN" altLang="en-US" sz="1613">
                    <a:solidFill>
                      <a:srgbClr val="5D636E"/>
                    </a:solidFill>
                    <a:latin typeface="Microsoft YaHei"/>
                    <a:ea typeface="Microsoft YaHei"/>
                    <a:cs typeface="Microsoft YaHei"/>
                  </a:rPr>
                  <a:t>带入</a:t>
                </a:r>
                <a:endParaRPr lang="zh-CN" altLang="en-US"/>
              </a:p>
            </p:txBody>
          </p:sp>
        </mc:Choice>
        <mc:Fallback xmlns="">
          <p:sp>
            <p:nvSpPr>
              <p:cNvPr id="20" name="文本框 19">
                <a:extLst>
                  <a:ext uri="{FF2B5EF4-FFF2-40B4-BE49-F238E27FC236}">
                    <a16:creationId xmlns:a16="http://schemas.microsoft.com/office/drawing/2014/main" id="{E435BCCB-227F-AA9D-2AA6-785B20C1C7B4}"/>
                  </a:ext>
                </a:extLst>
              </p:cNvPr>
              <p:cNvSpPr txBox="1">
                <a:spLocks noRot="1" noChangeAspect="1" noMove="1" noResize="1" noEditPoints="1" noAdjustHandles="1" noChangeArrowheads="1" noChangeShapeType="1" noTextEdit="1"/>
              </p:cNvSpPr>
              <p:nvPr/>
            </p:nvSpPr>
            <p:spPr>
              <a:xfrm>
                <a:off x="8976320" y="2842515"/>
                <a:ext cx="2160240" cy="340542"/>
              </a:xfrm>
              <a:prstGeom prst="rect">
                <a:avLst/>
              </a:prstGeom>
              <a:blipFill>
                <a:blip r:embed="rId8"/>
                <a:stretch>
                  <a:fillRect l="-1690" t="-7143" b="-23214"/>
                </a:stretch>
              </a:blipFill>
            </p:spPr>
            <p:txBody>
              <a:bodyPr/>
              <a:lstStyle/>
              <a:p>
                <a:r>
                  <a:rPr lang="zh-CN" altLang="en-US">
                    <a:noFill/>
                  </a:rPr>
                  <a:t> </a:t>
                </a:r>
              </a:p>
            </p:txBody>
          </p:sp>
        </mc:Fallback>
      </mc:AlternateContent>
      <p:sp>
        <p:nvSpPr>
          <p:cNvPr id="2" name="箭头: 上 1">
            <a:extLst>
              <a:ext uri="{FF2B5EF4-FFF2-40B4-BE49-F238E27FC236}">
                <a16:creationId xmlns:a16="http://schemas.microsoft.com/office/drawing/2014/main" id="{840C7DC2-E929-A2EB-4A46-928775CE0C22}"/>
              </a:ext>
            </a:extLst>
          </p:cNvPr>
          <p:cNvSpPr/>
          <p:nvPr/>
        </p:nvSpPr>
        <p:spPr>
          <a:xfrm>
            <a:off x="8416825" y="4822586"/>
            <a:ext cx="542925" cy="360040"/>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26" name="图片 25">
            <a:extLst>
              <a:ext uri="{FF2B5EF4-FFF2-40B4-BE49-F238E27FC236}">
                <a16:creationId xmlns:a16="http://schemas.microsoft.com/office/drawing/2014/main" id="{F8ECEF9F-A604-6370-43AE-5DE2C86419CA}"/>
              </a:ext>
            </a:extLst>
          </p:cNvPr>
          <p:cNvPicPr>
            <a:picLocks noChangeAspect="1"/>
          </p:cNvPicPr>
          <p:nvPr/>
        </p:nvPicPr>
        <p:blipFill>
          <a:blip r:embed="rId9"/>
          <a:srcRect l="2160" t="34487" r="2160" b="37084"/>
          <a:stretch>
            <a:fillRect/>
          </a:stretch>
        </p:blipFill>
        <p:spPr>
          <a:xfrm>
            <a:off x="839416" y="3895911"/>
            <a:ext cx="3184426" cy="315401"/>
          </a:xfrm>
          <a:prstGeom prst="rect">
            <a:avLst/>
          </a:prstGeom>
        </p:spPr>
      </p:pic>
    </p:spTree>
    <p:extLst>
      <p:ext uri="{BB962C8B-B14F-4D97-AF65-F5344CB8AC3E}">
        <p14:creationId xmlns:p14="http://schemas.microsoft.com/office/powerpoint/2010/main" val="40356997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B3EE3-151C-3C58-BA61-3ED124D44A70}"/>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7266102-F163-A558-ED74-0D14EFB0424E}"/>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pic>
        <p:nvPicPr>
          <p:cNvPr id="13" name="图片 1">
            <a:extLst>
              <a:ext uri="{FF2B5EF4-FFF2-40B4-BE49-F238E27FC236}">
                <a16:creationId xmlns:a16="http://schemas.microsoft.com/office/drawing/2014/main" id="{52107D49-F0B0-0F70-230C-9B0AC416B5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999741E7-29C5-7B19-57F3-AF711C6288A8}"/>
              </a:ext>
            </a:extLst>
          </p:cNvPr>
          <p:cNvSpPr txBox="1"/>
          <p:nvPr/>
        </p:nvSpPr>
        <p:spPr>
          <a:xfrm>
            <a:off x="608532" y="77602"/>
            <a:ext cx="11526317" cy="369332"/>
          </a:xfrm>
          <a:prstGeom prst="rect">
            <a:avLst/>
          </a:prstGeom>
          <a:noFill/>
        </p:spPr>
        <p:txBody>
          <a:bodyPr wrap="square" rtlCol="0">
            <a:spAutoFit/>
          </a:bodyPr>
          <a:lstStyle/>
          <a:p>
            <a:r>
              <a:rPr lang="en-US" altLang="zh-CN"/>
              <a:t>1.1:</a:t>
            </a:r>
            <a:r>
              <a:rPr lang="zh-CN" altLang="en-US"/>
              <a:t> </a:t>
            </a:r>
            <a:r>
              <a:rPr lang="en-US" altLang="zh-CN"/>
              <a:t>PEM</a:t>
            </a:r>
            <a:r>
              <a:rPr lang="zh-CN" altLang="en-US"/>
              <a:t>设备主轴确定实验结果：</a:t>
            </a:r>
            <a:r>
              <a:rPr lang="en-US" altLang="zh-CN">
                <a:solidFill>
                  <a:srgbClr val="C00000"/>
                </a:solidFill>
              </a:rPr>
              <a:t> PEM</a:t>
            </a:r>
            <a:r>
              <a:rPr lang="zh-CN" altLang="en-US">
                <a:solidFill>
                  <a:srgbClr val="C00000"/>
                </a:solidFill>
              </a:rPr>
              <a:t>主轴在水平方向顺时针</a:t>
            </a:r>
            <a:r>
              <a:rPr lang="en-US" altLang="zh-CN">
                <a:solidFill>
                  <a:srgbClr val="C00000"/>
                </a:solidFill>
              </a:rPr>
              <a:t>1.5°</a:t>
            </a:r>
            <a:r>
              <a:rPr lang="zh-CN" altLang="en-US">
                <a:solidFill>
                  <a:srgbClr val="C00000"/>
                </a:solidFill>
              </a:rPr>
              <a:t>左右，近似可以认为在水平方向</a:t>
            </a:r>
            <a:endParaRPr lang="en-US" altLang="zh-CN" dirty="0">
              <a:solidFill>
                <a:srgbClr val="C00000"/>
              </a:solidFill>
            </a:endParaRPr>
          </a:p>
        </p:txBody>
      </p:sp>
      <p:sp>
        <p:nvSpPr>
          <p:cNvPr id="4" name="Slide Number Placeholder 2">
            <a:extLst>
              <a:ext uri="{FF2B5EF4-FFF2-40B4-BE49-F238E27FC236}">
                <a16:creationId xmlns:a16="http://schemas.microsoft.com/office/drawing/2014/main" id="{0F15CC1B-4304-A1FA-42B6-6C778BBCE35E}"/>
              </a:ext>
            </a:extLst>
          </p:cNvPr>
          <p:cNvSpPr txBox="1">
            <a:spLocks/>
          </p:cNvSpPr>
          <p:nvPr/>
        </p:nvSpPr>
        <p:spPr>
          <a:xfrm>
            <a:off x="11832456" y="6492875"/>
            <a:ext cx="355538"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7</a:t>
            </a:fld>
            <a:endParaRPr lang="zh-CN" altLang="en-US" sz="2000" dirty="0">
              <a:latin typeface="Arial"/>
              <a:ea typeface="Microsoft YaHei"/>
            </a:endParaRPr>
          </a:p>
        </p:txBody>
      </p:sp>
      <p:pic>
        <p:nvPicPr>
          <p:cNvPr id="6" name="图片 5">
            <a:extLst>
              <a:ext uri="{FF2B5EF4-FFF2-40B4-BE49-F238E27FC236}">
                <a16:creationId xmlns:a16="http://schemas.microsoft.com/office/drawing/2014/main" id="{F66E9415-D181-F1C0-88F2-0B974A0C21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5755" y="1032319"/>
            <a:ext cx="2880318" cy="2160239"/>
          </a:xfrm>
          <a:prstGeom prst="rect">
            <a:avLst/>
          </a:prstGeom>
        </p:spPr>
      </p:pic>
      <p:pic>
        <p:nvPicPr>
          <p:cNvPr id="8" name="图片 7">
            <a:extLst>
              <a:ext uri="{FF2B5EF4-FFF2-40B4-BE49-F238E27FC236}">
                <a16:creationId xmlns:a16="http://schemas.microsoft.com/office/drawing/2014/main" id="{A474A01B-92A4-0D4A-483B-52FA3B3F5A7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1064" y="1700808"/>
            <a:ext cx="3275856" cy="2456892"/>
          </a:xfrm>
          <a:prstGeom prst="rect">
            <a:avLst/>
          </a:prstGeom>
        </p:spPr>
      </p:pic>
      <p:sp>
        <p:nvSpPr>
          <p:cNvPr id="10" name="slide-1-arrow-1">
            <a:extLst>
              <a:ext uri="{FF2B5EF4-FFF2-40B4-BE49-F238E27FC236}">
                <a16:creationId xmlns:a16="http://schemas.microsoft.com/office/drawing/2014/main" id="{478B524E-4636-4E94-DBE7-408E2AC7B883}"/>
              </a:ext>
            </a:extLst>
          </p:cNvPr>
          <p:cNvSpPr>
            <a:spLocks noGrp="1"/>
          </p:cNvSpPr>
          <p:nvPr/>
        </p:nvSpPr>
        <p:spPr>
          <a:xfrm>
            <a:off x="781050" y="1171500"/>
            <a:ext cx="228600" cy="171450"/>
          </a:xfrm>
          <a:prstGeom prst="rightArrow">
            <a:avLst/>
          </a:prstGeom>
          <a:solidFill>
            <a:srgbClr val="B8BCC4"/>
          </a:solidFill>
          <a:ln w="0">
            <a:solidFill>
              <a:srgbClr val="B8BCC4"/>
            </a:solidFill>
            <a:prstDash val="solid"/>
          </a:ln>
        </p:spPr>
        <p:txBody>
          <a:bodyPr/>
          <a:lstStyle/>
          <a:p>
            <a:endParaRPr lang="zh-CN" altLang="en-US"/>
          </a:p>
        </p:txBody>
      </p:sp>
      <p:sp>
        <p:nvSpPr>
          <p:cNvPr id="12" name="slide-1-arrow-2">
            <a:extLst>
              <a:ext uri="{FF2B5EF4-FFF2-40B4-BE49-F238E27FC236}">
                <a16:creationId xmlns:a16="http://schemas.microsoft.com/office/drawing/2014/main" id="{3E40EA25-0DC5-32C4-D4A6-976A6EE903B4}"/>
              </a:ext>
            </a:extLst>
          </p:cNvPr>
          <p:cNvSpPr>
            <a:spLocks noGrp="1"/>
          </p:cNvSpPr>
          <p:nvPr/>
        </p:nvSpPr>
        <p:spPr>
          <a:xfrm>
            <a:off x="1676400" y="1171500"/>
            <a:ext cx="228600" cy="171450"/>
          </a:xfrm>
          <a:prstGeom prst="rightArrow">
            <a:avLst/>
          </a:prstGeom>
          <a:solidFill>
            <a:srgbClr val="B8BCC4"/>
          </a:solidFill>
          <a:ln w="0">
            <a:solidFill>
              <a:srgbClr val="B8BCC4"/>
            </a:solidFill>
            <a:prstDash val="solid"/>
          </a:ln>
        </p:spPr>
        <p:txBody>
          <a:bodyPr/>
          <a:lstStyle/>
          <a:p>
            <a:endParaRPr lang="zh-CN" altLang="en-US"/>
          </a:p>
        </p:txBody>
      </p:sp>
      <p:sp>
        <p:nvSpPr>
          <p:cNvPr id="15" name="slide-1-arrow-3">
            <a:extLst>
              <a:ext uri="{FF2B5EF4-FFF2-40B4-BE49-F238E27FC236}">
                <a16:creationId xmlns:a16="http://schemas.microsoft.com/office/drawing/2014/main" id="{80A09CE7-0AE2-DC47-F53C-10CCC3A812B3}"/>
              </a:ext>
            </a:extLst>
          </p:cNvPr>
          <p:cNvSpPr>
            <a:spLocks noGrp="1"/>
          </p:cNvSpPr>
          <p:nvPr/>
        </p:nvSpPr>
        <p:spPr>
          <a:xfrm>
            <a:off x="2571750" y="1171500"/>
            <a:ext cx="228600" cy="171450"/>
          </a:xfrm>
          <a:prstGeom prst="rightArrow">
            <a:avLst/>
          </a:prstGeom>
          <a:solidFill>
            <a:srgbClr val="B8BCC4"/>
          </a:solidFill>
          <a:ln w="0">
            <a:solidFill>
              <a:srgbClr val="B8BCC4"/>
            </a:solidFill>
            <a:prstDash val="solid"/>
          </a:ln>
        </p:spPr>
        <p:txBody>
          <a:bodyPr/>
          <a:lstStyle/>
          <a:p>
            <a:endParaRPr lang="zh-CN" altLang="en-US"/>
          </a:p>
        </p:txBody>
      </p:sp>
      <p:sp>
        <p:nvSpPr>
          <p:cNvPr id="17" name="slide-1-arrow-4">
            <a:extLst>
              <a:ext uri="{FF2B5EF4-FFF2-40B4-BE49-F238E27FC236}">
                <a16:creationId xmlns:a16="http://schemas.microsoft.com/office/drawing/2014/main" id="{5A0079BF-B17F-6565-2962-66AF1D80012C}"/>
              </a:ext>
            </a:extLst>
          </p:cNvPr>
          <p:cNvSpPr>
            <a:spLocks noGrp="1"/>
          </p:cNvSpPr>
          <p:nvPr/>
        </p:nvSpPr>
        <p:spPr>
          <a:xfrm>
            <a:off x="3467100" y="1171500"/>
            <a:ext cx="228600" cy="171450"/>
          </a:xfrm>
          <a:prstGeom prst="rightArrow">
            <a:avLst/>
          </a:prstGeom>
          <a:solidFill>
            <a:srgbClr val="B8BCC4"/>
          </a:solidFill>
          <a:ln w="0">
            <a:solidFill>
              <a:srgbClr val="B8BCC4"/>
            </a:solidFill>
            <a:prstDash val="solid"/>
          </a:ln>
        </p:spPr>
        <p:txBody>
          <a:bodyPr/>
          <a:lstStyle/>
          <a:p>
            <a:endParaRPr lang="zh-CN" altLang="en-US"/>
          </a:p>
        </p:txBody>
      </p:sp>
      <p:sp>
        <p:nvSpPr>
          <p:cNvPr id="19" name="slide-1-arrow-5">
            <a:extLst>
              <a:ext uri="{FF2B5EF4-FFF2-40B4-BE49-F238E27FC236}">
                <a16:creationId xmlns:a16="http://schemas.microsoft.com/office/drawing/2014/main" id="{531B4357-3648-29CD-BAAF-0E9C9A4FC954}"/>
              </a:ext>
            </a:extLst>
          </p:cNvPr>
          <p:cNvSpPr>
            <a:spLocks noGrp="1"/>
          </p:cNvSpPr>
          <p:nvPr/>
        </p:nvSpPr>
        <p:spPr>
          <a:xfrm>
            <a:off x="4362450" y="1171500"/>
            <a:ext cx="228600" cy="171450"/>
          </a:xfrm>
          <a:prstGeom prst="rightArrow">
            <a:avLst/>
          </a:prstGeom>
          <a:solidFill>
            <a:srgbClr val="B8BCC4"/>
          </a:solidFill>
          <a:ln w="0">
            <a:solidFill>
              <a:srgbClr val="B8BCC4"/>
            </a:solidFill>
            <a:prstDash val="solid"/>
          </a:ln>
        </p:spPr>
        <p:txBody>
          <a:bodyPr/>
          <a:lstStyle/>
          <a:p>
            <a:endParaRPr lang="zh-CN" altLang="en-US"/>
          </a:p>
        </p:txBody>
      </p:sp>
      <p:sp>
        <p:nvSpPr>
          <p:cNvPr id="21" name="slide-1-optic-1">
            <a:extLst>
              <a:ext uri="{FF2B5EF4-FFF2-40B4-BE49-F238E27FC236}">
                <a16:creationId xmlns:a16="http://schemas.microsoft.com/office/drawing/2014/main" id="{14C478E8-88A0-7DC7-51B7-C28F9203733F}"/>
              </a:ext>
            </a:extLst>
          </p:cNvPr>
          <p:cNvSpPr>
            <a:spLocks noGrp="1"/>
          </p:cNvSpPr>
          <p:nvPr/>
        </p:nvSpPr>
        <p:spPr>
          <a:xfrm>
            <a:off x="95250" y="933375"/>
            <a:ext cx="742950" cy="647700"/>
          </a:xfrm>
          <a:prstGeom prst="rect">
            <a:avLst/>
          </a:prstGeom>
          <a:solidFill>
            <a:srgbClr val="EDEDED"/>
          </a:solidFill>
          <a:ln w="9525">
            <a:solidFill>
              <a:srgbClr val="B8BCC4"/>
            </a:solidFill>
            <a:prstDash val="solid"/>
          </a:ln>
        </p:spPr>
        <p:txBody>
          <a:bodyPr anchor="ctr">
            <a:normAutofit/>
          </a:bodyPr>
          <a:lstStyle/>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光源</a:t>
            </a:r>
          </a:p>
        </p:txBody>
      </p:sp>
      <p:sp>
        <p:nvSpPr>
          <p:cNvPr id="23" name="slide-1-optic-2">
            <a:extLst>
              <a:ext uri="{FF2B5EF4-FFF2-40B4-BE49-F238E27FC236}">
                <a16:creationId xmlns:a16="http://schemas.microsoft.com/office/drawing/2014/main" id="{3B2FAD1B-7C44-67E8-8E8E-E94DA0C36843}"/>
              </a:ext>
            </a:extLst>
          </p:cNvPr>
          <p:cNvSpPr>
            <a:spLocks noGrp="1"/>
          </p:cNvSpPr>
          <p:nvPr/>
        </p:nvSpPr>
        <p:spPr>
          <a:xfrm>
            <a:off x="990600" y="933375"/>
            <a:ext cx="742950" cy="647700"/>
          </a:xfrm>
          <a:prstGeom prst="rect">
            <a:avLst/>
          </a:prstGeom>
          <a:solidFill>
            <a:srgbClr val="EDEDED"/>
          </a:solidFill>
          <a:ln w="9525">
            <a:solidFill>
              <a:srgbClr val="B8BCC4"/>
            </a:solidFill>
            <a:prstDash val="solid"/>
          </a:ln>
        </p:spPr>
        <p:txBody>
          <a:bodyPr anchor="ctr">
            <a:normAutofit fontScale="91076" lnSpcReduction="20000"/>
          </a:bodyPr>
          <a:lstStyle/>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起偏器</a:t>
            </a:r>
          </a:p>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P₁</a:t>
            </a:r>
          </a:p>
        </p:txBody>
      </p:sp>
      <p:sp>
        <p:nvSpPr>
          <p:cNvPr id="25" name="slide-1-optic-3">
            <a:extLst>
              <a:ext uri="{FF2B5EF4-FFF2-40B4-BE49-F238E27FC236}">
                <a16:creationId xmlns:a16="http://schemas.microsoft.com/office/drawing/2014/main" id="{BB3319EF-5989-EA47-16D9-412705F9071C}"/>
              </a:ext>
            </a:extLst>
          </p:cNvPr>
          <p:cNvSpPr>
            <a:spLocks noGrp="1"/>
          </p:cNvSpPr>
          <p:nvPr/>
        </p:nvSpPr>
        <p:spPr>
          <a:xfrm>
            <a:off x="1885950" y="933375"/>
            <a:ext cx="742950" cy="647700"/>
          </a:xfrm>
          <a:prstGeom prst="rect">
            <a:avLst/>
          </a:prstGeom>
          <a:solidFill>
            <a:srgbClr val="D0EDFA"/>
          </a:solidFill>
          <a:ln w="19050">
            <a:solidFill>
              <a:srgbClr val="3D8DFF"/>
            </a:solidFill>
            <a:prstDash val="solid"/>
          </a:ln>
        </p:spPr>
        <p:txBody>
          <a:bodyPr anchor="ctr">
            <a:normAutofit/>
          </a:bodyPr>
          <a:lstStyle/>
          <a:p>
            <a:pPr algn="ctr">
              <a:defRPr sz="1613" b="1">
                <a:solidFill>
                  <a:srgbClr val="000000"/>
                </a:solidFill>
                <a:latin typeface="Microsoft YaHei"/>
                <a:ea typeface="Microsoft YaHei"/>
                <a:cs typeface="Microsoft YaHei"/>
              </a:defRPr>
            </a:pPr>
            <a:r>
              <a:rPr sz="1613" b="1">
                <a:solidFill>
                  <a:srgbClr val="000000"/>
                </a:solidFill>
                <a:latin typeface="Microsoft YaHei"/>
                <a:ea typeface="Microsoft YaHei"/>
                <a:cs typeface="Microsoft YaHei"/>
              </a:rPr>
              <a:t>PEM</a:t>
            </a:r>
          </a:p>
        </p:txBody>
      </p:sp>
      <p:sp>
        <p:nvSpPr>
          <p:cNvPr id="27" name="slide-1-optic-4">
            <a:extLst>
              <a:ext uri="{FF2B5EF4-FFF2-40B4-BE49-F238E27FC236}">
                <a16:creationId xmlns:a16="http://schemas.microsoft.com/office/drawing/2014/main" id="{36C53906-ED65-7FE5-5DF7-8C49896BC1BE}"/>
              </a:ext>
            </a:extLst>
          </p:cNvPr>
          <p:cNvSpPr>
            <a:spLocks noGrp="1"/>
          </p:cNvSpPr>
          <p:nvPr/>
        </p:nvSpPr>
        <p:spPr>
          <a:xfrm>
            <a:off x="2781300" y="933375"/>
            <a:ext cx="742950" cy="647700"/>
          </a:xfrm>
          <a:prstGeom prst="rect">
            <a:avLst/>
          </a:prstGeom>
          <a:solidFill>
            <a:srgbClr val="EDEDED"/>
          </a:solidFill>
          <a:ln w="9525">
            <a:solidFill>
              <a:srgbClr val="B8BCC4"/>
            </a:solidFill>
            <a:prstDash val="solid"/>
          </a:ln>
        </p:spPr>
        <p:txBody>
          <a:bodyPr anchor="ctr">
            <a:normAutofit fontScale="91076" lnSpcReduction="20000"/>
          </a:bodyPr>
          <a:lstStyle/>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检偏器</a:t>
            </a:r>
          </a:p>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P₂</a:t>
            </a:r>
          </a:p>
        </p:txBody>
      </p:sp>
      <p:sp>
        <p:nvSpPr>
          <p:cNvPr id="29" name="slide-1-optic-5">
            <a:extLst>
              <a:ext uri="{FF2B5EF4-FFF2-40B4-BE49-F238E27FC236}">
                <a16:creationId xmlns:a16="http://schemas.microsoft.com/office/drawing/2014/main" id="{7CEAC941-B3D0-04D6-0CF1-3C1C1BC97233}"/>
              </a:ext>
            </a:extLst>
          </p:cNvPr>
          <p:cNvSpPr>
            <a:spLocks noGrp="1"/>
          </p:cNvSpPr>
          <p:nvPr/>
        </p:nvSpPr>
        <p:spPr>
          <a:xfrm>
            <a:off x="3676650" y="933375"/>
            <a:ext cx="742950" cy="647700"/>
          </a:xfrm>
          <a:prstGeom prst="rect">
            <a:avLst/>
          </a:prstGeom>
          <a:solidFill>
            <a:srgbClr val="EDEDED"/>
          </a:solidFill>
          <a:ln w="9525">
            <a:solidFill>
              <a:srgbClr val="B8BCC4"/>
            </a:solidFill>
            <a:prstDash val="solid"/>
          </a:ln>
        </p:spPr>
        <p:txBody>
          <a:bodyPr anchor="ctr">
            <a:normAutofit/>
          </a:bodyPr>
          <a:lstStyle/>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探测器</a:t>
            </a:r>
          </a:p>
        </p:txBody>
      </p:sp>
      <p:sp>
        <p:nvSpPr>
          <p:cNvPr id="31" name="slide-1-optic-6">
            <a:extLst>
              <a:ext uri="{FF2B5EF4-FFF2-40B4-BE49-F238E27FC236}">
                <a16:creationId xmlns:a16="http://schemas.microsoft.com/office/drawing/2014/main" id="{34ED14AE-5704-666A-FFA3-1770FFD87C1D}"/>
              </a:ext>
            </a:extLst>
          </p:cNvPr>
          <p:cNvSpPr>
            <a:spLocks noGrp="1"/>
          </p:cNvSpPr>
          <p:nvPr/>
        </p:nvSpPr>
        <p:spPr>
          <a:xfrm>
            <a:off x="4572000" y="933375"/>
            <a:ext cx="742950" cy="647700"/>
          </a:xfrm>
          <a:prstGeom prst="rect">
            <a:avLst/>
          </a:prstGeom>
          <a:solidFill>
            <a:srgbClr val="EDEDED"/>
          </a:solidFill>
          <a:ln w="9525">
            <a:solidFill>
              <a:srgbClr val="B8BCC4"/>
            </a:solidFill>
            <a:prstDash val="solid"/>
          </a:ln>
        </p:spPr>
        <p:txBody>
          <a:bodyPr anchor="ctr">
            <a:normAutofit fontScale="97929"/>
          </a:bodyPr>
          <a:lstStyle/>
          <a:p>
            <a:pPr algn="ctr">
              <a:defRPr sz="1613" b="0">
                <a:solidFill>
                  <a:srgbClr val="000000"/>
                </a:solidFill>
                <a:latin typeface="Microsoft YaHei"/>
                <a:ea typeface="Microsoft YaHei"/>
                <a:cs typeface="Microsoft YaHei"/>
              </a:defRPr>
            </a:pPr>
            <a:r>
              <a:rPr sz="1613" b="0">
                <a:solidFill>
                  <a:srgbClr val="000000"/>
                </a:solidFill>
                <a:latin typeface="Microsoft YaHei"/>
                <a:ea typeface="Microsoft YaHei"/>
                <a:cs typeface="Microsoft YaHei"/>
              </a:rPr>
              <a:t>示波器</a:t>
            </a:r>
          </a:p>
        </p:txBody>
      </p:sp>
      <p:sp>
        <p:nvSpPr>
          <p:cNvPr id="34" name="文本框 33">
            <a:extLst>
              <a:ext uri="{FF2B5EF4-FFF2-40B4-BE49-F238E27FC236}">
                <a16:creationId xmlns:a16="http://schemas.microsoft.com/office/drawing/2014/main" id="{69C36407-D1A6-5E6D-F897-EC2D74ABEC7C}"/>
              </a:ext>
            </a:extLst>
          </p:cNvPr>
          <p:cNvSpPr txBox="1"/>
          <p:nvPr/>
        </p:nvSpPr>
        <p:spPr>
          <a:xfrm>
            <a:off x="2010410" y="4321550"/>
            <a:ext cx="877163" cy="369332"/>
          </a:xfrm>
          <a:prstGeom prst="rect">
            <a:avLst/>
          </a:prstGeom>
          <a:noFill/>
        </p:spPr>
        <p:txBody>
          <a:bodyPr wrap="none" rtlCol="0">
            <a:spAutoFit/>
          </a:bodyPr>
          <a:lstStyle/>
          <a:p>
            <a:r>
              <a:rPr lang="zh-CN" altLang="en-US"/>
              <a:t>光路图</a:t>
            </a: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C503CECB-E421-545F-3F54-A3B81D291AFD}"/>
                  </a:ext>
                </a:extLst>
              </p:cNvPr>
              <p:cNvSpPr txBox="1"/>
              <p:nvPr/>
            </p:nvSpPr>
            <p:spPr>
              <a:xfrm>
                <a:off x="6600056" y="3241382"/>
                <a:ext cx="3600400" cy="646331"/>
              </a:xfrm>
              <a:prstGeom prst="rect">
                <a:avLst/>
              </a:prstGeom>
              <a:noFill/>
            </p:spPr>
            <p:txBody>
              <a:bodyPr wrap="square" rtlCol="0">
                <a:spAutoFit/>
              </a:bodyPr>
              <a:lstStyle/>
              <a:p>
                <a:pPr algn="ctr"/>
                <a14:m>
                  <m:oMath xmlns:m="http://schemas.openxmlformats.org/officeDocument/2006/math">
                    <m:r>
                      <a:rPr lang="zh-CN" altLang="en-US" i="1" smtClean="0">
                        <a:latin typeface="Cambria Math" panose="02040503050406030204" pitchFamily="18" charset="0"/>
                      </a:rPr>
                      <m:t>𝛼</m:t>
                    </m:r>
                  </m:oMath>
                </a14:m>
                <a:r>
                  <a:rPr lang="en-US" altLang="zh-CN"/>
                  <a:t>=45°</a:t>
                </a:r>
                <a:r>
                  <a:rPr lang="zh-CN" altLang="en-US"/>
                  <a:t>时</a:t>
                </a:r>
                <a:endParaRPr lang="en-US" altLang="zh-CN"/>
              </a:p>
              <a:p>
                <a:pPr algn="ctr"/>
                <a:r>
                  <a:rPr lang="zh-CN" altLang="en-US"/>
                  <a:t>均值为</a:t>
                </a:r>
                <a:r>
                  <a:rPr lang="en-US" altLang="zh-CN"/>
                  <a:t>702mV</a:t>
                </a:r>
                <a:r>
                  <a:rPr lang="zh-CN" altLang="en-US"/>
                  <a:t>，峰峰值为</a:t>
                </a:r>
                <a:r>
                  <a:rPr lang="en-US" altLang="zh-CN"/>
                  <a:t>1080mV</a:t>
                </a:r>
                <a:endParaRPr lang="zh-CN" altLang="en-US"/>
              </a:p>
            </p:txBody>
          </p:sp>
        </mc:Choice>
        <mc:Fallback xmlns="">
          <p:sp>
            <p:nvSpPr>
              <p:cNvPr id="36" name="文本框 35">
                <a:extLst>
                  <a:ext uri="{FF2B5EF4-FFF2-40B4-BE49-F238E27FC236}">
                    <a16:creationId xmlns:a16="http://schemas.microsoft.com/office/drawing/2014/main" id="{C503CECB-E421-545F-3F54-A3B81D291AFD}"/>
                  </a:ext>
                </a:extLst>
              </p:cNvPr>
              <p:cNvSpPr txBox="1">
                <a:spLocks noRot="1" noChangeAspect="1" noMove="1" noResize="1" noEditPoints="1" noAdjustHandles="1" noChangeArrowheads="1" noChangeShapeType="1" noTextEdit="1"/>
              </p:cNvSpPr>
              <p:nvPr/>
            </p:nvSpPr>
            <p:spPr>
              <a:xfrm>
                <a:off x="6600056" y="3241382"/>
                <a:ext cx="3600400" cy="646331"/>
              </a:xfrm>
              <a:prstGeom prst="rect">
                <a:avLst/>
              </a:prstGeom>
              <a:blipFill>
                <a:blip r:embed="rId5"/>
                <a:stretch>
                  <a:fillRect l="-339" t="-5660" r="-169"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9B7EA0C5-E34C-A7E9-B58B-8DD3756107BE}"/>
                  </a:ext>
                </a:extLst>
              </p:cNvPr>
              <p:cNvSpPr txBox="1"/>
              <p:nvPr/>
            </p:nvSpPr>
            <p:spPr>
              <a:xfrm>
                <a:off x="5571407" y="496415"/>
                <a:ext cx="6192689" cy="491417"/>
              </a:xfrm>
              <a:prstGeom prst="rect">
                <a:avLst/>
              </a:prstGeom>
              <a:noFill/>
            </p:spPr>
            <p:txBody>
              <a:bodyPr wrap="square" rtlCol="0">
                <a:spAutoFit/>
              </a:bodyPr>
              <a:lstStyle/>
              <a:p>
                <a:pPr algn="ctr"/>
                <a:r>
                  <a:rPr lang="zh-CN" altLang="en-US"/>
                  <a:t>探测器</a:t>
                </a:r>
                <a14:m>
                  <m:oMath xmlns:m="http://schemas.openxmlformats.org/officeDocument/2006/math">
                    <m:r>
                      <a:rPr lang="zh-CN" altLang="en-US" i="1">
                        <a:latin typeface="Cambria Math" panose="02040503050406030204" pitchFamily="18" charset="0"/>
                      </a:rPr>
                      <m:t>电压</m:t>
                    </m:r>
                    <m:r>
                      <m:rPr>
                        <m:sty m:val="p"/>
                      </m:rPr>
                      <a:rPr lang="en-US" altLang="zh-CN" b="0" i="1" smtClean="0">
                        <a:latin typeface="Cambria Math" panose="02040503050406030204" pitchFamily="18" charset="0"/>
                      </a:rPr>
                      <m:t>V</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r>
                          <m:rPr>
                            <m:sty m:val="p"/>
                          </m:rPr>
                          <a:rPr lang="en-US" altLang="zh-CN" b="0" i="1" smtClean="0">
                            <a:latin typeface="Cambria Math" panose="02040503050406030204" pitchFamily="18" charset="0"/>
                          </a:rPr>
                          <m:t>G</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0</m:t>
                            </m:r>
                          </m:sub>
                        </m:sSub>
                      </m:num>
                      <m:den>
                        <m:r>
                          <a:rPr lang="en-US" altLang="zh-CN" i="1">
                            <a:latin typeface="Cambria Math" panose="02040503050406030204" pitchFamily="18" charset="0"/>
                          </a:rPr>
                          <m:t>2</m:t>
                        </m:r>
                      </m:den>
                    </m:f>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b="0" i="1" smtClean="0">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sin</m:t>
                            </m:r>
                          </m:fName>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𝛼</m:t>
                                </m:r>
                              </m:e>
                            </m:d>
                          </m:e>
                        </m:func>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r>
                              <a:rPr lang="zh-CN" altLang="en-US" i="1" smtClean="0">
                                <a:latin typeface="Cambria Math" panose="02040503050406030204" pitchFamily="18" charset="0"/>
                              </a:rPr>
                              <m:t>𝛿</m:t>
                            </m:r>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t</m:t>
                            </m:r>
                            <m:r>
                              <a:rPr lang="en-US" altLang="zh-CN" b="0" i="1" smtClean="0">
                                <a:latin typeface="Cambria Math" panose="02040503050406030204" pitchFamily="18" charset="0"/>
                              </a:rPr>
                              <m:t>)</m:t>
                            </m:r>
                          </m:e>
                        </m:func>
                      </m:e>
                    </m:d>
                  </m:oMath>
                </a14:m>
                <a:endParaRPr lang="zh-CN" altLang="en-US"/>
              </a:p>
            </p:txBody>
          </p:sp>
        </mc:Choice>
        <mc:Fallback xmlns="">
          <p:sp>
            <p:nvSpPr>
              <p:cNvPr id="38" name="文本框 37">
                <a:extLst>
                  <a:ext uri="{FF2B5EF4-FFF2-40B4-BE49-F238E27FC236}">
                    <a16:creationId xmlns:a16="http://schemas.microsoft.com/office/drawing/2014/main" id="{9B7EA0C5-E34C-A7E9-B58B-8DD3756107BE}"/>
                  </a:ext>
                </a:extLst>
              </p:cNvPr>
              <p:cNvSpPr txBox="1">
                <a:spLocks noRot="1" noChangeAspect="1" noMove="1" noResize="1" noEditPoints="1" noAdjustHandles="1" noChangeArrowheads="1" noChangeShapeType="1" noTextEdit="1"/>
              </p:cNvSpPr>
              <p:nvPr/>
            </p:nvSpPr>
            <p:spPr>
              <a:xfrm>
                <a:off x="5571407" y="496415"/>
                <a:ext cx="6192689" cy="491417"/>
              </a:xfrm>
              <a:prstGeom prst="rect">
                <a:avLst/>
              </a:prstGeom>
              <a:blipFill>
                <a:blip r:embed="rId6"/>
                <a:stretch>
                  <a:fillRect b="-6173"/>
                </a:stretch>
              </a:blipFill>
            </p:spPr>
            <p:txBody>
              <a:bodyPr/>
              <a:lstStyle/>
              <a:p>
                <a:r>
                  <a:rPr lang="zh-CN" altLang="en-US">
                    <a:noFill/>
                  </a:rPr>
                  <a:t> </a:t>
                </a:r>
              </a:p>
            </p:txBody>
          </p:sp>
        </mc:Fallback>
      </mc:AlternateContent>
      <p:pic>
        <p:nvPicPr>
          <p:cNvPr id="40" name="图片 39">
            <a:extLst>
              <a:ext uri="{FF2B5EF4-FFF2-40B4-BE49-F238E27FC236}">
                <a16:creationId xmlns:a16="http://schemas.microsoft.com/office/drawing/2014/main" id="{E5471DC2-7DA3-0F57-B8AB-37978375946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76120" y="3988270"/>
            <a:ext cx="2880318" cy="2160238"/>
          </a:xfrm>
          <a:prstGeom prst="rect">
            <a:avLst/>
          </a:prstGeom>
        </p:spPr>
      </p:pic>
      <p:sp>
        <p:nvSpPr>
          <p:cNvPr id="42" name="箭头: 上 41">
            <a:extLst>
              <a:ext uri="{FF2B5EF4-FFF2-40B4-BE49-F238E27FC236}">
                <a16:creationId xmlns:a16="http://schemas.microsoft.com/office/drawing/2014/main" id="{8FEB7BA7-F532-8A7F-975A-4367BDEA8A17}"/>
              </a:ext>
            </a:extLst>
          </p:cNvPr>
          <p:cNvSpPr/>
          <p:nvPr/>
        </p:nvSpPr>
        <p:spPr>
          <a:xfrm rot="5400000">
            <a:off x="4997044" y="2728355"/>
            <a:ext cx="542925" cy="216024"/>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B50C15FC-4F41-0298-5263-75F10D425240}"/>
                  </a:ext>
                </a:extLst>
              </p:cNvPr>
              <p:cNvSpPr txBox="1"/>
              <p:nvPr/>
            </p:nvSpPr>
            <p:spPr>
              <a:xfrm>
                <a:off x="6888088" y="6139912"/>
                <a:ext cx="3600400" cy="646331"/>
              </a:xfrm>
              <a:prstGeom prst="rect">
                <a:avLst/>
              </a:prstGeom>
              <a:noFill/>
            </p:spPr>
            <p:txBody>
              <a:bodyPr wrap="square" rtlCol="0">
                <a:spAutoFit/>
              </a:bodyPr>
              <a:lstStyle/>
              <a:p>
                <a:pPr algn="ctr"/>
                <a14:m>
                  <m:oMath xmlns:m="http://schemas.openxmlformats.org/officeDocument/2006/math">
                    <m:r>
                      <a:rPr lang="zh-CN" altLang="en-US" i="1" smtClean="0">
                        <a:latin typeface="Cambria Math" panose="02040503050406030204" pitchFamily="18" charset="0"/>
                      </a:rPr>
                      <m:t>𝛼</m:t>
                    </m:r>
                  </m:oMath>
                </a14:m>
                <a:r>
                  <a:rPr lang="en-US" altLang="zh-CN"/>
                  <a:t>=1.5°</a:t>
                </a:r>
                <a:r>
                  <a:rPr lang="zh-CN" altLang="en-US"/>
                  <a:t>时</a:t>
                </a:r>
                <a:endParaRPr lang="en-US" altLang="zh-CN"/>
              </a:p>
              <a:p>
                <a:pPr algn="ctr"/>
                <a:r>
                  <a:rPr lang="zh-CN" altLang="en-US"/>
                  <a:t>均值为</a:t>
                </a:r>
                <a:r>
                  <a:rPr lang="en-US" altLang="zh-CN"/>
                  <a:t>669mV</a:t>
                </a:r>
                <a:r>
                  <a:rPr lang="zh-CN" altLang="en-US"/>
                  <a:t>，峰峰值为</a:t>
                </a:r>
                <a:r>
                  <a:rPr lang="en-US" altLang="zh-CN"/>
                  <a:t>40mV</a:t>
                </a:r>
                <a:endParaRPr lang="zh-CN" altLang="en-US"/>
              </a:p>
            </p:txBody>
          </p:sp>
        </mc:Choice>
        <mc:Fallback xmlns="">
          <p:sp>
            <p:nvSpPr>
              <p:cNvPr id="44" name="文本框 43">
                <a:extLst>
                  <a:ext uri="{FF2B5EF4-FFF2-40B4-BE49-F238E27FC236}">
                    <a16:creationId xmlns:a16="http://schemas.microsoft.com/office/drawing/2014/main" id="{B50C15FC-4F41-0298-5263-75F10D425240}"/>
                  </a:ext>
                </a:extLst>
              </p:cNvPr>
              <p:cNvSpPr txBox="1">
                <a:spLocks noRot="1" noChangeAspect="1" noMove="1" noResize="1" noEditPoints="1" noAdjustHandles="1" noChangeArrowheads="1" noChangeShapeType="1" noTextEdit="1"/>
              </p:cNvSpPr>
              <p:nvPr/>
            </p:nvSpPr>
            <p:spPr>
              <a:xfrm>
                <a:off x="6888088" y="6139912"/>
                <a:ext cx="3600400" cy="646331"/>
              </a:xfrm>
              <a:prstGeom prst="rect">
                <a:avLst/>
              </a:prstGeom>
              <a:blipFill>
                <a:blip r:embed="rId8"/>
                <a:stretch>
                  <a:fillRect t="-4717" b="-14151"/>
                </a:stretch>
              </a:blipFill>
            </p:spPr>
            <p:txBody>
              <a:bodyPr/>
              <a:lstStyle/>
              <a:p>
                <a:r>
                  <a:rPr lang="zh-CN" altLang="en-US">
                    <a:noFill/>
                  </a:rPr>
                  <a:t> </a:t>
                </a:r>
              </a:p>
            </p:txBody>
          </p:sp>
        </mc:Fallback>
      </mc:AlternateContent>
      <p:sp>
        <p:nvSpPr>
          <p:cNvPr id="46" name="slide-2-evidence-frame">
            <a:extLst>
              <a:ext uri="{FF2B5EF4-FFF2-40B4-BE49-F238E27FC236}">
                <a16:creationId xmlns:a16="http://schemas.microsoft.com/office/drawing/2014/main" id="{C7FDF9B8-F66E-1C2F-32C3-3F250A161390}"/>
              </a:ext>
            </a:extLst>
          </p:cNvPr>
          <p:cNvSpPr>
            <a:spLocks noGrp="1"/>
          </p:cNvSpPr>
          <p:nvPr/>
        </p:nvSpPr>
        <p:spPr>
          <a:xfrm>
            <a:off x="28517" y="4742941"/>
            <a:ext cx="4195276" cy="1368152"/>
          </a:xfrm>
          <a:prstGeom prst="rect">
            <a:avLst/>
          </a:prstGeom>
          <a:solidFill>
            <a:schemeClr val="accent4">
              <a:lumMod val="20000"/>
              <a:lumOff val="80000"/>
            </a:schemeClr>
          </a:solidFill>
          <a:ln w="9525">
            <a:solidFill>
              <a:srgbClr val="B8BCC4"/>
            </a:solidFill>
            <a:prstDash val="solid"/>
          </a:ln>
        </p:spPr>
        <p:txBody>
          <a:bodyPr/>
          <a:lstStyle/>
          <a:p>
            <a:r>
              <a:rPr lang="zh-CN" altLang="en-US">
                <a:solidFill>
                  <a:srgbClr val="0070C0"/>
                </a:solidFill>
              </a:rPr>
              <a:t>补充：</a:t>
            </a:r>
            <a:r>
              <a:rPr lang="zh-CN" altLang="en-US"/>
              <a:t>均值和峰峰值的关系：没有关系</a:t>
            </a:r>
            <a:endParaRPr lang="en-US" altLang="zh-CN"/>
          </a:p>
          <a:p>
            <a:r>
              <a:rPr lang="zh-CN" altLang="en-US"/>
              <a:t>假设所测信号：</a:t>
            </a:r>
            <a:endParaRPr lang="en-US" altLang="zh-CN"/>
          </a:p>
          <a:p>
            <a:r>
              <a:rPr lang="zh-CN" altLang="en-US"/>
              <a:t>均值：</a:t>
            </a:r>
            <a:endParaRPr lang="en-US" altLang="zh-CN"/>
          </a:p>
          <a:p>
            <a:r>
              <a:rPr lang="zh-CN" altLang="en-US"/>
              <a:t>峰峰值则为</a:t>
            </a:r>
            <a:r>
              <a:rPr lang="en-US" altLang="zh-CN"/>
              <a:t>2A</a:t>
            </a:r>
            <a:r>
              <a:rPr lang="zh-CN" altLang="en-US"/>
              <a:t>，与均值没有直接关系</a:t>
            </a:r>
          </a:p>
        </p:txBody>
      </p:sp>
      <p:pic>
        <p:nvPicPr>
          <p:cNvPr id="48" name="图片 47">
            <a:extLst>
              <a:ext uri="{FF2B5EF4-FFF2-40B4-BE49-F238E27FC236}">
                <a16:creationId xmlns:a16="http://schemas.microsoft.com/office/drawing/2014/main" id="{5433D7F7-01EC-210B-9306-E9D6E718B072}"/>
              </a:ext>
            </a:extLst>
          </p:cNvPr>
          <p:cNvPicPr>
            <a:picLocks noChangeAspect="1"/>
          </p:cNvPicPr>
          <p:nvPr/>
        </p:nvPicPr>
        <p:blipFill>
          <a:blip r:embed="rId9"/>
          <a:stretch>
            <a:fillRect/>
          </a:stretch>
        </p:blipFill>
        <p:spPr>
          <a:xfrm>
            <a:off x="695399" y="5307684"/>
            <a:ext cx="737957" cy="309020"/>
          </a:xfrm>
          <a:prstGeom prst="rect">
            <a:avLst/>
          </a:prstGeom>
        </p:spPr>
      </p:pic>
      <p:pic>
        <p:nvPicPr>
          <p:cNvPr id="50" name="图片 49">
            <a:extLst>
              <a:ext uri="{FF2B5EF4-FFF2-40B4-BE49-F238E27FC236}">
                <a16:creationId xmlns:a16="http://schemas.microsoft.com/office/drawing/2014/main" id="{57170919-C01A-6C78-5AFF-52D4AE7B5FFF}"/>
              </a:ext>
            </a:extLst>
          </p:cNvPr>
          <p:cNvPicPr>
            <a:picLocks noChangeAspect="1"/>
          </p:cNvPicPr>
          <p:nvPr/>
        </p:nvPicPr>
        <p:blipFill>
          <a:blip r:embed="rId10"/>
          <a:stretch>
            <a:fillRect/>
          </a:stretch>
        </p:blipFill>
        <p:spPr>
          <a:xfrm>
            <a:off x="1746167" y="5102519"/>
            <a:ext cx="1157435" cy="239645"/>
          </a:xfrm>
          <a:prstGeom prst="rect">
            <a:avLst/>
          </a:prstGeom>
        </p:spPr>
      </p:pic>
      <p:pic>
        <p:nvPicPr>
          <p:cNvPr id="52" name="图片 51">
            <a:extLst>
              <a:ext uri="{FF2B5EF4-FFF2-40B4-BE49-F238E27FC236}">
                <a16:creationId xmlns:a16="http://schemas.microsoft.com/office/drawing/2014/main" id="{6DD83181-98A9-DEEC-E610-20C0E8A217AE}"/>
              </a:ext>
            </a:extLst>
          </p:cNvPr>
          <p:cNvPicPr>
            <a:picLocks noChangeAspect="1"/>
          </p:cNvPicPr>
          <p:nvPr/>
        </p:nvPicPr>
        <p:blipFill>
          <a:blip r:embed="rId11"/>
          <a:stretch>
            <a:fillRect/>
          </a:stretch>
        </p:blipFill>
        <p:spPr>
          <a:xfrm>
            <a:off x="1472695" y="5342164"/>
            <a:ext cx="737957" cy="248222"/>
          </a:xfrm>
          <a:prstGeom prst="rect">
            <a:avLst/>
          </a:prstGeom>
        </p:spPr>
      </p:pic>
      <p:sp>
        <p:nvSpPr>
          <p:cNvPr id="18" name="slide-2-evidence-frame">
            <a:extLst>
              <a:ext uri="{FF2B5EF4-FFF2-40B4-BE49-F238E27FC236}">
                <a16:creationId xmlns:a16="http://schemas.microsoft.com/office/drawing/2014/main" id="{D808A1CC-13B0-B15F-4385-723334D3C1F1}"/>
              </a:ext>
            </a:extLst>
          </p:cNvPr>
          <p:cNvSpPr>
            <a:spLocks noGrp="1"/>
          </p:cNvSpPr>
          <p:nvPr/>
        </p:nvSpPr>
        <p:spPr>
          <a:xfrm>
            <a:off x="28517" y="6406121"/>
            <a:ext cx="6537291" cy="330758"/>
          </a:xfrm>
          <a:prstGeom prst="rect">
            <a:avLst/>
          </a:prstGeom>
          <a:solidFill>
            <a:schemeClr val="accent2">
              <a:lumMod val="20000"/>
              <a:lumOff val="80000"/>
            </a:schemeClr>
          </a:solidFill>
          <a:ln w="9525">
            <a:solidFill>
              <a:srgbClr val="B8BCC4"/>
            </a:solidFill>
            <a:prstDash val="solid"/>
          </a:ln>
        </p:spPr>
        <p:txBody>
          <a:bodyPr/>
          <a:lstStyle/>
          <a:p>
            <a:r>
              <a:rPr lang="zh-CN" altLang="en-US" sz="1600"/>
              <a:t>结论：</a:t>
            </a:r>
            <a:r>
              <a:rPr lang="en-US" altLang="zh-CN" sz="1600"/>
              <a:t>PEM</a:t>
            </a:r>
            <a:r>
              <a:rPr lang="zh-CN" altLang="en-US" sz="1600"/>
              <a:t>主轴在水平方向顺时针</a:t>
            </a:r>
            <a:r>
              <a:rPr lang="en-US" altLang="zh-CN" sz="1600"/>
              <a:t>1.5°</a:t>
            </a:r>
            <a:r>
              <a:rPr lang="zh-CN" altLang="en-US" sz="1600"/>
              <a:t>左右，近似可以认为在水平方向</a:t>
            </a:r>
          </a:p>
          <a:p>
            <a:endParaRPr lang="en-US" altLang="zh-CN" sz="1600"/>
          </a:p>
        </p:txBody>
      </p:sp>
    </p:spTree>
    <p:extLst>
      <p:ext uri="{BB962C8B-B14F-4D97-AF65-F5344CB8AC3E}">
        <p14:creationId xmlns:p14="http://schemas.microsoft.com/office/powerpoint/2010/main" val="26121428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80A46-95B5-5F92-2A53-678133075811}"/>
            </a:ext>
          </a:extLst>
        </p:cNvPr>
        <p:cNvGrpSpPr/>
        <p:nvPr/>
      </p:nvGrpSpPr>
      <p:grpSpPr>
        <a:xfrm>
          <a:off x="0" y="0"/>
          <a:ext cx="0" cy="0"/>
          <a:chOff x="0" y="0"/>
          <a:chExt cx="0" cy="0"/>
        </a:xfrm>
      </p:grpSpPr>
      <p:sp>
        <p:nvSpPr>
          <p:cNvPr id="27" name="slide-2-evidence-frame">
            <a:extLst>
              <a:ext uri="{FF2B5EF4-FFF2-40B4-BE49-F238E27FC236}">
                <a16:creationId xmlns:a16="http://schemas.microsoft.com/office/drawing/2014/main" id="{31B2F718-8370-E2D0-6C92-5F59077DC7B5}"/>
              </a:ext>
            </a:extLst>
          </p:cNvPr>
          <p:cNvSpPr>
            <a:spLocks noGrp="1"/>
          </p:cNvSpPr>
          <p:nvPr/>
        </p:nvSpPr>
        <p:spPr>
          <a:xfrm>
            <a:off x="46049" y="4777059"/>
            <a:ext cx="4915246" cy="452142"/>
          </a:xfrm>
          <a:prstGeom prst="rect">
            <a:avLst/>
          </a:prstGeom>
          <a:solidFill>
            <a:schemeClr val="accent6">
              <a:lumMod val="20000"/>
              <a:lumOff val="80000"/>
            </a:schemeClr>
          </a:solidFill>
          <a:ln w="9525">
            <a:solidFill>
              <a:srgbClr val="B8BCC4"/>
            </a:solidFill>
            <a:prstDash val="solid"/>
          </a:ln>
        </p:spPr>
        <p:txBody>
          <a:bodyPr/>
          <a:lstStyle/>
          <a:p>
            <a:endParaRPr lang="zh-CN" altLang="en-US"/>
          </a:p>
        </p:txBody>
      </p:sp>
      <p:sp>
        <p:nvSpPr>
          <p:cNvPr id="17" name="slide-2-evidence-frame">
            <a:extLst>
              <a:ext uri="{FF2B5EF4-FFF2-40B4-BE49-F238E27FC236}">
                <a16:creationId xmlns:a16="http://schemas.microsoft.com/office/drawing/2014/main" id="{4989F51E-2E78-892C-9776-CF8632A5CDE1}"/>
              </a:ext>
            </a:extLst>
          </p:cNvPr>
          <p:cNvSpPr>
            <a:spLocks noGrp="1"/>
          </p:cNvSpPr>
          <p:nvPr/>
        </p:nvSpPr>
        <p:spPr>
          <a:xfrm>
            <a:off x="35678" y="3660286"/>
            <a:ext cx="12036986" cy="1025462"/>
          </a:xfrm>
          <a:prstGeom prst="rect">
            <a:avLst/>
          </a:prstGeom>
          <a:solidFill>
            <a:schemeClr val="accent6">
              <a:lumMod val="20000"/>
              <a:lumOff val="80000"/>
            </a:schemeClr>
          </a:solidFill>
          <a:ln w="9525">
            <a:solidFill>
              <a:srgbClr val="B8BCC4"/>
            </a:solidFill>
            <a:prstDash val="solid"/>
          </a:ln>
        </p:spPr>
        <p:txBody>
          <a:bodyPr/>
          <a:lstStyle/>
          <a:p>
            <a:endParaRPr lang="zh-CN" altLang="en-US"/>
          </a:p>
        </p:txBody>
      </p:sp>
      <p:sp>
        <p:nvSpPr>
          <p:cNvPr id="12" name="slide-2-evidence-frame">
            <a:extLst>
              <a:ext uri="{FF2B5EF4-FFF2-40B4-BE49-F238E27FC236}">
                <a16:creationId xmlns:a16="http://schemas.microsoft.com/office/drawing/2014/main" id="{77DDF8D2-7672-A6FB-5F66-CBC9C085ECEB}"/>
              </a:ext>
            </a:extLst>
          </p:cNvPr>
          <p:cNvSpPr>
            <a:spLocks noGrp="1"/>
          </p:cNvSpPr>
          <p:nvPr/>
        </p:nvSpPr>
        <p:spPr>
          <a:xfrm>
            <a:off x="35678" y="2738604"/>
            <a:ext cx="11316906" cy="587961"/>
          </a:xfrm>
          <a:prstGeom prst="rect">
            <a:avLst/>
          </a:prstGeom>
          <a:solidFill>
            <a:schemeClr val="accent6">
              <a:lumMod val="20000"/>
              <a:lumOff val="80000"/>
            </a:schemeClr>
          </a:solidFill>
          <a:ln w="9525">
            <a:solidFill>
              <a:srgbClr val="B8BCC4"/>
            </a:solidFill>
            <a:prstDash val="solid"/>
          </a:ln>
        </p:spPr>
        <p:txBody>
          <a:bodyPr/>
          <a:lstStyle/>
          <a:p>
            <a:endParaRPr lang="zh-CN" altLang="en-US"/>
          </a:p>
        </p:txBody>
      </p:sp>
      <p:sp>
        <p:nvSpPr>
          <p:cNvPr id="7" name="slide-2-evidence-frame">
            <a:extLst>
              <a:ext uri="{FF2B5EF4-FFF2-40B4-BE49-F238E27FC236}">
                <a16:creationId xmlns:a16="http://schemas.microsoft.com/office/drawing/2014/main" id="{DC50C909-2704-E303-E3E3-85366A4D07E4}"/>
              </a:ext>
            </a:extLst>
          </p:cNvPr>
          <p:cNvSpPr>
            <a:spLocks noGrp="1"/>
          </p:cNvSpPr>
          <p:nvPr/>
        </p:nvSpPr>
        <p:spPr>
          <a:xfrm>
            <a:off x="35678" y="2213250"/>
            <a:ext cx="8868634" cy="369333"/>
          </a:xfrm>
          <a:prstGeom prst="rect">
            <a:avLst/>
          </a:prstGeom>
          <a:solidFill>
            <a:schemeClr val="accent6">
              <a:lumMod val="20000"/>
              <a:lumOff val="80000"/>
            </a:schemeClr>
          </a:solidFill>
          <a:ln w="9525">
            <a:solidFill>
              <a:srgbClr val="B8BCC4"/>
            </a:solidFill>
            <a:prstDash val="solid"/>
          </a:ln>
        </p:spPr>
        <p:txBody>
          <a:bodyPr/>
          <a:lstStyle/>
          <a:p>
            <a:endParaRPr lang="zh-CN" altLang="en-US"/>
          </a:p>
        </p:txBody>
      </p:sp>
      <p:sp>
        <p:nvSpPr>
          <p:cNvPr id="26" name="slide-2-evidence-frame">
            <a:extLst>
              <a:ext uri="{FF2B5EF4-FFF2-40B4-BE49-F238E27FC236}">
                <a16:creationId xmlns:a16="http://schemas.microsoft.com/office/drawing/2014/main" id="{FC4BFE5F-CA86-2C08-EF78-BCFC90360372}"/>
              </a:ext>
            </a:extLst>
          </p:cNvPr>
          <p:cNvSpPr>
            <a:spLocks noGrp="1"/>
          </p:cNvSpPr>
          <p:nvPr/>
        </p:nvSpPr>
        <p:spPr>
          <a:xfrm>
            <a:off x="820465" y="5733256"/>
            <a:ext cx="6427663" cy="878481"/>
          </a:xfrm>
          <a:prstGeom prst="rect">
            <a:avLst/>
          </a:prstGeom>
          <a:solidFill>
            <a:schemeClr val="accent4">
              <a:lumMod val="20000"/>
              <a:lumOff val="80000"/>
            </a:schemeClr>
          </a:solidFill>
          <a:ln w="9525">
            <a:solidFill>
              <a:srgbClr val="B8BCC4"/>
            </a:solidFill>
            <a:prstDash val="solid"/>
          </a:ln>
        </p:spPr>
        <p:txBody>
          <a:bodyPr/>
          <a:lstStyle/>
          <a:p>
            <a:endParaRPr lang="zh-CN" altLang="en-US"/>
          </a:p>
        </p:txBody>
      </p:sp>
      <p:cxnSp>
        <p:nvCxnSpPr>
          <p:cNvPr id="5" name="Straight Connector 4">
            <a:extLst>
              <a:ext uri="{FF2B5EF4-FFF2-40B4-BE49-F238E27FC236}">
                <a16:creationId xmlns:a16="http://schemas.microsoft.com/office/drawing/2014/main" id="{CAEAECFC-F818-7682-8F38-3E6BAF13DB41}"/>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ECF208FF-2882-FAB3-9386-5763E0ED22F1}"/>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8</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C386B933-42C6-141E-B9FA-EE6CC5D699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C0BA14B4-9E83-0062-8C1E-C7F1B4B88E24}"/>
              </a:ext>
            </a:extLst>
          </p:cNvPr>
          <p:cNvSpPr txBox="1"/>
          <p:nvPr/>
        </p:nvSpPr>
        <p:spPr>
          <a:xfrm>
            <a:off x="623392" y="69315"/>
            <a:ext cx="11568608" cy="369332"/>
          </a:xfrm>
          <a:prstGeom prst="rect">
            <a:avLst/>
          </a:prstGeom>
          <a:noFill/>
        </p:spPr>
        <p:txBody>
          <a:bodyPr wrap="square" rtlCol="0">
            <a:spAutoFit/>
          </a:bodyPr>
          <a:lstStyle/>
          <a:p>
            <a:r>
              <a:rPr lang="en-US" altLang="zh-CN"/>
              <a:t>1.2</a:t>
            </a:r>
            <a:r>
              <a:rPr lang="zh-CN" altLang="en-US"/>
              <a:t>：基于</a:t>
            </a:r>
            <a:r>
              <a:rPr lang="en-US" altLang="zh-CN"/>
              <a:t>PEM</a:t>
            </a:r>
            <a:r>
              <a:rPr lang="zh-CN" altLang="en-US"/>
              <a:t>主轴测试阶段的波形数据做正向仿真</a:t>
            </a:r>
          </a:p>
        </p:txBody>
      </p:sp>
      <p:pic>
        <p:nvPicPr>
          <p:cNvPr id="4" name="图片 3">
            <a:extLst>
              <a:ext uri="{FF2B5EF4-FFF2-40B4-BE49-F238E27FC236}">
                <a16:creationId xmlns:a16="http://schemas.microsoft.com/office/drawing/2014/main" id="{69517C13-0F42-CAE8-45EE-A17B439ABC4B}"/>
              </a:ext>
            </a:extLst>
          </p:cNvPr>
          <p:cNvPicPr>
            <a:picLocks noChangeAspect="1"/>
          </p:cNvPicPr>
          <p:nvPr/>
        </p:nvPicPr>
        <p:blipFill>
          <a:blip r:embed="rId3"/>
          <a:srcRect l="1" t="24410" r="10136" b="23629"/>
          <a:stretch>
            <a:fillRect/>
          </a:stretch>
        </p:blipFill>
        <p:spPr>
          <a:xfrm>
            <a:off x="2279576" y="551433"/>
            <a:ext cx="6515574" cy="1265658"/>
          </a:xfrm>
          <a:prstGeom prst="rect">
            <a:avLst/>
          </a:prstGeom>
        </p:spPr>
      </p:pic>
      <p:sp>
        <p:nvSpPr>
          <p:cNvPr id="6" name="文本框 5">
            <a:extLst>
              <a:ext uri="{FF2B5EF4-FFF2-40B4-BE49-F238E27FC236}">
                <a16:creationId xmlns:a16="http://schemas.microsoft.com/office/drawing/2014/main" id="{D84C7A47-ED79-5826-8C94-7E1C9AA879D3}"/>
              </a:ext>
            </a:extLst>
          </p:cNvPr>
          <p:cNvSpPr txBox="1"/>
          <p:nvPr/>
        </p:nvSpPr>
        <p:spPr>
          <a:xfrm>
            <a:off x="4961294" y="1759844"/>
            <a:ext cx="1569660" cy="369332"/>
          </a:xfrm>
          <a:prstGeom prst="rect">
            <a:avLst/>
          </a:prstGeom>
          <a:noFill/>
        </p:spPr>
        <p:txBody>
          <a:bodyPr wrap="none" rtlCol="0">
            <a:spAutoFit/>
          </a:bodyPr>
          <a:lstStyle/>
          <a:p>
            <a:r>
              <a:rPr lang="zh-CN" altLang="en-US"/>
              <a:t>仿真光路图解</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CEEA8E9-FF52-A983-915A-7196FF484804}"/>
                  </a:ext>
                </a:extLst>
              </p:cNvPr>
              <p:cNvSpPr txBox="1"/>
              <p:nvPr/>
            </p:nvSpPr>
            <p:spPr>
              <a:xfrm>
                <a:off x="5318" y="1899458"/>
                <a:ext cx="12186682" cy="3376245"/>
              </a:xfrm>
              <a:prstGeom prst="rect">
                <a:avLst/>
              </a:prstGeom>
              <a:noFill/>
            </p:spPr>
            <p:txBody>
              <a:bodyPr wrap="square" rtlCol="0">
                <a:spAutoFit/>
              </a:bodyPr>
              <a:lstStyle/>
              <a:p>
                <a:r>
                  <a:rPr lang="zh-CN" altLang="en-US" b="1"/>
                  <a:t>仿真思路：</a:t>
                </a:r>
                <a:endParaRPr lang="en-US" altLang="zh-CN" b="1"/>
              </a:p>
              <a:p>
                <a:pPr marL="342900" indent="-342900">
                  <a:buFont typeface="+mj-lt"/>
                  <a:buAutoNum type="arabicPeriod"/>
                </a:pPr>
                <a:r>
                  <a:rPr lang="zh-CN" altLang="en-US"/>
                  <a:t>第一步：</a:t>
                </a:r>
                <a:r>
                  <a:rPr lang="zh-CN" altLang="zh-CN"/>
                  <a:t>由起偏器角度生成输入 Stokes</a:t>
                </a:r>
                <a:r>
                  <a:rPr lang="zh-CN" altLang="en-US"/>
                  <a:t>，</a:t>
                </a:r>
                <a:r>
                  <a:rPr lang="zh-CN" altLang="zh-CN"/>
                  <a:t> </a:t>
                </a:r>
                <a14:m>
                  <m:oMath xmlns:m="http://schemas.openxmlformats.org/officeDocument/2006/math">
                    <m:sSub>
                      <m:sSubPr>
                        <m:ctrlPr>
                          <a:rPr lang="zh-CN" altLang="zh-CN" i="1">
                            <a:latin typeface="Cambria Math" panose="02040503050406030204" pitchFamily="18" charset="0"/>
                          </a:rPr>
                        </m:ctrlPr>
                      </m:sSubPr>
                      <m:e>
                        <m:r>
                          <a:rPr lang="zh-CN" altLang="zh-CN" i="1">
                            <a:latin typeface="Cambria Math" panose="02040503050406030204" pitchFamily="18" charset="0"/>
                          </a:rPr>
                          <m:t>𝑆</m:t>
                        </m:r>
                      </m:e>
                      <m:sub>
                        <m:r>
                          <a:rPr lang="zh-CN" altLang="zh-CN">
                            <a:latin typeface="Cambria Math" panose="02040503050406030204" pitchFamily="18" charset="0"/>
                          </a:rPr>
                          <m:t>0</m:t>
                        </m:r>
                      </m:sub>
                    </m:sSub>
                    <m:r>
                      <a:rPr lang="zh-CN" altLang="zh-CN">
                        <a:latin typeface="Cambria Math" panose="02040503050406030204" pitchFamily="18" charset="0"/>
                      </a:rPr>
                      <m:t>=1 </m:t>
                    </m:r>
                    <m:r>
                      <m:rPr>
                        <m:sty m:val="p"/>
                      </m:rPr>
                      <a:rPr lang="zh-CN" altLang="zh-CN">
                        <a:latin typeface="Cambria Math" panose="02040503050406030204" pitchFamily="18" charset="0"/>
                      </a:rPr>
                      <m:t>mW</m:t>
                    </m:r>
                  </m:oMath>
                </a14:m>
                <a:r>
                  <a:rPr lang="en-US" altLang="zh-CN"/>
                  <a:t>    </a:t>
                </a:r>
                <a14:m>
                  <m:oMath xmlns:m="http://schemas.openxmlformats.org/officeDocument/2006/math">
                    <m:sSub>
                      <m:sSubPr>
                        <m:ctrlPr>
                          <a:rPr lang="zh-CN" altLang="zh-CN" i="1">
                            <a:latin typeface="Cambria Math" panose="02040503050406030204" pitchFamily="18" charset="0"/>
                          </a:rPr>
                        </m:ctrlPr>
                      </m:sSubPr>
                      <m:e>
                        <m:r>
                          <a:rPr lang="zh-CN" altLang="zh-CN" i="1">
                            <a:latin typeface="Cambria Math" panose="02040503050406030204" pitchFamily="18" charset="0"/>
                          </a:rPr>
                          <m:t>𝑆</m:t>
                        </m:r>
                      </m:e>
                      <m:sub>
                        <m:r>
                          <a:rPr lang="en-US" altLang="zh-CN">
                            <a:latin typeface="Cambria Math" panose="02040503050406030204" pitchFamily="18" charset="0"/>
                          </a:rPr>
                          <m:t>2</m:t>
                        </m:r>
                      </m:sub>
                    </m:sSub>
                    <m:r>
                      <a:rPr lang="zh-CN" altLang="zh-CN">
                        <a:latin typeface="Cambria Math" panose="02040503050406030204" pitchFamily="18" charset="0"/>
                      </a:rPr>
                      <m:t>=</m:t>
                    </m:r>
                    <m:r>
                      <a:rPr lang="en-US" altLang="zh-CN">
                        <a:latin typeface="Cambria Math" panose="02040503050406030204" pitchFamily="18" charset="0"/>
                      </a:rPr>
                      <m:t>−</m:t>
                    </m:r>
                    <m:r>
                      <a:rPr lang="zh-CN" altLang="zh-CN">
                        <a:latin typeface="Cambria Math" panose="02040503050406030204" pitchFamily="18" charset="0"/>
                      </a:rPr>
                      <m:t>1 </m:t>
                    </m:r>
                    <m:r>
                      <m:rPr>
                        <m:sty m:val="p"/>
                      </m:rPr>
                      <a:rPr lang="zh-CN" altLang="zh-CN">
                        <a:latin typeface="Cambria Math" panose="02040503050406030204" pitchFamily="18" charset="0"/>
                      </a:rPr>
                      <m:t>mW</m:t>
                    </m:r>
                  </m:oMath>
                </a14:m>
                <a:r>
                  <a:rPr lang="zh-CN" altLang="en-US"/>
                  <a:t>，斯托克斯参数</a:t>
                </a:r>
                <a:endParaRPr lang="en-US" altLang="zh-CN"/>
              </a:p>
              <a:p>
                <a:pPr marL="342900" indent="-342900">
                  <a:buFont typeface="+mj-lt"/>
                  <a:buAutoNum type="arabicPeriod"/>
                </a:pPr>
                <a:endParaRPr lang="en-US" altLang="zh-CN"/>
              </a:p>
              <a:p>
                <a:pPr marL="342900" indent="-342900">
                  <a:buFont typeface="+mj-lt"/>
                  <a:buAutoNum type="arabicPeriod"/>
                </a:pPr>
                <a:r>
                  <a:rPr lang="zh-CN" altLang="en-US"/>
                  <a:t>第二步：引入</a:t>
                </a:r>
                <a:r>
                  <a:rPr lang="zh-CN" altLang="zh-CN"/>
                  <a:t>PEM的周期相位延迟</a:t>
                </a:r>
                <a:r>
                  <a:rPr lang="en-US" altLang="zh-CN"/>
                  <a:t> </a:t>
                </a:r>
                <a14:m>
                  <m:oMath xmlns:m="http://schemas.openxmlformats.org/officeDocument/2006/math">
                    <m:r>
                      <a:rPr lang="en-US" altLang="zh-CN" i="1" smtClean="0">
                        <a:latin typeface="Cambria Math" panose="02040503050406030204" pitchFamily="18" charset="0"/>
                      </a:rPr>
                      <m:t>𝛿</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𝑡</m:t>
                        </m:r>
                      </m:e>
                    </m:d>
                    <m:r>
                      <a:rPr lang="en-US" altLang="zh-CN" i="0"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0" smtClean="0">
                            <a:latin typeface="Cambria Math" panose="02040503050406030204" pitchFamily="18" charset="0"/>
                          </a:rPr>
                          <m:t>0</m:t>
                        </m:r>
                      </m:sub>
                    </m:sSub>
                    <m:func>
                      <m:funcPr>
                        <m:ctrlPr>
                          <a:rPr lang="en-US" altLang="zh-CN" i="0" smtClean="0">
                            <a:latin typeface="Cambria Math" panose="02040503050406030204" pitchFamily="18" charset="0"/>
                          </a:rPr>
                        </m:ctrlPr>
                      </m:funcPr>
                      <m:fName>
                        <m:r>
                          <m:rPr>
                            <m:sty m:val="p"/>
                          </m:rPr>
                          <a:rPr lang="en-US" altLang="zh-CN" i="0" smtClean="0">
                            <a:latin typeface="Cambria Math" panose="02040503050406030204" pitchFamily="18" charset="0"/>
                          </a:rPr>
                          <m:t>sin</m:t>
                        </m:r>
                      </m:fName>
                      <m:e>
                        <m:d>
                          <m:dPr>
                            <m:ctrlPr>
                              <a:rPr lang="en-US" altLang="zh-CN" i="0" smtClean="0">
                                <a:latin typeface="Cambria Math" panose="02040503050406030204" pitchFamily="18" charset="0"/>
                              </a:rPr>
                            </m:ctrlPr>
                          </m:dPr>
                          <m:e>
                            <m:r>
                              <a:rPr lang="en-US" altLang="zh-CN" i="0" smtClean="0">
                                <a:latin typeface="Cambria Math" panose="02040503050406030204" pitchFamily="18" charset="0"/>
                              </a:rPr>
                              <m:t>2</m:t>
                            </m:r>
                            <m:r>
                              <a:rPr lang="en-US" altLang="zh-CN" i="1" smtClean="0">
                                <a:latin typeface="Cambria Math" panose="02040503050406030204" pitchFamily="18" charset="0"/>
                              </a:rPr>
                              <m:t>𝜋</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𝑓</m:t>
                                </m:r>
                              </m:e>
                              <m:sub>
                                <m:r>
                                  <m:rPr>
                                    <m:sty m:val="p"/>
                                  </m:rPr>
                                  <a:rPr lang="en-US" altLang="zh-CN" i="0" smtClean="0">
                                    <a:latin typeface="Cambria Math" panose="02040503050406030204" pitchFamily="18" charset="0"/>
                                  </a:rPr>
                                  <m:t>PEM</m:t>
                                </m:r>
                              </m:sub>
                            </m:sSub>
                            <m:r>
                              <a:rPr lang="en-US" altLang="zh-CN" i="1" smtClean="0">
                                <a:latin typeface="Cambria Math" panose="02040503050406030204" pitchFamily="18" charset="0"/>
                              </a:rPr>
                              <m:t>𝑡</m:t>
                            </m:r>
                            <m:r>
                              <a:rPr lang="en-US" altLang="zh-CN" i="0"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𝜙</m:t>
                                </m:r>
                              </m:e>
                              <m:sub>
                                <m:r>
                                  <a:rPr lang="en-US" altLang="zh-CN" i="0" smtClean="0">
                                    <a:latin typeface="Cambria Math" panose="02040503050406030204" pitchFamily="18" charset="0"/>
                                  </a:rPr>
                                  <m:t>0</m:t>
                                </m:r>
                              </m:sub>
                            </m:sSub>
                          </m:e>
                        </m:d>
                      </m:e>
                    </m:func>
                    <m:r>
                      <a:rPr lang="en-US" altLang="zh-CN" b="0" i="0" smtClean="0">
                        <a:latin typeface="Cambria Math" panose="02040503050406030204" pitchFamily="18" charset="0"/>
                      </a:rPr>
                      <m:t>  </m:t>
                    </m:r>
                    <m:r>
                      <a:rPr lang="zh-CN" altLang="en-US" i="1">
                        <a:latin typeface="Cambria Math" panose="02040503050406030204" pitchFamily="18" charset="0"/>
                      </a:rPr>
                      <m:t>，</m:t>
                    </m:r>
                    <m:r>
                      <a:rPr lang="en-US" altLang="zh-CN" b="0" i="0" smtClean="0">
                        <a:latin typeface="Cambria Math" panose="02040503050406030204" pitchFamily="18" charset="0"/>
                      </a:rPr>
                      <m:t> </m:t>
                    </m:r>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m:rPr>
                            <m:sty m:val="p"/>
                          </m:rPr>
                          <a:rPr lang="zh-CN" altLang="en-US" i="0">
                            <a:latin typeface="Cambria Math" panose="02040503050406030204" pitchFamily="18" charset="0"/>
                          </a:rPr>
                          <m:t>PEM</m:t>
                        </m:r>
                      </m:sub>
                    </m:sSub>
                    <m:r>
                      <a:rPr lang="zh-CN" altLang="en-US" i="0">
                        <a:latin typeface="Cambria Math" panose="02040503050406030204" pitchFamily="18" charset="0"/>
                      </a:rPr>
                      <m:t>=50 </m:t>
                    </m:r>
                    <m:r>
                      <m:rPr>
                        <m:sty m:val="p"/>
                      </m:rPr>
                      <a:rPr lang="zh-CN" altLang="en-US" i="0">
                        <a:latin typeface="Cambria Math" panose="02040503050406030204" pitchFamily="18" charset="0"/>
                      </a:rPr>
                      <m:t>kHz</m:t>
                    </m:r>
                    <m:r>
                      <a:rPr lang="en-US" altLang="zh-CN" b="0" i="0" smtClean="0">
                        <a:latin typeface="Cambria Math" panose="02040503050406030204" pitchFamily="18" charset="0"/>
                      </a:rPr>
                      <m:t> </m:t>
                    </m:r>
                    <m:r>
                      <a:rPr lang="zh-CN" altLang="en-US" i="1">
                        <a:latin typeface="Cambria Math" panose="02040503050406030204" pitchFamily="18" charset="0"/>
                      </a:rPr>
                      <m:t>，</m:t>
                    </m:r>
                    <m:sSub>
                      <m:sSubPr>
                        <m:ctrlPr>
                          <a:rPr lang="zh-CN" altLang="en-US" i="1">
                            <a:solidFill>
                              <a:srgbClr val="C00000"/>
                            </a:solidFill>
                            <a:latin typeface="Cambria Math" panose="02040503050406030204" pitchFamily="18" charset="0"/>
                          </a:rPr>
                        </m:ctrlPr>
                      </m:sSubPr>
                      <m:e>
                        <m:r>
                          <a:rPr lang="zh-CN" altLang="en-US" i="1">
                            <a:solidFill>
                              <a:srgbClr val="C00000"/>
                            </a:solidFill>
                            <a:latin typeface="Cambria Math" panose="02040503050406030204" pitchFamily="18" charset="0"/>
                          </a:rPr>
                          <m:t>𝛿</m:t>
                        </m:r>
                      </m:e>
                      <m:sub>
                        <m:r>
                          <a:rPr lang="zh-CN" altLang="en-US" i="0">
                            <a:solidFill>
                              <a:srgbClr val="C00000"/>
                            </a:solidFill>
                            <a:latin typeface="Cambria Math" panose="02040503050406030204" pitchFamily="18" charset="0"/>
                          </a:rPr>
                          <m:t>0</m:t>
                        </m:r>
                      </m:sub>
                    </m:sSub>
                    <m:r>
                      <a:rPr lang="zh-CN" altLang="en-US" i="0">
                        <a:solidFill>
                          <a:srgbClr val="C00000"/>
                        </a:solidFill>
                        <a:latin typeface="Cambria Math" panose="02040503050406030204" pitchFamily="18" charset="0"/>
                      </a:rPr>
                      <m:t>=2.4048255577 </m:t>
                    </m:r>
                    <m:r>
                      <m:rPr>
                        <m:sty m:val="p"/>
                      </m:rPr>
                      <a:rPr lang="zh-CN" altLang="en-US" i="0">
                        <a:solidFill>
                          <a:srgbClr val="C00000"/>
                        </a:solidFill>
                        <a:latin typeface="Cambria Math" panose="02040503050406030204" pitchFamily="18" charset="0"/>
                      </a:rPr>
                      <m:t>rad</m:t>
                    </m:r>
                  </m:oMath>
                </a14:m>
                <a:endParaRPr lang="en-US" altLang="zh-CN">
                  <a:solidFill>
                    <a:srgbClr val="C00000"/>
                  </a:solidFill>
                </a:endParaRPr>
              </a:p>
              <a:p>
                <a:r>
                  <a:rPr lang="zh-CN" altLang="en-US"/>
                  <a:t>这一步引入的变化是</a:t>
                </a:r>
                <a:r>
                  <a:rPr lang="zh-CN" altLang="zh-CN"/>
                  <a:t>PEM周期性改变水平、垂直电场分量之间的相位差</a:t>
                </a:r>
                <a:endParaRPr lang="en-US" altLang="zh-CN"/>
              </a:p>
              <a:p>
                <a:endParaRPr lang="en-US" altLang="zh-CN"/>
              </a:p>
              <a:p>
                <a:r>
                  <a:rPr lang="zh-CN" altLang="en-US"/>
                  <a:t>第三步：</a:t>
                </a:r>
                <a:r>
                  <a:rPr lang="zh-CN" altLang="zh-CN"/>
                  <a:t>检偏器把偏振变化转换为光强变化</a:t>
                </a:r>
                <a:r>
                  <a:rPr lang="en-US" altLang="zh-CN"/>
                  <a:t>,</a:t>
                </a:r>
                <a:r>
                  <a:rPr lang="zh-CN" altLang="en-US"/>
                  <a:t>探测器输出电压为</a:t>
                </a:r>
                <a:r>
                  <a:rPr lang="en-US" altLang="zh-CN">
                    <a:solidFill>
                      <a:srgbClr val="C00000"/>
                    </a:solidFill>
                  </a:rPr>
                  <a:t>V</a:t>
                </a:r>
                <a14:m>
                  <m:oMath xmlns:m="http://schemas.openxmlformats.org/officeDocument/2006/math">
                    <m:d>
                      <m:dPr>
                        <m:ctrlPr>
                          <a:rPr lang="en-US" altLang="zh-CN" i="1">
                            <a:solidFill>
                              <a:srgbClr val="C00000"/>
                            </a:solidFill>
                            <a:latin typeface="Cambria Math" panose="02040503050406030204" pitchFamily="18" charset="0"/>
                          </a:rPr>
                        </m:ctrlPr>
                      </m:dPr>
                      <m:e>
                        <m:r>
                          <a:rPr lang="en-US" altLang="zh-CN" i="1">
                            <a:solidFill>
                              <a:srgbClr val="C00000"/>
                            </a:solidFill>
                            <a:latin typeface="Cambria Math" panose="02040503050406030204" pitchFamily="18" charset="0"/>
                          </a:rPr>
                          <m:t>𝑡</m:t>
                        </m:r>
                      </m:e>
                    </m:d>
                    <m:r>
                      <a:rPr lang="en-US" altLang="zh-CN" i="1">
                        <a:solidFill>
                          <a:srgbClr val="C00000"/>
                        </a:solidFill>
                        <a:latin typeface="Cambria Math" panose="02040503050406030204" pitchFamily="18" charset="0"/>
                      </a:rPr>
                      <m:t>=</m:t>
                    </m:r>
                    <m:f>
                      <m:fPr>
                        <m:ctrlPr>
                          <a:rPr lang="en-US" altLang="zh-CN" i="1">
                            <a:solidFill>
                              <a:srgbClr val="C00000"/>
                            </a:solidFill>
                            <a:latin typeface="Cambria Math" panose="02040503050406030204" pitchFamily="18" charset="0"/>
                          </a:rPr>
                        </m:ctrlPr>
                      </m:fPr>
                      <m:num>
                        <m:r>
                          <m:rPr>
                            <m:sty m:val="p"/>
                          </m:rPr>
                          <a:rPr lang="en-US" altLang="zh-CN" i="1">
                            <a:solidFill>
                              <a:srgbClr val="C00000"/>
                            </a:solidFill>
                            <a:latin typeface="Cambria Math" panose="02040503050406030204" pitchFamily="18" charset="0"/>
                          </a:rPr>
                          <m:t>G</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𝐼</m:t>
                            </m:r>
                          </m:e>
                          <m:sub>
                            <m:r>
                              <a:rPr lang="en-US" altLang="zh-CN" i="1">
                                <a:solidFill>
                                  <a:srgbClr val="C00000"/>
                                </a:solidFill>
                                <a:latin typeface="Cambria Math" panose="02040503050406030204" pitchFamily="18" charset="0"/>
                              </a:rPr>
                              <m:t>0</m:t>
                            </m:r>
                          </m:sub>
                        </m:sSub>
                      </m:num>
                      <m:den>
                        <m:r>
                          <a:rPr lang="en-US" altLang="zh-CN" i="1">
                            <a:solidFill>
                              <a:srgbClr val="C00000"/>
                            </a:solidFill>
                            <a:latin typeface="Cambria Math" panose="02040503050406030204" pitchFamily="18" charset="0"/>
                          </a:rPr>
                          <m:t>2</m:t>
                        </m:r>
                      </m:den>
                    </m:f>
                    <m:d>
                      <m:dPr>
                        <m:begChr m:val="["/>
                        <m:endChr m:val="]"/>
                        <m:ctrlPr>
                          <a:rPr lang="en-US" altLang="zh-CN" i="1">
                            <a:solidFill>
                              <a:srgbClr val="C00000"/>
                            </a:solidFill>
                            <a:latin typeface="Cambria Math" panose="02040503050406030204" pitchFamily="18" charset="0"/>
                          </a:rPr>
                        </m:ctrlPr>
                      </m:dPr>
                      <m:e>
                        <m:r>
                          <a:rPr lang="en-US" altLang="zh-CN" i="1">
                            <a:solidFill>
                              <a:srgbClr val="C00000"/>
                            </a:solidFill>
                            <a:latin typeface="Cambria Math" panose="02040503050406030204" pitchFamily="18" charset="0"/>
                          </a:rPr>
                          <m:t>1</m:t>
                        </m:r>
                        <m:r>
                          <a:rPr lang="en-US" altLang="zh-CN" b="0" i="1" smtClean="0">
                            <a:solidFill>
                              <a:srgbClr val="C00000"/>
                            </a:solidFill>
                            <a:latin typeface="Cambria Math" panose="02040503050406030204" pitchFamily="18" charset="0"/>
                          </a:rPr>
                          <m:t>+</m:t>
                        </m:r>
                        <m:func>
                          <m:funcPr>
                            <m:ctrlPr>
                              <a:rPr lang="en-US" altLang="zh-CN" i="1">
                                <a:solidFill>
                                  <a:srgbClr val="C00000"/>
                                </a:solidFill>
                                <a:latin typeface="Cambria Math" panose="02040503050406030204" pitchFamily="18" charset="0"/>
                              </a:rPr>
                            </m:ctrlPr>
                          </m:funcPr>
                          <m:fName>
                            <m:r>
                              <m:rPr>
                                <m:sty m:val="p"/>
                              </m:rPr>
                              <a:rPr lang="en-US" altLang="zh-CN" i="1">
                                <a:solidFill>
                                  <a:srgbClr val="C00000"/>
                                </a:solidFill>
                                <a:latin typeface="Cambria Math" panose="02040503050406030204" pitchFamily="18" charset="0"/>
                              </a:rPr>
                              <m:t>sin</m:t>
                            </m:r>
                          </m:fName>
                          <m:e>
                            <m:d>
                              <m:dPr>
                                <m:ctrlPr>
                                  <a:rPr lang="en-US" altLang="zh-CN" i="1">
                                    <a:solidFill>
                                      <a:srgbClr val="C00000"/>
                                    </a:solidFill>
                                    <a:latin typeface="Cambria Math" panose="02040503050406030204" pitchFamily="18" charset="0"/>
                                  </a:rPr>
                                </m:ctrlPr>
                              </m:dPr>
                              <m:e>
                                <m:r>
                                  <a:rPr lang="en-US" altLang="zh-CN" i="1">
                                    <a:solidFill>
                                      <a:srgbClr val="C00000"/>
                                    </a:solidFill>
                                    <a:latin typeface="Cambria Math" panose="02040503050406030204" pitchFamily="18" charset="0"/>
                                  </a:rPr>
                                  <m:t>2</m:t>
                                </m:r>
                                <m:r>
                                  <a:rPr lang="en-US" altLang="zh-CN" i="1">
                                    <a:solidFill>
                                      <a:srgbClr val="C00000"/>
                                    </a:solidFill>
                                    <a:latin typeface="Cambria Math" panose="02040503050406030204" pitchFamily="18" charset="0"/>
                                  </a:rPr>
                                  <m:t>𝛼</m:t>
                                </m:r>
                              </m:e>
                            </m:d>
                          </m:e>
                        </m:func>
                        <m:func>
                          <m:funcPr>
                            <m:ctrlPr>
                              <a:rPr lang="en-US" altLang="zh-CN" i="1">
                                <a:solidFill>
                                  <a:srgbClr val="C00000"/>
                                </a:solidFill>
                                <a:latin typeface="Cambria Math" panose="02040503050406030204" pitchFamily="18" charset="0"/>
                              </a:rPr>
                            </m:ctrlPr>
                          </m:funcPr>
                          <m:fName>
                            <m:r>
                              <m:rPr>
                                <m:sty m:val="p"/>
                              </m:rPr>
                              <a:rPr lang="en-US" altLang="zh-CN" i="1">
                                <a:solidFill>
                                  <a:srgbClr val="C00000"/>
                                </a:solidFill>
                                <a:latin typeface="Cambria Math" panose="02040503050406030204" pitchFamily="18" charset="0"/>
                              </a:rPr>
                              <m:t>cos</m:t>
                            </m:r>
                          </m:fName>
                          <m:e>
                            <m:r>
                              <a:rPr lang="zh-CN" altLang="en-US" i="1">
                                <a:solidFill>
                                  <a:srgbClr val="C00000"/>
                                </a:solidFill>
                                <a:latin typeface="Cambria Math" panose="02040503050406030204" pitchFamily="18" charset="0"/>
                              </a:rPr>
                              <m:t>𝛿</m:t>
                            </m:r>
                            <m:r>
                              <a:rPr lang="en-US" altLang="zh-CN" i="1">
                                <a:solidFill>
                                  <a:srgbClr val="C00000"/>
                                </a:solidFill>
                                <a:latin typeface="Cambria Math" panose="02040503050406030204" pitchFamily="18" charset="0"/>
                              </a:rPr>
                              <m:t>(</m:t>
                            </m:r>
                            <m:r>
                              <m:rPr>
                                <m:sty m:val="p"/>
                              </m:rPr>
                              <a:rPr lang="en-US" altLang="zh-CN" i="1">
                                <a:solidFill>
                                  <a:srgbClr val="C00000"/>
                                </a:solidFill>
                                <a:latin typeface="Cambria Math" panose="02040503050406030204" pitchFamily="18" charset="0"/>
                              </a:rPr>
                              <m:t>t</m:t>
                            </m:r>
                            <m:r>
                              <a:rPr lang="en-US" altLang="zh-CN" i="1">
                                <a:solidFill>
                                  <a:srgbClr val="C00000"/>
                                </a:solidFill>
                                <a:latin typeface="Cambria Math" panose="02040503050406030204" pitchFamily="18" charset="0"/>
                              </a:rPr>
                              <m:t>)</m:t>
                            </m:r>
                          </m:e>
                        </m:func>
                      </m:e>
                    </m:d>
                    <m:r>
                      <a:rPr lang="en-US" altLang="zh-CN" i="1">
                        <a:solidFill>
                          <a:srgbClr val="C00000"/>
                        </a:solidFill>
                        <a:latin typeface="Cambria Math" panose="02040503050406030204" pitchFamily="18" charset="0"/>
                      </a:rPr>
                      <m:t> </m:t>
                    </m:r>
                  </m:oMath>
                </a14:m>
                <a:r>
                  <a:rPr lang="zh-CN" altLang="en-US">
                    <a:solidFill>
                      <a:srgbClr val="C00000"/>
                    </a:solidFill>
                  </a:rPr>
                  <a:t>，</a:t>
                </a:r>
                <a14:m>
                  <m:oMath xmlns:m="http://schemas.openxmlformats.org/officeDocument/2006/math">
                    <m:r>
                      <a:rPr lang="zh-CN" altLang="en-US" i="1">
                        <a:latin typeface="Cambria Math" panose="02040503050406030204" pitchFamily="18" charset="0"/>
                      </a:rPr>
                      <m:t>𝛼</m:t>
                    </m:r>
                  </m:oMath>
                </a14:m>
                <a:r>
                  <a:rPr lang="en-US" altLang="zh-CN"/>
                  <a:t>=-45°</a:t>
                </a:r>
                <a:endParaRPr lang="en-US" altLang="zh-CN">
                  <a:solidFill>
                    <a:srgbClr val="C00000"/>
                  </a:solidFill>
                </a:endParaRPr>
              </a:p>
              <a:p>
                <a:pPr algn="ctr"/>
                <a:r>
                  <a:rPr lang="zh-CN" altLang="en-US"/>
                  <a:t>贝塞尔</a:t>
                </a:r>
                <a14:m>
                  <m:oMath xmlns:m="http://schemas.openxmlformats.org/officeDocument/2006/math">
                    <m:r>
                      <a:rPr lang="zh-CN" altLang="en-US" i="1">
                        <a:latin typeface="Cambria Math" panose="02040503050406030204" pitchFamily="18" charset="0"/>
                      </a:rPr>
                      <m:t>展开</m:t>
                    </m:r>
                    <m:r>
                      <a:rPr lang="zh-CN" altLang="en-US" i="1" smtClean="0">
                        <a:latin typeface="Cambria Math" panose="02040503050406030204" pitchFamily="18" charset="0"/>
                      </a:rPr>
                      <m:t>：</m:t>
                    </m:r>
                    <m:func>
                      <m:funcPr>
                        <m:ctrlPr>
                          <a:rPr lang="en-US" altLang="zh-CN" i="1" smtClean="0">
                            <a:latin typeface="Cambria Math" panose="02040503050406030204" pitchFamily="18" charset="0"/>
                          </a:rPr>
                        </m:ctrlPr>
                      </m:funcPr>
                      <m:fName>
                        <m:r>
                          <m:rPr>
                            <m:sty m:val="p"/>
                          </m:rPr>
                          <a:rPr lang="en-US" altLang="zh-CN" i="1" smtClean="0">
                            <a:latin typeface="Cambria Math" panose="02040503050406030204" pitchFamily="18" charset="0"/>
                          </a:rPr>
                          <m:t>cos</m:t>
                        </m:r>
                      </m:fName>
                      <m:e>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func>
                              <m:funcPr>
                                <m:ctrlPr>
                                  <a:rPr lang="en-US" altLang="zh-CN" i="1" smtClean="0">
                                    <a:latin typeface="Cambria Math" panose="02040503050406030204" pitchFamily="18" charset="0"/>
                                  </a:rPr>
                                </m:ctrlPr>
                              </m:funcPr>
                              <m:fName>
                                <m:r>
                                  <m:rPr>
                                    <m:sty m:val="p"/>
                                  </m:rPr>
                                  <a:rPr lang="en-US" altLang="zh-CN" i="1" smtClean="0">
                                    <a:latin typeface="Cambria Math" panose="02040503050406030204" pitchFamily="18" charset="0"/>
                                  </a:rPr>
                                  <m:t>sin</m:t>
                                </m:r>
                              </m:fName>
                              <m:e>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𝜔</m:t>
                                    </m:r>
                                    <m:r>
                                      <a:rPr lang="en-US" altLang="zh-CN" i="1" smtClean="0">
                                        <a:latin typeface="Cambria Math" panose="02040503050406030204" pitchFamily="18" charset="0"/>
                                      </a:rPr>
                                      <m:t>𝑡</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𝜙</m:t>
                                        </m:r>
                                      </m:e>
                                      <m:sub>
                                        <m:r>
                                          <a:rPr lang="en-US" altLang="zh-CN" i="1" smtClean="0">
                                            <a:latin typeface="Cambria Math" panose="02040503050406030204" pitchFamily="18" charset="0"/>
                                          </a:rPr>
                                          <m:t>0</m:t>
                                        </m:r>
                                      </m:sub>
                                    </m:sSub>
                                  </m:e>
                                </m:d>
                              </m:e>
                            </m:func>
                          </m:e>
                        </m:d>
                      </m:e>
                    </m:func>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𝐽</m:t>
                        </m:r>
                      </m:e>
                      <m:sub>
                        <m:r>
                          <a:rPr lang="en-US" altLang="zh-CN" i="1" smtClean="0">
                            <a:latin typeface="Cambria Math" panose="02040503050406030204" pitchFamily="18" charset="0"/>
                          </a:rPr>
                          <m:t>0</m:t>
                        </m:r>
                      </m:sub>
                    </m:sSub>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e>
                    </m:d>
                    <m:r>
                      <a:rPr lang="en-US" altLang="zh-CN" i="1" smtClean="0">
                        <a:latin typeface="Cambria Math" panose="02040503050406030204" pitchFamily="18" charset="0"/>
                      </a:rPr>
                      <m:t>+2</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𝐽</m:t>
                        </m:r>
                      </m:e>
                      <m:sub>
                        <m:r>
                          <a:rPr lang="en-US" altLang="zh-CN" i="1" smtClean="0">
                            <a:latin typeface="Cambria Math" panose="02040503050406030204" pitchFamily="18" charset="0"/>
                          </a:rPr>
                          <m:t>2</m:t>
                        </m:r>
                      </m:sub>
                    </m:sSub>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e>
                    </m:d>
                    <m:func>
                      <m:funcPr>
                        <m:ctrlPr>
                          <a:rPr lang="en-US" altLang="zh-CN" i="1" smtClean="0">
                            <a:latin typeface="Cambria Math" panose="02040503050406030204" pitchFamily="18" charset="0"/>
                          </a:rPr>
                        </m:ctrlPr>
                      </m:funcPr>
                      <m:fName>
                        <m:r>
                          <m:rPr>
                            <m:sty m:val="p"/>
                          </m:rPr>
                          <a:rPr lang="en-US" altLang="zh-CN" i="1" smtClean="0">
                            <a:latin typeface="Cambria Math" panose="02040503050406030204" pitchFamily="18" charset="0"/>
                          </a:rPr>
                          <m:t>cos</m:t>
                        </m:r>
                      </m:fName>
                      <m:e>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2</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𝜔</m:t>
                                </m:r>
                                <m:r>
                                  <a:rPr lang="en-US" altLang="zh-CN" i="1" smtClean="0">
                                    <a:latin typeface="Cambria Math" panose="02040503050406030204" pitchFamily="18" charset="0"/>
                                  </a:rPr>
                                  <m:t>𝑡</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𝜙</m:t>
                                    </m:r>
                                  </m:e>
                                  <m:sub>
                                    <m:r>
                                      <a:rPr lang="en-US" altLang="zh-CN" i="1" smtClean="0">
                                        <a:latin typeface="Cambria Math" panose="02040503050406030204" pitchFamily="18" charset="0"/>
                                      </a:rPr>
                                      <m:t>0</m:t>
                                    </m:r>
                                  </m:sub>
                                </m:sSub>
                              </m:e>
                            </m:d>
                          </m:e>
                        </m:d>
                      </m:e>
                    </m:func>
                    <m:r>
                      <a:rPr lang="en-US" altLang="zh-CN" i="1" smtClean="0">
                        <a:latin typeface="Cambria Math" panose="02040503050406030204" pitchFamily="18" charset="0"/>
                      </a:rPr>
                      <m:t>+2</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𝐽</m:t>
                        </m:r>
                      </m:e>
                      <m:sub>
                        <m:r>
                          <a:rPr lang="en-US" altLang="zh-CN" i="1" smtClean="0">
                            <a:latin typeface="Cambria Math" panose="02040503050406030204" pitchFamily="18" charset="0"/>
                          </a:rPr>
                          <m:t>4</m:t>
                        </m:r>
                      </m:sub>
                    </m:sSub>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𝛿</m:t>
                            </m:r>
                          </m:e>
                          <m:sub>
                            <m:r>
                              <a:rPr lang="en-US" altLang="zh-CN" i="1" smtClean="0">
                                <a:latin typeface="Cambria Math" panose="02040503050406030204" pitchFamily="18" charset="0"/>
                              </a:rPr>
                              <m:t>0</m:t>
                            </m:r>
                          </m:sub>
                        </m:sSub>
                      </m:e>
                    </m:d>
                    <m:func>
                      <m:funcPr>
                        <m:ctrlPr>
                          <a:rPr lang="en-US" altLang="zh-CN" i="1" smtClean="0">
                            <a:latin typeface="Cambria Math" panose="02040503050406030204" pitchFamily="18" charset="0"/>
                          </a:rPr>
                        </m:ctrlPr>
                      </m:funcPr>
                      <m:fName>
                        <m:r>
                          <m:rPr>
                            <m:sty m:val="p"/>
                          </m:rPr>
                          <a:rPr lang="en-US" altLang="zh-CN" i="1" smtClean="0">
                            <a:latin typeface="Cambria Math" panose="02040503050406030204" pitchFamily="18" charset="0"/>
                          </a:rPr>
                          <m:t>cos</m:t>
                        </m:r>
                      </m:fName>
                      <m:e>
                        <m:d>
                          <m:dPr>
                            <m:begChr m:val="["/>
                            <m:endChr m:val="]"/>
                            <m:ctrlPr>
                              <a:rPr lang="en-US" altLang="zh-CN" i="1" smtClean="0">
                                <a:latin typeface="Cambria Math" panose="02040503050406030204" pitchFamily="18" charset="0"/>
                              </a:rPr>
                            </m:ctrlPr>
                          </m:dPr>
                          <m:e>
                            <m:r>
                              <a:rPr lang="en-US" altLang="zh-CN" i="1" smtClean="0">
                                <a:latin typeface="Cambria Math" panose="02040503050406030204" pitchFamily="18" charset="0"/>
                              </a:rPr>
                              <m:t>4</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𝜔</m:t>
                                </m:r>
                                <m:r>
                                  <a:rPr lang="en-US" altLang="zh-CN" i="1" smtClean="0">
                                    <a:latin typeface="Cambria Math" panose="02040503050406030204" pitchFamily="18" charset="0"/>
                                  </a:rPr>
                                  <m:t>𝑡</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𝜙</m:t>
                                    </m:r>
                                  </m:e>
                                  <m:sub>
                                    <m:r>
                                      <a:rPr lang="en-US" altLang="zh-CN" i="1" smtClean="0">
                                        <a:latin typeface="Cambria Math" panose="02040503050406030204" pitchFamily="18" charset="0"/>
                                      </a:rPr>
                                      <m:t>0</m:t>
                                    </m:r>
                                  </m:sub>
                                </m:sSub>
                              </m:e>
                            </m:d>
                          </m:e>
                        </m:d>
                      </m:e>
                    </m:func>
                    <m:r>
                      <a:rPr lang="en-US" altLang="zh-CN" i="1" smtClean="0">
                        <a:latin typeface="Cambria Math" panose="02040503050406030204" pitchFamily="18" charset="0"/>
                      </a:rPr>
                      <m:t>+⋯</m:t>
                    </m:r>
                  </m:oMath>
                </a14:m>
                <a:endParaRPr lang="en-US" altLang="zh-CN"/>
              </a:p>
              <a:p>
                <a:pPr algn="ctr"/>
                <a:r>
                  <a:rPr lang="zh-CN" altLang="en-US"/>
                  <a:t>最终得到</a:t>
                </a:r>
                <a14:m>
                  <m:oMath xmlns:m="http://schemas.openxmlformats.org/officeDocument/2006/math">
                    <m:r>
                      <a:rPr lang="zh-CN" altLang="en-US" i="1">
                        <a:latin typeface="Cambria Math" panose="02040503050406030204" pitchFamily="18" charset="0"/>
                      </a:rPr>
                      <m:t>电压</m:t>
                    </m:r>
                    <m:r>
                      <a:rPr lang="zh-CN" altLang="en-US" i="1" smtClean="0">
                        <a:latin typeface="Cambria Math" panose="02040503050406030204" pitchFamily="18" charset="0"/>
                      </a:rPr>
                      <m:t>：</m:t>
                    </m:r>
                    <m:r>
                      <m:rPr>
                        <m:sty m:val="p"/>
                      </m:rPr>
                      <a:rPr lang="en-US" altLang="zh-CN" b="0" i="1" smtClean="0">
                        <a:latin typeface="Cambria Math" panose="02040503050406030204" pitchFamily="18" charset="0"/>
                      </a:rPr>
                      <m:t>V</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r>
                          <m:rPr>
                            <m:sty m:val="p"/>
                          </m:rPr>
                          <a:rPr lang="en-US" altLang="zh-CN" b="0" i="1" smtClean="0">
                            <a:latin typeface="Cambria Math" panose="02040503050406030204" pitchFamily="18" charset="0"/>
                          </a:rPr>
                          <m:t>G</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0</m:t>
                            </m:r>
                          </m:sub>
                        </m:sSub>
                      </m:num>
                      <m:den>
                        <m:r>
                          <a:rPr lang="en-US" altLang="zh-CN" i="1">
                            <a:latin typeface="Cambria Math" panose="02040503050406030204" pitchFamily="18" charset="0"/>
                          </a:rPr>
                          <m:t>2</m:t>
                        </m:r>
                      </m:den>
                    </m:f>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0</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e>
                    </m:d>
                    <m:r>
                      <a:rPr lang="en-US" altLang="zh-CN" i="1">
                        <a:latin typeface="Cambria Math" panose="02040503050406030204" pitchFamily="18" charset="0"/>
                      </a:rPr>
                      <m:t>−</m:t>
                    </m:r>
                    <m:r>
                      <a:rPr lang="en-US" altLang="zh-CN" i="1" smtClean="0">
                        <a:solidFill>
                          <a:schemeClr val="tx1"/>
                        </a:solidFill>
                        <a:latin typeface="Cambria Math" panose="02040503050406030204" pitchFamily="18" charset="0"/>
                      </a:rPr>
                      <m:t>𝐺</m:t>
                    </m:r>
                    <m:sSub>
                      <m:sSubPr>
                        <m:ctrlPr>
                          <a:rPr lang="en-US" altLang="zh-CN" b="0" i="1" smtClean="0">
                            <a:solidFill>
                              <a:schemeClr val="tx1"/>
                            </a:solidFill>
                            <a:latin typeface="Cambria Math" panose="02040503050406030204" pitchFamily="18" charset="0"/>
                          </a:rPr>
                        </m:ctrlPr>
                      </m:sSubPr>
                      <m:e>
                        <m:r>
                          <m:rPr>
                            <m:sty m:val="p"/>
                          </m:rPr>
                          <a:rPr lang="en-US" altLang="zh-CN" b="0" i="1" smtClean="0">
                            <a:solidFill>
                              <a:schemeClr val="tx1"/>
                            </a:solidFill>
                            <a:latin typeface="Cambria Math" panose="02040503050406030204" pitchFamily="18" charset="0"/>
                          </a:rPr>
                          <m:t>I</m:t>
                        </m:r>
                      </m:e>
                      <m:sub>
                        <m:r>
                          <a:rPr lang="en-US" altLang="zh-CN" b="0" i="1" smtClean="0">
                            <a:solidFill>
                              <a:schemeClr val="tx1"/>
                            </a:solidFill>
                            <a:latin typeface="Cambria Math" panose="02040503050406030204" pitchFamily="18" charset="0"/>
                          </a:rPr>
                          <m:t>0</m:t>
                        </m:r>
                      </m:sub>
                    </m:sSub>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𝐽</m:t>
                        </m:r>
                      </m:e>
                      <m:sub>
                        <m:r>
                          <a:rPr lang="en-US" altLang="zh-CN" i="1">
                            <a:solidFill>
                              <a:schemeClr val="tx1"/>
                            </a:solidFill>
                            <a:latin typeface="Cambria Math" panose="02040503050406030204" pitchFamily="18" charset="0"/>
                          </a:rPr>
                          <m:t>2</m:t>
                        </m:r>
                      </m:sub>
                    </m:sSub>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𝛿</m:t>
                            </m:r>
                          </m:e>
                          <m:sub>
                            <m:r>
                              <a:rPr lang="en-US" altLang="zh-CN" i="1">
                                <a:solidFill>
                                  <a:schemeClr val="tx1"/>
                                </a:solidFill>
                                <a:latin typeface="Cambria Math" panose="02040503050406030204" pitchFamily="18" charset="0"/>
                              </a:rPr>
                              <m:t>0</m:t>
                            </m:r>
                          </m:sub>
                        </m:sSub>
                      </m:e>
                    </m:d>
                    <m:func>
                      <m:funcPr>
                        <m:ctrlPr>
                          <a:rPr lang="en-US" altLang="zh-CN" i="1">
                            <a:solidFill>
                              <a:schemeClr val="tx1"/>
                            </a:solidFill>
                            <a:latin typeface="Cambria Math" panose="02040503050406030204" pitchFamily="18" charset="0"/>
                          </a:rPr>
                        </m:ctrlPr>
                      </m:funcPr>
                      <m:fName>
                        <m:r>
                          <m:rPr>
                            <m:sty m:val="p"/>
                          </m:rPr>
                          <a:rPr lang="en-US" altLang="zh-CN" i="1">
                            <a:solidFill>
                              <a:schemeClr val="tx1"/>
                            </a:solidFill>
                            <a:latin typeface="Cambria Math" panose="02040503050406030204" pitchFamily="18" charset="0"/>
                          </a:rPr>
                          <m:t>cos</m:t>
                        </m:r>
                      </m:fName>
                      <m:e>
                        <m:d>
                          <m:dPr>
                            <m:begChr m:val="["/>
                            <m:endChr m:val="]"/>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2</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𝜔</m:t>
                                </m:r>
                                <m:r>
                                  <a:rPr lang="en-US" altLang="zh-CN" i="1">
                                    <a:solidFill>
                                      <a:schemeClr val="tx1"/>
                                    </a:solidFill>
                                    <a:latin typeface="Cambria Math" panose="02040503050406030204" pitchFamily="18" charset="0"/>
                                  </a:rPr>
                                  <m:t>𝑡</m:t>
                                </m:r>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𝜙</m:t>
                                    </m:r>
                                  </m:e>
                                  <m:sub>
                                    <m:r>
                                      <a:rPr lang="en-US" altLang="zh-CN" i="1">
                                        <a:solidFill>
                                          <a:schemeClr val="tx1"/>
                                        </a:solidFill>
                                        <a:latin typeface="Cambria Math" panose="02040503050406030204" pitchFamily="18" charset="0"/>
                                      </a:rPr>
                                      <m:t>0</m:t>
                                    </m:r>
                                  </m:sub>
                                </m:sSub>
                              </m:e>
                            </m:d>
                          </m:e>
                        </m:d>
                      </m:e>
                    </m:func>
                    <m:r>
                      <a:rPr lang="en-US" altLang="zh-CN" i="1">
                        <a:latin typeface="Cambria Math" panose="02040503050406030204" pitchFamily="18" charset="0"/>
                      </a:rPr>
                      <m:t>−</m:t>
                    </m:r>
                    <m:r>
                      <a:rPr lang="en-US" altLang="zh-CN" i="1">
                        <a:latin typeface="Cambria Math" panose="02040503050406030204" pitchFamily="18" charset="0"/>
                      </a:rPr>
                      <m:t>𝐺</m:t>
                    </m:r>
                    <m:sSub>
                      <m:sSubPr>
                        <m:ctrlPr>
                          <a:rPr lang="en-US" altLang="zh-CN" b="0" i="1" smtClean="0">
                            <a:latin typeface="Cambria Math" panose="02040503050406030204" pitchFamily="18" charset="0"/>
                          </a:rPr>
                        </m:ctrlPr>
                      </m:sSubPr>
                      <m:e>
                        <m:r>
                          <m:rPr>
                            <m:sty m:val="p"/>
                          </m:rPr>
                          <a:rPr lang="en-US" altLang="zh-CN" b="0" i="1" smtClean="0">
                            <a:latin typeface="Cambria Math" panose="02040503050406030204" pitchFamily="18" charset="0"/>
                          </a:rPr>
                          <m:t>I</m:t>
                        </m:r>
                      </m:e>
                      <m:sub>
                        <m:r>
                          <a:rPr lang="en-US" altLang="zh-CN" b="0" i="1" smtClean="0">
                            <a:latin typeface="Cambria Math" panose="02040503050406030204" pitchFamily="18" charset="0"/>
                          </a:rPr>
                          <m:t>0</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4</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4</m:t>
                            </m:r>
                            <m:d>
                              <m:dPr>
                                <m:ctrlPr>
                                  <a:rPr lang="en-US" altLang="zh-CN" i="1">
                                    <a:latin typeface="Cambria Math" panose="02040503050406030204" pitchFamily="18" charset="0"/>
                                  </a:rPr>
                                </m:ctrlPr>
                              </m:dPr>
                              <m:e>
                                <m:r>
                                  <a:rPr lang="en-US" altLang="zh-CN" i="1">
                                    <a:latin typeface="Cambria Math" panose="02040503050406030204" pitchFamily="18" charset="0"/>
                                  </a:rPr>
                                  <m:t>𝜔</m:t>
                                </m:r>
                                <m:r>
                                  <a:rPr lang="en-US" altLang="zh-CN" i="1">
                                    <a:latin typeface="Cambria Math" panose="02040503050406030204" pitchFamily="18" charset="0"/>
                                  </a:rPr>
                                  <m:t>𝑡</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𝜙</m:t>
                                    </m:r>
                                  </m:e>
                                  <m:sub>
                                    <m:r>
                                      <a:rPr lang="en-US" altLang="zh-CN" i="1">
                                        <a:latin typeface="Cambria Math" panose="02040503050406030204" pitchFamily="18" charset="0"/>
                                      </a:rPr>
                                      <m:t>0</m:t>
                                    </m:r>
                                  </m:sub>
                                </m:sSub>
                              </m:e>
                            </m:d>
                          </m:e>
                        </m:d>
                      </m:e>
                    </m:func>
                    <m:r>
                      <a:rPr lang="en-US" altLang="zh-CN" i="1">
                        <a:latin typeface="Cambria Math" panose="02040503050406030204" pitchFamily="18" charset="0"/>
                      </a:rPr>
                      <m:t>−⋯</m:t>
                    </m:r>
                  </m:oMath>
                </a14:m>
                <a:endParaRPr lang="en-US" altLang="zh-CN"/>
              </a:p>
              <a:p>
                <a:endParaRPr lang="en-US" altLang="zh-CN"/>
              </a:p>
              <a:p>
                <a:r>
                  <a:rPr lang="zh-CN" altLang="en-US"/>
                  <a:t>第四步：</a:t>
                </a:r>
                <a:r>
                  <a:rPr lang="zh-CN" altLang="zh-CN"/>
                  <a:t>锁相提取DC和2f</a:t>
                </a:r>
                <a:r>
                  <a:rPr lang="en-US" altLang="zh-CN"/>
                  <a:t>,</a:t>
                </a:r>
                <a:r>
                  <a:rPr lang="zh-CN" altLang="zh-CN"/>
                  <a:t>由DC和2f重建 </a:t>
                </a:r>
                <a14:m>
                  <m:oMath xmlns:m="http://schemas.openxmlformats.org/officeDocument/2006/math">
                    <m:sSub>
                      <m:sSubPr>
                        <m:ctrlPr>
                          <a:rPr lang="zh-CN" altLang="zh-CN" i="1">
                            <a:latin typeface="Cambria Math" panose="02040503050406030204" pitchFamily="18" charset="0"/>
                          </a:rPr>
                        </m:ctrlPr>
                      </m:sSubPr>
                      <m:e>
                        <m:r>
                          <a:rPr lang="zh-CN" altLang="zh-CN" i="1">
                            <a:latin typeface="Cambria Math" panose="02040503050406030204" pitchFamily="18" charset="0"/>
                          </a:rPr>
                          <m:t>𝑆</m:t>
                        </m:r>
                      </m:e>
                      <m:sub>
                        <m:r>
                          <a:rPr lang="zh-CN" altLang="zh-CN" i="0">
                            <a:latin typeface="Cambria Math" panose="02040503050406030204" pitchFamily="18" charset="0"/>
                          </a:rPr>
                          <m:t>0</m:t>
                        </m:r>
                      </m:sub>
                    </m:sSub>
                    <m:r>
                      <a:rPr lang="zh-CN" altLang="zh-CN" i="0">
                        <a:latin typeface="Cambria Math" panose="02040503050406030204" pitchFamily="18" charset="0"/>
                      </a:rPr>
                      <m:t>,</m:t>
                    </m:r>
                    <m:sSub>
                      <m:sSubPr>
                        <m:ctrlPr>
                          <a:rPr lang="zh-CN" altLang="zh-CN" i="1">
                            <a:latin typeface="Cambria Math" panose="02040503050406030204" pitchFamily="18" charset="0"/>
                          </a:rPr>
                        </m:ctrlPr>
                      </m:sSubPr>
                      <m:e>
                        <m:r>
                          <a:rPr lang="zh-CN" altLang="zh-CN" i="1">
                            <a:latin typeface="Cambria Math" panose="02040503050406030204" pitchFamily="18" charset="0"/>
                          </a:rPr>
                          <m:t>𝑆</m:t>
                        </m:r>
                      </m:e>
                      <m:sub>
                        <m:r>
                          <a:rPr lang="zh-CN" altLang="zh-CN" i="0">
                            <a:latin typeface="Cambria Math" panose="02040503050406030204" pitchFamily="18" charset="0"/>
                          </a:rPr>
                          <m:t>2</m:t>
                        </m:r>
                      </m:sub>
                    </m:sSub>
                  </m:oMath>
                </a14:m>
                <a:endParaRPr lang="zh-CN" altLang="en-US"/>
              </a:p>
            </p:txBody>
          </p:sp>
        </mc:Choice>
        <mc:Fallback xmlns="">
          <p:sp>
            <p:nvSpPr>
              <p:cNvPr id="8" name="文本框 7">
                <a:extLst>
                  <a:ext uri="{FF2B5EF4-FFF2-40B4-BE49-F238E27FC236}">
                    <a16:creationId xmlns:a16="http://schemas.microsoft.com/office/drawing/2014/main" id="{9CEEA8E9-FF52-A983-915A-7196FF484804}"/>
                  </a:ext>
                </a:extLst>
              </p:cNvPr>
              <p:cNvSpPr txBox="1">
                <a:spLocks noRot="1" noChangeAspect="1" noMove="1" noResize="1" noEditPoints="1" noAdjustHandles="1" noChangeArrowheads="1" noChangeShapeType="1" noTextEdit="1"/>
              </p:cNvSpPr>
              <p:nvPr/>
            </p:nvSpPr>
            <p:spPr>
              <a:xfrm>
                <a:off x="5318" y="1899458"/>
                <a:ext cx="12186682" cy="3376245"/>
              </a:xfrm>
              <a:prstGeom prst="rect">
                <a:avLst/>
              </a:prstGeom>
              <a:blipFill>
                <a:blip r:embed="rId4"/>
                <a:stretch>
                  <a:fillRect l="-450" t="-1085" b="-2351"/>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7DDBECE9-5A63-EB40-CF59-E1F534EC77E9}"/>
              </a:ext>
            </a:extLst>
          </p:cNvPr>
          <p:cNvPicPr>
            <a:picLocks noChangeAspect="1"/>
          </p:cNvPicPr>
          <p:nvPr/>
        </p:nvPicPr>
        <p:blipFill>
          <a:blip r:embed="rId5"/>
          <a:stretch>
            <a:fillRect/>
          </a:stretch>
        </p:blipFill>
        <p:spPr>
          <a:xfrm>
            <a:off x="9213479" y="2323229"/>
            <a:ext cx="1979099" cy="397627"/>
          </a:xfrm>
          <a:prstGeom prst="rect">
            <a:avLst/>
          </a:prstGeom>
        </p:spPr>
      </p:pic>
      <p:sp>
        <p:nvSpPr>
          <p:cNvPr id="15" name="矩形 14">
            <a:extLst>
              <a:ext uri="{FF2B5EF4-FFF2-40B4-BE49-F238E27FC236}">
                <a16:creationId xmlns:a16="http://schemas.microsoft.com/office/drawing/2014/main" id="{BC325247-2515-645A-BD77-E3AF719A8FB8}"/>
              </a:ext>
            </a:extLst>
          </p:cNvPr>
          <p:cNvSpPr/>
          <p:nvPr/>
        </p:nvSpPr>
        <p:spPr>
          <a:xfrm>
            <a:off x="5087888" y="4285011"/>
            <a:ext cx="2598113" cy="36004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D0B7D214-B4F5-845E-1260-5BCD0D1A2BEE}"/>
              </a:ext>
            </a:extLst>
          </p:cNvPr>
          <p:cNvPicPr>
            <a:picLocks noChangeAspect="1"/>
          </p:cNvPicPr>
          <p:nvPr/>
        </p:nvPicPr>
        <p:blipFill>
          <a:blip r:embed="rId6"/>
          <a:stretch>
            <a:fillRect/>
          </a:stretch>
        </p:blipFill>
        <p:spPr>
          <a:xfrm>
            <a:off x="8184232" y="4685748"/>
            <a:ext cx="2671192" cy="2135827"/>
          </a:xfrm>
          <a:prstGeom prst="rect">
            <a:avLst/>
          </a:prstGeom>
        </p:spPr>
      </p:pic>
      <p:sp>
        <p:nvSpPr>
          <p:cNvPr id="18" name="椭圆 17">
            <a:extLst>
              <a:ext uri="{FF2B5EF4-FFF2-40B4-BE49-F238E27FC236}">
                <a16:creationId xmlns:a16="http://schemas.microsoft.com/office/drawing/2014/main" id="{BDF1EBF3-2418-78B9-CB4D-91FA17E5F178}"/>
              </a:ext>
            </a:extLst>
          </p:cNvPr>
          <p:cNvSpPr/>
          <p:nvPr/>
        </p:nvSpPr>
        <p:spPr>
          <a:xfrm>
            <a:off x="8544272" y="6021288"/>
            <a:ext cx="178120" cy="21602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a:extLst>
              <a:ext uri="{FF2B5EF4-FFF2-40B4-BE49-F238E27FC236}">
                <a16:creationId xmlns:a16="http://schemas.microsoft.com/office/drawing/2014/main" id="{626433A7-8695-A71D-D480-0B2E74E2F1F7}"/>
              </a:ext>
            </a:extLst>
          </p:cNvPr>
          <p:cNvCxnSpPr>
            <a:cxnSpLocks/>
            <a:stCxn id="18" idx="2"/>
          </p:cNvCxnSpPr>
          <p:nvPr/>
        </p:nvCxnSpPr>
        <p:spPr>
          <a:xfrm flipH="1">
            <a:off x="7248128" y="6129300"/>
            <a:ext cx="12961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E21F8B43-8883-B6C0-232D-E34AEDCF244A}"/>
                  </a:ext>
                </a:extLst>
              </p:cNvPr>
              <p:cNvSpPr txBox="1"/>
              <p:nvPr/>
            </p:nvSpPr>
            <p:spPr>
              <a:xfrm>
                <a:off x="820465" y="5733256"/>
                <a:ext cx="6427663" cy="923330"/>
              </a:xfrm>
              <a:prstGeom prst="rect">
                <a:avLst/>
              </a:prstGeom>
              <a:noFill/>
            </p:spPr>
            <p:txBody>
              <a:bodyPr wrap="square" rtlCol="0">
                <a:spAutoFit/>
              </a:bodyPr>
              <a:lstStyle/>
              <a:p>
                <a:r>
                  <a:rPr lang="zh-CN" altLang="en-US">
                    <a:solidFill>
                      <a:srgbClr val="0070C0"/>
                    </a:solidFill>
                  </a:rPr>
                  <a:t>补充：</a:t>
                </a:r>
                <a:endParaRPr lang="en-US" altLang="zh-CN">
                  <a:solidFill>
                    <a:srgbClr val="0070C0"/>
                  </a:solidFill>
                </a:endParaRPr>
              </a:p>
              <a:p>
                <a:r>
                  <a:rPr lang="zh-CN" altLang="en-US"/>
                  <a:t>使用</a:t>
                </a:r>
                <a14:m>
                  <m:oMath xmlns:m="http://schemas.openxmlformats.org/officeDocument/2006/math">
                    <m:sSub>
                      <m:sSubPr>
                        <m:ctrlPr>
                          <a:rPr lang="zh-CN" altLang="en-US" i="1">
                            <a:solidFill>
                              <a:srgbClr val="C00000"/>
                            </a:solidFill>
                            <a:latin typeface="Cambria Math" panose="02040503050406030204" pitchFamily="18" charset="0"/>
                          </a:rPr>
                        </m:ctrlPr>
                      </m:sSubPr>
                      <m:e>
                        <m:r>
                          <a:rPr lang="zh-CN" altLang="en-US" i="1">
                            <a:solidFill>
                              <a:srgbClr val="C00000"/>
                            </a:solidFill>
                            <a:latin typeface="Cambria Math" panose="02040503050406030204" pitchFamily="18" charset="0"/>
                          </a:rPr>
                          <m:t>𝛿</m:t>
                        </m:r>
                      </m:e>
                      <m:sub>
                        <m:r>
                          <a:rPr lang="zh-CN" altLang="en-US">
                            <a:solidFill>
                              <a:srgbClr val="C00000"/>
                            </a:solidFill>
                            <a:latin typeface="Cambria Math" panose="02040503050406030204" pitchFamily="18" charset="0"/>
                          </a:rPr>
                          <m:t>0</m:t>
                        </m:r>
                      </m:sub>
                    </m:sSub>
                    <m:r>
                      <a:rPr lang="zh-CN" altLang="en-US">
                        <a:solidFill>
                          <a:srgbClr val="C00000"/>
                        </a:solidFill>
                        <a:latin typeface="Cambria Math" panose="02040503050406030204" pitchFamily="18" charset="0"/>
                      </a:rPr>
                      <m:t>=2.4048255577</m:t>
                    </m:r>
                  </m:oMath>
                </a14:m>
                <a:r>
                  <a:rPr lang="zh-CN" altLang="en-US">
                    <a:solidFill>
                      <a:srgbClr val="C00000"/>
                    </a:solidFill>
                  </a:rPr>
                  <a:t>时</a:t>
                </a:r>
                <a:r>
                  <a:rPr lang="zh-CN" altLang="en-US"/>
                  <a:t>，</a:t>
                </a:r>
                <a:r>
                  <a:rPr lang="en-US" altLang="zh-CN"/>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0</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oMath>
                </a14:m>
                <a:r>
                  <a:rPr lang="en-US" altLang="zh-CN"/>
                  <a:t>=0</a:t>
                </a:r>
                <a:r>
                  <a:rPr lang="zh-CN" altLang="en-US"/>
                  <a:t>，</a:t>
                </a:r>
                <a:r>
                  <a:rPr lang="en-US" altLang="zh-CN"/>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b="0" i="1" smtClean="0">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oMath>
                </a14:m>
                <a:r>
                  <a:rPr lang="en-US" altLang="zh-CN"/>
                  <a:t>=</a:t>
                </a:r>
                <a:r>
                  <a:rPr lang="zh-CN" altLang="zh-CN"/>
                  <a:t> 0.4317548070</a:t>
                </a:r>
                <a:r>
                  <a:rPr lang="zh-CN" altLang="en-US"/>
                  <a:t>，</a:t>
                </a:r>
                <a:endParaRPr lang="en-US" altLang="zh-CN"/>
              </a:p>
              <a:p>
                <a:r>
                  <a:rPr lang="zh-CN" altLang="en-US"/>
                  <a:t>此时直流分量与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2</m:t>
                        </m:r>
                      </m:sub>
                    </m:sSub>
                  </m:oMath>
                </a14:m>
                <a:r>
                  <a:rPr lang="zh-CN" altLang="en-US"/>
                  <a:t>解耦</a:t>
                </a:r>
              </a:p>
            </p:txBody>
          </p:sp>
        </mc:Choice>
        <mc:Fallback xmlns="">
          <p:sp>
            <p:nvSpPr>
              <p:cNvPr id="22" name="文本框 21">
                <a:extLst>
                  <a:ext uri="{FF2B5EF4-FFF2-40B4-BE49-F238E27FC236}">
                    <a16:creationId xmlns:a16="http://schemas.microsoft.com/office/drawing/2014/main" id="{E21F8B43-8883-B6C0-232D-E34AEDCF244A}"/>
                  </a:ext>
                </a:extLst>
              </p:cNvPr>
              <p:cNvSpPr txBox="1">
                <a:spLocks noRot="1" noChangeAspect="1" noMove="1" noResize="1" noEditPoints="1" noAdjustHandles="1" noChangeArrowheads="1" noChangeShapeType="1" noTextEdit="1"/>
              </p:cNvSpPr>
              <p:nvPr/>
            </p:nvSpPr>
            <p:spPr>
              <a:xfrm>
                <a:off x="820465" y="5733256"/>
                <a:ext cx="6427663" cy="923330"/>
              </a:xfrm>
              <a:prstGeom prst="rect">
                <a:avLst/>
              </a:prstGeom>
              <a:blipFill>
                <a:blip r:embed="rId7"/>
                <a:stretch>
                  <a:fillRect l="-854" t="-3289" r="-4269" b="-9211"/>
                </a:stretch>
              </a:blipFill>
            </p:spPr>
            <p:txBody>
              <a:bodyPr/>
              <a:lstStyle/>
              <a:p>
                <a:r>
                  <a:rPr lang="zh-CN" altLang="en-US">
                    <a:noFill/>
                  </a:rPr>
                  <a:t> </a:t>
                </a:r>
              </a:p>
            </p:txBody>
          </p:sp>
        </mc:Fallback>
      </mc:AlternateContent>
      <p:sp>
        <p:nvSpPr>
          <p:cNvPr id="2" name="TextBox 1">
            <a:extLst>
              <a:ext uri="{FF2B5EF4-FFF2-40B4-BE49-F238E27FC236}">
                <a16:creationId xmlns:a16="http://schemas.microsoft.com/office/drawing/2014/main" id="{997F992D-DCB4-9D55-302E-4B6AB4B3DDFB}"/>
              </a:ext>
            </a:extLst>
          </p:cNvPr>
          <p:cNvSpPr txBox="1"/>
          <p:nvPr/>
        </p:nvSpPr>
        <p:spPr>
          <a:xfrm>
            <a:off x="3982582" y="3341561"/>
            <a:ext cx="7078558" cy="338554"/>
          </a:xfrm>
          <a:prstGeom prst="rect">
            <a:avLst/>
          </a:prstGeom>
          <a:noFill/>
        </p:spPr>
        <p:txBody>
          <a:bodyPr wrap="square" rtlCol="0">
            <a:spAutoFit/>
          </a:bodyPr>
          <a:lstStyle/>
          <a:p>
            <a:r>
              <a:rPr lang="zh-CN" altLang="en-US" sz="1600">
                <a:highlight>
                  <a:srgbClr val="FFFF00"/>
                </a:highlight>
              </a:rPr>
              <a:t>如果用穆勒矩阵来描述，似乎会更清晰一些，</a:t>
            </a:r>
            <a:r>
              <a:rPr lang="en-US" altLang="zh-CN" sz="1600">
                <a:highlight>
                  <a:srgbClr val="FFFF00"/>
                </a:highlight>
              </a:rPr>
              <a:t>V</a:t>
            </a:r>
            <a:r>
              <a:rPr lang="zh-CN" altLang="en-US" sz="1600">
                <a:highlight>
                  <a:srgbClr val="FFFF00"/>
                </a:highlight>
              </a:rPr>
              <a:t>究竟是与</a:t>
            </a:r>
            <a:r>
              <a:rPr lang="en-US" altLang="zh-CN" sz="1600">
                <a:highlight>
                  <a:srgbClr val="FFFF00"/>
                </a:highlight>
              </a:rPr>
              <a:t>S0</a:t>
            </a:r>
            <a:r>
              <a:rPr lang="zh-CN" altLang="en-US" sz="1600">
                <a:highlight>
                  <a:srgbClr val="FFFF00"/>
                </a:highlight>
              </a:rPr>
              <a:t>和</a:t>
            </a:r>
            <a:r>
              <a:rPr lang="en-US" altLang="zh-CN" sz="1600">
                <a:highlight>
                  <a:srgbClr val="FFFF00"/>
                </a:highlight>
              </a:rPr>
              <a:t>S2</a:t>
            </a:r>
            <a:r>
              <a:rPr lang="zh-CN" altLang="en-US" sz="1600">
                <a:highlight>
                  <a:srgbClr val="FFFF00"/>
                </a:highlight>
              </a:rPr>
              <a:t>是什么关系</a:t>
            </a:r>
            <a:endParaRPr lang="en-US" sz="1600">
              <a:highlight>
                <a:srgbClr val="FFFF00"/>
              </a:highlight>
            </a:endParaRPr>
          </a:p>
        </p:txBody>
      </p:sp>
      <p:sp>
        <p:nvSpPr>
          <p:cNvPr id="14" name="TextBox 13">
            <a:extLst>
              <a:ext uri="{FF2B5EF4-FFF2-40B4-BE49-F238E27FC236}">
                <a16:creationId xmlns:a16="http://schemas.microsoft.com/office/drawing/2014/main" id="{CD584D0F-DA8C-7D3C-F9FE-62E62D4AA81F}"/>
              </a:ext>
            </a:extLst>
          </p:cNvPr>
          <p:cNvSpPr txBox="1"/>
          <p:nvPr/>
        </p:nvSpPr>
        <p:spPr>
          <a:xfrm>
            <a:off x="11051016" y="3515288"/>
            <a:ext cx="1008112" cy="3293209"/>
          </a:xfrm>
          <a:prstGeom prst="rect">
            <a:avLst/>
          </a:prstGeom>
          <a:noFill/>
        </p:spPr>
        <p:txBody>
          <a:bodyPr wrap="square" rtlCol="0">
            <a:spAutoFit/>
          </a:bodyPr>
          <a:lstStyle/>
          <a:p>
            <a:r>
              <a:rPr lang="zh-CN" altLang="en-US" sz="1600">
                <a:highlight>
                  <a:srgbClr val="FFFF00"/>
                </a:highlight>
              </a:rPr>
              <a:t>在这种情况下，只有偶数阶的频率分量？</a:t>
            </a:r>
            <a:endParaRPr lang="en-US" altLang="zh-CN" sz="1600">
              <a:highlight>
                <a:srgbClr val="FFFF00"/>
              </a:highlight>
            </a:endParaRPr>
          </a:p>
          <a:p>
            <a:r>
              <a:rPr lang="zh-CN" altLang="en-US" sz="1600">
                <a:highlight>
                  <a:srgbClr val="FFFF00"/>
                </a:highlight>
              </a:rPr>
              <a:t>解释：此时不加相位延迟时，信号为极小值，极小值附近展开只有偶数阶。</a:t>
            </a:r>
            <a:endParaRPr lang="en-US" sz="1600">
              <a:highlight>
                <a:srgbClr val="FFFF00"/>
              </a:highlight>
            </a:endParaRPr>
          </a:p>
        </p:txBody>
      </p:sp>
      <p:sp>
        <p:nvSpPr>
          <p:cNvPr id="21" name="TextBox 20">
            <a:extLst>
              <a:ext uri="{FF2B5EF4-FFF2-40B4-BE49-F238E27FC236}">
                <a16:creationId xmlns:a16="http://schemas.microsoft.com/office/drawing/2014/main" id="{52F7AE17-5FF4-7376-0385-2B465B5B07B0}"/>
              </a:ext>
            </a:extLst>
          </p:cNvPr>
          <p:cNvSpPr txBox="1"/>
          <p:nvPr/>
        </p:nvSpPr>
        <p:spPr>
          <a:xfrm>
            <a:off x="35678" y="5309941"/>
            <a:ext cx="7572490" cy="338554"/>
          </a:xfrm>
          <a:prstGeom prst="rect">
            <a:avLst/>
          </a:prstGeom>
          <a:noFill/>
        </p:spPr>
        <p:txBody>
          <a:bodyPr wrap="square" rtlCol="0">
            <a:spAutoFit/>
          </a:bodyPr>
          <a:lstStyle/>
          <a:p>
            <a:r>
              <a:rPr lang="zh-CN" altLang="en-US" sz="1600">
                <a:highlight>
                  <a:srgbClr val="FFFF00"/>
                </a:highlight>
              </a:rPr>
              <a:t>如果你已经假定</a:t>
            </a:r>
            <a:r>
              <a:rPr lang="en-US" altLang="zh-CN" sz="1600">
                <a:highlight>
                  <a:srgbClr val="FFFF00"/>
                </a:highlight>
              </a:rPr>
              <a:t>|S2|</a:t>
            </a:r>
            <a:r>
              <a:rPr lang="zh-CN" altLang="en-US" sz="1600">
                <a:highlight>
                  <a:srgbClr val="FFFF00"/>
                </a:highlight>
              </a:rPr>
              <a:t>与</a:t>
            </a:r>
            <a:r>
              <a:rPr lang="en-US" altLang="zh-CN" sz="1600">
                <a:highlight>
                  <a:srgbClr val="FFFF00"/>
                </a:highlight>
              </a:rPr>
              <a:t>S0</a:t>
            </a:r>
            <a:r>
              <a:rPr lang="zh-CN" altLang="en-US" sz="1600">
                <a:highlight>
                  <a:srgbClr val="FFFF00"/>
                </a:highlight>
              </a:rPr>
              <a:t>相等，那么就只有一个未知量，重建</a:t>
            </a:r>
            <a:r>
              <a:rPr lang="en-US" altLang="zh-CN" sz="1600">
                <a:highlight>
                  <a:srgbClr val="FFFF00"/>
                </a:highlight>
              </a:rPr>
              <a:t>S0</a:t>
            </a:r>
            <a:r>
              <a:rPr lang="zh-CN" altLang="en-US" sz="1600">
                <a:highlight>
                  <a:srgbClr val="FFFF00"/>
                </a:highlight>
              </a:rPr>
              <a:t>和</a:t>
            </a:r>
            <a:r>
              <a:rPr lang="en-US" altLang="zh-CN" sz="1600">
                <a:highlight>
                  <a:srgbClr val="FFFF00"/>
                </a:highlight>
              </a:rPr>
              <a:t>S2</a:t>
            </a:r>
            <a:r>
              <a:rPr lang="zh-CN" altLang="en-US" sz="1600">
                <a:highlight>
                  <a:srgbClr val="FFFF00"/>
                </a:highlight>
              </a:rPr>
              <a:t>的含义是什么？</a:t>
            </a:r>
            <a:endParaRPr lang="en-US" sz="1600">
              <a:highlight>
                <a:srgbClr val="FFFF00"/>
              </a:highlight>
            </a:endParaRPr>
          </a:p>
        </p:txBody>
      </p:sp>
    </p:spTree>
    <p:extLst>
      <p:ext uri="{BB962C8B-B14F-4D97-AF65-F5344CB8AC3E}">
        <p14:creationId xmlns:p14="http://schemas.microsoft.com/office/powerpoint/2010/main" val="2516494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516B9-79E6-209C-B288-FB2CD96FD6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2A109B8-6310-5B6B-A725-D925D1119AFD}"/>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D86CB4D0-B72E-31FB-0B01-F9DBC1EB565C}"/>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9</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269C9AA0-2BB6-6E97-1258-520EE1B1DF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218E2CB0-06BF-1569-E3B1-CE2898F9990C}"/>
              </a:ext>
            </a:extLst>
          </p:cNvPr>
          <p:cNvSpPr txBox="1"/>
          <p:nvPr/>
        </p:nvSpPr>
        <p:spPr>
          <a:xfrm>
            <a:off x="623392" y="69315"/>
            <a:ext cx="11568608" cy="369332"/>
          </a:xfrm>
          <a:prstGeom prst="rect">
            <a:avLst/>
          </a:prstGeom>
          <a:noFill/>
        </p:spPr>
        <p:txBody>
          <a:bodyPr wrap="square" rtlCol="0">
            <a:spAutoFit/>
          </a:bodyPr>
          <a:lstStyle/>
          <a:p>
            <a:r>
              <a:rPr lang="en-US" altLang="zh-CN"/>
              <a:t>1.2</a:t>
            </a:r>
            <a:r>
              <a:rPr lang="zh-CN" altLang="en-US"/>
              <a:t>：仿真结果</a:t>
            </a:r>
          </a:p>
        </p:txBody>
      </p:sp>
      <p:pic>
        <p:nvPicPr>
          <p:cNvPr id="4" name="图片 3">
            <a:extLst>
              <a:ext uri="{FF2B5EF4-FFF2-40B4-BE49-F238E27FC236}">
                <a16:creationId xmlns:a16="http://schemas.microsoft.com/office/drawing/2014/main" id="{E498C8CE-6266-BD61-E2BF-793BC99561A8}"/>
              </a:ext>
            </a:extLst>
          </p:cNvPr>
          <p:cNvPicPr>
            <a:picLocks noChangeAspect="1"/>
          </p:cNvPicPr>
          <p:nvPr/>
        </p:nvPicPr>
        <p:blipFill>
          <a:blip r:embed="rId3" cstate="print">
            <a:extLst>
              <a:ext uri="{28A0092B-C50C-407E-A947-70E740481C1C}">
                <a14:useLocalDpi xmlns:a14="http://schemas.microsoft.com/office/drawing/2010/main" val="0"/>
              </a:ext>
            </a:extLst>
          </a:blip>
          <a:srcRect t="3800" r="50000" b="47900"/>
          <a:stretch>
            <a:fillRect/>
          </a:stretch>
        </p:blipFill>
        <p:spPr>
          <a:xfrm>
            <a:off x="89968" y="565430"/>
            <a:ext cx="4137162" cy="2664296"/>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78AC971-4629-A3FB-F579-5EAC93E1C4F2}"/>
                  </a:ext>
                </a:extLst>
              </p:cNvPr>
              <p:cNvSpPr txBox="1"/>
              <p:nvPr/>
            </p:nvSpPr>
            <p:spPr>
              <a:xfrm>
                <a:off x="681000" y="3229726"/>
                <a:ext cx="3148234" cy="369332"/>
              </a:xfrm>
              <a:prstGeom prst="rect">
                <a:avLst/>
              </a:prstGeom>
              <a:noFill/>
            </p:spPr>
            <p:txBody>
              <a:bodyPr wrap="none" rtlCol="0">
                <a:spAutoFit/>
              </a:bodyPr>
              <a:lstStyle/>
              <a:p>
                <a:r>
                  <a:rPr lang="en-US" altLang="zh-CN"/>
                  <a:t>PEM</a:t>
                </a:r>
                <a:r>
                  <a:rPr lang="zh-CN" altLang="en-US"/>
                  <a:t>引入的相位延迟</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oMath>
                </a14:m>
                <a:r>
                  <a:rPr lang="en-US" altLang="zh-CN"/>
                  <a:t>=2.404</a:t>
                </a:r>
                <a:endParaRPr lang="zh-CN" altLang="en-US"/>
              </a:p>
            </p:txBody>
          </p:sp>
        </mc:Choice>
        <mc:Fallback xmlns="">
          <p:sp>
            <p:nvSpPr>
              <p:cNvPr id="6" name="文本框 5">
                <a:extLst>
                  <a:ext uri="{FF2B5EF4-FFF2-40B4-BE49-F238E27FC236}">
                    <a16:creationId xmlns:a16="http://schemas.microsoft.com/office/drawing/2014/main" id="{778AC971-4629-A3FB-F579-5EAC93E1C4F2}"/>
                  </a:ext>
                </a:extLst>
              </p:cNvPr>
              <p:cNvSpPr txBox="1">
                <a:spLocks noRot="1" noChangeAspect="1" noMove="1" noResize="1" noEditPoints="1" noAdjustHandles="1" noChangeArrowheads="1" noChangeShapeType="1" noTextEdit="1"/>
              </p:cNvSpPr>
              <p:nvPr/>
            </p:nvSpPr>
            <p:spPr>
              <a:xfrm>
                <a:off x="681000" y="3229726"/>
                <a:ext cx="3148234" cy="369332"/>
              </a:xfrm>
              <a:prstGeom prst="rect">
                <a:avLst/>
              </a:prstGeom>
              <a:blipFill>
                <a:blip r:embed="rId4"/>
                <a:stretch>
                  <a:fillRect l="-1744" t="-10000" r="-1163" b="-26667"/>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0231D6FF-EEC3-136A-690F-B7AAFD11FC7D}"/>
              </a:ext>
            </a:extLst>
          </p:cNvPr>
          <p:cNvPicPr>
            <a:picLocks noChangeAspect="1"/>
          </p:cNvPicPr>
          <p:nvPr/>
        </p:nvPicPr>
        <p:blipFill>
          <a:blip r:embed="rId5"/>
          <a:stretch>
            <a:fillRect/>
          </a:stretch>
        </p:blipFill>
        <p:spPr>
          <a:xfrm>
            <a:off x="119337" y="3726323"/>
            <a:ext cx="4176464" cy="2586914"/>
          </a:xfrm>
          <a:prstGeom prst="rect">
            <a:avLst/>
          </a:prstGeom>
        </p:spPr>
      </p:pic>
      <p:sp>
        <p:nvSpPr>
          <p:cNvPr id="8" name="文本框 7">
            <a:extLst>
              <a:ext uri="{FF2B5EF4-FFF2-40B4-BE49-F238E27FC236}">
                <a16:creationId xmlns:a16="http://schemas.microsoft.com/office/drawing/2014/main" id="{88F05EBD-8863-C4F5-5356-E51C50F8A59B}"/>
              </a:ext>
            </a:extLst>
          </p:cNvPr>
          <p:cNvSpPr txBox="1"/>
          <p:nvPr/>
        </p:nvSpPr>
        <p:spPr>
          <a:xfrm>
            <a:off x="335361" y="6351928"/>
            <a:ext cx="3839513" cy="369332"/>
          </a:xfrm>
          <a:prstGeom prst="rect">
            <a:avLst/>
          </a:prstGeom>
          <a:noFill/>
        </p:spPr>
        <p:txBody>
          <a:bodyPr wrap="none" rtlCol="0">
            <a:spAutoFit/>
          </a:bodyPr>
          <a:lstStyle/>
          <a:p>
            <a:r>
              <a:rPr lang="zh-CN" altLang="en-US"/>
              <a:t>探测器输出电压直流分和</a:t>
            </a:r>
            <a:r>
              <a:rPr lang="en-US" altLang="zh-CN"/>
              <a:t>2f</a:t>
            </a:r>
            <a:r>
              <a:rPr lang="zh-CN" altLang="en-US"/>
              <a:t>分量关系</a:t>
            </a:r>
          </a:p>
        </p:txBody>
      </p:sp>
      <p:pic>
        <p:nvPicPr>
          <p:cNvPr id="10" name="图片 9">
            <a:extLst>
              <a:ext uri="{FF2B5EF4-FFF2-40B4-BE49-F238E27FC236}">
                <a16:creationId xmlns:a16="http://schemas.microsoft.com/office/drawing/2014/main" id="{09D944C3-2BA8-6664-135F-C84C572A5E6E}"/>
              </a:ext>
            </a:extLst>
          </p:cNvPr>
          <p:cNvPicPr>
            <a:picLocks noChangeAspect="1"/>
          </p:cNvPicPr>
          <p:nvPr/>
        </p:nvPicPr>
        <p:blipFill>
          <a:blip r:embed="rId6"/>
          <a:srcRect t="7448" r="1728" b="2333"/>
          <a:stretch>
            <a:fillRect/>
          </a:stretch>
        </p:blipFill>
        <p:spPr>
          <a:xfrm>
            <a:off x="5947270" y="692698"/>
            <a:ext cx="4032447" cy="2376262"/>
          </a:xfrm>
          <a:prstGeom prst="rect">
            <a:avLst/>
          </a:prstGeom>
        </p:spPr>
      </p:pic>
      <mc:AlternateContent xmlns:mc="http://schemas.openxmlformats.org/markup-compatibility/2006" xmlns:a14="http://schemas.microsoft.com/office/drawing/2010/main">
        <mc:Choice Requires="a14">
          <p:sp>
            <p:nvSpPr>
              <p:cNvPr id="14" name="slide-2-evidence-frame">
                <a:extLst>
                  <a:ext uri="{FF2B5EF4-FFF2-40B4-BE49-F238E27FC236}">
                    <a16:creationId xmlns:a16="http://schemas.microsoft.com/office/drawing/2014/main" id="{3C2DA4AD-0FC7-EC24-5957-4D4511DA9195}"/>
                  </a:ext>
                </a:extLst>
              </p:cNvPr>
              <p:cNvSpPr>
                <a:spLocks noGrp="1"/>
              </p:cNvSpPr>
              <p:nvPr/>
            </p:nvSpPr>
            <p:spPr>
              <a:xfrm>
                <a:off x="5159896" y="5085184"/>
                <a:ext cx="6336704" cy="629444"/>
              </a:xfrm>
              <a:prstGeom prst="rect">
                <a:avLst/>
              </a:prstGeom>
              <a:solidFill>
                <a:schemeClr val="accent2">
                  <a:lumMod val="20000"/>
                  <a:lumOff val="80000"/>
                </a:schemeClr>
              </a:solidFill>
              <a:ln w="9525">
                <a:solidFill>
                  <a:srgbClr val="B8BCC4"/>
                </a:solidFill>
                <a:prstDash val="solid"/>
              </a:ln>
            </p:spPr>
            <p:txBody>
              <a:bodyPr/>
              <a:lstStyle/>
              <a:p>
                <a:r>
                  <a:rPr lang="zh-CN" altLang="en-US"/>
                  <a:t>结论：仿真得到了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oMath>
                </a14:m>
                <a:r>
                  <a:rPr lang="en-US" altLang="zh-CN"/>
                  <a:t>=2.404</a:t>
                </a:r>
                <a:r>
                  <a:rPr lang="zh-CN" altLang="en-US"/>
                  <a:t>探测器输出电压大致形状，直流分量和</a:t>
                </a:r>
                <a:r>
                  <a:rPr lang="en-US" altLang="zh-CN"/>
                  <a:t>2f</a:t>
                </a:r>
                <a:r>
                  <a:rPr lang="zh-CN" altLang="en-US"/>
                  <a:t>分量的大致关系，在后续实验中作为重点验证</a:t>
                </a:r>
                <a:endParaRPr lang="en-US" altLang="zh-CN"/>
              </a:p>
            </p:txBody>
          </p:sp>
        </mc:Choice>
        <mc:Fallback xmlns="">
          <p:sp>
            <p:nvSpPr>
              <p:cNvPr id="14" name="slide-2-evidence-frame">
                <a:extLst>
                  <a:ext uri="{FF2B5EF4-FFF2-40B4-BE49-F238E27FC236}">
                    <a16:creationId xmlns:a16="http://schemas.microsoft.com/office/drawing/2014/main" id="{3C2DA4AD-0FC7-EC24-5957-4D4511DA9195}"/>
                  </a:ext>
                </a:extLst>
              </p:cNvPr>
              <p:cNvSpPr>
                <a:spLocks noGrp="1" noRot="1" noChangeAspect="1" noMove="1" noResize="1" noEditPoints="1" noAdjustHandles="1" noChangeArrowheads="1" noChangeShapeType="1" noTextEdit="1"/>
              </p:cNvSpPr>
              <p:nvPr/>
            </p:nvSpPr>
            <p:spPr>
              <a:xfrm>
                <a:off x="5159896" y="5085184"/>
                <a:ext cx="6336704" cy="629444"/>
              </a:xfrm>
              <a:prstGeom prst="rect">
                <a:avLst/>
              </a:prstGeom>
              <a:blipFill>
                <a:blip r:embed="rId7"/>
                <a:stretch>
                  <a:fillRect l="-672" t="-3810" r="-480" b="-16190"/>
                </a:stretch>
              </a:blipFill>
              <a:ln w="9525">
                <a:solidFill>
                  <a:srgbClr val="B8BCC4"/>
                </a:solidFill>
                <a:prstDash val="solid"/>
              </a:ln>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42E96E9F-92FC-8CC1-BA05-172A7E5A896C}"/>
              </a:ext>
            </a:extLst>
          </p:cNvPr>
          <p:cNvSpPr txBox="1"/>
          <p:nvPr/>
        </p:nvSpPr>
        <p:spPr>
          <a:xfrm>
            <a:off x="6601581" y="3229726"/>
            <a:ext cx="2723823" cy="369332"/>
          </a:xfrm>
          <a:prstGeom prst="rect">
            <a:avLst/>
          </a:prstGeom>
          <a:noFill/>
        </p:spPr>
        <p:txBody>
          <a:bodyPr wrap="none" rtlCol="0">
            <a:spAutoFit/>
          </a:bodyPr>
          <a:lstStyle/>
          <a:p>
            <a:r>
              <a:rPr lang="zh-CN" altLang="en-US"/>
              <a:t>探测器输出电压大致图像</a:t>
            </a:r>
          </a:p>
        </p:txBody>
      </p:sp>
      <p:sp>
        <p:nvSpPr>
          <p:cNvPr id="2" name="TextBox 1">
            <a:extLst>
              <a:ext uri="{FF2B5EF4-FFF2-40B4-BE49-F238E27FC236}">
                <a16:creationId xmlns:a16="http://schemas.microsoft.com/office/drawing/2014/main" id="{05A976B3-1D7B-15F1-15C7-10AA779B44DF}"/>
              </a:ext>
            </a:extLst>
          </p:cNvPr>
          <p:cNvSpPr txBox="1"/>
          <p:nvPr/>
        </p:nvSpPr>
        <p:spPr>
          <a:xfrm>
            <a:off x="4439816" y="5980636"/>
            <a:ext cx="7263527" cy="369332"/>
          </a:xfrm>
          <a:prstGeom prst="rect">
            <a:avLst/>
          </a:prstGeom>
          <a:noFill/>
        </p:spPr>
        <p:txBody>
          <a:bodyPr wrap="none" rtlCol="0">
            <a:spAutoFit/>
          </a:bodyPr>
          <a:lstStyle/>
          <a:p>
            <a:r>
              <a:rPr lang="zh-CN" altLang="en-US">
                <a:highlight>
                  <a:srgbClr val="FFFF00"/>
                </a:highlight>
              </a:rPr>
              <a:t>为什么要关注</a:t>
            </a:r>
            <a:r>
              <a:rPr lang="en-US">
                <a:highlight>
                  <a:srgbClr val="FFFF00"/>
                </a:highlight>
              </a:rPr>
              <a:t>V2f</a:t>
            </a:r>
            <a:r>
              <a:rPr lang="zh-CN" altLang="en-US">
                <a:highlight>
                  <a:srgbClr val="FFFF00"/>
                </a:highlight>
              </a:rPr>
              <a:t>峰值和</a:t>
            </a:r>
            <a:r>
              <a:rPr lang="en-US" altLang="zh-CN">
                <a:highlight>
                  <a:srgbClr val="FFFF00"/>
                </a:highlight>
              </a:rPr>
              <a:t>RMS</a:t>
            </a:r>
            <a:r>
              <a:rPr lang="zh-CN" altLang="en-US">
                <a:highlight>
                  <a:srgbClr val="FFFF00"/>
                </a:highlight>
              </a:rPr>
              <a:t>？不应该用傅里叶变换直接提取分量吗？</a:t>
            </a:r>
            <a:endParaRPr lang="en-US">
              <a:highlight>
                <a:srgbClr val="FFFF00"/>
              </a:highlight>
            </a:endParaRPr>
          </a:p>
        </p:txBody>
      </p:sp>
    </p:spTree>
    <p:extLst>
      <p:ext uri="{BB962C8B-B14F-4D97-AF65-F5344CB8AC3E}">
        <p14:creationId xmlns:p14="http://schemas.microsoft.com/office/powerpoint/2010/main" val="17114119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6A911-243A-20F7-79C3-A8B51BC42136}"/>
            </a:ext>
          </a:extLst>
        </p:cNvPr>
        <p:cNvGrpSpPr/>
        <p:nvPr/>
      </p:nvGrpSpPr>
      <p:grpSpPr>
        <a:xfrm>
          <a:off x="0" y="0"/>
          <a:ext cx="0" cy="0"/>
          <a:chOff x="0" y="0"/>
          <a:chExt cx="0" cy="0"/>
        </a:xfrm>
      </p:grpSpPr>
      <p:pic>
        <p:nvPicPr>
          <p:cNvPr id="27" name="图片 26">
            <a:extLst>
              <a:ext uri="{FF2B5EF4-FFF2-40B4-BE49-F238E27FC236}">
                <a16:creationId xmlns:a16="http://schemas.microsoft.com/office/drawing/2014/main" id="{2C79D87F-4B52-BBFE-599F-5139D6CEE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6799" y="548265"/>
            <a:ext cx="5756925" cy="5942633"/>
          </a:xfrm>
          <a:prstGeom prst="rect">
            <a:avLst/>
          </a:prstGeom>
        </p:spPr>
      </p:pic>
      <p:cxnSp>
        <p:nvCxnSpPr>
          <p:cNvPr id="5" name="Straight Connector 4">
            <a:extLst>
              <a:ext uri="{FF2B5EF4-FFF2-40B4-BE49-F238E27FC236}">
                <a16:creationId xmlns:a16="http://schemas.microsoft.com/office/drawing/2014/main" id="{EC3C5C67-AB73-17F6-0295-171AAF704E04}"/>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pic>
        <p:nvPicPr>
          <p:cNvPr id="13" name="图片 1">
            <a:extLst>
              <a:ext uri="{FF2B5EF4-FFF2-40B4-BE49-F238E27FC236}">
                <a16:creationId xmlns:a16="http://schemas.microsoft.com/office/drawing/2014/main" id="{1EBEE633-0613-86D3-66BE-F111093BE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33EB3FB3-D0A6-46BB-C7DB-1B37384A5384}"/>
              </a:ext>
            </a:extLst>
          </p:cNvPr>
          <p:cNvSpPr txBox="1"/>
          <p:nvPr/>
        </p:nvSpPr>
        <p:spPr>
          <a:xfrm>
            <a:off x="623392" y="69315"/>
            <a:ext cx="11568608" cy="369332"/>
          </a:xfrm>
          <a:prstGeom prst="rect">
            <a:avLst/>
          </a:prstGeom>
          <a:noFill/>
        </p:spPr>
        <p:txBody>
          <a:bodyPr wrap="square" rtlCol="0">
            <a:spAutoFit/>
          </a:bodyPr>
          <a:lstStyle/>
          <a:p>
            <a:r>
              <a:rPr lang="en-US" altLang="zh-CN"/>
              <a:t>1.3:</a:t>
            </a:r>
            <a:r>
              <a:rPr lang="zh-CN" altLang="en-US"/>
              <a:t>用偏振相机对偏振参数进行标定，先只测量出</a:t>
            </a:r>
            <a:r>
              <a:rPr lang="en-US" altLang="zh-CN"/>
              <a:t>S0</a:t>
            </a:r>
            <a:r>
              <a:rPr lang="zh-CN" altLang="en-US"/>
              <a:t>和</a:t>
            </a:r>
            <a:r>
              <a:rPr lang="en-US" altLang="zh-CN"/>
              <a:t>S1</a:t>
            </a:r>
            <a:r>
              <a:rPr lang="zh-CN" altLang="en-US"/>
              <a:t>（或</a:t>
            </a:r>
            <a:r>
              <a:rPr lang="en-US" altLang="zh-CN"/>
              <a:t>S2</a:t>
            </a:r>
            <a:r>
              <a:rPr lang="zh-CN" altLang="en-US"/>
              <a:t>）分量大小</a:t>
            </a:r>
            <a:endParaRPr lang="en-US" altLang="zh-CN" dirty="0"/>
          </a:p>
        </p:txBody>
      </p:sp>
      <p:sp>
        <p:nvSpPr>
          <p:cNvPr id="4" name="Slide Number Placeholder 2">
            <a:extLst>
              <a:ext uri="{FF2B5EF4-FFF2-40B4-BE49-F238E27FC236}">
                <a16:creationId xmlns:a16="http://schemas.microsoft.com/office/drawing/2014/main" id="{BE87C5DF-C51E-B89C-E412-25E5F89E2DCC}"/>
              </a:ext>
            </a:extLst>
          </p:cNvPr>
          <p:cNvSpPr txBox="1">
            <a:spLocks/>
          </p:cNvSpPr>
          <p:nvPr/>
        </p:nvSpPr>
        <p:spPr>
          <a:xfrm>
            <a:off x="11568608" y="6492875"/>
            <a:ext cx="619386"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10</a:t>
            </a:fld>
            <a:endParaRPr lang="zh-CN" altLang="en-US" sz="2000" dirty="0">
              <a:latin typeface="Arial"/>
              <a:ea typeface="Microsoft YaHei"/>
            </a:endParaRPr>
          </a:p>
        </p:txBody>
      </p:sp>
      <p:pic>
        <p:nvPicPr>
          <p:cNvPr id="21" name="图片 20">
            <a:extLst>
              <a:ext uri="{FF2B5EF4-FFF2-40B4-BE49-F238E27FC236}">
                <a16:creationId xmlns:a16="http://schemas.microsoft.com/office/drawing/2014/main" id="{5F05946B-41CB-61BC-E152-CBA028C000C9}"/>
              </a:ext>
            </a:extLst>
          </p:cNvPr>
          <p:cNvPicPr>
            <a:picLocks noChangeAspect="1"/>
          </p:cNvPicPr>
          <p:nvPr/>
        </p:nvPicPr>
        <p:blipFill>
          <a:blip r:embed="rId4"/>
          <a:srcRect t="16689" r="1569" b="18838"/>
          <a:stretch>
            <a:fillRect/>
          </a:stretch>
        </p:blipFill>
        <p:spPr>
          <a:xfrm>
            <a:off x="1199456" y="538363"/>
            <a:ext cx="3468996" cy="1248909"/>
          </a:xfrm>
          <a:prstGeom prst="rect">
            <a:avLst/>
          </a:prstGeom>
        </p:spPr>
      </p:pic>
      <p:sp>
        <p:nvSpPr>
          <p:cNvPr id="20" name="文本框 19">
            <a:extLst>
              <a:ext uri="{FF2B5EF4-FFF2-40B4-BE49-F238E27FC236}">
                <a16:creationId xmlns:a16="http://schemas.microsoft.com/office/drawing/2014/main" id="{981FA464-BFFB-A77A-294F-3E87FFC36E88}"/>
              </a:ext>
            </a:extLst>
          </p:cNvPr>
          <p:cNvSpPr txBox="1"/>
          <p:nvPr/>
        </p:nvSpPr>
        <p:spPr>
          <a:xfrm>
            <a:off x="1935727" y="6196811"/>
            <a:ext cx="2492990" cy="369332"/>
          </a:xfrm>
          <a:prstGeom prst="rect">
            <a:avLst/>
          </a:prstGeom>
          <a:noFill/>
        </p:spPr>
        <p:txBody>
          <a:bodyPr wrap="none" rtlCol="0">
            <a:spAutoFit/>
          </a:bodyPr>
          <a:lstStyle/>
          <a:p>
            <a:r>
              <a:rPr lang="zh-CN" altLang="en-US"/>
              <a:t>斯托克斯参数马赛克图</a:t>
            </a:r>
          </a:p>
        </p:txBody>
      </p:sp>
      <p:sp>
        <p:nvSpPr>
          <p:cNvPr id="23" name="文本框 22">
            <a:extLst>
              <a:ext uri="{FF2B5EF4-FFF2-40B4-BE49-F238E27FC236}">
                <a16:creationId xmlns:a16="http://schemas.microsoft.com/office/drawing/2014/main" id="{D2155B13-3E87-A478-D0E5-1E0264B762EB}"/>
              </a:ext>
            </a:extLst>
          </p:cNvPr>
          <p:cNvSpPr txBox="1"/>
          <p:nvPr/>
        </p:nvSpPr>
        <p:spPr>
          <a:xfrm>
            <a:off x="8282168" y="6441168"/>
            <a:ext cx="2031325" cy="369332"/>
          </a:xfrm>
          <a:prstGeom prst="rect">
            <a:avLst/>
          </a:prstGeom>
          <a:noFill/>
        </p:spPr>
        <p:txBody>
          <a:bodyPr wrap="none" rtlCol="0">
            <a:spAutoFit/>
          </a:bodyPr>
          <a:lstStyle/>
          <a:p>
            <a:r>
              <a:rPr lang="zh-CN" altLang="en-US"/>
              <a:t>偏振标定输出结果</a:t>
            </a:r>
          </a:p>
        </p:txBody>
      </p:sp>
      <p:sp>
        <p:nvSpPr>
          <p:cNvPr id="24" name="文本框 23">
            <a:extLst>
              <a:ext uri="{FF2B5EF4-FFF2-40B4-BE49-F238E27FC236}">
                <a16:creationId xmlns:a16="http://schemas.microsoft.com/office/drawing/2014/main" id="{BC56029F-51B2-AD46-1870-EE43F46545EF}"/>
              </a:ext>
            </a:extLst>
          </p:cNvPr>
          <p:cNvSpPr txBox="1"/>
          <p:nvPr/>
        </p:nvSpPr>
        <p:spPr>
          <a:xfrm>
            <a:off x="1687180" y="1890634"/>
            <a:ext cx="2493547" cy="369332"/>
          </a:xfrm>
          <a:prstGeom prst="rect">
            <a:avLst/>
          </a:prstGeom>
          <a:noFill/>
        </p:spPr>
        <p:txBody>
          <a:bodyPr wrap="square" rtlCol="0">
            <a:spAutoFit/>
          </a:bodyPr>
          <a:lstStyle/>
          <a:p>
            <a:r>
              <a:rPr lang="zh-CN" altLang="en-US"/>
              <a:t>大恒偏振相机检测光路</a:t>
            </a:r>
          </a:p>
        </p:txBody>
      </p:sp>
      <p:sp>
        <p:nvSpPr>
          <p:cNvPr id="25" name="矩形 24">
            <a:extLst>
              <a:ext uri="{FF2B5EF4-FFF2-40B4-BE49-F238E27FC236}">
                <a16:creationId xmlns:a16="http://schemas.microsoft.com/office/drawing/2014/main" id="{C2AD3C22-2D0E-A9B8-4843-26925FAFF231}"/>
              </a:ext>
            </a:extLst>
          </p:cNvPr>
          <p:cNvSpPr/>
          <p:nvPr/>
        </p:nvSpPr>
        <p:spPr>
          <a:xfrm>
            <a:off x="7274056" y="4220228"/>
            <a:ext cx="1008112" cy="30001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D4AE3E49-3FB2-1CCD-2C0E-A5B25B2575CA}"/>
              </a:ext>
            </a:extLst>
          </p:cNvPr>
          <p:cNvPicPr>
            <a:picLocks noChangeAspect="1"/>
          </p:cNvPicPr>
          <p:nvPr/>
        </p:nvPicPr>
        <p:blipFill>
          <a:blip r:embed="rId5" cstate="print">
            <a:extLst>
              <a:ext uri="{28A0092B-C50C-407E-A947-70E740481C1C}">
                <a14:useLocalDpi xmlns:a14="http://schemas.microsoft.com/office/drawing/2010/main" val="0"/>
              </a:ext>
            </a:extLst>
          </a:blip>
          <a:srcRect t="4715" r="868"/>
          <a:stretch>
            <a:fillRect/>
          </a:stretch>
        </p:blipFill>
        <p:spPr>
          <a:xfrm>
            <a:off x="0" y="2259966"/>
            <a:ext cx="6364445" cy="3936845"/>
          </a:xfrm>
          <a:prstGeom prst="rect">
            <a:avLst/>
          </a:prstGeom>
        </p:spPr>
      </p:pic>
      <p:sp>
        <p:nvSpPr>
          <p:cNvPr id="36" name="矩形 35">
            <a:extLst>
              <a:ext uri="{FF2B5EF4-FFF2-40B4-BE49-F238E27FC236}">
                <a16:creationId xmlns:a16="http://schemas.microsoft.com/office/drawing/2014/main" id="{84699DFC-CAA4-A8C8-3D9C-4A98475A6B85}"/>
              </a:ext>
            </a:extLst>
          </p:cNvPr>
          <p:cNvSpPr/>
          <p:nvPr/>
        </p:nvSpPr>
        <p:spPr>
          <a:xfrm>
            <a:off x="7285357" y="4701068"/>
            <a:ext cx="1008112" cy="30001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AA74D878-27FB-6FF1-5F36-4D8D515C100B}"/>
              </a:ext>
            </a:extLst>
          </p:cNvPr>
          <p:cNvSpPr/>
          <p:nvPr/>
        </p:nvSpPr>
        <p:spPr>
          <a:xfrm>
            <a:off x="7324414" y="5229200"/>
            <a:ext cx="2083953" cy="30001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F126EB4B-EFBB-734F-BFF5-ADE521566491}"/>
              </a:ext>
            </a:extLst>
          </p:cNvPr>
          <p:cNvSpPr/>
          <p:nvPr/>
        </p:nvSpPr>
        <p:spPr>
          <a:xfrm>
            <a:off x="263352" y="3212976"/>
            <a:ext cx="1296144" cy="144016"/>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a:extLst>
              <a:ext uri="{FF2B5EF4-FFF2-40B4-BE49-F238E27FC236}">
                <a16:creationId xmlns:a16="http://schemas.microsoft.com/office/drawing/2014/main" id="{664EFDE2-1FDB-BC32-7E70-DBAA921644C9}"/>
              </a:ext>
            </a:extLst>
          </p:cNvPr>
          <p:cNvSpPr txBox="1"/>
          <p:nvPr/>
        </p:nvSpPr>
        <p:spPr>
          <a:xfrm>
            <a:off x="10552945" y="1194907"/>
            <a:ext cx="1519719" cy="1323439"/>
          </a:xfrm>
          <a:prstGeom prst="rect">
            <a:avLst/>
          </a:prstGeom>
          <a:noFill/>
        </p:spPr>
        <p:txBody>
          <a:bodyPr wrap="square" rtlCol="0">
            <a:spAutoFit/>
          </a:bodyPr>
          <a:lstStyle/>
          <a:p>
            <a:r>
              <a:rPr lang="zh-CN" altLang="en-US" sz="1600">
                <a:highlight>
                  <a:srgbClr val="FFFF00"/>
                </a:highlight>
              </a:rPr>
              <a:t>过曝了？</a:t>
            </a:r>
            <a:endParaRPr lang="en-US" altLang="zh-CN" sz="1600">
              <a:highlight>
                <a:srgbClr val="FFFF00"/>
              </a:highlight>
            </a:endParaRPr>
          </a:p>
          <a:p>
            <a:endParaRPr lang="en-US" altLang="zh-CN" sz="1600">
              <a:highlight>
                <a:srgbClr val="FFFF00"/>
              </a:highlight>
            </a:endParaRPr>
          </a:p>
          <a:p>
            <a:r>
              <a:rPr lang="zh-CN" altLang="en-US" sz="1600">
                <a:highlight>
                  <a:srgbClr val="FFFF00"/>
                </a:highlight>
              </a:rPr>
              <a:t>看起来和左图不一致（</a:t>
            </a:r>
            <a:r>
              <a:rPr lang="en-US" altLang="zh-CN" sz="1600">
                <a:highlight>
                  <a:srgbClr val="FFFF00"/>
                </a:highlight>
              </a:rPr>
              <a:t>45</a:t>
            </a:r>
            <a:r>
              <a:rPr lang="zh-CN" altLang="en-US" sz="1600">
                <a:highlight>
                  <a:srgbClr val="FFFF00"/>
                </a:highlight>
              </a:rPr>
              <a:t>和</a:t>
            </a:r>
            <a:r>
              <a:rPr lang="en-US" altLang="zh-CN" sz="1600">
                <a:highlight>
                  <a:srgbClr val="FFFF00"/>
                </a:highlight>
              </a:rPr>
              <a:t>135</a:t>
            </a:r>
            <a:r>
              <a:rPr lang="zh-CN" altLang="en-US" sz="1600">
                <a:highlight>
                  <a:srgbClr val="FFFF00"/>
                </a:highlight>
              </a:rPr>
              <a:t>的相对关系）</a:t>
            </a:r>
            <a:endParaRPr lang="en-US" sz="1600">
              <a:highlight>
                <a:srgbClr val="FFFF00"/>
              </a:highlight>
            </a:endParaRPr>
          </a:p>
        </p:txBody>
      </p:sp>
      <p:sp>
        <p:nvSpPr>
          <p:cNvPr id="8" name="TextBox 7">
            <a:extLst>
              <a:ext uri="{FF2B5EF4-FFF2-40B4-BE49-F238E27FC236}">
                <a16:creationId xmlns:a16="http://schemas.microsoft.com/office/drawing/2014/main" id="{E4C75141-F382-9399-0D44-DBFEA2B5BAAC}"/>
              </a:ext>
            </a:extLst>
          </p:cNvPr>
          <p:cNvSpPr txBox="1"/>
          <p:nvPr/>
        </p:nvSpPr>
        <p:spPr>
          <a:xfrm>
            <a:off x="9893481" y="5157192"/>
            <a:ext cx="1847019" cy="646331"/>
          </a:xfrm>
          <a:prstGeom prst="rect">
            <a:avLst/>
          </a:prstGeom>
          <a:noFill/>
        </p:spPr>
        <p:txBody>
          <a:bodyPr wrap="square" rtlCol="0">
            <a:spAutoFit/>
          </a:bodyPr>
          <a:lstStyle/>
          <a:p>
            <a:r>
              <a:rPr lang="zh-CN" altLang="en-US">
                <a:highlight>
                  <a:srgbClr val="FFFF00"/>
                </a:highlight>
              </a:rPr>
              <a:t>线偏振度</a:t>
            </a:r>
            <a:r>
              <a:rPr lang="en-US" altLang="zh-CN">
                <a:highlight>
                  <a:srgbClr val="FFFF00"/>
                </a:highlight>
              </a:rPr>
              <a:t>DoLP</a:t>
            </a:r>
            <a:r>
              <a:rPr lang="zh-CN" altLang="en-US">
                <a:highlight>
                  <a:srgbClr val="FFFF00"/>
                </a:highlight>
              </a:rPr>
              <a:t>是否太低了？</a:t>
            </a:r>
            <a:endParaRPr lang="en-US">
              <a:highlight>
                <a:srgbClr val="FFFF00"/>
              </a:highlight>
            </a:endParaRPr>
          </a:p>
        </p:txBody>
      </p:sp>
    </p:spTree>
    <p:extLst>
      <p:ext uri="{BB962C8B-B14F-4D97-AF65-F5344CB8AC3E}">
        <p14:creationId xmlns:p14="http://schemas.microsoft.com/office/powerpoint/2010/main" val="14347948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4742E-A657-6D23-7E0A-55C9F8D06B8C}"/>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ED2814B-AE87-2097-9D20-CCEE506EAFBA}"/>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FAC32F71-3457-D36A-822B-04B0F5A20FD9}"/>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11</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185CAAD4-ED74-F5D9-F6BC-2971663229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17" name="文本框 16">
            <a:extLst>
              <a:ext uri="{FF2B5EF4-FFF2-40B4-BE49-F238E27FC236}">
                <a16:creationId xmlns:a16="http://schemas.microsoft.com/office/drawing/2014/main" id="{018A0CAF-9643-E34D-EF9E-D8FB1D383F95}"/>
              </a:ext>
            </a:extLst>
          </p:cNvPr>
          <p:cNvSpPr txBox="1"/>
          <p:nvPr/>
        </p:nvSpPr>
        <p:spPr>
          <a:xfrm>
            <a:off x="623392" y="69315"/>
            <a:ext cx="11568608" cy="369332"/>
          </a:xfrm>
          <a:prstGeom prst="rect">
            <a:avLst/>
          </a:prstGeom>
          <a:noFill/>
        </p:spPr>
        <p:txBody>
          <a:bodyPr wrap="square" rtlCol="0">
            <a:spAutoFit/>
          </a:bodyPr>
          <a:lstStyle/>
          <a:p>
            <a:r>
              <a:rPr lang="en-US" altLang="zh-CN"/>
              <a:t>1.4:</a:t>
            </a:r>
            <a:r>
              <a:rPr lang="zh-CN" altLang="en-US"/>
              <a:t>用锁相放大器测量</a:t>
            </a:r>
            <a:r>
              <a:rPr lang="en-US" altLang="zh-CN"/>
              <a:t>2f</a:t>
            </a:r>
            <a:r>
              <a:rPr lang="zh-CN" altLang="en-US"/>
              <a:t>分量，并且对比示波器数据，</a:t>
            </a:r>
            <a:endParaRPr lang="en-US" altLang="zh-CN" dirty="0"/>
          </a:p>
        </p:txBody>
      </p:sp>
      <p:sp>
        <p:nvSpPr>
          <p:cNvPr id="19" name="文本框 18">
            <a:extLst>
              <a:ext uri="{FF2B5EF4-FFF2-40B4-BE49-F238E27FC236}">
                <a16:creationId xmlns:a16="http://schemas.microsoft.com/office/drawing/2014/main" id="{00B1BC8E-8F68-4DB7-5B8B-6D11BEA602AA}"/>
              </a:ext>
            </a:extLst>
          </p:cNvPr>
          <p:cNvSpPr txBox="1"/>
          <p:nvPr/>
        </p:nvSpPr>
        <p:spPr>
          <a:xfrm>
            <a:off x="53022" y="523585"/>
            <a:ext cx="8565165" cy="369332"/>
          </a:xfrm>
          <a:prstGeom prst="rect">
            <a:avLst/>
          </a:prstGeom>
          <a:noFill/>
        </p:spPr>
        <p:txBody>
          <a:bodyPr wrap="none" rtlCol="0">
            <a:spAutoFit/>
          </a:bodyPr>
          <a:lstStyle/>
          <a:p>
            <a:r>
              <a:rPr lang="zh-CN" altLang="en-US"/>
              <a:t>首先，搭建线偏振光检测光路，用大恒偏振相机进行标定，得到出</a:t>
            </a:r>
            <a:r>
              <a:rPr lang="en-US" altLang="zh-CN"/>
              <a:t>S0,S1,S2</a:t>
            </a:r>
            <a:r>
              <a:rPr lang="zh-CN" altLang="en-US"/>
              <a:t>的数值</a:t>
            </a:r>
          </a:p>
        </p:txBody>
      </p:sp>
      <p:pic>
        <p:nvPicPr>
          <p:cNvPr id="22" name="图片 21">
            <a:extLst>
              <a:ext uri="{FF2B5EF4-FFF2-40B4-BE49-F238E27FC236}">
                <a16:creationId xmlns:a16="http://schemas.microsoft.com/office/drawing/2014/main" id="{CC4C5821-31B3-4029-1E3A-8FAE52093BE6}"/>
              </a:ext>
            </a:extLst>
          </p:cNvPr>
          <p:cNvPicPr>
            <a:picLocks noChangeAspect="1"/>
          </p:cNvPicPr>
          <p:nvPr/>
        </p:nvPicPr>
        <p:blipFill>
          <a:blip r:embed="rId3"/>
          <a:srcRect l="1" t="25543" r="32" b="23629"/>
          <a:stretch>
            <a:fillRect/>
          </a:stretch>
        </p:blipFill>
        <p:spPr>
          <a:xfrm>
            <a:off x="0" y="968482"/>
            <a:ext cx="7310895" cy="1238069"/>
          </a:xfrm>
          <a:prstGeom prst="rect">
            <a:avLst/>
          </a:prstGeom>
        </p:spPr>
      </p:pic>
      <p:sp>
        <p:nvSpPr>
          <p:cNvPr id="2" name="文本框 1">
            <a:extLst>
              <a:ext uri="{FF2B5EF4-FFF2-40B4-BE49-F238E27FC236}">
                <a16:creationId xmlns:a16="http://schemas.microsoft.com/office/drawing/2014/main" id="{7C194E69-8E7B-DFF8-B1AE-D2C42C1A28A5}"/>
              </a:ext>
            </a:extLst>
          </p:cNvPr>
          <p:cNvSpPr txBox="1"/>
          <p:nvPr/>
        </p:nvSpPr>
        <p:spPr>
          <a:xfrm>
            <a:off x="7463885" y="3850935"/>
            <a:ext cx="4498488" cy="646331"/>
          </a:xfrm>
          <a:prstGeom prst="rect">
            <a:avLst/>
          </a:prstGeom>
          <a:noFill/>
        </p:spPr>
        <p:txBody>
          <a:bodyPr wrap="square" rtlCol="0">
            <a:spAutoFit/>
          </a:bodyPr>
          <a:lstStyle/>
          <a:p>
            <a:pPr algn="ctr"/>
            <a:r>
              <a:rPr lang="zh-CN" altLang="en-US"/>
              <a:t>示波器探测所得波形</a:t>
            </a:r>
            <a:endParaRPr lang="en-US" altLang="zh-CN"/>
          </a:p>
          <a:p>
            <a:pPr algn="ctr"/>
            <a:r>
              <a:rPr lang="zh-CN" altLang="en-US"/>
              <a:t>直流分量</a:t>
            </a:r>
            <a:r>
              <a:rPr lang="en-US" altLang="zh-CN"/>
              <a:t>107mv</a:t>
            </a:r>
            <a:r>
              <a:rPr lang="zh-CN" altLang="en-US"/>
              <a:t>，幅度值为</a:t>
            </a:r>
            <a:r>
              <a:rPr lang="en-US" altLang="zh-CN"/>
              <a:t>168mv</a:t>
            </a:r>
            <a:endParaRPr lang="zh-CN" altLang="en-US"/>
          </a:p>
        </p:txBody>
      </p:sp>
      <p:sp>
        <p:nvSpPr>
          <p:cNvPr id="4" name="文本框 3">
            <a:extLst>
              <a:ext uri="{FF2B5EF4-FFF2-40B4-BE49-F238E27FC236}">
                <a16:creationId xmlns:a16="http://schemas.microsoft.com/office/drawing/2014/main" id="{4793ECB0-2E47-54E9-33BC-073D03F72D95}"/>
              </a:ext>
            </a:extLst>
          </p:cNvPr>
          <p:cNvSpPr txBox="1"/>
          <p:nvPr/>
        </p:nvSpPr>
        <p:spPr>
          <a:xfrm>
            <a:off x="8922604" y="6192841"/>
            <a:ext cx="1569660" cy="369332"/>
          </a:xfrm>
          <a:prstGeom prst="rect">
            <a:avLst/>
          </a:prstGeom>
          <a:noFill/>
        </p:spPr>
        <p:txBody>
          <a:bodyPr wrap="none" rtlCol="0">
            <a:spAutoFit/>
          </a:bodyPr>
          <a:lstStyle/>
          <a:p>
            <a:r>
              <a:rPr lang="zh-CN" altLang="en-US"/>
              <a:t>锁相所得结果</a:t>
            </a:r>
          </a:p>
        </p:txBody>
      </p:sp>
      <mc:AlternateContent xmlns:mc="http://schemas.openxmlformats.org/markup-compatibility/2006" xmlns:a14="http://schemas.microsoft.com/office/drawing/2010/main">
        <mc:Choice Requires="a14">
          <p:sp>
            <p:nvSpPr>
              <p:cNvPr id="12" name="slide-2-evidence-frame">
                <a:extLst>
                  <a:ext uri="{FF2B5EF4-FFF2-40B4-BE49-F238E27FC236}">
                    <a16:creationId xmlns:a16="http://schemas.microsoft.com/office/drawing/2014/main" id="{E2801354-C0C9-D332-959D-B1AC5F04A933}"/>
                  </a:ext>
                </a:extLst>
              </p:cNvPr>
              <p:cNvSpPr>
                <a:spLocks noGrp="1"/>
              </p:cNvSpPr>
              <p:nvPr/>
            </p:nvSpPr>
            <p:spPr>
              <a:xfrm>
                <a:off x="62764" y="2492896"/>
                <a:ext cx="7401121" cy="2664296"/>
              </a:xfrm>
              <a:prstGeom prst="rect">
                <a:avLst/>
              </a:prstGeom>
              <a:solidFill>
                <a:schemeClr val="accent4">
                  <a:lumMod val="20000"/>
                  <a:lumOff val="80000"/>
                </a:schemeClr>
              </a:solidFill>
              <a:ln w="9525">
                <a:solidFill>
                  <a:srgbClr val="B8BCC4"/>
                </a:solidFill>
                <a:prstDash val="solid"/>
              </a:ln>
            </p:spPr>
            <p:txBody>
              <a:bodyPr/>
              <a:lstStyle/>
              <a:p>
                <a:r>
                  <a:rPr lang="zh-CN" altLang="en-US"/>
                  <a:t>锁相实验数据分析：</a:t>
                </a:r>
                <a:endParaRPr lang="en-US" altLang="zh-CN"/>
              </a:p>
              <a:p>
                <a:pPr algn="ctr"/>
                <a14:m>
                  <m:oMath xmlns:m="http://schemas.openxmlformats.org/officeDocument/2006/math">
                    <m:r>
                      <a:rPr lang="zh-CN" altLang="en-US" i="1" smtClean="0">
                        <a:latin typeface="Cambria Math" panose="02040503050406030204" pitchFamily="18" charset="0"/>
                      </a:rPr>
                      <m:t>𝛼</m:t>
                    </m:r>
                  </m:oMath>
                </a14:m>
                <a:r>
                  <a:rPr lang="en-US" altLang="zh-CN"/>
                  <a:t>=-45°</a:t>
                </a:r>
                <a:r>
                  <a:rPr lang="zh-CN" altLang="en-US"/>
                  <a:t>探测器输出</a:t>
                </a:r>
                <a14:m>
                  <m:oMath xmlns:m="http://schemas.openxmlformats.org/officeDocument/2006/math">
                    <m:r>
                      <m:rPr>
                        <m:sty m:val="p"/>
                      </m:rPr>
                      <a:rPr lang="en-US" altLang="zh-CN" i="1">
                        <a:latin typeface="Cambria Math" panose="02040503050406030204" pitchFamily="18" charset="0"/>
                      </a:rPr>
                      <m:t>V</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m:rPr>
                            <m:sty m:val="p"/>
                          </m:rPr>
                          <a:rPr lang="en-US" altLang="zh-CN" i="1">
                            <a:latin typeface="Cambria Math" panose="02040503050406030204" pitchFamily="18" charset="0"/>
                          </a:rPr>
                          <m:t>G</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0</m:t>
                            </m:r>
                          </m:sub>
                        </m:sSub>
                      </m:num>
                      <m:den>
                        <m:r>
                          <a:rPr lang="en-US" altLang="zh-CN" i="1">
                            <a:latin typeface="Cambria Math" panose="02040503050406030204" pitchFamily="18" charset="0"/>
                          </a:rPr>
                          <m:t>2</m:t>
                        </m:r>
                      </m:den>
                    </m:f>
                    <m:r>
                      <a:rPr lang="en-US" altLang="zh-CN" b="0" i="1" smtClean="0">
                        <a:latin typeface="Cambria Math" panose="02040503050406030204" pitchFamily="18" charset="0"/>
                      </a:rPr>
                      <m:t>−</m:t>
                    </m:r>
                    <m:r>
                      <a:rPr lang="en-US" altLang="zh-CN" i="1">
                        <a:latin typeface="Cambria Math" panose="02040503050406030204" pitchFamily="18" charset="0"/>
                      </a:rPr>
                      <m:t>𝐺</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I</m:t>
                        </m:r>
                      </m:e>
                      <m:sub>
                        <m:r>
                          <a:rPr lang="en-US" altLang="zh-CN" i="1">
                            <a:latin typeface="Cambria Math" panose="02040503050406030204" pitchFamily="18" charset="0"/>
                          </a:rPr>
                          <m:t>0</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2</m:t>
                            </m:r>
                            <m:d>
                              <m:dPr>
                                <m:ctrlPr>
                                  <a:rPr lang="en-US" altLang="zh-CN" i="1">
                                    <a:latin typeface="Cambria Math" panose="02040503050406030204" pitchFamily="18" charset="0"/>
                                  </a:rPr>
                                </m:ctrlPr>
                              </m:dPr>
                              <m:e>
                                <m:r>
                                  <a:rPr lang="en-US" altLang="zh-CN" i="1">
                                    <a:latin typeface="Cambria Math" panose="02040503050406030204" pitchFamily="18" charset="0"/>
                                  </a:rPr>
                                  <m:t>𝜔</m:t>
                                </m:r>
                                <m:r>
                                  <a:rPr lang="en-US" altLang="zh-CN" i="1">
                                    <a:latin typeface="Cambria Math" panose="02040503050406030204" pitchFamily="18" charset="0"/>
                                  </a:rPr>
                                  <m:t>𝑡</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𝜙</m:t>
                                    </m:r>
                                  </m:e>
                                  <m:sub>
                                    <m:r>
                                      <a:rPr lang="en-US" altLang="zh-CN" i="1">
                                        <a:latin typeface="Cambria Math" panose="02040503050406030204" pitchFamily="18" charset="0"/>
                                      </a:rPr>
                                      <m:t>0</m:t>
                                    </m:r>
                                  </m:sub>
                                </m:sSub>
                              </m:e>
                            </m:d>
                          </m:e>
                        </m:d>
                      </m:e>
                    </m:func>
                    <m:r>
                      <a:rPr lang="en-US" altLang="zh-CN" b="0" i="1" smtClean="0">
                        <a:latin typeface="Cambria Math" panose="02040503050406030204" pitchFamily="18" charset="0"/>
                      </a:rPr>
                      <m:t>−....</m:t>
                    </m:r>
                  </m:oMath>
                </a14:m>
                <a:endParaRPr lang="en-US" altLang="zh-CN" b="0"/>
              </a:p>
              <a:p>
                <a:pPr algn="ctr"/>
                <a:r>
                  <a:rPr lang="zh-CN" altLang="en-US"/>
                  <a:t>用示波器的结果带入分析：</a:t>
                </a:r>
                <a:r>
                  <a:rPr lang="zh-CN" altLang="en-US">
                    <a:highlight>
                      <a:srgbClr val="FFFF00"/>
                    </a:highlight>
                  </a:rPr>
                  <a:t>暗噪声</a:t>
                </a:r>
                <a:r>
                  <a:rPr lang="en-US" altLang="zh-CN">
                    <a:highlight>
                      <a:srgbClr val="FFFF00"/>
                    </a:highlight>
                  </a:rPr>
                  <a:t>+</a:t>
                </a:r>
                <a:r>
                  <a:rPr lang="zh-CN" altLang="en-US">
                    <a:highlight>
                      <a:srgbClr val="FFFF00"/>
                    </a:highlight>
                  </a:rPr>
                  <a:t>环境噪声约为</a:t>
                </a:r>
                <a:r>
                  <a:rPr lang="en-US" altLang="zh-CN">
                    <a:highlight>
                      <a:srgbClr val="FFFF00"/>
                    </a:highlight>
                  </a:rPr>
                  <a:t>8mv</a:t>
                </a:r>
                <a:r>
                  <a:rPr lang="zh-CN" altLang="en-US">
                    <a:highlight>
                      <a:srgbClr val="FFFF00"/>
                    </a:highlight>
                  </a:rPr>
                  <a:t>，故</a:t>
                </a:r>
                <a14:m>
                  <m:oMath xmlns:m="http://schemas.openxmlformats.org/officeDocument/2006/math">
                    <m:sSub>
                      <m:sSubPr>
                        <m:ctrlPr>
                          <a:rPr lang="en-US" altLang="zh-CN" b="0" i="1" smtClean="0">
                            <a:highlight>
                              <a:srgbClr val="FFFF00"/>
                            </a:highlight>
                            <a:latin typeface="Cambria Math" panose="02040503050406030204" pitchFamily="18" charset="0"/>
                          </a:rPr>
                        </m:ctrlPr>
                      </m:sSubPr>
                      <m:e>
                        <m:r>
                          <m:rPr>
                            <m:sty m:val="p"/>
                          </m:rPr>
                          <a:rPr lang="en-US" altLang="zh-CN" b="0" i="1" smtClean="0">
                            <a:highlight>
                              <a:srgbClr val="FFFF00"/>
                            </a:highlight>
                            <a:latin typeface="Cambria Math" panose="02040503050406030204" pitchFamily="18" charset="0"/>
                          </a:rPr>
                          <m:t>V</m:t>
                        </m:r>
                      </m:e>
                      <m:sub>
                        <m:r>
                          <m:rPr>
                            <m:sty m:val="p"/>
                          </m:rPr>
                          <a:rPr lang="en-US" altLang="zh-CN" b="0" i="1" smtClean="0">
                            <a:highlight>
                              <a:srgbClr val="FFFF00"/>
                            </a:highlight>
                            <a:latin typeface="Cambria Math" panose="02040503050406030204" pitchFamily="18" charset="0"/>
                          </a:rPr>
                          <m:t>DC</m:t>
                        </m:r>
                      </m:sub>
                    </m:sSub>
                  </m:oMath>
                </a14:m>
                <a:r>
                  <a:rPr lang="zh-CN" altLang="en-US">
                    <a:highlight>
                      <a:srgbClr val="FFFF00"/>
                    </a:highlight>
                  </a:rPr>
                  <a:t>为</a:t>
                </a:r>
                <a:r>
                  <a:rPr lang="en-US" altLang="zh-CN">
                    <a:highlight>
                      <a:srgbClr val="FFFF00"/>
                    </a:highlight>
                  </a:rPr>
                  <a:t>99mv</a:t>
                </a:r>
                <a:r>
                  <a:rPr lang="zh-CN" altLang="en-US"/>
                  <a:t>，</a:t>
                </a:r>
                <a:r>
                  <a:rPr lang="en-US" altLang="zh-CN"/>
                  <a:t> </a:t>
                </a:r>
                <a:r>
                  <a:rPr lang="zh-CN" altLang="en-US"/>
                  <a:t>所</a:t>
                </a:r>
                <a14:m>
                  <m:oMath xmlns:m="http://schemas.openxmlformats.org/officeDocument/2006/math">
                    <m:f>
                      <m:fPr>
                        <m:ctrlPr>
                          <a:rPr lang="en-US" altLang="zh-CN" b="0" i="1" smtClean="0">
                            <a:latin typeface="Cambria Math" panose="02040503050406030204" pitchFamily="18" charset="0"/>
                          </a:rPr>
                        </m:ctrlPr>
                      </m:fPr>
                      <m:num>
                        <m:r>
                          <m:rPr>
                            <m:sty m:val="p"/>
                          </m:rPr>
                          <a:rPr lang="en-US" altLang="zh-CN" b="0" i="1" smtClean="0">
                            <a:latin typeface="Cambria Math" panose="02040503050406030204" pitchFamily="18" charset="0"/>
                          </a:rPr>
                          <m:t>G</m:t>
                        </m:r>
                        <m:sSub>
                          <m:sSubPr>
                            <m:ctrlPr>
                              <a:rPr lang="en-US" altLang="zh-CN" b="0" i="1" smtClean="0">
                                <a:latin typeface="Cambria Math" panose="02040503050406030204" pitchFamily="18" charset="0"/>
                              </a:rPr>
                            </m:ctrlPr>
                          </m:sSubPr>
                          <m:e>
                            <m:r>
                              <m:rPr>
                                <m:sty m:val="p"/>
                              </m:rPr>
                              <a:rPr lang="en-US" altLang="zh-CN" b="0" i="1" smtClean="0">
                                <a:latin typeface="Cambria Math" panose="02040503050406030204" pitchFamily="18" charset="0"/>
                              </a:rPr>
                              <m:t>I</m:t>
                            </m:r>
                          </m:e>
                          <m:sub>
                            <m:r>
                              <a:rPr lang="en-US" altLang="zh-CN" b="0" i="1" smtClean="0">
                                <a:latin typeface="Cambria Math" panose="02040503050406030204" pitchFamily="18" charset="0"/>
                              </a:rPr>
                              <m:t>0</m:t>
                            </m:r>
                          </m:sub>
                        </m:sSub>
                      </m:num>
                      <m:den>
                        <m:r>
                          <a:rPr lang="en-US" altLang="zh-CN" i="1">
                            <a:latin typeface="Cambria Math" panose="02040503050406030204" pitchFamily="18" charset="0"/>
                          </a:rPr>
                          <m:t>2</m:t>
                        </m:r>
                      </m:den>
                    </m:f>
                  </m:oMath>
                </a14:m>
                <a:r>
                  <a:rPr lang="en-US" altLang="zh-CN"/>
                  <a:t>=99mv</a:t>
                </a:r>
                <a:r>
                  <a:rPr lang="zh-CN" altLang="en-US"/>
                  <a:t>，进入</a:t>
                </a:r>
                <a:r>
                  <a:rPr lang="en-US" altLang="zh-CN"/>
                  <a:t>PEM</a:t>
                </a:r>
                <a:r>
                  <a:rPr lang="zh-CN" altLang="en-US"/>
                  <a:t>的光只有</a:t>
                </a:r>
                <a14:m>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b="0" i="1" smtClean="0">
                            <a:latin typeface="Cambria Math" panose="02040503050406030204" pitchFamily="18" charset="0"/>
                          </a:rPr>
                          <m:t>S</m:t>
                        </m:r>
                      </m:e>
                      <m:sub>
                        <m:r>
                          <a:rPr lang="en-US" altLang="zh-CN" b="0" i="1" smtClean="0">
                            <a:latin typeface="Cambria Math" panose="02040503050406030204" pitchFamily="18" charset="0"/>
                          </a:rPr>
                          <m:t>2</m:t>
                        </m:r>
                      </m:sub>
                    </m:sSub>
                  </m:oMath>
                </a14:m>
                <a:r>
                  <a:rPr lang="zh-CN" altLang="en-US"/>
                  <a:t>分量，</a:t>
                </a:r>
                <a:r>
                  <a:rPr lang="en-US" altLang="zh-CN"/>
                  <a:t> </a:t>
                </a:r>
                <a14:m>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b="0" i="1" smtClean="0">
                            <a:latin typeface="Cambria Math" panose="02040503050406030204" pitchFamily="18" charset="0"/>
                          </a:rPr>
                          <m:t>I</m:t>
                        </m:r>
                      </m:e>
                      <m:sub>
                        <m:r>
                          <a:rPr lang="en-US" altLang="zh-CN" b="0" i="1" smtClean="0">
                            <a:latin typeface="Cambria Math" panose="02040503050406030204" pitchFamily="18" charset="0"/>
                          </a:rPr>
                          <m:t>0</m:t>
                        </m:r>
                      </m:sub>
                    </m:sSub>
                  </m:oMath>
                </a14:m>
                <a:r>
                  <a:rPr lang="en-US" altLang="zh-CN"/>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0</m:t>
                        </m:r>
                      </m:sub>
                    </m:sSub>
                    <m:r>
                      <a:rPr lang="en-US" altLang="zh-CN" i="1">
                        <a:latin typeface="Cambria Math" panose="02040503050406030204" pitchFamily="18" charset="0"/>
                      </a:rPr>
                      <m:t> </m:t>
                    </m:r>
                  </m:oMath>
                </a14:m>
                <a:r>
                  <a:rPr lang="en-US" altLang="zh-CN"/>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i="1">
                            <a:latin typeface="Cambria Math" panose="02040503050406030204" pitchFamily="18" charset="0"/>
                          </a:rPr>
                          <m:t>2</m:t>
                        </m:r>
                      </m:sub>
                    </m:sSub>
                    <m:r>
                      <a:rPr lang="zh-CN" altLang="en-US" i="1" smtClean="0">
                        <a:latin typeface="Cambria Math" panose="02040503050406030204" pitchFamily="18" charset="0"/>
                      </a:rPr>
                      <m:t>，</m:t>
                    </m:r>
                  </m:oMath>
                </a14:m>
                <a:r>
                  <a:rPr lang="en-US" altLang="zh-CN"/>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oMath>
                </a14:m>
                <a:r>
                  <a:rPr lang="en-US" altLang="zh-CN"/>
                  <a:t>=</a:t>
                </a:r>
                <a:r>
                  <a:rPr lang="zh-CN" altLang="zh-CN"/>
                  <a:t> 0.431</a:t>
                </a:r>
                <a:r>
                  <a:rPr lang="en-US" altLang="zh-CN"/>
                  <a:t>8</a:t>
                </a:r>
                <a:r>
                  <a:rPr lang="zh-CN" altLang="en-US"/>
                  <a:t>，故最终理论输出为</a:t>
                </a:r>
                <a:endParaRPr lang="en-US" altLang="zh-CN"/>
              </a:p>
              <a:p>
                <a:pPr algn="ctr"/>
                <a:r>
                  <a:rPr lang="en-US" altLang="zh-CN"/>
                  <a:t>V</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r>
                      <a:rPr lang="en-US" altLang="zh-CN" b="0" i="1" smtClean="0">
                        <a:latin typeface="Cambria Math" panose="02040503050406030204" pitchFamily="18" charset="0"/>
                      </a:rPr>
                      <m:t>99</m:t>
                    </m:r>
                    <m:r>
                      <a:rPr lang="en-US" altLang="zh-CN" i="1">
                        <a:latin typeface="Cambria Math" panose="02040503050406030204" pitchFamily="18" charset="0"/>
                      </a:rPr>
                      <m:t>−</m:t>
                    </m:r>
                    <m:r>
                      <a:rPr lang="en-US" altLang="zh-CN" b="0" i="1" smtClean="0">
                        <a:latin typeface="Cambria Math" panose="02040503050406030204" pitchFamily="18" charset="0"/>
                      </a:rPr>
                      <m:t>85.50</m:t>
                    </m:r>
                    <m:func>
                      <m:funcPr>
                        <m:ctrlPr>
                          <a:rPr lang="en-US" altLang="zh-CN" i="1">
                            <a:latin typeface="Cambria Math" panose="02040503050406030204" pitchFamily="18" charset="0"/>
                          </a:rPr>
                        </m:ctrlPr>
                      </m:funcPr>
                      <m:fName>
                        <m:r>
                          <m:rPr>
                            <m:sty m:val="p"/>
                          </m:rPr>
                          <a:rPr lang="en-US" altLang="zh-CN" i="1">
                            <a:latin typeface="Cambria Math" panose="02040503050406030204" pitchFamily="18" charset="0"/>
                          </a:rPr>
                          <m:t>cos</m:t>
                        </m:r>
                      </m:fNa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2</m:t>
                            </m:r>
                            <m:d>
                              <m:dPr>
                                <m:ctrlPr>
                                  <a:rPr lang="en-US" altLang="zh-CN" i="1">
                                    <a:latin typeface="Cambria Math" panose="02040503050406030204" pitchFamily="18" charset="0"/>
                                  </a:rPr>
                                </m:ctrlPr>
                              </m:dPr>
                              <m:e>
                                <m:r>
                                  <a:rPr lang="en-US" altLang="zh-CN" i="1">
                                    <a:latin typeface="Cambria Math" panose="02040503050406030204" pitchFamily="18" charset="0"/>
                                  </a:rPr>
                                  <m:t>𝜔</m:t>
                                </m:r>
                                <m:r>
                                  <a:rPr lang="en-US" altLang="zh-CN" i="1">
                                    <a:latin typeface="Cambria Math" panose="02040503050406030204" pitchFamily="18" charset="0"/>
                                  </a:rPr>
                                  <m:t>𝑡</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𝜙</m:t>
                                    </m:r>
                                  </m:e>
                                  <m:sub>
                                    <m:r>
                                      <a:rPr lang="en-US" altLang="zh-CN" i="1">
                                        <a:latin typeface="Cambria Math" panose="02040503050406030204" pitchFamily="18" charset="0"/>
                                      </a:rPr>
                                      <m:t>0</m:t>
                                    </m:r>
                                  </m:sub>
                                </m:sSub>
                              </m:e>
                            </m:d>
                          </m:e>
                        </m:d>
                      </m:e>
                    </m:func>
                    <m:r>
                      <a:rPr lang="en-US" altLang="zh-CN" i="1">
                        <a:latin typeface="Cambria Math" panose="02040503050406030204" pitchFamily="18" charset="0"/>
                      </a:rPr>
                      <m:t>−...</m:t>
                    </m:r>
                  </m:oMath>
                </a14:m>
                <a:endParaRPr lang="en-US" altLang="zh-CN"/>
              </a:p>
              <a:p>
                <a:pPr algn="just"/>
                <a:r>
                  <a:rPr lang="zh-CN" altLang="en-US"/>
                  <a:t>锁相放大器输出的是均值，所以理论上应该为</a:t>
                </a:r>
                <a14:m>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85.50</m:t>
                        </m:r>
                      </m:num>
                      <m:den>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m:t>
                        </m:r>
                      </m:den>
                    </m:f>
                  </m:oMath>
                </a14:m>
                <a:r>
                  <a:rPr lang="en-US" altLang="zh-CN"/>
                  <a:t>=</a:t>
                </a:r>
                <a:r>
                  <a:rPr lang="en-US" altLang="zh-CN">
                    <a:solidFill>
                      <a:srgbClr val="C00000"/>
                    </a:solidFill>
                  </a:rPr>
                  <a:t>60.46</a:t>
                </a:r>
                <a:r>
                  <a:rPr lang="en-US" altLang="zh-CN"/>
                  <a:t>mv</a:t>
                </a:r>
                <a:r>
                  <a:rPr lang="zh-CN" altLang="en-US"/>
                  <a:t>，实际测量所得有</a:t>
                </a:r>
                <a:r>
                  <a:rPr lang="en-US" altLang="zh-CN">
                    <a:solidFill>
                      <a:srgbClr val="C00000"/>
                    </a:solidFill>
                  </a:rPr>
                  <a:t>59.59</a:t>
                </a:r>
                <a:r>
                  <a:rPr lang="en-US" altLang="zh-CN"/>
                  <a:t>mv</a:t>
                </a:r>
                <a:r>
                  <a:rPr lang="zh-CN" altLang="en-US"/>
                  <a:t>，差别不大</a:t>
                </a:r>
                <a:endParaRPr lang="en-US" altLang="zh-CN"/>
              </a:p>
            </p:txBody>
          </p:sp>
        </mc:Choice>
        <mc:Fallback xmlns="">
          <p:sp>
            <p:nvSpPr>
              <p:cNvPr id="12" name="slide-2-evidence-frame">
                <a:extLst>
                  <a:ext uri="{FF2B5EF4-FFF2-40B4-BE49-F238E27FC236}">
                    <a16:creationId xmlns:a16="http://schemas.microsoft.com/office/drawing/2014/main" id="{E2801354-C0C9-D332-959D-B1AC5F04A933}"/>
                  </a:ext>
                </a:extLst>
              </p:cNvPr>
              <p:cNvSpPr>
                <a:spLocks noGrp="1" noRot="1" noChangeAspect="1" noMove="1" noResize="1" noEditPoints="1" noAdjustHandles="1" noChangeArrowheads="1" noChangeShapeType="1" noTextEdit="1"/>
              </p:cNvSpPr>
              <p:nvPr/>
            </p:nvSpPr>
            <p:spPr>
              <a:xfrm>
                <a:off x="62764" y="2492896"/>
                <a:ext cx="7401121" cy="2664296"/>
              </a:xfrm>
              <a:prstGeom prst="rect">
                <a:avLst/>
              </a:prstGeom>
              <a:blipFill>
                <a:blip r:embed="rId4"/>
                <a:stretch>
                  <a:fillRect l="-576" t="-1139" r="-658" b="-2961"/>
                </a:stretch>
              </a:blipFill>
              <a:ln w="9525">
                <a:solidFill>
                  <a:srgbClr val="B8BCC4"/>
                </a:solidFill>
                <a:prstDash val="solid"/>
              </a:ln>
            </p:spPr>
            <p:txBody>
              <a:bodyPr/>
              <a:lstStyle/>
              <a:p>
                <a:r>
                  <a:rPr lang="en-US">
                    <a:noFill/>
                  </a:rPr>
                  <a:t> </a:t>
                </a:r>
              </a:p>
            </p:txBody>
          </p:sp>
        </mc:Fallback>
      </mc:AlternateContent>
      <p:pic>
        <p:nvPicPr>
          <p:cNvPr id="8" name="图片 7">
            <a:extLst>
              <a:ext uri="{FF2B5EF4-FFF2-40B4-BE49-F238E27FC236}">
                <a16:creationId xmlns:a16="http://schemas.microsoft.com/office/drawing/2014/main" id="{5099A6B7-1FCD-C045-1724-2E32621604A9}"/>
              </a:ext>
            </a:extLst>
          </p:cNvPr>
          <p:cNvPicPr>
            <a:picLocks noChangeAspect="1"/>
          </p:cNvPicPr>
          <p:nvPr/>
        </p:nvPicPr>
        <p:blipFill>
          <a:blip r:embed="rId5" cstate="print">
            <a:extLst>
              <a:ext uri="{28A0092B-C50C-407E-A947-70E740481C1C}">
                <a14:useLocalDpi xmlns:a14="http://schemas.microsoft.com/office/drawing/2010/main" val="0"/>
              </a:ext>
            </a:extLst>
          </a:blip>
          <a:srcRect t="23751" r="-399" b="41600"/>
          <a:stretch>
            <a:fillRect/>
          </a:stretch>
        </p:blipFill>
        <p:spPr>
          <a:xfrm>
            <a:off x="7554625" y="4797300"/>
            <a:ext cx="4637375" cy="1200328"/>
          </a:xfrm>
          <a:prstGeom prst="rect">
            <a:avLst/>
          </a:prstGeom>
        </p:spPr>
      </p:pic>
      <p:pic>
        <p:nvPicPr>
          <p:cNvPr id="10" name="图片 9">
            <a:extLst>
              <a:ext uri="{FF2B5EF4-FFF2-40B4-BE49-F238E27FC236}">
                <a16:creationId xmlns:a16="http://schemas.microsoft.com/office/drawing/2014/main" id="{3CFD2985-070A-8D6B-249E-876DCEF2CE9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51677" y="968482"/>
            <a:ext cx="3843269" cy="2882452"/>
          </a:xfrm>
          <a:prstGeom prst="rect">
            <a:avLst/>
          </a:prstGeom>
        </p:spPr>
      </p:pic>
      <p:sp>
        <p:nvSpPr>
          <p:cNvPr id="14" name="slide-2-evidence-frame">
            <a:extLst>
              <a:ext uri="{FF2B5EF4-FFF2-40B4-BE49-F238E27FC236}">
                <a16:creationId xmlns:a16="http://schemas.microsoft.com/office/drawing/2014/main" id="{DF174EC9-D84B-F8F7-1E2F-7FCE80D65A9A}"/>
              </a:ext>
            </a:extLst>
          </p:cNvPr>
          <p:cNvSpPr>
            <a:spLocks noGrp="1"/>
          </p:cNvSpPr>
          <p:nvPr/>
        </p:nvSpPr>
        <p:spPr>
          <a:xfrm>
            <a:off x="62765" y="5463852"/>
            <a:ext cx="6321267" cy="432049"/>
          </a:xfrm>
          <a:prstGeom prst="rect">
            <a:avLst/>
          </a:prstGeom>
          <a:solidFill>
            <a:schemeClr val="accent2">
              <a:lumMod val="20000"/>
              <a:lumOff val="80000"/>
            </a:schemeClr>
          </a:solidFill>
          <a:ln w="9525">
            <a:solidFill>
              <a:srgbClr val="B8BCC4"/>
            </a:solidFill>
            <a:prstDash val="solid"/>
          </a:ln>
        </p:spPr>
        <p:txBody>
          <a:bodyPr/>
          <a:lstStyle/>
          <a:p>
            <a:r>
              <a:rPr lang="zh-CN" altLang="en-US"/>
              <a:t>初步结论：锁相放大器得到的结果是</a:t>
            </a:r>
            <a:r>
              <a:rPr lang="en-US" altLang="zh-CN"/>
              <a:t>2f</a:t>
            </a:r>
            <a:r>
              <a:rPr lang="zh-CN" altLang="en-US"/>
              <a:t>信号，应该不是噪声</a:t>
            </a:r>
            <a:endParaRPr lang="en-US" altLang="zh-CN"/>
          </a:p>
        </p:txBody>
      </p:sp>
      <p:sp>
        <p:nvSpPr>
          <p:cNvPr id="3" name="TextBox 2">
            <a:extLst>
              <a:ext uri="{FF2B5EF4-FFF2-40B4-BE49-F238E27FC236}">
                <a16:creationId xmlns:a16="http://schemas.microsoft.com/office/drawing/2014/main" id="{7A8418EC-3704-73BC-95A9-BE43848348A4}"/>
              </a:ext>
            </a:extLst>
          </p:cNvPr>
          <p:cNvSpPr txBox="1"/>
          <p:nvPr/>
        </p:nvSpPr>
        <p:spPr>
          <a:xfrm>
            <a:off x="623392" y="6054341"/>
            <a:ext cx="6336705" cy="646331"/>
          </a:xfrm>
          <a:prstGeom prst="rect">
            <a:avLst/>
          </a:prstGeom>
          <a:noFill/>
        </p:spPr>
        <p:txBody>
          <a:bodyPr wrap="square" rtlCol="0">
            <a:spAutoFit/>
          </a:bodyPr>
          <a:lstStyle/>
          <a:p>
            <a:r>
              <a:rPr lang="zh-CN" altLang="en-US">
                <a:highlight>
                  <a:srgbClr val="FFFF00"/>
                </a:highlight>
              </a:rPr>
              <a:t>不理解：</a:t>
            </a:r>
            <a:r>
              <a:rPr lang="en-US" altLang="zh-CN">
                <a:highlight>
                  <a:srgbClr val="FFFF00"/>
                </a:highlight>
              </a:rPr>
              <a:t>99mV</a:t>
            </a:r>
            <a:r>
              <a:rPr lang="zh-CN" altLang="en-US">
                <a:highlight>
                  <a:srgbClr val="FFFF00"/>
                </a:highlight>
              </a:rPr>
              <a:t>哪里来的？</a:t>
            </a:r>
            <a:r>
              <a:rPr lang="en-US">
                <a:highlight>
                  <a:srgbClr val="FFFF00"/>
                </a:highlight>
              </a:rPr>
              <a:t>107mV</a:t>
            </a:r>
            <a:r>
              <a:rPr lang="zh-CN" altLang="en-US">
                <a:highlight>
                  <a:srgbClr val="FFFF00"/>
                </a:highlight>
              </a:rPr>
              <a:t>（实测，见后页）</a:t>
            </a:r>
            <a:r>
              <a:rPr lang="en-US">
                <a:highlight>
                  <a:srgbClr val="FFFF00"/>
                </a:highlight>
              </a:rPr>
              <a:t> - 8mV</a:t>
            </a:r>
            <a:r>
              <a:rPr lang="zh-CN" altLang="en-US">
                <a:highlight>
                  <a:srgbClr val="FFFF00"/>
                </a:highlight>
              </a:rPr>
              <a:t>？</a:t>
            </a:r>
            <a:endParaRPr lang="en-US" altLang="zh-CN">
              <a:highlight>
                <a:srgbClr val="FFFF00"/>
              </a:highlight>
            </a:endParaRPr>
          </a:p>
          <a:p>
            <a:r>
              <a:rPr lang="zh-CN" altLang="en-US">
                <a:highlight>
                  <a:srgbClr val="FFFF00"/>
                </a:highlight>
              </a:rPr>
              <a:t>所谓</a:t>
            </a:r>
            <a:r>
              <a:rPr lang="en-US" altLang="zh-CN">
                <a:highlight>
                  <a:srgbClr val="FFFF00"/>
                </a:highlight>
              </a:rPr>
              <a:t>8mV</a:t>
            </a:r>
            <a:r>
              <a:rPr lang="zh-CN" altLang="en-US">
                <a:highlight>
                  <a:srgbClr val="FFFF00"/>
                </a:highlight>
              </a:rPr>
              <a:t>，不是“噪声”，而是“背景”吧？</a:t>
            </a:r>
            <a:endParaRPr lang="en-US">
              <a:highlight>
                <a:srgbClr val="FFFF00"/>
              </a:highlight>
            </a:endParaRPr>
          </a:p>
        </p:txBody>
      </p:sp>
    </p:spTree>
    <p:extLst>
      <p:ext uri="{BB962C8B-B14F-4D97-AF65-F5344CB8AC3E}">
        <p14:creationId xmlns:p14="http://schemas.microsoft.com/office/powerpoint/2010/main" val="36017918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300086D-94E7-04E5-8BCC-1643E2342EF2}"/>
              </a:ext>
            </a:extLst>
          </p:cNvPr>
          <p:cNvSpPr>
            <a:spLocks noGrp="1"/>
          </p:cNvSpPr>
          <p:nvPr>
            <p:ph type="ftr" sz="quarter" idx="11"/>
          </p:nvPr>
        </p:nvSpPr>
        <p:spPr/>
        <p:txBody>
          <a:bodyPr/>
          <a:lstStyle/>
          <a:p>
            <a:endParaRPr lang="zh-CN" altLang="en-US"/>
          </a:p>
        </p:txBody>
      </p:sp>
      <p:sp>
        <p:nvSpPr>
          <p:cNvPr id="3" name="Slide Number Placeholder 2">
            <a:extLst>
              <a:ext uri="{FF2B5EF4-FFF2-40B4-BE49-F238E27FC236}">
                <a16:creationId xmlns:a16="http://schemas.microsoft.com/office/drawing/2014/main" id="{90633331-2D08-B24A-1E86-1D82917C8C17}"/>
              </a:ext>
            </a:extLst>
          </p:cNvPr>
          <p:cNvSpPr>
            <a:spLocks noGrp="1"/>
          </p:cNvSpPr>
          <p:nvPr>
            <p:ph type="sldNum" sz="quarter" idx="12"/>
          </p:nvPr>
        </p:nvSpPr>
        <p:spPr/>
        <p:txBody>
          <a:bodyPr/>
          <a:lstStyle/>
          <a:p>
            <a:fld id="{6AFD64F0-5018-4E6E-A20B-8D7DA5A17E99}" type="slidenum">
              <a:rPr lang="zh-CN" altLang="en-US" smtClean="0"/>
              <a:pPr/>
              <a:t>12</a:t>
            </a:fld>
            <a:endParaRPr lang="zh-CN" altLang="en-US" dirty="0"/>
          </a:p>
        </p:txBody>
      </p:sp>
      <p:sp>
        <p:nvSpPr>
          <p:cNvPr id="4" name="Freeform: Shape 3">
            <a:extLst>
              <a:ext uri="{FF2B5EF4-FFF2-40B4-BE49-F238E27FC236}">
                <a16:creationId xmlns:a16="http://schemas.microsoft.com/office/drawing/2014/main" id="{E0B98D2D-7EF8-5DDB-F2B3-9E640BFC30E6}"/>
              </a:ext>
            </a:extLst>
          </p:cNvPr>
          <p:cNvSpPr/>
          <p:nvPr/>
        </p:nvSpPr>
        <p:spPr>
          <a:xfrm>
            <a:off x="1151467" y="1984883"/>
            <a:ext cx="9398000" cy="2091023"/>
          </a:xfrm>
          <a:custGeom>
            <a:avLst/>
            <a:gdLst>
              <a:gd name="csX0" fmla="*/ 0 w 9398000"/>
              <a:gd name="csY0" fmla="*/ 707517 h 2091023"/>
              <a:gd name="csX1" fmla="*/ 1485900 w 9398000"/>
              <a:gd name="csY1" fmla="*/ 21717 h 2091023"/>
              <a:gd name="csX2" fmla="*/ 3035300 w 9398000"/>
              <a:gd name="csY2" fmla="*/ 1431417 h 2091023"/>
              <a:gd name="csX3" fmla="*/ 6421966 w 9398000"/>
              <a:gd name="csY3" fmla="*/ 2036784 h 2091023"/>
              <a:gd name="csX4" fmla="*/ 9398000 w 9398000"/>
              <a:gd name="csY4" fmla="*/ 123317 h 2091023"/>
            </a:gdLst>
            <a:ahLst/>
            <a:cxnLst>
              <a:cxn ang="0">
                <a:pos x="csX0" y="csY0"/>
              </a:cxn>
              <a:cxn ang="0">
                <a:pos x="csX1" y="csY1"/>
              </a:cxn>
              <a:cxn ang="0">
                <a:pos x="csX2" y="csY2"/>
              </a:cxn>
              <a:cxn ang="0">
                <a:pos x="csX3" y="csY3"/>
              </a:cxn>
              <a:cxn ang="0">
                <a:pos x="csX4" y="csY4"/>
              </a:cxn>
            </a:cxnLst>
            <a:rect l="l" t="t" r="r" b="b"/>
            <a:pathLst>
              <a:path w="9398000" h="2091023">
                <a:moveTo>
                  <a:pt x="0" y="707517"/>
                </a:moveTo>
                <a:cubicBezTo>
                  <a:pt x="490008" y="304292"/>
                  <a:pt x="980017" y="-98933"/>
                  <a:pt x="1485900" y="21717"/>
                </a:cubicBezTo>
                <a:cubicBezTo>
                  <a:pt x="1991783" y="142367"/>
                  <a:pt x="2212622" y="1095572"/>
                  <a:pt x="3035300" y="1431417"/>
                </a:cubicBezTo>
                <a:cubicBezTo>
                  <a:pt x="3857978" y="1767262"/>
                  <a:pt x="5361516" y="2254801"/>
                  <a:pt x="6421966" y="2036784"/>
                </a:cubicBezTo>
                <a:cubicBezTo>
                  <a:pt x="7482416" y="1818767"/>
                  <a:pt x="8913283" y="421767"/>
                  <a:pt x="9398000" y="12331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99D5830E-18C5-FDC3-EF8A-53D67ABEE68C}"/>
              </a:ext>
            </a:extLst>
          </p:cNvPr>
          <p:cNvSpPr/>
          <p:nvPr/>
        </p:nvSpPr>
        <p:spPr>
          <a:xfrm>
            <a:off x="1214967" y="1900737"/>
            <a:ext cx="4085166" cy="2108230"/>
          </a:xfrm>
          <a:custGeom>
            <a:avLst/>
            <a:gdLst>
              <a:gd name="csX0" fmla="*/ 0 w 4085166"/>
              <a:gd name="csY0" fmla="*/ 817063 h 2108230"/>
              <a:gd name="csX1" fmla="*/ 71966 w 4085166"/>
              <a:gd name="csY1" fmla="*/ 503796 h 2108230"/>
              <a:gd name="csX2" fmla="*/ 165100 w 4085166"/>
              <a:gd name="csY2" fmla="*/ 673130 h 2108230"/>
              <a:gd name="csX3" fmla="*/ 266700 w 4085166"/>
              <a:gd name="csY3" fmla="*/ 342930 h 2108230"/>
              <a:gd name="csX4" fmla="*/ 368300 w 4085166"/>
              <a:gd name="csY4" fmla="*/ 651963 h 2108230"/>
              <a:gd name="csX5" fmla="*/ 499533 w 4085166"/>
              <a:gd name="csY5" fmla="*/ 194763 h 2108230"/>
              <a:gd name="csX6" fmla="*/ 584200 w 4085166"/>
              <a:gd name="csY6" fmla="*/ 351396 h 2108230"/>
              <a:gd name="csX7" fmla="*/ 711200 w 4085166"/>
              <a:gd name="csY7" fmla="*/ 63530 h 2108230"/>
              <a:gd name="csX8" fmla="*/ 762000 w 4085166"/>
              <a:gd name="csY8" fmla="*/ 317530 h 2108230"/>
              <a:gd name="csX9" fmla="*/ 990600 w 4085166"/>
              <a:gd name="csY9" fmla="*/ 30 h 2108230"/>
              <a:gd name="csX10" fmla="*/ 1092200 w 4085166"/>
              <a:gd name="csY10" fmla="*/ 296363 h 2108230"/>
              <a:gd name="csX11" fmla="*/ 1363133 w 4085166"/>
              <a:gd name="csY11" fmla="*/ 4263 h 2108230"/>
              <a:gd name="csX12" fmla="*/ 1464733 w 4085166"/>
              <a:gd name="csY12" fmla="*/ 364096 h 2108230"/>
              <a:gd name="csX13" fmla="*/ 1625600 w 4085166"/>
              <a:gd name="csY13" fmla="*/ 122796 h 2108230"/>
              <a:gd name="csX14" fmla="*/ 1706033 w 4085166"/>
              <a:gd name="csY14" fmla="*/ 457230 h 2108230"/>
              <a:gd name="csX15" fmla="*/ 1905000 w 4085166"/>
              <a:gd name="csY15" fmla="*/ 270963 h 2108230"/>
              <a:gd name="csX16" fmla="*/ 2044700 w 4085166"/>
              <a:gd name="csY16" fmla="*/ 969463 h 2108230"/>
              <a:gd name="csX17" fmla="*/ 2201333 w 4085166"/>
              <a:gd name="csY17" fmla="*/ 444530 h 2108230"/>
              <a:gd name="csX18" fmla="*/ 2264833 w 4085166"/>
              <a:gd name="csY18" fmla="*/ 994863 h 2108230"/>
              <a:gd name="csX19" fmla="*/ 2349500 w 4085166"/>
              <a:gd name="csY19" fmla="*/ 723930 h 2108230"/>
              <a:gd name="csX20" fmla="*/ 2383366 w 4085166"/>
              <a:gd name="csY20" fmla="*/ 1308130 h 2108230"/>
              <a:gd name="csX21" fmla="*/ 2540000 w 4085166"/>
              <a:gd name="csY21" fmla="*/ 850930 h 2108230"/>
              <a:gd name="csX22" fmla="*/ 2556933 w 4085166"/>
              <a:gd name="csY22" fmla="*/ 1498630 h 2108230"/>
              <a:gd name="csX23" fmla="*/ 2722033 w 4085166"/>
              <a:gd name="csY23" fmla="*/ 1096463 h 2108230"/>
              <a:gd name="csX24" fmla="*/ 2772833 w 4085166"/>
              <a:gd name="csY24" fmla="*/ 1608696 h 2108230"/>
              <a:gd name="csX25" fmla="*/ 2882900 w 4085166"/>
              <a:gd name="csY25" fmla="*/ 1325063 h 2108230"/>
              <a:gd name="csX26" fmla="*/ 2899833 w 4085166"/>
              <a:gd name="csY26" fmla="*/ 1748396 h 2108230"/>
              <a:gd name="csX27" fmla="*/ 3035300 w 4085166"/>
              <a:gd name="csY27" fmla="*/ 1388563 h 2108230"/>
              <a:gd name="csX28" fmla="*/ 3302000 w 4085166"/>
              <a:gd name="csY28" fmla="*/ 1824596 h 2108230"/>
              <a:gd name="csX29" fmla="*/ 3424766 w 4085166"/>
              <a:gd name="csY29" fmla="*/ 1443596 h 2108230"/>
              <a:gd name="csX30" fmla="*/ 3471333 w 4085166"/>
              <a:gd name="csY30" fmla="*/ 1972763 h 2108230"/>
              <a:gd name="csX31" fmla="*/ 3729566 w 4085166"/>
              <a:gd name="csY31" fmla="*/ 1587530 h 2108230"/>
              <a:gd name="csX32" fmla="*/ 3805766 w 4085166"/>
              <a:gd name="csY32" fmla="*/ 2002396 h 2108230"/>
              <a:gd name="csX33" fmla="*/ 4030133 w 4085166"/>
              <a:gd name="csY33" fmla="*/ 1642563 h 2108230"/>
              <a:gd name="csX34" fmla="*/ 4085166 w 4085166"/>
              <a:gd name="csY34" fmla="*/ 2108230 h 2108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085166" h="2108230">
                <a:moveTo>
                  <a:pt x="0" y="817063"/>
                </a:moveTo>
                <a:cubicBezTo>
                  <a:pt x="22224" y="672424"/>
                  <a:pt x="44449" y="527785"/>
                  <a:pt x="71966" y="503796"/>
                </a:cubicBezTo>
                <a:cubicBezTo>
                  <a:pt x="99483" y="479807"/>
                  <a:pt x="132644" y="699941"/>
                  <a:pt x="165100" y="673130"/>
                </a:cubicBezTo>
                <a:cubicBezTo>
                  <a:pt x="197556" y="646319"/>
                  <a:pt x="232833" y="346458"/>
                  <a:pt x="266700" y="342930"/>
                </a:cubicBezTo>
                <a:cubicBezTo>
                  <a:pt x="300567" y="339402"/>
                  <a:pt x="329494" y="676658"/>
                  <a:pt x="368300" y="651963"/>
                </a:cubicBezTo>
                <a:cubicBezTo>
                  <a:pt x="407106" y="627268"/>
                  <a:pt x="463550" y="244857"/>
                  <a:pt x="499533" y="194763"/>
                </a:cubicBezTo>
                <a:cubicBezTo>
                  <a:pt x="535516" y="144669"/>
                  <a:pt x="548922" y="373268"/>
                  <a:pt x="584200" y="351396"/>
                </a:cubicBezTo>
                <a:cubicBezTo>
                  <a:pt x="619478" y="329524"/>
                  <a:pt x="681567" y="69174"/>
                  <a:pt x="711200" y="63530"/>
                </a:cubicBezTo>
                <a:cubicBezTo>
                  <a:pt x="740833" y="57886"/>
                  <a:pt x="715433" y="328113"/>
                  <a:pt x="762000" y="317530"/>
                </a:cubicBezTo>
                <a:cubicBezTo>
                  <a:pt x="808567" y="306947"/>
                  <a:pt x="935567" y="3558"/>
                  <a:pt x="990600" y="30"/>
                </a:cubicBezTo>
                <a:cubicBezTo>
                  <a:pt x="1045633" y="-3498"/>
                  <a:pt x="1030111" y="295658"/>
                  <a:pt x="1092200" y="296363"/>
                </a:cubicBezTo>
                <a:cubicBezTo>
                  <a:pt x="1154289" y="297068"/>
                  <a:pt x="1301044" y="-7026"/>
                  <a:pt x="1363133" y="4263"/>
                </a:cubicBezTo>
                <a:cubicBezTo>
                  <a:pt x="1425222" y="15552"/>
                  <a:pt x="1420989" y="344341"/>
                  <a:pt x="1464733" y="364096"/>
                </a:cubicBezTo>
                <a:cubicBezTo>
                  <a:pt x="1508477" y="383851"/>
                  <a:pt x="1585384" y="107274"/>
                  <a:pt x="1625600" y="122796"/>
                </a:cubicBezTo>
                <a:cubicBezTo>
                  <a:pt x="1665816" y="138318"/>
                  <a:pt x="1659466" y="432536"/>
                  <a:pt x="1706033" y="457230"/>
                </a:cubicBezTo>
                <a:cubicBezTo>
                  <a:pt x="1752600" y="481924"/>
                  <a:pt x="1848556" y="185591"/>
                  <a:pt x="1905000" y="270963"/>
                </a:cubicBezTo>
                <a:cubicBezTo>
                  <a:pt x="1961444" y="356335"/>
                  <a:pt x="1995311" y="940535"/>
                  <a:pt x="2044700" y="969463"/>
                </a:cubicBezTo>
                <a:cubicBezTo>
                  <a:pt x="2094089" y="998391"/>
                  <a:pt x="2164644" y="440297"/>
                  <a:pt x="2201333" y="444530"/>
                </a:cubicBezTo>
                <a:cubicBezTo>
                  <a:pt x="2238022" y="448763"/>
                  <a:pt x="2240139" y="948296"/>
                  <a:pt x="2264833" y="994863"/>
                </a:cubicBezTo>
                <a:cubicBezTo>
                  <a:pt x="2289527" y="1041430"/>
                  <a:pt x="2329745" y="671719"/>
                  <a:pt x="2349500" y="723930"/>
                </a:cubicBezTo>
                <a:cubicBezTo>
                  <a:pt x="2369255" y="776141"/>
                  <a:pt x="2351616" y="1286963"/>
                  <a:pt x="2383366" y="1308130"/>
                </a:cubicBezTo>
                <a:cubicBezTo>
                  <a:pt x="2415116" y="1329297"/>
                  <a:pt x="2511072" y="819180"/>
                  <a:pt x="2540000" y="850930"/>
                </a:cubicBezTo>
                <a:cubicBezTo>
                  <a:pt x="2568928" y="882680"/>
                  <a:pt x="2526594" y="1457708"/>
                  <a:pt x="2556933" y="1498630"/>
                </a:cubicBezTo>
                <a:cubicBezTo>
                  <a:pt x="2587272" y="1539552"/>
                  <a:pt x="2686050" y="1078119"/>
                  <a:pt x="2722033" y="1096463"/>
                </a:cubicBezTo>
                <a:cubicBezTo>
                  <a:pt x="2758016" y="1114807"/>
                  <a:pt x="2746022" y="1570596"/>
                  <a:pt x="2772833" y="1608696"/>
                </a:cubicBezTo>
                <a:cubicBezTo>
                  <a:pt x="2799644" y="1646796"/>
                  <a:pt x="2861733" y="1301780"/>
                  <a:pt x="2882900" y="1325063"/>
                </a:cubicBezTo>
                <a:cubicBezTo>
                  <a:pt x="2904067" y="1348346"/>
                  <a:pt x="2874433" y="1737813"/>
                  <a:pt x="2899833" y="1748396"/>
                </a:cubicBezTo>
                <a:cubicBezTo>
                  <a:pt x="2925233" y="1758979"/>
                  <a:pt x="2968272" y="1375863"/>
                  <a:pt x="3035300" y="1388563"/>
                </a:cubicBezTo>
                <a:cubicBezTo>
                  <a:pt x="3102328" y="1401263"/>
                  <a:pt x="3237089" y="1815424"/>
                  <a:pt x="3302000" y="1824596"/>
                </a:cubicBezTo>
                <a:cubicBezTo>
                  <a:pt x="3366911" y="1833768"/>
                  <a:pt x="3396544" y="1418902"/>
                  <a:pt x="3424766" y="1443596"/>
                </a:cubicBezTo>
                <a:cubicBezTo>
                  <a:pt x="3452988" y="1468291"/>
                  <a:pt x="3420533" y="1948774"/>
                  <a:pt x="3471333" y="1972763"/>
                </a:cubicBezTo>
                <a:cubicBezTo>
                  <a:pt x="3522133" y="1996752"/>
                  <a:pt x="3673827" y="1582591"/>
                  <a:pt x="3729566" y="1587530"/>
                </a:cubicBezTo>
                <a:cubicBezTo>
                  <a:pt x="3785305" y="1592469"/>
                  <a:pt x="3755672" y="1993224"/>
                  <a:pt x="3805766" y="2002396"/>
                </a:cubicBezTo>
                <a:cubicBezTo>
                  <a:pt x="3855860" y="2011568"/>
                  <a:pt x="3983566" y="1624924"/>
                  <a:pt x="4030133" y="1642563"/>
                </a:cubicBezTo>
                <a:cubicBezTo>
                  <a:pt x="4076700" y="1660202"/>
                  <a:pt x="4080933" y="1884216"/>
                  <a:pt x="4085166" y="210823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A5F962BD-263C-9535-F645-29C36DD27794}"/>
              </a:ext>
            </a:extLst>
          </p:cNvPr>
          <p:cNvCxnSpPr/>
          <p:nvPr/>
        </p:nvCxnSpPr>
        <p:spPr>
          <a:xfrm flipV="1">
            <a:off x="983432" y="4581128"/>
            <a:ext cx="10009112" cy="7200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5773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9B6E6-6785-C812-3E45-2608335D6F9D}"/>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EB8EA04-834E-8BE9-8A41-30AF4BA71424}"/>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FC20C47D-3747-D877-5AC4-F9647269CD94}"/>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13</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E68AAC07-162B-8994-18D6-0CE4E8FE89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4A3C93E7-28EA-BDDE-4F7A-F5CD456CD24E}"/>
              </a:ext>
            </a:extLst>
          </p:cNvPr>
          <p:cNvSpPr txBox="1"/>
          <p:nvPr/>
        </p:nvSpPr>
        <p:spPr>
          <a:xfrm>
            <a:off x="623392" y="69315"/>
            <a:ext cx="11568608" cy="369332"/>
          </a:xfrm>
          <a:prstGeom prst="rect">
            <a:avLst/>
          </a:prstGeom>
          <a:noFill/>
        </p:spPr>
        <p:txBody>
          <a:bodyPr wrap="square" rtlCol="0">
            <a:spAutoFit/>
          </a:bodyPr>
          <a:lstStyle/>
          <a:p>
            <a:r>
              <a:rPr lang="en-US" altLang="zh-CN"/>
              <a:t>1.4</a:t>
            </a:r>
            <a:r>
              <a:rPr lang="zh-CN" altLang="en-US"/>
              <a:t>：验证锁相所得的信号不是噪声：在</a:t>
            </a:r>
            <a:r>
              <a:rPr lang="en-US" altLang="zh-CN"/>
              <a:t>-45°——45°</a:t>
            </a:r>
            <a:r>
              <a:rPr lang="zh-CN" altLang="en-US"/>
              <a:t>范围内（两个周期）旋转第一个偏振片</a:t>
            </a:r>
            <a:r>
              <a:rPr lang="en-US" altLang="zh-CN"/>
              <a:t>P1(</a:t>
            </a:r>
            <a:r>
              <a:rPr lang="el-GR" altLang="zh-CN"/>
              <a:t>α</a:t>
            </a:r>
            <a:r>
              <a:rPr lang="en-US" altLang="zh-CN"/>
              <a:t>)</a:t>
            </a:r>
            <a:endParaRPr lang="en-US" altLang="zh-CN" dirty="0"/>
          </a:p>
        </p:txBody>
      </p:sp>
      <p:pic>
        <p:nvPicPr>
          <p:cNvPr id="19" name="图片 18">
            <a:extLst>
              <a:ext uri="{FF2B5EF4-FFF2-40B4-BE49-F238E27FC236}">
                <a16:creationId xmlns:a16="http://schemas.microsoft.com/office/drawing/2014/main" id="{AE3AB357-6B8E-6CDD-25F0-87D19868A697}"/>
              </a:ext>
            </a:extLst>
          </p:cNvPr>
          <p:cNvPicPr>
            <a:picLocks noChangeAspect="1"/>
          </p:cNvPicPr>
          <p:nvPr/>
        </p:nvPicPr>
        <p:blipFill>
          <a:blip r:embed="rId3"/>
          <a:srcRect l="1" t="25543" r="32" b="23629"/>
          <a:stretch>
            <a:fillRect/>
          </a:stretch>
        </p:blipFill>
        <p:spPr>
          <a:xfrm>
            <a:off x="48731" y="1271542"/>
            <a:ext cx="7310895" cy="1238069"/>
          </a:xfrm>
          <a:prstGeom prst="rect">
            <a:avLst/>
          </a:prstGeom>
        </p:spPr>
      </p:pic>
      <p:sp>
        <p:nvSpPr>
          <p:cNvPr id="21" name="文本框 20">
            <a:extLst>
              <a:ext uri="{FF2B5EF4-FFF2-40B4-BE49-F238E27FC236}">
                <a16:creationId xmlns:a16="http://schemas.microsoft.com/office/drawing/2014/main" id="{005A8A6F-1A7E-C203-2CC4-625791AE3375}"/>
              </a:ext>
            </a:extLst>
          </p:cNvPr>
          <p:cNvSpPr txBox="1"/>
          <p:nvPr/>
        </p:nvSpPr>
        <p:spPr>
          <a:xfrm>
            <a:off x="53022" y="2504665"/>
            <a:ext cx="7339122" cy="369332"/>
          </a:xfrm>
          <a:prstGeom prst="rect">
            <a:avLst/>
          </a:prstGeom>
          <a:noFill/>
        </p:spPr>
        <p:txBody>
          <a:bodyPr wrap="square" rtlCol="0">
            <a:spAutoFit/>
          </a:bodyPr>
          <a:lstStyle/>
          <a:p>
            <a:r>
              <a:rPr lang="zh-CN" altLang="en-US" b="1"/>
              <a:t>实验过程</a:t>
            </a:r>
            <a:r>
              <a:rPr lang="zh-CN" altLang="en-US"/>
              <a:t>：旋转偏振片</a:t>
            </a:r>
            <a:r>
              <a:rPr lang="en-US" altLang="zh-CN"/>
              <a:t>P1</a:t>
            </a:r>
            <a:r>
              <a:rPr lang="zh-CN" altLang="en-US"/>
              <a:t>，观察锁相放大器的数据变化趋势</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F7F4B12-C869-8BF7-F581-5718820E297F}"/>
                  </a:ext>
                </a:extLst>
              </p:cNvPr>
              <p:cNvSpPr txBox="1"/>
              <p:nvPr/>
            </p:nvSpPr>
            <p:spPr>
              <a:xfrm>
                <a:off x="53022" y="3010816"/>
                <a:ext cx="12138978" cy="768415"/>
              </a:xfrm>
              <a:prstGeom prst="rect">
                <a:avLst/>
              </a:prstGeom>
              <a:noFill/>
            </p:spPr>
            <p:txBody>
              <a:bodyPr wrap="square" rtlCol="0">
                <a:spAutoFit/>
              </a:bodyPr>
              <a:lstStyle/>
              <a:p>
                <a:r>
                  <a:rPr lang="zh-CN" altLang="en-US" b="1"/>
                  <a:t>理论分析</a:t>
                </a:r>
                <a:r>
                  <a:rPr lang="zh-CN" altLang="en-US"/>
                  <a:t>：探测器输出信号</a:t>
                </a:r>
                <a14:m>
                  <m:oMath xmlns:m="http://schemas.openxmlformats.org/officeDocument/2006/math">
                    <m:r>
                      <a:rPr lang="zh-CN" altLang="en-US" i="1">
                        <a:latin typeface="Cambria Math" panose="02040503050406030204" pitchFamily="18" charset="0"/>
                      </a:rPr>
                      <m:t>：</m:t>
                    </m:r>
                    <m:r>
                      <m:rPr>
                        <m:nor/>
                      </m:rPr>
                      <a:rPr lang="en-US" altLang="zh-CN" i="0">
                        <a:solidFill>
                          <a:srgbClr val="C00000"/>
                        </a:solidFill>
                      </a:rPr>
                      <m:t>V</m:t>
                    </m:r>
                    <m:d>
                      <m:dPr>
                        <m:ctrlPr>
                          <a:rPr lang="en-US" altLang="zh-CN" i="1">
                            <a:solidFill>
                              <a:srgbClr val="C00000"/>
                            </a:solidFill>
                            <a:latin typeface="Cambria Math" panose="02040503050406030204" pitchFamily="18" charset="0"/>
                          </a:rPr>
                        </m:ctrlPr>
                      </m:dPr>
                      <m:e>
                        <m:r>
                          <a:rPr lang="en-US" altLang="zh-CN" i="1">
                            <a:solidFill>
                              <a:srgbClr val="C00000"/>
                            </a:solidFill>
                            <a:latin typeface="Cambria Math" panose="02040503050406030204" pitchFamily="18" charset="0"/>
                          </a:rPr>
                          <m:t>𝑡</m:t>
                        </m:r>
                      </m:e>
                    </m:d>
                    <m:r>
                      <a:rPr lang="en-US" altLang="zh-CN" i="1">
                        <a:solidFill>
                          <a:srgbClr val="C00000"/>
                        </a:solidFill>
                        <a:latin typeface="Cambria Math" panose="02040503050406030204" pitchFamily="18" charset="0"/>
                      </a:rPr>
                      <m:t>=</m:t>
                    </m:r>
                    <m:f>
                      <m:fPr>
                        <m:ctrlPr>
                          <a:rPr lang="en-US" altLang="zh-CN" i="1">
                            <a:solidFill>
                              <a:srgbClr val="C00000"/>
                            </a:solidFill>
                            <a:latin typeface="Cambria Math" panose="02040503050406030204" pitchFamily="18" charset="0"/>
                          </a:rPr>
                        </m:ctrlPr>
                      </m:fPr>
                      <m:num>
                        <m:r>
                          <m:rPr>
                            <m:sty m:val="p"/>
                          </m:rPr>
                          <a:rPr lang="en-US" altLang="zh-CN" i="1">
                            <a:solidFill>
                              <a:srgbClr val="C00000"/>
                            </a:solidFill>
                            <a:latin typeface="Cambria Math" panose="02040503050406030204" pitchFamily="18" charset="0"/>
                          </a:rPr>
                          <m:t>G</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𝐼</m:t>
                            </m:r>
                          </m:e>
                          <m:sub>
                            <m:r>
                              <a:rPr lang="en-US" altLang="zh-CN" i="1">
                                <a:solidFill>
                                  <a:srgbClr val="C00000"/>
                                </a:solidFill>
                                <a:latin typeface="Cambria Math" panose="02040503050406030204" pitchFamily="18" charset="0"/>
                              </a:rPr>
                              <m:t>0</m:t>
                            </m:r>
                          </m:sub>
                        </m:sSub>
                      </m:num>
                      <m:den>
                        <m:r>
                          <a:rPr lang="en-US" altLang="zh-CN" i="1">
                            <a:solidFill>
                              <a:srgbClr val="C00000"/>
                            </a:solidFill>
                            <a:latin typeface="Cambria Math" panose="02040503050406030204" pitchFamily="18" charset="0"/>
                          </a:rPr>
                          <m:t>2</m:t>
                        </m:r>
                      </m:den>
                    </m:f>
                    <m:d>
                      <m:dPr>
                        <m:begChr m:val="["/>
                        <m:endChr m:val="]"/>
                        <m:ctrlPr>
                          <a:rPr lang="en-US" altLang="zh-CN" i="1">
                            <a:solidFill>
                              <a:srgbClr val="C00000"/>
                            </a:solidFill>
                            <a:latin typeface="Cambria Math" panose="02040503050406030204" pitchFamily="18" charset="0"/>
                          </a:rPr>
                        </m:ctrlPr>
                      </m:dPr>
                      <m:e>
                        <m:r>
                          <a:rPr lang="en-US" altLang="zh-CN" i="1">
                            <a:solidFill>
                              <a:srgbClr val="C00000"/>
                            </a:solidFill>
                            <a:latin typeface="Cambria Math" panose="02040503050406030204" pitchFamily="18" charset="0"/>
                          </a:rPr>
                          <m:t>1+</m:t>
                        </m:r>
                        <m:func>
                          <m:funcPr>
                            <m:ctrlPr>
                              <a:rPr lang="en-US" altLang="zh-CN" i="1">
                                <a:solidFill>
                                  <a:srgbClr val="C00000"/>
                                </a:solidFill>
                                <a:latin typeface="Cambria Math" panose="02040503050406030204" pitchFamily="18" charset="0"/>
                              </a:rPr>
                            </m:ctrlPr>
                          </m:funcPr>
                          <m:fName>
                            <m:r>
                              <m:rPr>
                                <m:sty m:val="p"/>
                              </m:rPr>
                              <a:rPr lang="en-US" altLang="zh-CN" i="1">
                                <a:solidFill>
                                  <a:srgbClr val="C00000"/>
                                </a:solidFill>
                                <a:latin typeface="Cambria Math" panose="02040503050406030204" pitchFamily="18" charset="0"/>
                              </a:rPr>
                              <m:t>sin</m:t>
                            </m:r>
                          </m:fName>
                          <m:e>
                            <m:d>
                              <m:dPr>
                                <m:ctrlPr>
                                  <a:rPr lang="en-US" altLang="zh-CN" i="1">
                                    <a:solidFill>
                                      <a:srgbClr val="C00000"/>
                                    </a:solidFill>
                                    <a:latin typeface="Cambria Math" panose="02040503050406030204" pitchFamily="18" charset="0"/>
                                  </a:rPr>
                                </m:ctrlPr>
                              </m:dPr>
                              <m:e>
                                <m:r>
                                  <a:rPr lang="en-US" altLang="zh-CN" i="1">
                                    <a:solidFill>
                                      <a:srgbClr val="C00000"/>
                                    </a:solidFill>
                                    <a:latin typeface="Cambria Math" panose="02040503050406030204" pitchFamily="18" charset="0"/>
                                  </a:rPr>
                                  <m:t>2</m:t>
                                </m:r>
                                <m:r>
                                  <a:rPr lang="en-US" altLang="zh-CN" i="1">
                                    <a:solidFill>
                                      <a:srgbClr val="C00000"/>
                                    </a:solidFill>
                                    <a:latin typeface="Cambria Math" panose="02040503050406030204" pitchFamily="18" charset="0"/>
                                  </a:rPr>
                                  <m:t>𝛼</m:t>
                                </m:r>
                              </m:e>
                            </m:d>
                          </m:e>
                        </m:func>
                        <m:func>
                          <m:funcPr>
                            <m:ctrlPr>
                              <a:rPr lang="en-US" altLang="zh-CN" i="1">
                                <a:solidFill>
                                  <a:srgbClr val="C00000"/>
                                </a:solidFill>
                                <a:latin typeface="Cambria Math" panose="02040503050406030204" pitchFamily="18" charset="0"/>
                              </a:rPr>
                            </m:ctrlPr>
                          </m:funcPr>
                          <m:fName>
                            <m:r>
                              <m:rPr>
                                <m:sty m:val="p"/>
                              </m:rPr>
                              <a:rPr lang="en-US" altLang="zh-CN" i="1">
                                <a:solidFill>
                                  <a:srgbClr val="C00000"/>
                                </a:solidFill>
                                <a:latin typeface="Cambria Math" panose="02040503050406030204" pitchFamily="18" charset="0"/>
                              </a:rPr>
                              <m:t>cos</m:t>
                            </m:r>
                          </m:fName>
                          <m:e>
                            <m:r>
                              <a:rPr lang="zh-CN" altLang="en-US" i="1">
                                <a:solidFill>
                                  <a:srgbClr val="C00000"/>
                                </a:solidFill>
                                <a:latin typeface="Cambria Math" panose="02040503050406030204" pitchFamily="18" charset="0"/>
                              </a:rPr>
                              <m:t>𝛿</m:t>
                            </m:r>
                            <m:r>
                              <a:rPr lang="en-US" altLang="zh-CN" i="1">
                                <a:solidFill>
                                  <a:srgbClr val="C00000"/>
                                </a:solidFill>
                                <a:latin typeface="Cambria Math" panose="02040503050406030204" pitchFamily="18" charset="0"/>
                              </a:rPr>
                              <m:t>(</m:t>
                            </m:r>
                            <m:r>
                              <m:rPr>
                                <m:sty m:val="p"/>
                              </m:rPr>
                              <a:rPr lang="en-US" altLang="zh-CN" i="1">
                                <a:solidFill>
                                  <a:srgbClr val="C00000"/>
                                </a:solidFill>
                                <a:latin typeface="Cambria Math" panose="02040503050406030204" pitchFamily="18" charset="0"/>
                              </a:rPr>
                              <m:t>t</m:t>
                            </m:r>
                            <m:r>
                              <a:rPr lang="en-US" altLang="zh-CN" i="1">
                                <a:solidFill>
                                  <a:srgbClr val="C00000"/>
                                </a:solidFill>
                                <a:latin typeface="Cambria Math" panose="02040503050406030204" pitchFamily="18" charset="0"/>
                              </a:rPr>
                              <m:t>)</m:t>
                            </m:r>
                          </m:e>
                        </m:func>
                      </m:e>
                    </m:d>
                    <m:r>
                      <a:rPr lang="en-US" altLang="zh-CN" i="1">
                        <a:solidFill>
                          <a:srgbClr val="C00000"/>
                        </a:solidFill>
                        <a:latin typeface="Cambria Math" panose="02040503050406030204" pitchFamily="18" charset="0"/>
                      </a:rPr>
                      <m:t> </m:t>
                    </m:r>
                    <m:r>
                      <m:rPr>
                        <m:nor/>
                      </m:rPr>
                      <a:rPr lang="zh-CN" altLang="en-US" i="0">
                        <a:solidFill>
                          <a:srgbClr val="C00000"/>
                        </a:solidFill>
                      </a:rPr>
                      <m:t>，</m:t>
                    </m:r>
                    <m:r>
                      <a:rPr lang="zh-CN" altLang="en-US" i="1" smtClean="0">
                        <a:solidFill>
                          <a:schemeClr val="tx1"/>
                        </a:solidFill>
                        <a:latin typeface="Cambria Math" panose="02040503050406030204" pitchFamily="18" charset="0"/>
                      </a:rPr>
                      <m:t>初始</m:t>
                    </m:r>
                    <m:r>
                      <a:rPr lang="zh-CN" altLang="en-US" i="1">
                        <a:latin typeface="Cambria Math" panose="02040503050406030204" pitchFamily="18" charset="0"/>
                      </a:rPr>
                      <m:t>𝛼</m:t>
                    </m:r>
                    <m:r>
                      <m:rPr>
                        <m:nor/>
                      </m:rPr>
                      <a:rPr lang="en-US" altLang="zh-CN" i="0"/>
                      <m:t>=−45°</m:t>
                    </m:r>
                    <m:r>
                      <a:rPr lang="zh-CN" altLang="en-US" i="1">
                        <a:latin typeface="Cambria Math" panose="02040503050406030204" pitchFamily="18" charset="0"/>
                      </a:rPr>
                      <m:t>，随着</m:t>
                    </m:r>
                    <m:r>
                      <a:rPr lang="zh-CN" altLang="en-US" i="1">
                        <a:latin typeface="Cambria Math" panose="02040503050406030204" pitchFamily="18" charset="0"/>
                      </a:rPr>
                      <m:t>𝛼</m:t>
                    </m:r>
                    <m:r>
                      <a:rPr lang="zh-CN" altLang="en-US" i="1" smtClean="0">
                        <a:latin typeface="Cambria Math" panose="02040503050406030204" pitchFamily="18" charset="0"/>
                      </a:rPr>
                      <m:t>在</m:t>
                    </m:r>
                    <m:r>
                      <m:rPr>
                        <m:nor/>
                      </m:rPr>
                      <a:rPr lang="en-US" altLang="zh-CN" i="0"/>
                      <m:t>−45°——45°</m:t>
                    </m:r>
                    <m:r>
                      <m:rPr>
                        <m:nor/>
                      </m:rPr>
                      <a:rPr lang="zh-CN" altLang="en-US" i="0"/>
                      <m:t>范围内</m:t>
                    </m:r>
                    <m:r>
                      <a:rPr lang="zh-CN" altLang="en-US" i="1" smtClean="0">
                        <a:latin typeface="Cambria Math" panose="02040503050406030204" pitchFamily="18" charset="0"/>
                      </a:rPr>
                      <m:t>变化</m:t>
                    </m:r>
                  </m:oMath>
                </a14:m>
                <a:r>
                  <a:rPr lang="zh-CN" altLang="en-US"/>
                  <a:t>时，锁相得到的二倍频率分量应该会先减小后增大</a:t>
                </a:r>
                <a:r>
                  <a:rPr lang="en-US" altLang="zh-CN"/>
                  <a:t>,</a:t>
                </a:r>
                <a:r>
                  <a:rPr lang="zh-CN" altLang="en-US"/>
                  <a:t>并且几乎关于</a:t>
                </a:r>
                <a14:m>
                  <m:oMath xmlns:m="http://schemas.openxmlformats.org/officeDocument/2006/math">
                    <m:r>
                      <a:rPr lang="zh-CN" altLang="en-US" i="1">
                        <a:latin typeface="Cambria Math" panose="02040503050406030204" pitchFamily="18" charset="0"/>
                      </a:rPr>
                      <m:t>𝛼</m:t>
                    </m:r>
                  </m:oMath>
                </a14:m>
                <a:r>
                  <a:rPr lang="en-US" altLang="zh-CN"/>
                  <a:t>=0°</a:t>
                </a:r>
                <a:r>
                  <a:rPr lang="zh-CN" altLang="en-US"/>
                  <a:t>呈对称分布</a:t>
                </a:r>
                <a:endParaRPr lang="en-US" altLang="zh-CN"/>
              </a:p>
            </p:txBody>
          </p:sp>
        </mc:Choice>
        <mc:Fallback xmlns="">
          <p:sp>
            <p:nvSpPr>
              <p:cNvPr id="4" name="文本框 3">
                <a:extLst>
                  <a:ext uri="{FF2B5EF4-FFF2-40B4-BE49-F238E27FC236}">
                    <a16:creationId xmlns:a16="http://schemas.microsoft.com/office/drawing/2014/main" id="{CF7F4B12-C869-8BF7-F581-5718820E297F}"/>
                  </a:ext>
                </a:extLst>
              </p:cNvPr>
              <p:cNvSpPr txBox="1">
                <a:spLocks noRot="1" noChangeAspect="1" noMove="1" noResize="1" noEditPoints="1" noAdjustHandles="1" noChangeArrowheads="1" noChangeShapeType="1" noTextEdit="1"/>
              </p:cNvSpPr>
              <p:nvPr/>
            </p:nvSpPr>
            <p:spPr>
              <a:xfrm>
                <a:off x="53022" y="3010816"/>
                <a:ext cx="12138978" cy="768415"/>
              </a:xfrm>
              <a:prstGeom prst="rect">
                <a:avLst/>
              </a:prstGeom>
              <a:blipFill>
                <a:blip r:embed="rId4"/>
                <a:stretch>
                  <a:fillRect l="-452" r="-201" b="-11905"/>
                </a:stretch>
              </a:blipFill>
            </p:spPr>
            <p:txBody>
              <a:bodyPr/>
              <a:lstStyle/>
              <a:p>
                <a:r>
                  <a:rPr lang="zh-CN" altLang="en-US">
                    <a:noFill/>
                  </a:rPr>
                  <a:t> </a:t>
                </a:r>
              </a:p>
            </p:txBody>
          </p:sp>
        </mc:Fallback>
      </mc:AlternateContent>
      <p:sp>
        <p:nvSpPr>
          <p:cNvPr id="14" name="slide-2-evidence-frame">
            <a:extLst>
              <a:ext uri="{FF2B5EF4-FFF2-40B4-BE49-F238E27FC236}">
                <a16:creationId xmlns:a16="http://schemas.microsoft.com/office/drawing/2014/main" id="{2C797A58-4964-C796-A130-BD4E097C033F}"/>
              </a:ext>
            </a:extLst>
          </p:cNvPr>
          <p:cNvSpPr>
            <a:spLocks noGrp="1"/>
          </p:cNvSpPr>
          <p:nvPr/>
        </p:nvSpPr>
        <p:spPr>
          <a:xfrm>
            <a:off x="53023" y="592396"/>
            <a:ext cx="12019641" cy="603668"/>
          </a:xfrm>
          <a:prstGeom prst="rect">
            <a:avLst/>
          </a:prstGeom>
          <a:solidFill>
            <a:schemeClr val="accent6">
              <a:lumMod val="20000"/>
              <a:lumOff val="80000"/>
            </a:schemeClr>
          </a:solidFill>
          <a:ln w="9525">
            <a:solidFill>
              <a:srgbClr val="B8BCC4"/>
            </a:solidFill>
            <a:prstDash val="solid"/>
          </a:ln>
        </p:spPr>
        <p:txBody>
          <a:bodyPr/>
          <a:lstStyle/>
          <a:p>
            <a:endParaRPr lang="zh-CN" altLang="en-US"/>
          </a:p>
        </p:txBody>
      </p:sp>
      <p:sp>
        <p:nvSpPr>
          <p:cNvPr id="16" name="文本框 15">
            <a:extLst>
              <a:ext uri="{FF2B5EF4-FFF2-40B4-BE49-F238E27FC236}">
                <a16:creationId xmlns:a16="http://schemas.microsoft.com/office/drawing/2014/main" id="{F6D6F0D2-E33C-939E-39AB-5725027C946F}"/>
              </a:ext>
            </a:extLst>
          </p:cNvPr>
          <p:cNvSpPr txBox="1"/>
          <p:nvPr/>
        </p:nvSpPr>
        <p:spPr>
          <a:xfrm>
            <a:off x="62765" y="592396"/>
            <a:ext cx="12066470" cy="646331"/>
          </a:xfrm>
          <a:prstGeom prst="rect">
            <a:avLst/>
          </a:prstGeom>
          <a:noFill/>
        </p:spPr>
        <p:txBody>
          <a:bodyPr wrap="square" rtlCol="0">
            <a:spAutoFit/>
          </a:bodyPr>
          <a:lstStyle/>
          <a:p>
            <a:r>
              <a:rPr lang="zh-CN" altLang="en-US"/>
              <a:t>和孙师兄讨论后：验证信号不是噪声重点是看</a:t>
            </a:r>
            <a:r>
              <a:rPr lang="zh-CN" altLang="en-US">
                <a:solidFill>
                  <a:srgbClr val="FF0000"/>
                </a:solidFill>
              </a:rPr>
              <a:t>变化趋势</a:t>
            </a:r>
            <a:r>
              <a:rPr lang="zh-CN" altLang="en-US"/>
              <a:t>。可以通过测量不同偏振情况最终得到的示波器信号和锁相信号进行对比，观察变化趋势是否相同，趋势正确即可判断信号不是噪声。</a:t>
            </a:r>
          </a:p>
        </p:txBody>
      </p:sp>
      <p:graphicFrame>
        <p:nvGraphicFramePr>
          <p:cNvPr id="17" name="表格 16">
            <a:extLst>
              <a:ext uri="{FF2B5EF4-FFF2-40B4-BE49-F238E27FC236}">
                <a16:creationId xmlns:a16="http://schemas.microsoft.com/office/drawing/2014/main" id="{7F3E9AB2-6EC3-449F-CEAC-35EC43A6BEDB}"/>
              </a:ext>
            </a:extLst>
          </p:cNvPr>
          <p:cNvGraphicFramePr>
            <a:graphicFrameLocks noGrp="1"/>
          </p:cNvGraphicFramePr>
          <p:nvPr>
            <p:extLst>
              <p:ext uri="{D42A27DB-BD31-4B8C-83A1-F6EECF244321}">
                <p14:modId xmlns:p14="http://schemas.microsoft.com/office/powerpoint/2010/main" val="3997132801"/>
              </p:ext>
            </p:extLst>
          </p:nvPr>
        </p:nvGraphicFramePr>
        <p:xfrm>
          <a:off x="191344" y="4328283"/>
          <a:ext cx="11449267" cy="741680"/>
        </p:xfrm>
        <a:graphic>
          <a:graphicData uri="http://schemas.openxmlformats.org/drawingml/2006/table">
            <a:tbl>
              <a:tblPr firstRow="1" bandRow="1">
                <a:tableStyleId>{7DF18680-E054-41AD-8BC1-D1AEF772440D}</a:tableStyleId>
              </a:tblPr>
              <a:tblGrid>
                <a:gridCol w="1761424">
                  <a:extLst>
                    <a:ext uri="{9D8B030D-6E8A-4147-A177-3AD203B41FA5}">
                      <a16:colId xmlns:a16="http://schemas.microsoft.com/office/drawing/2014/main" val="56037610"/>
                    </a:ext>
                  </a:extLst>
                </a:gridCol>
                <a:gridCol w="880713">
                  <a:extLst>
                    <a:ext uri="{9D8B030D-6E8A-4147-A177-3AD203B41FA5}">
                      <a16:colId xmlns:a16="http://schemas.microsoft.com/office/drawing/2014/main" val="1054389449"/>
                    </a:ext>
                  </a:extLst>
                </a:gridCol>
                <a:gridCol w="880713">
                  <a:extLst>
                    <a:ext uri="{9D8B030D-6E8A-4147-A177-3AD203B41FA5}">
                      <a16:colId xmlns:a16="http://schemas.microsoft.com/office/drawing/2014/main" val="4051946734"/>
                    </a:ext>
                  </a:extLst>
                </a:gridCol>
                <a:gridCol w="880713">
                  <a:extLst>
                    <a:ext uri="{9D8B030D-6E8A-4147-A177-3AD203B41FA5}">
                      <a16:colId xmlns:a16="http://schemas.microsoft.com/office/drawing/2014/main" val="3542577125"/>
                    </a:ext>
                  </a:extLst>
                </a:gridCol>
                <a:gridCol w="880713">
                  <a:extLst>
                    <a:ext uri="{9D8B030D-6E8A-4147-A177-3AD203B41FA5}">
                      <a16:colId xmlns:a16="http://schemas.microsoft.com/office/drawing/2014/main" val="2633929799"/>
                    </a:ext>
                  </a:extLst>
                </a:gridCol>
                <a:gridCol w="880713">
                  <a:extLst>
                    <a:ext uri="{9D8B030D-6E8A-4147-A177-3AD203B41FA5}">
                      <a16:colId xmlns:a16="http://schemas.microsoft.com/office/drawing/2014/main" val="1037957894"/>
                    </a:ext>
                  </a:extLst>
                </a:gridCol>
                <a:gridCol w="880713">
                  <a:extLst>
                    <a:ext uri="{9D8B030D-6E8A-4147-A177-3AD203B41FA5}">
                      <a16:colId xmlns:a16="http://schemas.microsoft.com/office/drawing/2014/main" val="1904351353"/>
                    </a:ext>
                  </a:extLst>
                </a:gridCol>
                <a:gridCol w="880713">
                  <a:extLst>
                    <a:ext uri="{9D8B030D-6E8A-4147-A177-3AD203B41FA5}">
                      <a16:colId xmlns:a16="http://schemas.microsoft.com/office/drawing/2014/main" val="3587373820"/>
                    </a:ext>
                  </a:extLst>
                </a:gridCol>
                <a:gridCol w="880713">
                  <a:extLst>
                    <a:ext uri="{9D8B030D-6E8A-4147-A177-3AD203B41FA5}">
                      <a16:colId xmlns:a16="http://schemas.microsoft.com/office/drawing/2014/main" val="55679396"/>
                    </a:ext>
                  </a:extLst>
                </a:gridCol>
                <a:gridCol w="880713">
                  <a:extLst>
                    <a:ext uri="{9D8B030D-6E8A-4147-A177-3AD203B41FA5}">
                      <a16:colId xmlns:a16="http://schemas.microsoft.com/office/drawing/2014/main" val="164439750"/>
                    </a:ext>
                  </a:extLst>
                </a:gridCol>
                <a:gridCol w="880713">
                  <a:extLst>
                    <a:ext uri="{9D8B030D-6E8A-4147-A177-3AD203B41FA5}">
                      <a16:colId xmlns:a16="http://schemas.microsoft.com/office/drawing/2014/main" val="1922787045"/>
                    </a:ext>
                  </a:extLst>
                </a:gridCol>
                <a:gridCol w="880713">
                  <a:extLst>
                    <a:ext uri="{9D8B030D-6E8A-4147-A177-3AD203B41FA5}">
                      <a16:colId xmlns:a16="http://schemas.microsoft.com/office/drawing/2014/main" val="2477935063"/>
                    </a:ext>
                  </a:extLst>
                </a:gridCol>
              </a:tblGrid>
              <a:tr h="370840">
                <a:tc>
                  <a:txBody>
                    <a:bodyPr/>
                    <a:lstStyle/>
                    <a:p>
                      <a:pPr algn="ctr"/>
                      <a:r>
                        <a:rPr lang="zh-CN" altLang="en-US" b="0">
                          <a:solidFill>
                            <a:schemeClr val="tx1"/>
                          </a:solidFill>
                        </a:rPr>
                        <a:t>角度</a:t>
                      </a:r>
                    </a:p>
                  </a:txBody>
                  <a:tcPr>
                    <a:solidFill>
                      <a:schemeClr val="accent1">
                        <a:lumMod val="20000"/>
                        <a:lumOff val="80000"/>
                      </a:schemeClr>
                    </a:solidFill>
                  </a:tcPr>
                </a:tc>
                <a:tc>
                  <a:txBody>
                    <a:bodyPr/>
                    <a:lstStyle/>
                    <a:p>
                      <a:pPr algn="ctr"/>
                      <a:r>
                        <a:rPr lang="en-US" altLang="zh-CN">
                          <a:solidFill>
                            <a:schemeClr val="tx1"/>
                          </a:solidFill>
                        </a:rPr>
                        <a:t>-45°</a:t>
                      </a:r>
                      <a:endParaRPr lang="zh-CN" altLang="en-US">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solidFill>
                            <a:schemeClr val="tx1"/>
                          </a:solidFill>
                        </a:rPr>
                        <a:t>-40°</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-30°</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-20°</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-10°</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0°</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10°</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20°</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30°</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40°</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45°</a:t>
                      </a:r>
                      <a:endParaRPr lang="zh-CN" altLang="en-US">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4183084178"/>
                  </a:ext>
                </a:extLst>
              </a:tr>
              <a:tr h="370840">
                <a:tc>
                  <a:txBody>
                    <a:bodyPr/>
                    <a:lstStyle/>
                    <a:p>
                      <a:pPr algn="ctr"/>
                      <a:r>
                        <a:rPr lang="en-US" altLang="zh-CN">
                          <a:solidFill>
                            <a:schemeClr val="tx1"/>
                          </a:solidFill>
                        </a:rPr>
                        <a:t>2f</a:t>
                      </a:r>
                      <a:r>
                        <a:rPr lang="zh-CN" altLang="en-US">
                          <a:solidFill>
                            <a:schemeClr val="tx1"/>
                          </a:solidFill>
                        </a:rPr>
                        <a:t>分量数值</a:t>
                      </a:r>
                      <a:r>
                        <a:rPr lang="en-US" altLang="zh-CN">
                          <a:solidFill>
                            <a:schemeClr val="tx1"/>
                          </a:solidFill>
                        </a:rPr>
                        <a:t>mv</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59</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53</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41</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23</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18</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0.4</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17</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23</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39</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54</a:t>
                      </a:r>
                      <a:endParaRPr lang="zh-CN" altLang="en-US">
                        <a:solidFill>
                          <a:schemeClr val="tx1"/>
                        </a:solidFill>
                      </a:endParaRPr>
                    </a:p>
                  </a:txBody>
                  <a:tcPr>
                    <a:solidFill>
                      <a:schemeClr val="accent1">
                        <a:lumMod val="20000"/>
                        <a:lumOff val="80000"/>
                      </a:schemeClr>
                    </a:solidFill>
                  </a:tcPr>
                </a:tc>
                <a:tc>
                  <a:txBody>
                    <a:bodyPr/>
                    <a:lstStyle/>
                    <a:p>
                      <a:pPr algn="ctr"/>
                      <a:r>
                        <a:rPr lang="en-US" altLang="zh-CN">
                          <a:solidFill>
                            <a:schemeClr val="tx1"/>
                          </a:solidFill>
                        </a:rPr>
                        <a:t>59</a:t>
                      </a:r>
                      <a:endParaRPr lang="zh-CN" altLang="en-US">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571239686"/>
                  </a:ext>
                </a:extLst>
              </a:tr>
            </a:tbl>
          </a:graphicData>
        </a:graphic>
      </p:graphicFrame>
      <p:sp>
        <p:nvSpPr>
          <p:cNvPr id="20" name="文本框 19">
            <a:extLst>
              <a:ext uri="{FF2B5EF4-FFF2-40B4-BE49-F238E27FC236}">
                <a16:creationId xmlns:a16="http://schemas.microsoft.com/office/drawing/2014/main" id="{8889E758-E31A-A7F7-6ADA-BDDC0C423B42}"/>
              </a:ext>
            </a:extLst>
          </p:cNvPr>
          <p:cNvSpPr txBox="1"/>
          <p:nvPr/>
        </p:nvSpPr>
        <p:spPr>
          <a:xfrm>
            <a:off x="62765" y="3958951"/>
            <a:ext cx="1338828" cy="369332"/>
          </a:xfrm>
          <a:prstGeom prst="rect">
            <a:avLst/>
          </a:prstGeom>
          <a:noFill/>
        </p:spPr>
        <p:txBody>
          <a:bodyPr wrap="none" rtlCol="0">
            <a:spAutoFit/>
          </a:bodyPr>
          <a:lstStyle/>
          <a:p>
            <a:r>
              <a:rPr lang="zh-CN" altLang="en-US" b="1"/>
              <a:t>实验结果：</a:t>
            </a:r>
          </a:p>
        </p:txBody>
      </p:sp>
      <p:sp>
        <p:nvSpPr>
          <p:cNvPr id="24" name="slide-2-evidence-frame">
            <a:extLst>
              <a:ext uri="{FF2B5EF4-FFF2-40B4-BE49-F238E27FC236}">
                <a16:creationId xmlns:a16="http://schemas.microsoft.com/office/drawing/2014/main" id="{D91C7648-4C27-B3A9-BB24-02BD786091C8}"/>
              </a:ext>
            </a:extLst>
          </p:cNvPr>
          <p:cNvSpPr>
            <a:spLocks noGrp="1"/>
          </p:cNvSpPr>
          <p:nvPr/>
        </p:nvSpPr>
        <p:spPr>
          <a:xfrm>
            <a:off x="214510" y="5332978"/>
            <a:ext cx="5665466" cy="432049"/>
          </a:xfrm>
          <a:prstGeom prst="rect">
            <a:avLst/>
          </a:prstGeom>
          <a:solidFill>
            <a:schemeClr val="accent2">
              <a:lumMod val="20000"/>
              <a:lumOff val="80000"/>
            </a:schemeClr>
          </a:solidFill>
          <a:ln w="9525">
            <a:solidFill>
              <a:srgbClr val="B8BCC4"/>
            </a:solidFill>
            <a:prstDash val="solid"/>
          </a:ln>
        </p:spPr>
        <p:txBody>
          <a:bodyPr/>
          <a:lstStyle/>
          <a:p>
            <a:r>
              <a:rPr lang="zh-CN" altLang="en-US" b="1"/>
              <a:t>结论：</a:t>
            </a:r>
            <a:r>
              <a:rPr lang="zh-CN" altLang="en-US"/>
              <a:t>锁相放大器得到的结果确认是</a:t>
            </a:r>
            <a:r>
              <a:rPr lang="en-US" altLang="zh-CN"/>
              <a:t>2f</a:t>
            </a:r>
            <a:r>
              <a:rPr lang="zh-CN" altLang="en-US"/>
              <a:t>信号，不是噪声</a:t>
            </a:r>
            <a:endParaRPr lang="en-US" altLang="zh-CN"/>
          </a:p>
        </p:txBody>
      </p:sp>
      <p:pic>
        <p:nvPicPr>
          <p:cNvPr id="8" name="图片 7">
            <a:extLst>
              <a:ext uri="{FF2B5EF4-FFF2-40B4-BE49-F238E27FC236}">
                <a16:creationId xmlns:a16="http://schemas.microsoft.com/office/drawing/2014/main" id="{D98156D9-02F4-14C1-FF0C-18775271FA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16280" y="1442274"/>
            <a:ext cx="2880315" cy="1612976"/>
          </a:xfrm>
          <a:prstGeom prst="rect">
            <a:avLst/>
          </a:prstGeom>
        </p:spPr>
      </p:pic>
      <p:sp>
        <p:nvSpPr>
          <p:cNvPr id="2" name="TextBox 1">
            <a:extLst>
              <a:ext uri="{FF2B5EF4-FFF2-40B4-BE49-F238E27FC236}">
                <a16:creationId xmlns:a16="http://schemas.microsoft.com/office/drawing/2014/main" id="{0198A9CA-3890-51BE-9C11-3CDA7F54B202}"/>
              </a:ext>
            </a:extLst>
          </p:cNvPr>
          <p:cNvSpPr txBox="1"/>
          <p:nvPr/>
        </p:nvSpPr>
        <p:spPr>
          <a:xfrm>
            <a:off x="6312026" y="5401792"/>
            <a:ext cx="1800493" cy="369332"/>
          </a:xfrm>
          <a:prstGeom prst="rect">
            <a:avLst/>
          </a:prstGeom>
          <a:noFill/>
        </p:spPr>
        <p:txBody>
          <a:bodyPr wrap="none" rtlCol="0">
            <a:spAutoFit/>
          </a:bodyPr>
          <a:lstStyle/>
          <a:p>
            <a:r>
              <a:rPr lang="zh-CN" altLang="en-US">
                <a:highlight>
                  <a:srgbClr val="FFFF00"/>
                </a:highlight>
              </a:rPr>
              <a:t>验证过程很漂亮</a:t>
            </a:r>
            <a:endParaRPr lang="en-US">
              <a:highlight>
                <a:srgbClr val="FFFF00"/>
              </a:highlight>
            </a:endParaRPr>
          </a:p>
        </p:txBody>
      </p:sp>
    </p:spTree>
    <p:extLst>
      <p:ext uri="{BB962C8B-B14F-4D97-AF65-F5344CB8AC3E}">
        <p14:creationId xmlns:p14="http://schemas.microsoft.com/office/powerpoint/2010/main" val="7842487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8D925-5AB2-73A6-9C3B-936CDDFF20B1}"/>
            </a:ext>
          </a:extLst>
        </p:cNvPr>
        <p:cNvGrpSpPr/>
        <p:nvPr/>
      </p:nvGrpSpPr>
      <p:grpSpPr>
        <a:xfrm>
          <a:off x="0" y="0"/>
          <a:ext cx="0" cy="0"/>
          <a:chOff x="0" y="0"/>
          <a:chExt cx="0" cy="0"/>
        </a:xfrm>
      </p:grpSpPr>
      <p:sp>
        <p:nvSpPr>
          <p:cNvPr id="26" name="slide-2-evidence-frame">
            <a:extLst>
              <a:ext uri="{FF2B5EF4-FFF2-40B4-BE49-F238E27FC236}">
                <a16:creationId xmlns:a16="http://schemas.microsoft.com/office/drawing/2014/main" id="{0EB521FE-03DC-B4D3-5646-334F642F4017}"/>
              </a:ext>
            </a:extLst>
          </p:cNvPr>
          <p:cNvSpPr>
            <a:spLocks noGrp="1"/>
          </p:cNvSpPr>
          <p:nvPr/>
        </p:nvSpPr>
        <p:spPr>
          <a:xfrm>
            <a:off x="119337" y="5661248"/>
            <a:ext cx="5616624" cy="718339"/>
          </a:xfrm>
          <a:prstGeom prst="rect">
            <a:avLst/>
          </a:prstGeom>
          <a:solidFill>
            <a:schemeClr val="accent2">
              <a:lumMod val="20000"/>
              <a:lumOff val="80000"/>
            </a:schemeClr>
          </a:solidFill>
          <a:ln w="9525">
            <a:solidFill>
              <a:srgbClr val="B8BCC4"/>
            </a:solidFill>
            <a:prstDash val="solid"/>
          </a:ln>
        </p:spPr>
        <p:txBody>
          <a:bodyPr/>
          <a:lstStyle/>
          <a:p>
            <a:endParaRPr lang="en-US" altLang="zh-CN"/>
          </a:p>
        </p:txBody>
      </p:sp>
      <p:cxnSp>
        <p:nvCxnSpPr>
          <p:cNvPr id="5" name="Straight Connector 4">
            <a:extLst>
              <a:ext uri="{FF2B5EF4-FFF2-40B4-BE49-F238E27FC236}">
                <a16:creationId xmlns:a16="http://schemas.microsoft.com/office/drawing/2014/main" id="{0FE70450-5C12-5465-CF14-10C5BA844515}"/>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9AEC0213-F291-CBBF-776E-66A84BA7F28B}"/>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14</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5C9DE87C-49E4-31CC-9084-37B596CCCB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5F8F03D-081D-8F28-6B4A-FFA77D8B103E}"/>
                  </a:ext>
                </a:extLst>
              </p:cNvPr>
              <p:cNvSpPr txBox="1"/>
              <p:nvPr/>
            </p:nvSpPr>
            <p:spPr>
              <a:xfrm>
                <a:off x="623392" y="69315"/>
                <a:ext cx="11568608" cy="369332"/>
              </a:xfrm>
              <a:prstGeom prst="rect">
                <a:avLst/>
              </a:prstGeom>
              <a:noFill/>
            </p:spPr>
            <p:txBody>
              <a:bodyPr wrap="square" rtlCol="0">
                <a:spAutoFit/>
              </a:bodyPr>
              <a:lstStyle/>
              <a:p>
                <a:r>
                  <a:rPr lang="en-US" altLang="zh-CN"/>
                  <a:t>1.5:</a:t>
                </a:r>
                <a:r>
                  <a:rPr lang="zh-CN" altLang="en-US"/>
                  <a:t>根据锁相放大器的的数据尝试反演出</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a:latin typeface="Cambria Math" panose="02040503050406030204" pitchFamily="18" charset="0"/>
                          </a:rPr>
                          <m:t>2</m:t>
                        </m:r>
                      </m:sub>
                    </m:sSub>
                  </m:oMath>
                </a14:m>
                <a:endParaRPr lang="en-US" altLang="zh-CN" dirty="0"/>
              </a:p>
            </p:txBody>
          </p:sp>
        </mc:Choice>
        <mc:Fallback xmlns="">
          <p:sp>
            <p:nvSpPr>
              <p:cNvPr id="3" name="文本框 2">
                <a:extLst>
                  <a:ext uri="{FF2B5EF4-FFF2-40B4-BE49-F238E27FC236}">
                    <a16:creationId xmlns:a16="http://schemas.microsoft.com/office/drawing/2014/main" id="{B5F8F03D-081D-8F28-6B4A-FFA77D8B103E}"/>
                  </a:ext>
                </a:extLst>
              </p:cNvPr>
              <p:cNvSpPr txBox="1">
                <a:spLocks noRot="1" noChangeAspect="1" noMove="1" noResize="1" noEditPoints="1" noAdjustHandles="1" noChangeArrowheads="1" noChangeShapeType="1" noTextEdit="1"/>
              </p:cNvSpPr>
              <p:nvPr/>
            </p:nvSpPr>
            <p:spPr>
              <a:xfrm>
                <a:off x="623392" y="69315"/>
                <a:ext cx="11568608" cy="369332"/>
              </a:xfrm>
              <a:prstGeom prst="rect">
                <a:avLst/>
              </a:prstGeom>
              <a:blipFill>
                <a:blip r:embed="rId3"/>
                <a:stretch>
                  <a:fillRect l="-421"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C00AE2D-D972-61CA-FD28-B79F3F74C4E6}"/>
                  </a:ext>
                </a:extLst>
              </p:cNvPr>
              <p:cNvSpPr txBox="1"/>
              <p:nvPr/>
            </p:nvSpPr>
            <p:spPr>
              <a:xfrm>
                <a:off x="-3321" y="660593"/>
                <a:ext cx="6459361" cy="668581"/>
              </a:xfrm>
              <a:prstGeom prst="rect">
                <a:avLst/>
              </a:prstGeom>
              <a:noFill/>
            </p:spPr>
            <p:txBody>
              <a:bodyPr wrap="square" rtlCol="0">
                <a:spAutoFit/>
              </a:bodyPr>
              <a:lstStyle/>
              <a:p>
                <a:r>
                  <a:rPr lang="zh-CN" altLang="en-US"/>
                  <a:t>锁相放大器所得</a:t>
                </a:r>
                <a:r>
                  <a:rPr lang="en-US" altLang="zh-CN"/>
                  <a:t>2f</a:t>
                </a:r>
                <a:r>
                  <a:rPr lang="zh-CN" altLang="en-US"/>
                  <a:t>信号</a:t>
                </a:r>
                <a:r>
                  <a:rPr lang="en-US" altLang="zh-CN"/>
                  <a:t>L</a:t>
                </a:r>
                <a:r>
                  <a:rPr lang="zh-CN" altLang="en-US"/>
                  <a:t>为</a:t>
                </a:r>
                <a:r>
                  <a:rPr lang="en-US" altLang="zh-CN"/>
                  <a:t>59.59mV</a:t>
                </a:r>
                <a:r>
                  <a:rPr lang="zh-CN" altLang="en-US"/>
                  <a:t>，示波器所得直流分量</a:t>
                </a:r>
                <a:r>
                  <a:rPr lang="en-US" altLang="zh-CN"/>
                  <a:t>U</a:t>
                </a:r>
                <a:r>
                  <a:rPr lang="zh-CN" altLang="en-US"/>
                  <a:t>为</a:t>
                </a:r>
                <a:r>
                  <a:rPr lang="en-US" altLang="zh-CN"/>
                  <a:t>107mV</a:t>
                </a:r>
                <a:r>
                  <a:rPr lang="zh-CN" altLang="en-US"/>
                  <a:t>，假定</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𝐺</m:t>
                        </m:r>
                      </m:e>
                      <m:sub>
                        <m:r>
                          <a:rPr lang="zh-CN" altLang="en-US">
                            <a:latin typeface="Cambria Math" panose="02040503050406030204" pitchFamily="18" charset="0"/>
                          </a:rPr>
                          <m:t>2</m:t>
                        </m:r>
                        <m:r>
                          <a:rPr lang="zh-CN" altLang="en-US" i="1">
                            <a:latin typeface="Cambria Math" panose="02040503050406030204" pitchFamily="18" charset="0"/>
                          </a:rPr>
                          <m:t>𝑓</m:t>
                        </m:r>
                      </m:sub>
                    </m:sSub>
                  </m:oMath>
                </a14:m>
                <a:r>
                  <a:rPr lang="en-US" altLang="zh-CN"/>
                  <a:t>=</a:t>
                </a:r>
                <a:r>
                  <a:rPr lang="zh-CN" altLang="en-US"/>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𝐺</m:t>
                        </m:r>
                      </m:e>
                      <m:sub>
                        <m:r>
                          <m:rPr>
                            <m:sty m:val="p"/>
                          </m:rPr>
                          <a:rPr lang="en-US" altLang="zh-CN" b="0" i="0" smtClean="0">
                            <a:latin typeface="Cambria Math" panose="02040503050406030204" pitchFamily="18" charset="0"/>
                          </a:rPr>
                          <m:t>DC</m:t>
                        </m:r>
                      </m:sub>
                    </m:sSub>
                  </m:oMath>
                </a14:m>
                <a:endParaRPr lang="zh-CN" altLang="en-US"/>
              </a:p>
            </p:txBody>
          </p:sp>
        </mc:Choice>
        <mc:Fallback xmlns="">
          <p:sp>
            <p:nvSpPr>
              <p:cNvPr id="2" name="文本框 1">
                <a:extLst>
                  <a:ext uri="{FF2B5EF4-FFF2-40B4-BE49-F238E27FC236}">
                    <a16:creationId xmlns:a16="http://schemas.microsoft.com/office/drawing/2014/main" id="{AC00AE2D-D972-61CA-FD28-B79F3F74C4E6}"/>
                  </a:ext>
                </a:extLst>
              </p:cNvPr>
              <p:cNvSpPr txBox="1">
                <a:spLocks noRot="1" noChangeAspect="1" noMove="1" noResize="1" noEditPoints="1" noAdjustHandles="1" noChangeArrowheads="1" noChangeShapeType="1" noTextEdit="1"/>
              </p:cNvSpPr>
              <p:nvPr/>
            </p:nvSpPr>
            <p:spPr>
              <a:xfrm>
                <a:off x="-3321" y="660593"/>
                <a:ext cx="6459361" cy="668581"/>
              </a:xfrm>
              <a:prstGeom prst="rect">
                <a:avLst/>
              </a:prstGeom>
              <a:blipFill>
                <a:blip r:embed="rId4"/>
                <a:stretch>
                  <a:fillRect l="-755" t="-4545"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FB0B14F-93CA-5D60-666D-DB271AA6F6B0}"/>
                  </a:ext>
                </a:extLst>
              </p:cNvPr>
              <p:cNvSpPr txBox="1"/>
              <p:nvPr/>
            </p:nvSpPr>
            <p:spPr>
              <a:xfrm>
                <a:off x="119336" y="3426309"/>
                <a:ext cx="6107804" cy="979627"/>
              </a:xfrm>
              <a:prstGeom prst="rect">
                <a:avLst/>
              </a:prstGeom>
              <a:noFill/>
            </p:spPr>
            <p:txBody>
              <a:bodyPr wrap="square">
                <a:spAutoFit/>
              </a:bodyPr>
              <a:lstStyle/>
              <a:p>
                <a:r>
                  <a:rPr lang="zh-CN" altLang="en-US"/>
                  <a:t>归一化</a:t>
                </a:r>
                <a14:m>
                  <m:oMath xmlns:m="http://schemas.openxmlformats.org/officeDocument/2006/math">
                    <m:r>
                      <a:rPr lang="zh-CN" altLang="en-US" i="1" smtClean="0">
                        <a:latin typeface="Cambria Math" panose="02040503050406030204" pitchFamily="18" charset="0"/>
                      </a:rPr>
                      <m:t>斯托克斯</m:t>
                    </m:r>
                    <m:r>
                      <a:rPr lang="zh-CN" altLang="en-US" i="1">
                        <a:latin typeface="Cambria Math" panose="02040503050406030204" pitchFamily="18" charset="0"/>
                      </a:rPr>
                      <m:t>分</m:t>
                    </m:r>
                    <m:r>
                      <a:rPr lang="zh-CN" altLang="en-US" i="1" smtClean="0">
                        <a:latin typeface="Cambria Math" panose="02040503050406030204" pitchFamily="18" charset="0"/>
                      </a:rPr>
                      <m:t>量：</m:t>
                    </m:r>
                  </m:oMath>
                </a14:m>
                <a:endParaRPr lang="en-US" altLang="zh-CN" i="1">
                  <a:latin typeface="Cambria Math" panose="02040503050406030204" pitchFamily="18" charset="0"/>
                </a:endParaRPr>
              </a:p>
              <a:p>
                <a:pPr/>
                <a14:m>
                  <m:oMathPara xmlns:m="http://schemas.openxmlformats.org/officeDocument/2006/math">
                    <m:oMath>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i="0">
                                  <a:latin typeface="Cambria Math" panose="02040503050406030204" pitchFamily="18" charset="0"/>
                                </a:rPr>
                                <m:t>2</m:t>
                              </m:r>
                            </m:sub>
                          </m:sSub>
                        </m:e>
                      </m:d>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𝐿</m:t>
                          </m:r>
                        </m:num>
                        <m:den>
                          <m:rad>
                            <m:radPr>
                              <m:degHide m:val="on"/>
                              <m:ctrlPr>
                                <a:rPr lang="zh-CN" altLang="en-US" i="1">
                                  <a:latin typeface="Cambria Math" panose="02040503050406030204" pitchFamily="18" charset="0"/>
                                </a:rPr>
                              </m:ctrlPr>
                            </m:radPr>
                            <m:deg/>
                            <m:e>
                              <m:r>
                                <a:rPr lang="zh-CN" altLang="en-US">
                                  <a:latin typeface="Cambria Math" panose="02040503050406030204" pitchFamily="18" charset="0"/>
                                </a:rPr>
                                <m:t>2</m:t>
                              </m:r>
                            </m:e>
                          </m:rad>
                          <m:sSub>
                            <m:sSubPr>
                              <m:ctrlPr>
                                <a:rPr lang="en-US"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2</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𝛿</m:t>
                                  </m:r>
                                </m:e>
                                <m:sub>
                                  <m:r>
                                    <a:rPr lang="en-US" altLang="zh-CN" i="1">
                                      <a:latin typeface="Cambria Math" panose="02040503050406030204" pitchFamily="18" charset="0"/>
                                    </a:rPr>
                                    <m:t>0</m:t>
                                  </m:r>
                                </m:sub>
                              </m:sSub>
                            </m:e>
                          </m:d>
                          <m:r>
                            <m:rPr>
                              <m:sty m:val="p"/>
                            </m:rPr>
                            <a:rPr lang="en-US" altLang="zh-CN" b="0" i="1" smtClean="0">
                              <a:latin typeface="Cambria Math" panose="02040503050406030204" pitchFamily="18" charset="0"/>
                            </a:rPr>
                            <m:t>U</m:t>
                          </m:r>
                        </m:den>
                      </m:f>
                      <m:r>
                        <a:rPr lang="en-US" altLang="zh-CN" b="0" i="0" smtClean="0">
                          <a:latin typeface="Cambria Math" panose="02040503050406030204" pitchFamily="18" charset="0"/>
                        </a:rPr>
                        <m:t>=</m:t>
                      </m:r>
                      <m:f>
                        <m:fPr>
                          <m:ctrlPr>
                            <a:rPr lang="zh-CN" altLang="en-US" i="0">
                              <a:latin typeface="Cambria Math" panose="02040503050406030204" pitchFamily="18" charset="0"/>
                            </a:rPr>
                          </m:ctrlPr>
                        </m:fPr>
                        <m:num>
                          <m:r>
                            <a:rPr lang="zh-CN" altLang="en-US" i="0">
                              <a:latin typeface="Cambria Math" panose="02040503050406030204" pitchFamily="18" charset="0"/>
                            </a:rPr>
                            <m:t>59.59</m:t>
                          </m:r>
                        </m:num>
                        <m:den>
                          <m:rad>
                            <m:radPr>
                              <m:degHide m:val="on"/>
                              <m:ctrlPr>
                                <a:rPr lang="zh-CN" altLang="en-US" i="1">
                                  <a:latin typeface="Cambria Math" panose="02040503050406030204" pitchFamily="18" charset="0"/>
                                </a:rPr>
                              </m:ctrlPr>
                            </m:radPr>
                            <m:deg/>
                            <m:e>
                              <m:r>
                                <a:rPr lang="zh-CN" altLang="en-US" i="0">
                                  <a:latin typeface="Cambria Math" panose="02040503050406030204" pitchFamily="18" charset="0"/>
                                </a:rPr>
                                <m:t>2</m:t>
                              </m:r>
                            </m:e>
                          </m:rad>
                          <m:r>
                            <a:rPr lang="zh-CN" altLang="en-US" i="0">
                              <a:latin typeface="Cambria Math" panose="02040503050406030204" pitchFamily="18" charset="0"/>
                            </a:rPr>
                            <m:t>×0.4317548070×</m:t>
                          </m:r>
                          <m:r>
                            <a:rPr lang="en-US" altLang="zh-CN" b="0" i="0" smtClean="0">
                              <a:latin typeface="Cambria Math" panose="02040503050406030204" pitchFamily="18" charset="0"/>
                            </a:rPr>
                            <m:t>99</m:t>
                          </m:r>
                        </m:den>
                      </m:f>
                      <m:r>
                        <a:rPr lang="zh-CN" altLang="en-US" i="0">
                          <a:latin typeface="Cambria Math" panose="02040503050406030204" pitchFamily="18" charset="0"/>
                        </a:rPr>
                        <m:t>≈0.9</m:t>
                      </m:r>
                      <m:r>
                        <a:rPr lang="en-US" altLang="zh-CN" b="0" i="0" smtClean="0">
                          <a:latin typeface="Cambria Math" panose="02040503050406030204" pitchFamily="18" charset="0"/>
                        </a:rPr>
                        <m:t>860</m:t>
                      </m:r>
                    </m:oMath>
                  </m:oMathPara>
                </a14:m>
                <a:endParaRPr lang="zh-CN" altLang="en-US"/>
              </a:p>
            </p:txBody>
          </p:sp>
        </mc:Choice>
        <mc:Fallback xmlns="">
          <p:sp>
            <p:nvSpPr>
              <p:cNvPr id="6" name="文本框 5">
                <a:extLst>
                  <a:ext uri="{FF2B5EF4-FFF2-40B4-BE49-F238E27FC236}">
                    <a16:creationId xmlns:a16="http://schemas.microsoft.com/office/drawing/2014/main" id="{5FB0B14F-93CA-5D60-666D-DB271AA6F6B0}"/>
                  </a:ext>
                </a:extLst>
              </p:cNvPr>
              <p:cNvSpPr txBox="1">
                <a:spLocks noRot="1" noChangeAspect="1" noMove="1" noResize="1" noEditPoints="1" noAdjustHandles="1" noChangeArrowheads="1" noChangeShapeType="1" noTextEdit="1"/>
              </p:cNvSpPr>
              <p:nvPr/>
            </p:nvSpPr>
            <p:spPr>
              <a:xfrm>
                <a:off x="119336" y="3426309"/>
                <a:ext cx="6107804" cy="979627"/>
              </a:xfrm>
              <a:prstGeom prst="rect">
                <a:avLst/>
              </a:prstGeom>
              <a:blipFill>
                <a:blip r:embed="rId5"/>
                <a:stretch>
                  <a:fillRect l="-898" t="-31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1B1E1D8-FA32-B635-091F-69D1103D2B4A}"/>
                  </a:ext>
                </a:extLst>
              </p:cNvPr>
              <p:cNvSpPr txBox="1"/>
              <p:nvPr/>
            </p:nvSpPr>
            <p:spPr>
              <a:xfrm>
                <a:off x="0" y="1468130"/>
                <a:ext cx="5663952" cy="758028"/>
              </a:xfrm>
              <a:prstGeom prst="rect">
                <a:avLst/>
              </a:prstGeom>
              <a:noFill/>
            </p:spPr>
            <p:txBody>
              <a:bodyPr wrap="square">
                <a:spAutoFit/>
              </a:bodyPr>
              <a:lstStyle/>
              <a:p>
                <a:pPr/>
                <a14:m>
                  <m:oMathPara xmlns:m="http://schemas.openxmlformats.org/officeDocument/2006/math">
                    <m:oMath>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i="0">
                              <a:latin typeface="Cambria Math" panose="02040503050406030204" pitchFamily="18" charset="0"/>
                            </a:rPr>
                            <m:t>2</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ad>
                            <m:radPr>
                              <m:degHide m:val="on"/>
                              <m:ctrlPr>
                                <a:rPr lang="zh-CN" altLang="en-US" i="1">
                                  <a:latin typeface="Cambria Math" panose="02040503050406030204" pitchFamily="18" charset="0"/>
                                </a:rPr>
                              </m:ctrlPr>
                            </m:radPr>
                            <m:deg/>
                            <m:e>
                              <m:r>
                                <a:rPr lang="zh-CN" altLang="en-US" i="0">
                                  <a:latin typeface="Cambria Math" panose="02040503050406030204" pitchFamily="18" charset="0"/>
                                </a:rPr>
                                <m:t>2</m:t>
                              </m:r>
                            </m:e>
                          </m:rad>
                          <m:r>
                            <a:rPr lang="zh-CN" altLang="en-US" i="1">
                              <a:latin typeface="Cambria Math" panose="02040503050406030204" pitchFamily="18" charset="0"/>
                            </a:rPr>
                            <m:t>𝐿</m:t>
                          </m:r>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𝐺</m:t>
                              </m:r>
                            </m:e>
                            <m:sub>
                              <m:r>
                                <a:rPr lang="zh-CN" altLang="en-US" i="0">
                                  <a:latin typeface="Cambria Math" panose="02040503050406030204" pitchFamily="18" charset="0"/>
                                </a:rPr>
                                <m:t>2</m:t>
                              </m:r>
                              <m:r>
                                <a:rPr lang="zh-CN" altLang="en-US" i="1">
                                  <a:latin typeface="Cambria Math" panose="02040503050406030204" pitchFamily="18" charset="0"/>
                                </a:rPr>
                                <m:t>𝑓</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0">
                                  <a:latin typeface="Cambria Math" panose="02040503050406030204" pitchFamily="18" charset="0"/>
                                </a:rPr>
                                <m:t>2</m:t>
                              </m:r>
                            </m:sub>
                          </m:sSub>
                        </m:den>
                      </m:f>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0</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2</m:t>
                          </m:r>
                          <m:r>
                            <a:rPr lang="en-US" altLang="zh-CN" i="1">
                              <a:latin typeface="Cambria Math" panose="02040503050406030204" pitchFamily="18" charset="0"/>
                            </a:rPr>
                            <m:t>𝑈</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𝐺</m:t>
                              </m:r>
                            </m:e>
                            <m:sub>
                              <m:r>
                                <m:rPr>
                                  <m:sty m:val="p"/>
                                </m:rPr>
                                <a:rPr lang="en-US" altLang="zh-CN" i="1">
                                  <a:latin typeface="Cambria Math" panose="02040503050406030204" pitchFamily="18" charset="0"/>
                                </a:rPr>
                                <m:t>DC</m:t>
                              </m:r>
                            </m:sub>
                          </m:sSub>
                        </m:den>
                      </m:f>
                    </m:oMath>
                  </m:oMathPara>
                </a14:m>
                <a:endParaRPr lang="zh-CN" altLang="en-US"/>
              </a:p>
            </p:txBody>
          </p:sp>
        </mc:Choice>
        <mc:Fallback xmlns="">
          <p:sp>
            <p:nvSpPr>
              <p:cNvPr id="8" name="文本框 7">
                <a:extLst>
                  <a:ext uri="{FF2B5EF4-FFF2-40B4-BE49-F238E27FC236}">
                    <a16:creationId xmlns:a16="http://schemas.microsoft.com/office/drawing/2014/main" id="{31B1E1D8-FA32-B635-091F-69D1103D2B4A}"/>
                  </a:ext>
                </a:extLst>
              </p:cNvPr>
              <p:cNvSpPr txBox="1">
                <a:spLocks noRot="1" noChangeAspect="1" noMove="1" noResize="1" noEditPoints="1" noAdjustHandles="1" noChangeArrowheads="1" noChangeShapeType="1" noTextEdit="1"/>
              </p:cNvSpPr>
              <p:nvPr/>
            </p:nvSpPr>
            <p:spPr>
              <a:xfrm>
                <a:off x="0" y="1468130"/>
                <a:ext cx="5663952" cy="758028"/>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BF902A0-1CCF-74E6-6251-8F3535761C52}"/>
                  </a:ext>
                </a:extLst>
              </p:cNvPr>
              <p:cNvSpPr txBox="1"/>
              <p:nvPr/>
            </p:nvSpPr>
            <p:spPr>
              <a:xfrm>
                <a:off x="862435" y="2430688"/>
                <a:ext cx="3939081" cy="658065"/>
              </a:xfrm>
              <a:prstGeom prst="rect">
                <a:avLst/>
              </a:prstGeom>
              <a:noFill/>
            </p:spPr>
            <p:txBody>
              <a:bodyPr wrap="square" rtlCol="0">
                <a:spAutoFit/>
              </a:bodyPr>
              <a:lstStyle/>
              <a:p>
                <a:pPr/>
                <a14:m>
                  <m:oMathPara xmlns:m="http://schemas.openxmlformats.org/officeDocument/2006/math">
                    <m:oMath>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a:latin typeface="Cambria Math" panose="02040503050406030204" pitchFamily="18" charset="0"/>
                                </a:rPr>
                                <m:t>2</m:t>
                              </m:r>
                            </m:sub>
                          </m:sSub>
                        </m:e>
                      </m:d>
                      <m:r>
                        <a:rPr lang="en-US" altLang="zh-CN" b="0" i="0" smtClean="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zh-CN" altLang="en-US">
                                  <a:latin typeface="Cambria Math" panose="02040503050406030204" pitchFamily="18" charset="0"/>
                                </a:rPr>
                                <m:t>2</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𝑆</m:t>
                              </m:r>
                            </m:e>
                            <m:sub>
                              <m:r>
                                <a:rPr lang="en-US" altLang="zh-CN" b="0" i="0" smtClean="0">
                                  <a:latin typeface="Cambria Math" panose="02040503050406030204" pitchFamily="18" charset="0"/>
                                </a:rPr>
                                <m:t>0</m:t>
                              </m:r>
                            </m:sub>
                          </m:sSub>
                        </m:den>
                      </m:f>
                    </m:oMath>
                  </m:oMathPara>
                </a14:m>
                <a:endParaRPr lang="zh-CN" altLang="en-US"/>
              </a:p>
            </p:txBody>
          </p:sp>
        </mc:Choice>
        <mc:Fallback xmlns="">
          <p:sp>
            <p:nvSpPr>
              <p:cNvPr id="10" name="文本框 9">
                <a:extLst>
                  <a:ext uri="{FF2B5EF4-FFF2-40B4-BE49-F238E27FC236}">
                    <a16:creationId xmlns:a16="http://schemas.microsoft.com/office/drawing/2014/main" id="{4BF902A0-1CCF-74E6-6251-8F3535761C52}"/>
                  </a:ext>
                </a:extLst>
              </p:cNvPr>
              <p:cNvSpPr txBox="1">
                <a:spLocks noRot="1" noChangeAspect="1" noMove="1" noResize="1" noEditPoints="1" noAdjustHandles="1" noChangeArrowheads="1" noChangeShapeType="1" noTextEdit="1"/>
              </p:cNvSpPr>
              <p:nvPr/>
            </p:nvSpPr>
            <p:spPr>
              <a:xfrm>
                <a:off x="862435" y="2430688"/>
                <a:ext cx="3939081" cy="658065"/>
              </a:xfrm>
              <a:prstGeom prst="rect">
                <a:avLst/>
              </a:prstGeom>
              <a:blipFill>
                <a:blip r:embed="rId7"/>
                <a:stretch>
                  <a:fillRect/>
                </a:stretch>
              </a:blipFill>
            </p:spPr>
            <p:txBody>
              <a:bodyPr/>
              <a:lstStyle/>
              <a:p>
                <a:r>
                  <a:rPr lang="zh-CN" altLang="en-US">
                    <a:noFill/>
                  </a:rPr>
                  <a:t> </a:t>
                </a:r>
              </a:p>
            </p:txBody>
          </p:sp>
        </mc:Fallback>
      </mc:AlternateContent>
      <p:sp>
        <p:nvSpPr>
          <p:cNvPr id="14" name="箭头: 上 13">
            <a:extLst>
              <a:ext uri="{FF2B5EF4-FFF2-40B4-BE49-F238E27FC236}">
                <a16:creationId xmlns:a16="http://schemas.microsoft.com/office/drawing/2014/main" id="{CA73946E-EA4B-EC90-252F-F69582AC786E}"/>
              </a:ext>
            </a:extLst>
          </p:cNvPr>
          <p:cNvSpPr/>
          <p:nvPr/>
        </p:nvSpPr>
        <p:spPr>
          <a:xfrm rot="10800000">
            <a:off x="2560512" y="2248358"/>
            <a:ext cx="542925" cy="268597"/>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箭头: 上 14">
            <a:extLst>
              <a:ext uri="{FF2B5EF4-FFF2-40B4-BE49-F238E27FC236}">
                <a16:creationId xmlns:a16="http://schemas.microsoft.com/office/drawing/2014/main" id="{C25A3E2C-6DEB-115D-49DB-CD3E5E91AC6B}"/>
              </a:ext>
            </a:extLst>
          </p:cNvPr>
          <p:cNvSpPr/>
          <p:nvPr/>
        </p:nvSpPr>
        <p:spPr>
          <a:xfrm rot="10800000">
            <a:off x="2560512" y="3172395"/>
            <a:ext cx="542925" cy="268597"/>
          </a:xfrm>
          <a:prstGeom prst="up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A6272F7E-6366-E906-0DB2-9ADCDA35F54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99632" y="543220"/>
            <a:ext cx="5477492" cy="5654186"/>
          </a:xfrm>
          <a:prstGeom prst="rect">
            <a:avLst/>
          </a:prstGeom>
        </p:spPr>
      </p:pic>
      <p:sp>
        <p:nvSpPr>
          <p:cNvPr id="19" name="文本框 18">
            <a:extLst>
              <a:ext uri="{FF2B5EF4-FFF2-40B4-BE49-F238E27FC236}">
                <a16:creationId xmlns:a16="http://schemas.microsoft.com/office/drawing/2014/main" id="{0071B15D-B3CD-B638-D4C5-1D82FC8D7A66}"/>
              </a:ext>
            </a:extLst>
          </p:cNvPr>
          <p:cNvSpPr txBox="1"/>
          <p:nvPr/>
        </p:nvSpPr>
        <p:spPr>
          <a:xfrm>
            <a:off x="8256240" y="6227239"/>
            <a:ext cx="2088232" cy="369332"/>
          </a:xfrm>
          <a:prstGeom prst="rect">
            <a:avLst/>
          </a:prstGeom>
          <a:noFill/>
        </p:spPr>
        <p:txBody>
          <a:bodyPr wrap="square" rtlCol="0">
            <a:spAutoFit/>
          </a:bodyPr>
          <a:lstStyle/>
          <a:p>
            <a:r>
              <a:rPr lang="zh-CN" altLang="en-US"/>
              <a:t>偏振相机标定结果</a:t>
            </a:r>
          </a:p>
        </p:txBody>
      </p:sp>
      <p:sp>
        <p:nvSpPr>
          <p:cNvPr id="21" name="矩形 20">
            <a:extLst>
              <a:ext uri="{FF2B5EF4-FFF2-40B4-BE49-F238E27FC236}">
                <a16:creationId xmlns:a16="http://schemas.microsoft.com/office/drawing/2014/main" id="{0965ABF1-934B-AA98-7ECD-FFCBBE99B81D}"/>
              </a:ext>
            </a:extLst>
          </p:cNvPr>
          <p:cNvSpPr/>
          <p:nvPr/>
        </p:nvSpPr>
        <p:spPr>
          <a:xfrm>
            <a:off x="7608168" y="5014243"/>
            <a:ext cx="1978119" cy="21495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96075397-4F4A-B27C-A99A-888712A2E866}"/>
                  </a:ext>
                </a:extLst>
              </p:cNvPr>
              <p:cNvSpPr txBox="1"/>
              <p:nvPr/>
            </p:nvSpPr>
            <p:spPr>
              <a:xfrm>
                <a:off x="1343472" y="4741936"/>
                <a:ext cx="3465372" cy="647934"/>
              </a:xfrm>
              <a:prstGeom prst="rect">
                <a:avLst/>
              </a:prstGeom>
              <a:noFill/>
            </p:spPr>
            <p:txBody>
              <a:bodyPr wrap="none" rtlCol="0">
                <a:spAutoFit/>
              </a:bodyPr>
              <a:lstStyle/>
              <a:p>
                <a:r>
                  <a:rPr lang="zh-CN" altLang="en-US"/>
                  <a:t>通过</a:t>
                </a:r>
                <a14:m>
                  <m:oMath xmlns:m="http://schemas.openxmlformats.org/officeDocument/2006/math">
                    <m:r>
                      <a:rPr lang="zh-CN" altLang="en-US" i="1">
                        <a:latin typeface="Cambria Math" panose="02040503050406030204" pitchFamily="18" charset="0"/>
                      </a:rPr>
                      <m:t>锁相</m:t>
                    </m:r>
                    <m:r>
                      <a:rPr lang="zh-CN" altLang="en-US" i="1" smtClean="0">
                        <a:latin typeface="Cambria Math" panose="02040503050406030204" pitchFamily="18" charset="0"/>
                      </a:rPr>
                      <m:t>得到的</m:t>
                    </m:r>
                    <m:r>
                      <a:rPr lang="zh-CN" altLang="en-US" i="1">
                        <a:latin typeface="Cambria Math" panose="02040503050406030204" pitchFamily="18" charset="0"/>
                      </a:rPr>
                      <m:t>结果</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r>
                          <a:rPr lang="zh-CN" altLang="en-US" i="1">
                            <a:latin typeface="Cambria Math" panose="02040503050406030204" pitchFamily="18" charset="0"/>
                          </a:rPr>
                          <m:t>𝑠</m:t>
                        </m:r>
                      </m:e>
                      <m:sub>
                        <m:r>
                          <a:rPr lang="zh-CN" altLang="en-US">
                            <a:latin typeface="Cambria Math" panose="02040503050406030204" pitchFamily="18" charset="0"/>
                          </a:rPr>
                          <m:t>2</m:t>
                        </m:r>
                      </m:sub>
                    </m:sSub>
                    <m:r>
                      <a:rPr lang="en-US" altLang="zh-CN" b="0" i="1" smtClean="0">
                        <a:latin typeface="Cambria Math" panose="02040503050406030204" pitchFamily="18" charset="0"/>
                      </a:rPr>
                      <m:t>|</m:t>
                    </m:r>
                  </m:oMath>
                </a14:m>
                <a:r>
                  <a:rPr lang="en-US" altLang="zh-CN"/>
                  <a:t>=</a:t>
                </a:r>
                <a:r>
                  <a:rPr lang="en-US" altLang="zh-CN">
                    <a:solidFill>
                      <a:srgbClr val="FF0000"/>
                    </a:solidFill>
                  </a:rPr>
                  <a:t>98.60%</a:t>
                </a:r>
              </a:p>
              <a:p>
                <a:r>
                  <a:rPr lang="zh-CN" altLang="en-US"/>
                  <a:t>偏振相机标定的结果</a:t>
                </a:r>
                <a14:m>
                  <m:oMath xmlns:m="http://schemas.openxmlformats.org/officeDocument/2006/math">
                    <m:r>
                      <a:rPr lang="en-US" altLang="zh-CN" b="0" i="0" smtClean="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a:latin typeface="Cambria Math" panose="02040503050406030204" pitchFamily="18" charset="0"/>
                          </a:rPr>
                          <m:t>2</m:t>
                        </m:r>
                      </m:sub>
                    </m:sSub>
                  </m:oMath>
                </a14:m>
                <a:r>
                  <a:rPr lang="en-US" altLang="zh-CN"/>
                  <a:t>|=</a:t>
                </a:r>
                <a:r>
                  <a:rPr lang="en-US" altLang="zh-CN">
                    <a:solidFill>
                      <a:srgbClr val="FF0000"/>
                    </a:solidFill>
                  </a:rPr>
                  <a:t>86.75%</a:t>
                </a:r>
                <a:endParaRPr lang="zh-CN" altLang="en-US">
                  <a:solidFill>
                    <a:srgbClr val="FF0000"/>
                  </a:solidFill>
                </a:endParaRPr>
              </a:p>
            </p:txBody>
          </p:sp>
        </mc:Choice>
        <mc:Fallback xmlns="">
          <p:sp>
            <p:nvSpPr>
              <p:cNvPr id="22" name="文本框 21">
                <a:extLst>
                  <a:ext uri="{FF2B5EF4-FFF2-40B4-BE49-F238E27FC236}">
                    <a16:creationId xmlns:a16="http://schemas.microsoft.com/office/drawing/2014/main" id="{96075397-4F4A-B27C-A99A-888712A2E866}"/>
                  </a:ext>
                </a:extLst>
              </p:cNvPr>
              <p:cNvSpPr txBox="1">
                <a:spLocks noRot="1" noChangeAspect="1" noMove="1" noResize="1" noEditPoints="1" noAdjustHandles="1" noChangeArrowheads="1" noChangeShapeType="1" noTextEdit="1"/>
              </p:cNvSpPr>
              <p:nvPr/>
            </p:nvSpPr>
            <p:spPr>
              <a:xfrm>
                <a:off x="1343472" y="4741936"/>
                <a:ext cx="3465372" cy="647934"/>
              </a:xfrm>
              <a:prstGeom prst="rect">
                <a:avLst/>
              </a:prstGeom>
              <a:blipFill>
                <a:blip r:embed="rId9"/>
                <a:stretch>
                  <a:fillRect l="-1406" t="-5660" r="-1054"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1AF532F6-1B45-9912-756B-ACE4B733D6F0}"/>
                  </a:ext>
                </a:extLst>
              </p:cNvPr>
              <p:cNvSpPr txBox="1"/>
              <p:nvPr/>
            </p:nvSpPr>
            <p:spPr>
              <a:xfrm>
                <a:off x="124864" y="5733256"/>
                <a:ext cx="5755112" cy="646331"/>
              </a:xfrm>
              <a:prstGeom prst="rect">
                <a:avLst/>
              </a:prstGeom>
              <a:noFill/>
            </p:spPr>
            <p:txBody>
              <a:bodyPr wrap="square" rtlCol="0">
                <a:spAutoFit/>
              </a:bodyPr>
              <a:lstStyle/>
              <a:p>
                <a:r>
                  <a:rPr lang="zh-CN" altLang="en-US"/>
                  <a:t>初步结论：对于当前只有</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a:latin typeface="Cambria Math" panose="02040503050406030204" pitchFamily="18" charset="0"/>
                          </a:rPr>
                          <m:t>2</m:t>
                        </m:r>
                      </m:sub>
                    </m:sSub>
                  </m:oMath>
                </a14:m>
                <a:r>
                  <a:rPr lang="zh-CN" altLang="en-US"/>
                  <a:t>分量的入射光，能够大概反演出归一化斯托克斯参量，但是存在较大误差</a:t>
                </a:r>
                <a:endParaRPr lang="en-US" altLang="zh-CN" dirty="0"/>
              </a:p>
            </p:txBody>
          </p:sp>
        </mc:Choice>
        <mc:Fallback xmlns="">
          <p:sp>
            <p:nvSpPr>
              <p:cNvPr id="23" name="文本框 22">
                <a:extLst>
                  <a:ext uri="{FF2B5EF4-FFF2-40B4-BE49-F238E27FC236}">
                    <a16:creationId xmlns:a16="http://schemas.microsoft.com/office/drawing/2014/main" id="{1AF532F6-1B45-9912-756B-ACE4B733D6F0}"/>
                  </a:ext>
                </a:extLst>
              </p:cNvPr>
              <p:cNvSpPr txBox="1">
                <a:spLocks noRot="1" noChangeAspect="1" noMove="1" noResize="1" noEditPoints="1" noAdjustHandles="1" noChangeArrowheads="1" noChangeShapeType="1" noTextEdit="1"/>
              </p:cNvSpPr>
              <p:nvPr/>
            </p:nvSpPr>
            <p:spPr>
              <a:xfrm>
                <a:off x="124864" y="5733256"/>
                <a:ext cx="5755112" cy="646331"/>
              </a:xfrm>
              <a:prstGeom prst="rect">
                <a:avLst/>
              </a:prstGeom>
              <a:blipFill>
                <a:blip r:embed="rId10"/>
                <a:stretch>
                  <a:fillRect l="-847" t="-4673" b="-13084"/>
                </a:stretch>
              </a:blipFill>
            </p:spPr>
            <p:txBody>
              <a:bodyPr/>
              <a:lstStyle/>
              <a:p>
                <a:r>
                  <a:rPr lang="zh-CN" altLang="en-US">
                    <a:noFill/>
                  </a:rPr>
                  <a:t> </a:t>
                </a:r>
              </a:p>
            </p:txBody>
          </p:sp>
        </mc:Fallback>
      </mc:AlternateContent>
      <p:sp>
        <p:nvSpPr>
          <p:cNvPr id="7" name="TextBox 6">
            <a:extLst>
              <a:ext uri="{FF2B5EF4-FFF2-40B4-BE49-F238E27FC236}">
                <a16:creationId xmlns:a16="http://schemas.microsoft.com/office/drawing/2014/main" id="{6494F415-94F3-6D7B-E49D-632A35B18929}"/>
              </a:ext>
            </a:extLst>
          </p:cNvPr>
          <p:cNvSpPr txBox="1"/>
          <p:nvPr/>
        </p:nvSpPr>
        <p:spPr>
          <a:xfrm>
            <a:off x="4260954" y="1934399"/>
            <a:ext cx="2267096" cy="923330"/>
          </a:xfrm>
          <a:prstGeom prst="rect">
            <a:avLst/>
          </a:prstGeom>
          <a:noFill/>
        </p:spPr>
        <p:txBody>
          <a:bodyPr wrap="square" rtlCol="0">
            <a:spAutoFit/>
          </a:bodyPr>
          <a:lstStyle/>
          <a:p>
            <a:pPr marL="342900" indent="-342900">
              <a:buFont typeface="+mj-lt"/>
              <a:buAutoNum type="arabicPeriod"/>
            </a:pPr>
            <a:r>
              <a:rPr lang="zh-CN" altLang="en-US">
                <a:highlight>
                  <a:srgbClr val="FFFF00"/>
                </a:highlight>
              </a:rPr>
              <a:t>哪一个更可信？</a:t>
            </a:r>
            <a:endParaRPr lang="en-US" altLang="zh-CN">
              <a:highlight>
                <a:srgbClr val="FFFF00"/>
              </a:highlight>
            </a:endParaRPr>
          </a:p>
          <a:p>
            <a:pPr marL="342900" indent="-342900">
              <a:buFont typeface="+mj-lt"/>
              <a:buAutoNum type="arabicPeriod"/>
            </a:pPr>
            <a:r>
              <a:rPr lang="zh-CN" altLang="en-US">
                <a:highlight>
                  <a:srgbClr val="FFFF00"/>
                </a:highlight>
              </a:rPr>
              <a:t>如何确保</a:t>
            </a:r>
            <a:r>
              <a:rPr lang="en-US" altLang="zh-CN">
                <a:highlight>
                  <a:srgbClr val="FFFF00"/>
                </a:highlight>
              </a:rPr>
              <a:t>delta_0</a:t>
            </a:r>
            <a:r>
              <a:rPr lang="zh-CN" altLang="en-US">
                <a:highlight>
                  <a:srgbClr val="FFFF00"/>
                </a:highlight>
              </a:rPr>
              <a:t>的准确性？</a:t>
            </a:r>
            <a:endParaRPr lang="en-US">
              <a:highlight>
                <a:srgbClr val="FFFF00"/>
              </a:highlight>
            </a:endParaRPr>
          </a:p>
        </p:txBody>
      </p:sp>
    </p:spTree>
    <p:extLst>
      <p:ext uri="{BB962C8B-B14F-4D97-AF65-F5344CB8AC3E}">
        <p14:creationId xmlns:p14="http://schemas.microsoft.com/office/powerpoint/2010/main" val="27850945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527FE-DA44-7919-46D8-F3EC4DB08BF9}"/>
            </a:ext>
          </a:extLst>
        </p:cNvPr>
        <p:cNvGrpSpPr/>
        <p:nvPr/>
      </p:nvGrpSpPr>
      <p:grpSpPr>
        <a:xfrm>
          <a:off x="0" y="0"/>
          <a:ext cx="0" cy="0"/>
          <a:chOff x="0" y="0"/>
          <a:chExt cx="0" cy="0"/>
        </a:xfrm>
      </p:grpSpPr>
      <p:sp>
        <p:nvSpPr>
          <p:cNvPr id="8" name="slide-2-evidence-frame">
            <a:extLst>
              <a:ext uri="{FF2B5EF4-FFF2-40B4-BE49-F238E27FC236}">
                <a16:creationId xmlns:a16="http://schemas.microsoft.com/office/drawing/2014/main" id="{7A476937-18F9-FD2A-F981-2FE4F14DBB12}"/>
              </a:ext>
            </a:extLst>
          </p:cNvPr>
          <p:cNvSpPr>
            <a:spLocks noGrp="1"/>
          </p:cNvSpPr>
          <p:nvPr/>
        </p:nvSpPr>
        <p:spPr>
          <a:xfrm>
            <a:off x="-4802" y="774079"/>
            <a:ext cx="12196802" cy="854721"/>
          </a:xfrm>
          <a:prstGeom prst="rect">
            <a:avLst/>
          </a:prstGeom>
          <a:solidFill>
            <a:schemeClr val="accent6">
              <a:lumMod val="20000"/>
              <a:lumOff val="80000"/>
            </a:schemeClr>
          </a:solidFill>
          <a:ln w="9525">
            <a:solidFill>
              <a:srgbClr val="B8BCC4"/>
            </a:solidFill>
            <a:prstDash val="solid"/>
          </a:ln>
        </p:spPr>
        <p:txBody>
          <a:bodyPr/>
          <a:lstStyle/>
          <a:p>
            <a:endParaRPr lang="en-US" altLang="zh-CN"/>
          </a:p>
        </p:txBody>
      </p:sp>
      <p:cxnSp>
        <p:nvCxnSpPr>
          <p:cNvPr id="5" name="Straight Connector 4">
            <a:extLst>
              <a:ext uri="{FF2B5EF4-FFF2-40B4-BE49-F238E27FC236}">
                <a16:creationId xmlns:a16="http://schemas.microsoft.com/office/drawing/2014/main" id="{2ADAB4EB-18F0-8DF5-7937-6365F60CE079}"/>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A88FF4BB-7521-2EFC-8CE7-99253A2C176D}"/>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15</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A95A282F-3B80-909C-D03F-7AA752E631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F58265DC-904A-65B4-22A8-67130DEC0D3A}"/>
              </a:ext>
            </a:extLst>
          </p:cNvPr>
          <p:cNvSpPr txBox="1"/>
          <p:nvPr/>
        </p:nvSpPr>
        <p:spPr>
          <a:xfrm>
            <a:off x="-4802" y="2997024"/>
            <a:ext cx="7632848" cy="369332"/>
          </a:xfrm>
          <a:prstGeom prst="rect">
            <a:avLst/>
          </a:prstGeom>
          <a:noFill/>
        </p:spPr>
        <p:txBody>
          <a:bodyPr wrap="square" rtlCol="0">
            <a:spAutoFit/>
          </a:bodyPr>
          <a:lstStyle/>
          <a:p>
            <a:r>
              <a:rPr lang="zh-CN" altLang="en-US"/>
              <a:t>后续：</a:t>
            </a:r>
            <a:endParaRPr lang="en-US" altLang="zh-CN"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55B7DB1-0535-1DD4-7983-2B5F62C847C2}"/>
                  </a:ext>
                </a:extLst>
              </p:cNvPr>
              <p:cNvSpPr txBox="1"/>
              <p:nvPr/>
            </p:nvSpPr>
            <p:spPr>
              <a:xfrm>
                <a:off x="0" y="837399"/>
                <a:ext cx="12062043" cy="646331"/>
              </a:xfrm>
              <a:prstGeom prst="rect">
                <a:avLst/>
              </a:prstGeom>
              <a:noFill/>
            </p:spPr>
            <p:txBody>
              <a:bodyPr wrap="square" rtlCol="0">
                <a:spAutoFit/>
              </a:bodyPr>
              <a:lstStyle/>
              <a:p>
                <a:pPr marL="342900" indent="-342900">
                  <a:buFont typeface="+mj-lt"/>
                  <a:buAutoNum type="arabicPeriod"/>
                </a:pPr>
                <a:r>
                  <a:rPr lang="zh-CN" altLang="en-US"/>
                  <a:t>锁相放大器没有考虑环境背景噪声，导致结果明显变大偏大</a:t>
                </a:r>
                <a:endParaRPr lang="en-US" altLang="zh-CN"/>
              </a:p>
              <a:p>
                <a:r>
                  <a:rPr lang="zh-CN" altLang="en-US"/>
                  <a:t>如果认为锁相噪声也为</a:t>
                </a:r>
                <a:r>
                  <a:rPr lang="en-US" altLang="zh-CN"/>
                  <a:t>7mv</a:t>
                </a:r>
                <a:r>
                  <a:rPr lang="zh-CN" altLang="en-US"/>
                  <a:t>，那么最终得到的结果会从</a:t>
                </a:r>
                <a14:m>
                  <m:oMath xmlns:m="http://schemas.openxmlformats.org/officeDocument/2006/math">
                    <m:r>
                      <a:rPr lang="zh-CN" altLang="en-US">
                        <a:latin typeface="Cambria Math" panose="02040503050406030204" pitchFamily="18" charset="0"/>
                      </a:rPr>
                      <m:t>0.9</m:t>
                    </m:r>
                    <m:r>
                      <a:rPr lang="en-US" altLang="zh-CN">
                        <a:latin typeface="Cambria Math" panose="02040503050406030204" pitchFamily="18" charset="0"/>
                      </a:rPr>
                      <m:t>860</m:t>
                    </m:r>
                  </m:oMath>
                </a14:m>
                <a:r>
                  <a:rPr lang="zh-CN" altLang="en-US"/>
                  <a:t>迅速下降为</a:t>
                </a:r>
                <a:r>
                  <a:rPr lang="en-US" altLang="zh-CN"/>
                  <a:t>86.99%</a:t>
                </a:r>
                <a:r>
                  <a:rPr lang="zh-CN" altLang="en-US"/>
                  <a:t>，与偏振相机标定结果</a:t>
                </a:r>
                <a:r>
                  <a:rPr lang="en-US" altLang="zh-CN"/>
                  <a:t>86.75%</a:t>
                </a:r>
                <a:r>
                  <a:rPr lang="zh-CN" altLang="en-US"/>
                  <a:t>相当接近</a:t>
                </a:r>
                <a:endParaRPr lang="en-US" altLang="zh-CN"/>
              </a:p>
            </p:txBody>
          </p:sp>
        </mc:Choice>
        <mc:Fallback xmlns="">
          <p:sp>
            <p:nvSpPr>
              <p:cNvPr id="2" name="文本框 1">
                <a:extLst>
                  <a:ext uri="{FF2B5EF4-FFF2-40B4-BE49-F238E27FC236}">
                    <a16:creationId xmlns:a16="http://schemas.microsoft.com/office/drawing/2014/main" id="{B55B7DB1-0535-1DD4-7983-2B5F62C847C2}"/>
                  </a:ext>
                </a:extLst>
              </p:cNvPr>
              <p:cNvSpPr txBox="1">
                <a:spLocks noRot="1" noChangeAspect="1" noMove="1" noResize="1" noEditPoints="1" noAdjustHandles="1" noChangeArrowheads="1" noChangeShapeType="1" noTextEdit="1"/>
              </p:cNvSpPr>
              <p:nvPr/>
            </p:nvSpPr>
            <p:spPr>
              <a:xfrm>
                <a:off x="0" y="837399"/>
                <a:ext cx="12062043" cy="646331"/>
              </a:xfrm>
              <a:prstGeom prst="rect">
                <a:avLst/>
              </a:prstGeom>
              <a:blipFill>
                <a:blip r:embed="rId3"/>
                <a:stretch>
                  <a:fillRect l="-404" t="-4717" r="-354"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4FFE750-9D27-947B-1B28-2C881A7D3D7E}"/>
                  </a:ext>
                </a:extLst>
              </p:cNvPr>
              <p:cNvSpPr txBox="1"/>
              <p:nvPr/>
            </p:nvSpPr>
            <p:spPr>
              <a:xfrm>
                <a:off x="0" y="1985766"/>
                <a:ext cx="12192000" cy="648191"/>
              </a:xfrm>
              <a:prstGeom prst="rect">
                <a:avLst/>
              </a:prstGeom>
              <a:solidFill>
                <a:schemeClr val="accent5">
                  <a:lumMod val="20000"/>
                  <a:lumOff val="80000"/>
                </a:schemeClr>
              </a:solidFill>
            </p:spPr>
            <p:txBody>
              <a:bodyPr wrap="square">
                <a:spAutoFit/>
              </a:bodyPr>
              <a:lstStyle/>
              <a:p>
                <a:pPr marL="342900" indent="-342900">
                  <a:buFont typeface="+mj-lt"/>
                  <a:buAutoNum type="arabicPeriod" startAt="2"/>
                </a:pPr>
                <a:r>
                  <a:rPr lang="zh-CN" altLang="en-US" sz="1800">
                    <a:highlight>
                      <a:srgbClr val="FFFF00"/>
                    </a:highlight>
                  </a:rPr>
                  <a:t>偏振相机曝光时间越长，得到的归一化</a:t>
                </a:r>
                <a14:m>
                  <m:oMath xmlns:m="http://schemas.openxmlformats.org/officeDocument/2006/math">
                    <m:r>
                      <a:rPr lang="zh-CN" altLang="en-US" sz="1800" i="1">
                        <a:highlight>
                          <a:srgbClr val="FFFF00"/>
                        </a:highlight>
                        <a:latin typeface="Cambria Math" panose="02040503050406030204" pitchFamily="18" charset="0"/>
                      </a:rPr>
                      <m:t>斯托克斯参量</m:t>
                    </m:r>
                    <m:d>
                      <m:dPr>
                        <m:begChr m:val="|"/>
                        <m:endChr m:val="|"/>
                        <m:ctrlPr>
                          <a:rPr lang="zh-CN" altLang="en-US" sz="1800" i="1">
                            <a:highlight>
                              <a:srgbClr val="FFFF00"/>
                            </a:highlight>
                            <a:latin typeface="Cambria Math" panose="02040503050406030204" pitchFamily="18" charset="0"/>
                          </a:rPr>
                        </m:ctrlPr>
                      </m:dPr>
                      <m:e>
                        <m:sSub>
                          <m:sSubPr>
                            <m:ctrlPr>
                              <a:rPr lang="zh-CN" altLang="en-US" sz="1800" i="1">
                                <a:highlight>
                                  <a:srgbClr val="FFFF00"/>
                                </a:highlight>
                                <a:latin typeface="Cambria Math" panose="02040503050406030204" pitchFamily="18" charset="0"/>
                              </a:rPr>
                            </m:ctrlPr>
                          </m:sSubPr>
                          <m:e>
                            <m:r>
                              <a:rPr lang="zh-CN" altLang="en-US" sz="1800" i="1">
                                <a:highlight>
                                  <a:srgbClr val="FFFF00"/>
                                </a:highlight>
                                <a:latin typeface="Cambria Math" panose="02040503050406030204" pitchFamily="18" charset="0"/>
                              </a:rPr>
                              <m:t>𝑠</m:t>
                            </m:r>
                          </m:e>
                          <m:sub>
                            <m:r>
                              <a:rPr lang="zh-CN" altLang="en-US" sz="1800" i="0">
                                <a:highlight>
                                  <a:srgbClr val="FFFF00"/>
                                </a:highlight>
                                <a:latin typeface="Cambria Math" panose="02040503050406030204" pitchFamily="18" charset="0"/>
                              </a:rPr>
                              <m:t>2</m:t>
                            </m:r>
                          </m:sub>
                        </m:sSub>
                      </m:e>
                    </m:d>
                  </m:oMath>
                </a14:m>
                <a:r>
                  <a:rPr lang="zh-CN" altLang="en-US" sz="1800">
                    <a:highlight>
                      <a:srgbClr val="FFFF00"/>
                    </a:highlight>
                  </a:rPr>
                  <a:t>在逐渐变小</a:t>
                </a:r>
                <a:r>
                  <a:rPr lang="en-US" altLang="zh-CN" sz="1800"/>
                  <a:t>,</a:t>
                </a:r>
                <a:r>
                  <a:rPr lang="zh-CN" altLang="en-US" sz="1800"/>
                  <a:t>对于偏振相机的标定值，还需结合</a:t>
                </a:r>
                <a:r>
                  <a:rPr lang="zh-CN" altLang="zh-CN"/>
                  <a:t>有效光斑内最亮通道的高灰度区域</a:t>
                </a:r>
                <a:r>
                  <a:rPr lang="zh-CN" altLang="en-US"/>
                  <a:t>观察，若大部分</a:t>
                </a:r>
                <a:r>
                  <a:rPr lang="zh-CN" altLang="zh-CN"/>
                  <a:t>高灰度区域落在 150～200</a:t>
                </a:r>
                <a:r>
                  <a:rPr lang="zh-CN" altLang="en-US"/>
                  <a:t>，才更接近标定的标准值</a:t>
                </a:r>
                <a:endParaRPr lang="zh-CN" altLang="en-US" sz="1800"/>
              </a:p>
            </p:txBody>
          </p:sp>
        </mc:Choice>
        <mc:Fallback xmlns="">
          <p:sp>
            <p:nvSpPr>
              <p:cNvPr id="6" name="文本框 5">
                <a:extLst>
                  <a:ext uri="{FF2B5EF4-FFF2-40B4-BE49-F238E27FC236}">
                    <a16:creationId xmlns:a16="http://schemas.microsoft.com/office/drawing/2014/main" id="{24FFE750-9D27-947B-1B28-2C881A7D3D7E}"/>
                  </a:ext>
                </a:extLst>
              </p:cNvPr>
              <p:cNvSpPr txBox="1">
                <a:spLocks noRot="1" noChangeAspect="1" noMove="1" noResize="1" noEditPoints="1" noAdjustHandles="1" noChangeArrowheads="1" noChangeShapeType="1" noTextEdit="1"/>
              </p:cNvSpPr>
              <p:nvPr/>
            </p:nvSpPr>
            <p:spPr>
              <a:xfrm>
                <a:off x="0" y="1985766"/>
                <a:ext cx="12192000" cy="648191"/>
              </a:xfrm>
              <a:prstGeom prst="rect">
                <a:avLst/>
              </a:prstGeom>
              <a:blipFill>
                <a:blip r:embed="rId4"/>
                <a:stretch>
                  <a:fillRect l="-300" t="-5660" r="-10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6018E23-B7FA-E607-536A-584D571F813B}"/>
                  </a:ext>
                </a:extLst>
              </p:cNvPr>
              <p:cNvSpPr txBox="1"/>
              <p:nvPr/>
            </p:nvSpPr>
            <p:spPr>
              <a:xfrm>
                <a:off x="0" y="5303454"/>
                <a:ext cx="12192000" cy="1200329"/>
              </a:xfrm>
              <a:prstGeom prst="rect">
                <a:avLst/>
              </a:prstGeom>
              <a:solidFill>
                <a:schemeClr val="accent4">
                  <a:lumMod val="20000"/>
                  <a:lumOff val="80000"/>
                </a:schemeClr>
              </a:solidFill>
            </p:spPr>
            <p:txBody>
              <a:bodyPr wrap="square">
                <a:spAutoFit/>
              </a:bodyPr>
              <a:lstStyle/>
              <a:p>
                <a:r>
                  <a:rPr lang="zh-CN" altLang="en-US"/>
                  <a:t>接下来的工作重点</a:t>
                </a:r>
                <a:r>
                  <a:rPr lang="zh-CN" altLang="en-US" sz="1800"/>
                  <a:t>：</a:t>
                </a:r>
                <a:endParaRPr lang="en-US" altLang="zh-CN" sz="1800"/>
              </a:p>
              <a:p>
                <a:pPr marL="342900" indent="-342900">
                  <a:buFont typeface="+mj-lt"/>
                  <a:buAutoNum type="arabicPeriod"/>
                </a:pPr>
                <a:r>
                  <a:rPr lang="zh-CN" altLang="en-US" sz="1800"/>
                  <a:t>考虑</a:t>
                </a:r>
                <a:r>
                  <a:rPr lang="zh-CN" altLang="en-US"/>
                  <a:t>锁相放大器的环境背景噪声，同时结合偏振相机</a:t>
                </a:r>
                <a:r>
                  <a:rPr lang="zh-CN" altLang="zh-CN"/>
                  <a:t>有效光斑内最亮通道的高灰度区域</a:t>
                </a:r>
                <a:r>
                  <a:rPr lang="zh-CN" altLang="en-US"/>
                  <a:t>观察，减小实验误差</a:t>
                </a:r>
                <a:endParaRPr lang="en-US" altLang="zh-CN"/>
              </a:p>
              <a:p>
                <a:pPr marL="342900" indent="-342900">
                  <a:buFont typeface="+mj-lt"/>
                  <a:buAutoNum type="arabicPeriod"/>
                </a:pPr>
                <a:r>
                  <a:rPr lang="zh-CN" altLang="en-US"/>
                  <a:t>使用包含</a:t>
                </a:r>
                <a:r>
                  <a:rPr lang="en-US" altLang="zh-CN"/>
                  <a:t>S1</a:t>
                </a:r>
                <a:r>
                  <a:rPr lang="zh-CN" altLang="en-US"/>
                  <a:t>分量和</a:t>
                </a:r>
                <a:r>
                  <a:rPr lang="en-US" altLang="zh-CN"/>
                  <a:t>S2</a:t>
                </a:r>
                <a:r>
                  <a:rPr lang="zh-CN" altLang="en-US"/>
                  <a:t>分量的更复杂的入射光进行试验，同时获取</a:t>
                </a:r>
                <a:r>
                  <a:rPr lang="en-US" altLang="zh-CN"/>
                  <a:t>1f</a:t>
                </a:r>
                <a:r>
                  <a:rPr lang="zh-CN" altLang="en-US"/>
                  <a:t>和</a:t>
                </a:r>
                <a:r>
                  <a:rPr lang="en-US" altLang="zh-CN"/>
                  <a:t>2f</a:t>
                </a:r>
                <a:r>
                  <a:rPr lang="zh-CN" altLang="en-US"/>
                  <a:t>分量，验证能否同时反演</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1</m:t>
                        </m:r>
                      </m:sub>
                    </m:sSub>
                  </m:oMath>
                </a14:m>
                <a:r>
                  <a:rPr lang="zh-CN" altLang="en-US"/>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2</m:t>
                        </m:r>
                      </m:sub>
                    </m:sSub>
                  </m:oMath>
                </a14:m>
                <a:r>
                  <a:rPr lang="zh-CN" altLang="en-US"/>
                  <a:t>，并进行误差分析，完成课题目标第一步</a:t>
                </a:r>
                <a:endParaRPr lang="en-US" altLang="zh-CN"/>
              </a:p>
            </p:txBody>
          </p:sp>
        </mc:Choice>
        <mc:Fallback xmlns="">
          <p:sp>
            <p:nvSpPr>
              <p:cNvPr id="10" name="文本框 9">
                <a:extLst>
                  <a:ext uri="{FF2B5EF4-FFF2-40B4-BE49-F238E27FC236}">
                    <a16:creationId xmlns:a16="http://schemas.microsoft.com/office/drawing/2014/main" id="{96018E23-B7FA-E607-536A-584D571F813B}"/>
                  </a:ext>
                </a:extLst>
              </p:cNvPr>
              <p:cNvSpPr txBox="1">
                <a:spLocks noRot="1" noChangeAspect="1" noMove="1" noResize="1" noEditPoints="1" noAdjustHandles="1" noChangeArrowheads="1" noChangeShapeType="1" noTextEdit="1"/>
              </p:cNvSpPr>
              <p:nvPr/>
            </p:nvSpPr>
            <p:spPr>
              <a:xfrm>
                <a:off x="0" y="5303454"/>
                <a:ext cx="12192000" cy="1200329"/>
              </a:xfrm>
              <a:prstGeom prst="rect">
                <a:avLst/>
              </a:prstGeom>
              <a:blipFill>
                <a:blip r:embed="rId5"/>
                <a:stretch>
                  <a:fillRect l="-400" t="-3046" b="-7107"/>
                </a:stretch>
              </a:blipFill>
            </p:spPr>
            <p:txBody>
              <a:bodyPr/>
              <a:lstStyle/>
              <a:p>
                <a:r>
                  <a:rPr lang="zh-CN" altLang="en-US">
                    <a:noFill/>
                  </a:rPr>
                  <a:t> </a:t>
                </a:r>
              </a:p>
            </p:txBody>
          </p:sp>
        </mc:Fallback>
      </mc:AlternateContent>
      <p:cxnSp>
        <p:nvCxnSpPr>
          <p:cNvPr id="12" name="Straight Connector 4">
            <a:extLst>
              <a:ext uri="{FF2B5EF4-FFF2-40B4-BE49-F238E27FC236}">
                <a16:creationId xmlns:a16="http://schemas.microsoft.com/office/drawing/2014/main" id="{AC6FC822-0B1A-8F7B-4ACF-C57A3558AE71}"/>
              </a:ext>
            </a:extLst>
          </p:cNvPr>
          <p:cNvCxnSpPr>
            <a:cxnSpLocks/>
          </p:cNvCxnSpPr>
          <p:nvPr/>
        </p:nvCxnSpPr>
        <p:spPr>
          <a:xfrm>
            <a:off x="0" y="3356992"/>
            <a:ext cx="12192002" cy="0"/>
          </a:xfrm>
          <a:prstGeom prst="line">
            <a:avLst/>
          </a:prstGeom>
          <a:noFill/>
          <a:ln w="38100" cap="flat" cmpd="sng" algn="ctr">
            <a:solidFill>
              <a:srgbClr val="164C8C"/>
            </a:solidFill>
            <a:prstDash val="solid"/>
            <a:miter lim="800000"/>
          </a:ln>
          <a:effectLst/>
        </p:spPr>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783B57B-AEB2-E0ED-F2AA-E1E263FD995A}"/>
                  </a:ext>
                </a:extLst>
              </p:cNvPr>
              <p:cNvSpPr txBox="1"/>
              <p:nvPr/>
            </p:nvSpPr>
            <p:spPr>
              <a:xfrm>
                <a:off x="0" y="3365659"/>
                <a:ext cx="12192000" cy="923330"/>
              </a:xfrm>
              <a:prstGeom prst="rect">
                <a:avLst/>
              </a:prstGeom>
              <a:solidFill>
                <a:schemeClr val="accent3">
                  <a:lumMod val="20000"/>
                  <a:lumOff val="80000"/>
                </a:schemeClr>
              </a:solidFill>
            </p:spPr>
            <p:txBody>
              <a:bodyPr wrap="square">
                <a:spAutoFit/>
              </a:bodyPr>
              <a:lstStyle/>
              <a:p>
                <a:r>
                  <a:rPr lang="zh-CN" altLang="en-US" sz="1800"/>
                  <a:t>已完成：</a:t>
                </a:r>
                <a:endParaRPr lang="en-US" altLang="zh-CN" sz="1800"/>
              </a:p>
              <a:p>
                <a:pPr lvl="0"/>
                <a:r>
                  <a:rPr lang="zh-CN" altLang="en-US"/>
                  <a:t>在不</a:t>
                </a:r>
                <a:r>
                  <a:rPr lang="zh-CN" altLang="zh-CN"/>
                  <a:t>引入</a:t>
                </a:r>
                <a:r>
                  <a:rPr lang="en-US" altLang="zh-CN"/>
                  <a:t> DMD </a:t>
                </a:r>
                <a:r>
                  <a:rPr lang="zh-CN" altLang="zh-CN"/>
                  <a:t>空间调制，</a:t>
                </a:r>
                <a:r>
                  <a:rPr lang="zh-CN" altLang="en-US"/>
                  <a:t>入射光只有</a:t>
                </a:r>
                <a14:m>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b="0" i="1" smtClean="0">
                            <a:latin typeface="Cambria Math" panose="02040503050406030204" pitchFamily="18" charset="0"/>
                          </a:rPr>
                          <m:t>S</m:t>
                        </m:r>
                      </m:e>
                      <m:sub>
                        <m:r>
                          <a:rPr lang="zh-CN" altLang="en-US">
                            <a:latin typeface="Cambria Math" panose="02040503050406030204" pitchFamily="18" charset="0"/>
                          </a:rPr>
                          <m:t>2</m:t>
                        </m:r>
                      </m:sub>
                    </m:sSub>
                  </m:oMath>
                </a14:m>
                <a:r>
                  <a:rPr lang="zh-CN" altLang="en-US"/>
                  <a:t>分量的情况下，</a:t>
                </a:r>
                <a:r>
                  <a:rPr lang="zh-CN" altLang="zh-CN">
                    <a:solidFill>
                      <a:srgbClr val="C00000"/>
                    </a:solidFill>
                  </a:rPr>
                  <a:t>锁相放大器能稳定、</a:t>
                </a:r>
                <a:r>
                  <a:rPr lang="zh-CN" altLang="en-US">
                    <a:solidFill>
                      <a:srgbClr val="C00000"/>
                    </a:solidFill>
                  </a:rPr>
                  <a:t>较</a:t>
                </a:r>
                <a:r>
                  <a:rPr lang="zh-CN" altLang="zh-CN">
                    <a:solidFill>
                      <a:srgbClr val="C00000"/>
                    </a:solidFill>
                  </a:rPr>
                  <a:t>高精度地解调提取出</a:t>
                </a:r>
                <a:r>
                  <a:rPr lang="en-US" altLang="zh-CN">
                    <a:solidFill>
                      <a:srgbClr val="C00000"/>
                    </a:solidFill>
                  </a:rPr>
                  <a:t>2f</a:t>
                </a:r>
                <a:r>
                  <a:rPr lang="zh-CN" altLang="zh-CN">
                    <a:solidFill>
                      <a:srgbClr val="C00000"/>
                    </a:solidFill>
                  </a:rPr>
                  <a:t>信号，</a:t>
                </a:r>
                <a:r>
                  <a:rPr lang="zh-CN" altLang="en-US">
                    <a:solidFill>
                      <a:srgbClr val="C00000"/>
                    </a:solidFill>
                  </a:rPr>
                  <a:t>但是锁相放大器并不能提取出直流信号</a:t>
                </a:r>
                <a14:m>
                  <m:oMath xmlns:m="http://schemas.openxmlformats.org/officeDocument/2006/math">
                    <m:sSub>
                      <m:sSubPr>
                        <m:ctrlPr>
                          <a:rPr lang="en-US" altLang="zh-CN" b="0" i="1" smtClean="0">
                            <a:solidFill>
                              <a:srgbClr val="C00000"/>
                            </a:solidFill>
                            <a:latin typeface="Cambria Math" panose="02040503050406030204" pitchFamily="18" charset="0"/>
                          </a:rPr>
                        </m:ctrlPr>
                      </m:sSubPr>
                      <m:e>
                        <m:r>
                          <m:rPr>
                            <m:sty m:val="p"/>
                          </m:rPr>
                          <a:rPr lang="en-US" altLang="zh-CN" b="0" i="1" smtClean="0">
                            <a:solidFill>
                              <a:srgbClr val="C00000"/>
                            </a:solidFill>
                            <a:latin typeface="Cambria Math" panose="02040503050406030204" pitchFamily="18" charset="0"/>
                          </a:rPr>
                          <m:t>V</m:t>
                        </m:r>
                      </m:e>
                      <m:sub>
                        <m:r>
                          <m:rPr>
                            <m:sty m:val="p"/>
                          </m:rPr>
                          <a:rPr lang="en-US" altLang="zh-CN" b="0" i="1" smtClean="0">
                            <a:solidFill>
                              <a:srgbClr val="C00000"/>
                            </a:solidFill>
                            <a:latin typeface="Cambria Math" panose="02040503050406030204" pitchFamily="18" charset="0"/>
                          </a:rPr>
                          <m:t>DC</m:t>
                        </m:r>
                      </m:sub>
                    </m:sSub>
                  </m:oMath>
                </a14:m>
                <a:r>
                  <a:rPr lang="zh-CN" altLang="en-US"/>
                  <a:t>，直流信号目前通过示波器获得</a:t>
                </a:r>
                <a:endParaRPr lang="zh-CN" altLang="zh-CN"/>
              </a:p>
            </p:txBody>
          </p:sp>
        </mc:Choice>
        <mc:Fallback xmlns="">
          <p:sp>
            <p:nvSpPr>
              <p:cNvPr id="14" name="文本框 13">
                <a:extLst>
                  <a:ext uri="{FF2B5EF4-FFF2-40B4-BE49-F238E27FC236}">
                    <a16:creationId xmlns:a16="http://schemas.microsoft.com/office/drawing/2014/main" id="{3783B57B-AEB2-E0ED-F2AA-E1E263FD995A}"/>
                  </a:ext>
                </a:extLst>
              </p:cNvPr>
              <p:cNvSpPr txBox="1">
                <a:spLocks noRot="1" noChangeAspect="1" noMove="1" noResize="1" noEditPoints="1" noAdjustHandles="1" noChangeArrowheads="1" noChangeShapeType="1" noTextEdit="1"/>
              </p:cNvSpPr>
              <p:nvPr/>
            </p:nvSpPr>
            <p:spPr>
              <a:xfrm>
                <a:off x="0" y="3365659"/>
                <a:ext cx="12192000" cy="923330"/>
              </a:xfrm>
              <a:prstGeom prst="rect">
                <a:avLst/>
              </a:prstGeom>
              <a:blipFill>
                <a:blip r:embed="rId6"/>
                <a:stretch>
                  <a:fillRect l="-400" t="-3289" b="-9211"/>
                </a:stretch>
              </a:blipFill>
            </p:spPr>
            <p:txBody>
              <a:bodyPr/>
              <a:lstStyle/>
              <a:p>
                <a:r>
                  <a:rPr lang="zh-CN" altLang="en-US">
                    <a:noFill/>
                  </a:rPr>
                  <a:t> </a:t>
                </a:r>
              </a:p>
            </p:txBody>
          </p:sp>
        </mc:Fallback>
      </mc:AlternateContent>
      <p:cxnSp>
        <p:nvCxnSpPr>
          <p:cNvPr id="15" name="Straight Connector 4">
            <a:extLst>
              <a:ext uri="{FF2B5EF4-FFF2-40B4-BE49-F238E27FC236}">
                <a16:creationId xmlns:a16="http://schemas.microsoft.com/office/drawing/2014/main" id="{F7FF81B7-2031-E66C-BA57-9E2D676003AF}"/>
              </a:ext>
            </a:extLst>
          </p:cNvPr>
          <p:cNvCxnSpPr>
            <a:cxnSpLocks/>
          </p:cNvCxnSpPr>
          <p:nvPr/>
        </p:nvCxnSpPr>
        <p:spPr>
          <a:xfrm>
            <a:off x="0" y="3011948"/>
            <a:ext cx="12192002" cy="0"/>
          </a:xfrm>
          <a:prstGeom prst="line">
            <a:avLst/>
          </a:prstGeom>
          <a:noFill/>
          <a:ln w="38100" cap="flat" cmpd="sng" algn="ctr">
            <a:solidFill>
              <a:srgbClr val="164C8C"/>
            </a:solidFill>
            <a:prstDash val="solid"/>
            <a:miter lim="800000"/>
          </a:ln>
          <a:effectLst/>
        </p:spPr>
      </p:cxn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D092F1-90B7-5796-44C5-81DD88181EFB}"/>
                  </a:ext>
                </a:extLst>
              </p:cNvPr>
              <p:cNvSpPr txBox="1"/>
              <p:nvPr/>
            </p:nvSpPr>
            <p:spPr>
              <a:xfrm>
                <a:off x="623392" y="69315"/>
                <a:ext cx="11568608" cy="369332"/>
              </a:xfrm>
              <a:prstGeom prst="rect">
                <a:avLst/>
              </a:prstGeom>
              <a:noFill/>
            </p:spPr>
            <p:txBody>
              <a:bodyPr wrap="square" rtlCol="0">
                <a:spAutoFit/>
              </a:bodyPr>
              <a:lstStyle/>
              <a:p>
                <a:r>
                  <a:rPr lang="en-US" altLang="zh-CN"/>
                  <a:t>1.5:</a:t>
                </a:r>
                <a:r>
                  <a:rPr lang="zh-CN" altLang="en-US"/>
                  <a:t>锁相放大器反演</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𝑠</m:t>
                        </m:r>
                      </m:e>
                      <m:sub>
                        <m:r>
                          <a:rPr lang="zh-CN" altLang="en-US">
                            <a:latin typeface="Cambria Math" panose="02040503050406030204" pitchFamily="18" charset="0"/>
                          </a:rPr>
                          <m:t>2</m:t>
                        </m:r>
                      </m:sub>
                    </m:sSub>
                  </m:oMath>
                </a14:m>
                <a:r>
                  <a:rPr lang="zh-CN" altLang="en-US" dirty="0"/>
                  <a:t>误差分析</a:t>
                </a:r>
                <a:endParaRPr lang="en-US" altLang="zh-CN" dirty="0"/>
              </a:p>
            </p:txBody>
          </p:sp>
        </mc:Choice>
        <mc:Fallback xmlns="">
          <p:sp>
            <p:nvSpPr>
              <p:cNvPr id="17" name="文本框 16">
                <a:extLst>
                  <a:ext uri="{FF2B5EF4-FFF2-40B4-BE49-F238E27FC236}">
                    <a16:creationId xmlns:a16="http://schemas.microsoft.com/office/drawing/2014/main" id="{7BD092F1-90B7-5796-44C5-81DD88181EFB}"/>
                  </a:ext>
                </a:extLst>
              </p:cNvPr>
              <p:cNvSpPr txBox="1">
                <a:spLocks noRot="1" noChangeAspect="1" noMove="1" noResize="1" noEditPoints="1" noAdjustHandles="1" noChangeArrowheads="1" noChangeShapeType="1" noTextEdit="1"/>
              </p:cNvSpPr>
              <p:nvPr/>
            </p:nvSpPr>
            <p:spPr>
              <a:xfrm>
                <a:off x="623392" y="69315"/>
                <a:ext cx="11568608" cy="369332"/>
              </a:xfrm>
              <a:prstGeom prst="rect">
                <a:avLst/>
              </a:prstGeom>
              <a:blipFill>
                <a:blip r:embed="rId7"/>
                <a:stretch>
                  <a:fillRect l="-421" t="-8197" b="-24590"/>
                </a:stretch>
              </a:blipFill>
            </p:spPr>
            <p:txBody>
              <a:bodyPr/>
              <a:lstStyle/>
              <a:p>
                <a:r>
                  <a:rPr lang="zh-CN" altLang="en-US">
                    <a:noFill/>
                  </a:rPr>
                  <a:t> </a:t>
                </a:r>
              </a:p>
            </p:txBody>
          </p:sp>
        </mc:Fallback>
      </mc:AlternateContent>
      <p:sp>
        <p:nvSpPr>
          <p:cNvPr id="7" name="TextBox 6">
            <a:extLst>
              <a:ext uri="{FF2B5EF4-FFF2-40B4-BE49-F238E27FC236}">
                <a16:creationId xmlns:a16="http://schemas.microsoft.com/office/drawing/2014/main" id="{9038BFFF-41A3-3CB1-F4F2-1E02852290B5}"/>
              </a:ext>
            </a:extLst>
          </p:cNvPr>
          <p:cNvSpPr txBox="1"/>
          <p:nvPr/>
        </p:nvSpPr>
        <p:spPr>
          <a:xfrm>
            <a:off x="5303912" y="1621630"/>
            <a:ext cx="2088232" cy="369332"/>
          </a:xfrm>
          <a:prstGeom prst="rect">
            <a:avLst/>
          </a:prstGeom>
          <a:noFill/>
        </p:spPr>
        <p:txBody>
          <a:bodyPr wrap="square" rtlCol="0">
            <a:spAutoFit/>
          </a:bodyPr>
          <a:lstStyle/>
          <a:p>
            <a:r>
              <a:rPr lang="zh-CN" altLang="en-US">
                <a:highlight>
                  <a:srgbClr val="FFFF00"/>
                </a:highlight>
              </a:rPr>
              <a:t>说明“过曝”了？</a:t>
            </a:r>
            <a:endParaRPr lang="en-US">
              <a:highlight>
                <a:srgbClr val="FFFF00"/>
              </a:highlight>
            </a:endParaRPr>
          </a:p>
        </p:txBody>
      </p:sp>
      <p:sp>
        <p:nvSpPr>
          <p:cNvPr id="16" name="TextBox 15">
            <a:extLst>
              <a:ext uri="{FF2B5EF4-FFF2-40B4-BE49-F238E27FC236}">
                <a16:creationId xmlns:a16="http://schemas.microsoft.com/office/drawing/2014/main" id="{94296678-492C-C2B6-461A-789723DB5785}"/>
              </a:ext>
            </a:extLst>
          </p:cNvPr>
          <p:cNvSpPr txBox="1"/>
          <p:nvPr/>
        </p:nvSpPr>
        <p:spPr>
          <a:xfrm>
            <a:off x="6528048" y="618259"/>
            <a:ext cx="5016896" cy="369332"/>
          </a:xfrm>
          <a:prstGeom prst="rect">
            <a:avLst/>
          </a:prstGeom>
          <a:noFill/>
        </p:spPr>
        <p:txBody>
          <a:bodyPr wrap="square" rtlCol="0">
            <a:spAutoFit/>
          </a:bodyPr>
          <a:lstStyle/>
          <a:p>
            <a:r>
              <a:rPr lang="zh-CN" altLang="en-US">
                <a:highlight>
                  <a:srgbClr val="FFFF00"/>
                </a:highlight>
              </a:rPr>
              <a:t>大胆的猜想，但我的经验，感觉方向猜错了。</a:t>
            </a:r>
            <a:endParaRPr lang="en-US">
              <a:highlight>
                <a:srgbClr val="FFFF00"/>
              </a:highlight>
            </a:endParaRPr>
          </a:p>
        </p:txBody>
      </p:sp>
      <p:sp>
        <p:nvSpPr>
          <p:cNvPr id="19" name="TextBox 18">
            <a:extLst>
              <a:ext uri="{FF2B5EF4-FFF2-40B4-BE49-F238E27FC236}">
                <a16:creationId xmlns:a16="http://schemas.microsoft.com/office/drawing/2014/main" id="{A4E99CBC-210F-87EE-DD1B-C1D67C831373}"/>
              </a:ext>
            </a:extLst>
          </p:cNvPr>
          <p:cNvSpPr txBox="1"/>
          <p:nvPr/>
        </p:nvSpPr>
        <p:spPr>
          <a:xfrm>
            <a:off x="57150" y="4364410"/>
            <a:ext cx="11825729" cy="830997"/>
          </a:xfrm>
          <a:prstGeom prst="rect">
            <a:avLst/>
          </a:prstGeom>
          <a:noFill/>
        </p:spPr>
        <p:txBody>
          <a:bodyPr wrap="square" rtlCol="0">
            <a:spAutoFit/>
          </a:bodyPr>
          <a:lstStyle/>
          <a:p>
            <a:pPr marL="285750" indent="-285750">
              <a:buFont typeface="Wingdings" panose="05000000000000000000" pitchFamily="2" charset="2"/>
              <a:buChar char="q"/>
            </a:pPr>
            <a:r>
              <a:rPr lang="zh-CN" altLang="en-US" sz="1600">
                <a:highlight>
                  <a:srgbClr val="FFFF00"/>
                </a:highlight>
              </a:rPr>
              <a:t>示波器的测试结果 </a:t>
            </a:r>
            <a:r>
              <a:rPr lang="en-US" altLang="zh-CN" sz="1600">
                <a:highlight>
                  <a:srgbClr val="FFFF00"/>
                </a:highlight>
              </a:rPr>
              <a:t>vs </a:t>
            </a:r>
            <a:r>
              <a:rPr lang="zh-CN" altLang="en-US" sz="1600">
                <a:highlight>
                  <a:srgbClr val="FFFF00"/>
                </a:highlight>
              </a:rPr>
              <a:t>锁相的测试结果：目前似乎是通过</a:t>
            </a:r>
            <a:r>
              <a:rPr lang="en-US" altLang="zh-CN" sz="1600">
                <a:highlight>
                  <a:srgbClr val="FFFF00"/>
                </a:highlight>
              </a:rPr>
              <a:t>PV</a:t>
            </a:r>
            <a:r>
              <a:rPr lang="zh-CN" altLang="en-US" sz="1600">
                <a:highlight>
                  <a:srgbClr val="FFFF00"/>
                </a:highlight>
              </a:rPr>
              <a:t>值来进行直觉上的比较。但实际上，曲线中包含了</a:t>
            </a:r>
            <a:r>
              <a:rPr lang="en-US" altLang="zh-CN" sz="1600">
                <a:highlight>
                  <a:srgbClr val="FFFF00"/>
                </a:highlight>
              </a:rPr>
              <a:t>2f,</a:t>
            </a:r>
            <a:r>
              <a:rPr lang="zh-CN" altLang="en-US" sz="1600">
                <a:highlight>
                  <a:srgbClr val="FFFF00"/>
                </a:highlight>
              </a:rPr>
              <a:t> </a:t>
            </a:r>
            <a:r>
              <a:rPr lang="en-US" altLang="zh-CN" sz="1600">
                <a:highlight>
                  <a:srgbClr val="FFFF00"/>
                </a:highlight>
              </a:rPr>
              <a:t>4f</a:t>
            </a:r>
            <a:r>
              <a:rPr lang="zh-CN" altLang="en-US" sz="1600">
                <a:highlight>
                  <a:srgbClr val="FFFF00"/>
                </a:highlight>
              </a:rPr>
              <a:t>等一系列频率分量，</a:t>
            </a:r>
            <a:r>
              <a:rPr lang="en-US" altLang="zh-CN" sz="1600">
                <a:highlight>
                  <a:srgbClr val="FFFF00"/>
                </a:highlight>
              </a:rPr>
              <a:t>PV</a:t>
            </a:r>
            <a:r>
              <a:rPr lang="zh-CN" altLang="en-US" sz="1600">
                <a:highlight>
                  <a:srgbClr val="FFFF00"/>
                </a:highlight>
              </a:rPr>
              <a:t>值与锁相结果的对应关系似乎是不明确的，应该做傅里叶变换，提取各分量</a:t>
            </a:r>
            <a:endParaRPr lang="en-US" altLang="zh-CN" sz="1600">
              <a:highlight>
                <a:srgbClr val="FFFF00"/>
              </a:highlight>
            </a:endParaRPr>
          </a:p>
          <a:p>
            <a:pPr marL="285750" indent="-285750">
              <a:buFont typeface="Wingdings" panose="05000000000000000000" pitchFamily="2" charset="2"/>
              <a:buChar char="q"/>
            </a:pPr>
            <a:r>
              <a:rPr lang="zh-CN" altLang="en-US" sz="1600">
                <a:highlight>
                  <a:srgbClr val="FFFF00"/>
                </a:highlight>
              </a:rPr>
              <a:t>对于</a:t>
            </a:r>
            <a:r>
              <a:rPr lang="en-US" altLang="zh-CN" sz="1600">
                <a:highlight>
                  <a:srgbClr val="FFFF00"/>
                </a:highlight>
              </a:rPr>
              <a:t>S0</a:t>
            </a:r>
            <a:r>
              <a:rPr lang="zh-CN" altLang="en-US" sz="1600">
                <a:highlight>
                  <a:srgbClr val="FFFF00"/>
                </a:highlight>
              </a:rPr>
              <a:t>的测试，可以使用</a:t>
            </a:r>
            <a:r>
              <a:rPr lang="en-US" altLang="zh-CN" sz="1600">
                <a:highlight>
                  <a:srgbClr val="FFFF00"/>
                </a:highlight>
              </a:rPr>
              <a:t>chopper</a:t>
            </a:r>
            <a:r>
              <a:rPr lang="zh-CN" altLang="en-US" sz="1600">
                <a:highlight>
                  <a:srgbClr val="FFFF00"/>
                </a:highlight>
              </a:rPr>
              <a:t>？如果改用</a:t>
            </a:r>
            <a:r>
              <a:rPr lang="en-US" altLang="zh-CN" sz="1600">
                <a:highlight>
                  <a:srgbClr val="FFFF00"/>
                </a:highlight>
              </a:rPr>
              <a:t>USB</a:t>
            </a:r>
            <a:r>
              <a:rPr lang="zh-CN" altLang="en-US" sz="1600">
                <a:highlight>
                  <a:srgbClr val="FFFF00"/>
                </a:highlight>
              </a:rPr>
              <a:t>示波器则可以？</a:t>
            </a:r>
            <a:endParaRPr lang="en-US" sz="1600">
              <a:highlight>
                <a:srgbClr val="FFFF00"/>
              </a:highlight>
            </a:endParaRPr>
          </a:p>
        </p:txBody>
      </p:sp>
    </p:spTree>
    <p:extLst>
      <p:ext uri="{BB962C8B-B14F-4D97-AF65-F5344CB8AC3E}">
        <p14:creationId xmlns:p14="http://schemas.microsoft.com/office/powerpoint/2010/main" val="14728268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63186C-2F42-F5F0-1E63-82B08812F2C6}"/>
              </a:ext>
            </a:extLst>
          </p:cNvPr>
          <p:cNvSpPr>
            <a:spLocks noGrp="1"/>
          </p:cNvSpPr>
          <p:nvPr>
            <p:ph type="ftr" sz="quarter" idx="11"/>
          </p:nvPr>
        </p:nvSpPr>
        <p:spPr/>
        <p:txBody>
          <a:bodyPr/>
          <a:lstStyle/>
          <a:p>
            <a:endParaRPr lang="zh-CN" altLang="en-US"/>
          </a:p>
        </p:txBody>
      </p:sp>
      <p:sp>
        <p:nvSpPr>
          <p:cNvPr id="3" name="Slide Number Placeholder 2">
            <a:extLst>
              <a:ext uri="{FF2B5EF4-FFF2-40B4-BE49-F238E27FC236}">
                <a16:creationId xmlns:a16="http://schemas.microsoft.com/office/drawing/2014/main" id="{5797B754-9D00-095B-BA0C-7C3FFDBAE8CB}"/>
              </a:ext>
            </a:extLst>
          </p:cNvPr>
          <p:cNvSpPr>
            <a:spLocks noGrp="1"/>
          </p:cNvSpPr>
          <p:nvPr>
            <p:ph type="sldNum" sz="quarter" idx="12"/>
          </p:nvPr>
        </p:nvSpPr>
        <p:spPr/>
        <p:txBody>
          <a:bodyPr/>
          <a:lstStyle/>
          <a:p>
            <a:fld id="{6AFD64F0-5018-4E6E-A20B-8D7DA5A17E99}" type="slidenum">
              <a:rPr lang="zh-CN" altLang="en-US" smtClean="0"/>
              <a:pPr/>
              <a:t>16</a:t>
            </a:fld>
            <a:endParaRPr lang="zh-CN" alt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D2B64C9-5D0A-7A74-75B7-291E59980959}"/>
                  </a:ext>
                </a:extLst>
              </p:cNvPr>
              <p:cNvSpPr txBox="1"/>
              <p:nvPr/>
            </p:nvSpPr>
            <p:spPr>
              <a:xfrm>
                <a:off x="183135" y="404664"/>
                <a:ext cx="11825729" cy="3816429"/>
              </a:xfrm>
              <a:prstGeom prst="rect">
                <a:avLst/>
              </a:prstGeom>
              <a:noFill/>
            </p:spPr>
            <p:txBody>
              <a:bodyPr wrap="square" rtlCol="0">
                <a:spAutoFit/>
              </a:bodyPr>
              <a:lstStyle/>
              <a:p>
                <a:pPr>
                  <a:spcBef>
                    <a:spcPts val="600"/>
                  </a:spcBef>
                  <a:spcAft>
                    <a:spcPts val="600"/>
                  </a:spcAft>
                </a:pPr>
                <a:r>
                  <a:rPr lang="en-US" b="1">
                    <a:highlight>
                      <a:srgbClr val="FFFF00"/>
                    </a:highlight>
                  </a:rPr>
                  <a:t>课题核心思路梳理：</a:t>
                </a:r>
                <a:endParaRPr lang="en-US">
                  <a:highlight>
                    <a:srgbClr val="FFFF00"/>
                  </a:highlight>
                </a:endParaRPr>
              </a:p>
              <a:p>
                <a:pPr lvl="0">
                  <a:spcBef>
                    <a:spcPts val="600"/>
                  </a:spcBef>
                  <a:spcAft>
                    <a:spcPts val="600"/>
                  </a:spcAft>
                </a:pPr>
                <a:r>
                  <a:rPr lang="en-US" b="1">
                    <a:highlight>
                      <a:srgbClr val="FFFF00"/>
                    </a:highlight>
                  </a:rPr>
                  <a:t>硬件自由度与配置：</a:t>
                </a:r>
                <a:r>
                  <a:rPr lang="en-US">
                    <a:highlight>
                      <a:srgbClr val="FFFF00"/>
                    </a:highlight>
                  </a:rPr>
                  <a:t> </a:t>
                </a:r>
              </a:p>
              <a:p>
                <a:pPr marL="342900" lvl="0" indent="-342900">
                  <a:spcBef>
                    <a:spcPts val="600"/>
                  </a:spcBef>
                  <a:spcAft>
                    <a:spcPts val="600"/>
                  </a:spcAft>
                  <a:buFont typeface="+mj-lt"/>
                  <a:buAutoNum type="arabicPeriod"/>
                </a:pPr>
                <a:r>
                  <a:rPr lang="en-US" b="1">
                    <a:highlight>
                      <a:srgbClr val="FFFF00"/>
                    </a:highlight>
                  </a:rPr>
                  <a:t>偏振定制：</a:t>
                </a:r>
                <a:r>
                  <a:rPr lang="en-US">
                    <a:highlight>
                      <a:srgbClr val="FFFF00"/>
                    </a:highlight>
                  </a:rPr>
                  <a:t> 采用 </a:t>
                </a:r>
                <a:r>
                  <a:rPr lang="en-US" b="1">
                    <a:solidFill>
                      <a:srgbClr val="C00000"/>
                    </a:solidFill>
                    <a:highlight>
                      <a:srgbClr val="FFFF00"/>
                    </a:highlight>
                  </a:rPr>
                  <a:t>HWP + QWP 组合</a:t>
                </a:r>
                <a:r>
                  <a:rPr lang="en-US">
                    <a:highlight>
                      <a:srgbClr val="FFFF00"/>
                    </a:highlight>
                  </a:rPr>
                  <a:t>，通过角度扫描实现全斯托克斯参量（</a:t>
                </a:r>
                <a14:m>
                  <m:oMath xmlns:m="http://schemas.openxmlformats.org/officeDocument/2006/math">
                    <m:sSub>
                      <m:sSubPr>
                        <m:ctrlPr>
                          <a:rPr lang="en-US" i="1">
                            <a:highlight>
                              <a:srgbClr val="FFFF00"/>
                            </a:highlight>
                            <a:latin typeface="Cambria Math" panose="02040503050406030204" pitchFamily="18" charset="0"/>
                          </a:rPr>
                        </m:ctrlPr>
                      </m:sSubPr>
                      <m:e>
                        <m:r>
                          <a:rPr lang="en-US" i="1">
                            <a:highlight>
                              <a:srgbClr val="FFFF00"/>
                            </a:highlight>
                            <a:latin typeface="Cambria Math" panose="02040503050406030204" pitchFamily="18" charset="0"/>
                          </a:rPr>
                          <m:t>𝑆</m:t>
                        </m:r>
                      </m:e>
                      <m:sub>
                        <m:r>
                          <a:rPr lang="en-US">
                            <a:highlight>
                              <a:srgbClr val="FFFF00"/>
                            </a:highlight>
                            <a:latin typeface="Cambria Math" panose="02040503050406030204" pitchFamily="18" charset="0"/>
                          </a:rPr>
                          <m:t>0</m:t>
                        </m:r>
                      </m:sub>
                    </m:sSub>
                    <m:r>
                      <a:rPr lang="en-US">
                        <a:highlight>
                          <a:srgbClr val="FFFF00"/>
                        </a:highlight>
                        <a:latin typeface="Cambria Math" panose="02040503050406030204" pitchFamily="18" charset="0"/>
                      </a:rPr>
                      <m:t>,</m:t>
                    </m:r>
                    <m:sSub>
                      <m:sSubPr>
                        <m:ctrlPr>
                          <a:rPr lang="en-US" i="1">
                            <a:highlight>
                              <a:srgbClr val="FFFF00"/>
                            </a:highlight>
                            <a:latin typeface="Cambria Math" panose="02040503050406030204" pitchFamily="18" charset="0"/>
                          </a:rPr>
                        </m:ctrlPr>
                      </m:sSubPr>
                      <m:e>
                        <m:r>
                          <a:rPr lang="en-US" i="1">
                            <a:highlight>
                              <a:srgbClr val="FFFF00"/>
                            </a:highlight>
                            <a:latin typeface="Cambria Math" panose="02040503050406030204" pitchFamily="18" charset="0"/>
                          </a:rPr>
                          <m:t>𝑆</m:t>
                        </m:r>
                      </m:e>
                      <m:sub>
                        <m:r>
                          <a:rPr lang="en-US">
                            <a:highlight>
                              <a:srgbClr val="FFFF00"/>
                            </a:highlight>
                            <a:latin typeface="Cambria Math" panose="02040503050406030204" pitchFamily="18" charset="0"/>
                          </a:rPr>
                          <m:t>1</m:t>
                        </m:r>
                      </m:sub>
                    </m:sSub>
                    <m:r>
                      <a:rPr lang="en-US">
                        <a:highlight>
                          <a:srgbClr val="FFFF00"/>
                        </a:highlight>
                        <a:latin typeface="Cambria Math" panose="02040503050406030204" pitchFamily="18" charset="0"/>
                      </a:rPr>
                      <m:t>,</m:t>
                    </m:r>
                    <m:sSub>
                      <m:sSubPr>
                        <m:ctrlPr>
                          <a:rPr lang="en-US" i="1">
                            <a:highlight>
                              <a:srgbClr val="FFFF00"/>
                            </a:highlight>
                            <a:latin typeface="Cambria Math" panose="02040503050406030204" pitchFamily="18" charset="0"/>
                          </a:rPr>
                        </m:ctrlPr>
                      </m:sSubPr>
                      <m:e>
                        <m:r>
                          <a:rPr lang="en-US" i="1">
                            <a:highlight>
                              <a:srgbClr val="FFFF00"/>
                            </a:highlight>
                            <a:latin typeface="Cambria Math" panose="02040503050406030204" pitchFamily="18" charset="0"/>
                          </a:rPr>
                          <m:t>𝑆</m:t>
                        </m:r>
                      </m:e>
                      <m:sub>
                        <m:r>
                          <a:rPr lang="en-US">
                            <a:highlight>
                              <a:srgbClr val="FFFF00"/>
                            </a:highlight>
                            <a:latin typeface="Cambria Math" panose="02040503050406030204" pitchFamily="18" charset="0"/>
                          </a:rPr>
                          <m:t>2</m:t>
                        </m:r>
                      </m:sub>
                    </m:sSub>
                    <m:r>
                      <a:rPr lang="en-US">
                        <a:highlight>
                          <a:srgbClr val="FFFF00"/>
                        </a:highlight>
                        <a:latin typeface="Cambria Math" panose="02040503050406030204" pitchFamily="18" charset="0"/>
                      </a:rPr>
                      <m:t>,</m:t>
                    </m:r>
                    <m:sSub>
                      <m:sSubPr>
                        <m:ctrlPr>
                          <a:rPr lang="en-US" i="1">
                            <a:highlight>
                              <a:srgbClr val="FFFF00"/>
                            </a:highlight>
                            <a:latin typeface="Cambria Math" panose="02040503050406030204" pitchFamily="18" charset="0"/>
                          </a:rPr>
                        </m:ctrlPr>
                      </m:sSubPr>
                      <m:e>
                        <m:r>
                          <a:rPr lang="en-US" i="1">
                            <a:highlight>
                              <a:srgbClr val="FFFF00"/>
                            </a:highlight>
                            <a:latin typeface="Cambria Math" panose="02040503050406030204" pitchFamily="18" charset="0"/>
                          </a:rPr>
                          <m:t>𝑆</m:t>
                        </m:r>
                      </m:e>
                      <m:sub>
                        <m:r>
                          <a:rPr lang="en-US">
                            <a:highlight>
                              <a:srgbClr val="FFFF00"/>
                            </a:highlight>
                            <a:latin typeface="Cambria Math" panose="02040503050406030204" pitchFamily="18" charset="0"/>
                          </a:rPr>
                          <m:t>3</m:t>
                        </m:r>
                      </m:sub>
                    </m:sSub>
                  </m:oMath>
                </a14:m>
                <a:r>
                  <a:rPr lang="en-US">
                    <a:highlight>
                      <a:srgbClr val="FFFF00"/>
                    </a:highlight>
                  </a:rPr>
                  <a:t>）的精准输入。</a:t>
                </a:r>
              </a:p>
              <a:p>
                <a:pPr marL="342900" lvl="0" indent="-342900">
                  <a:spcBef>
                    <a:spcPts val="600"/>
                  </a:spcBef>
                  <a:spcAft>
                    <a:spcPts val="600"/>
                  </a:spcAft>
                  <a:buFont typeface="+mj-lt"/>
                  <a:buAutoNum type="arabicPeriod"/>
                </a:pPr>
                <a:r>
                  <a:rPr lang="en-US" b="1">
                    <a:highlight>
                      <a:srgbClr val="FFFF00"/>
                    </a:highlight>
                  </a:rPr>
                  <a:t>PEM：</a:t>
                </a:r>
                <a:r>
                  <a:rPr lang="en-US">
                    <a:highlight>
                      <a:srgbClr val="FFFF00"/>
                    </a:highlight>
                  </a:rPr>
                  <a:t> 方位角固定（基准轴），</a:t>
                </a:r>
                <a:r>
                  <a:rPr lang="en-US" b="1">
                    <a:solidFill>
                      <a:srgbClr val="C00000"/>
                    </a:solidFill>
                    <a:highlight>
                      <a:srgbClr val="FFFF00"/>
                    </a:highlight>
                  </a:rPr>
                  <a:t>调制深度（延迟量幅值 </a:t>
                </a:r>
                <a14:m>
                  <m:oMath xmlns:m="http://schemas.openxmlformats.org/officeDocument/2006/math">
                    <m:sSub>
                      <m:sSubPr>
                        <m:ctrlPr>
                          <a:rPr lang="en-US" b="1" i="1">
                            <a:solidFill>
                              <a:srgbClr val="C00000"/>
                            </a:solidFill>
                            <a:highlight>
                              <a:srgbClr val="FFFF00"/>
                            </a:highlight>
                            <a:latin typeface="Cambria Math" panose="02040503050406030204" pitchFamily="18" charset="0"/>
                          </a:rPr>
                        </m:ctrlPr>
                      </m:sSubPr>
                      <m:e>
                        <m:r>
                          <a:rPr lang="en-US" b="1" i="1">
                            <a:solidFill>
                              <a:srgbClr val="C00000"/>
                            </a:solidFill>
                            <a:highlight>
                              <a:srgbClr val="FFFF00"/>
                            </a:highlight>
                            <a:latin typeface="Cambria Math" panose="02040503050406030204" pitchFamily="18" charset="0"/>
                          </a:rPr>
                          <m:t>𝜹</m:t>
                        </m:r>
                      </m:e>
                      <m:sub>
                        <m:r>
                          <a:rPr lang="en-US" b="1" i="1">
                            <a:solidFill>
                              <a:srgbClr val="C00000"/>
                            </a:solidFill>
                            <a:highlight>
                              <a:srgbClr val="FFFF00"/>
                            </a:highlight>
                            <a:latin typeface="Cambria Math" panose="02040503050406030204" pitchFamily="18" charset="0"/>
                          </a:rPr>
                          <m:t>𝟎</m:t>
                        </m:r>
                      </m:sub>
                    </m:sSub>
                  </m:oMath>
                </a14:m>
                <a:r>
                  <a:rPr lang="en-US" b="1">
                    <a:solidFill>
                      <a:srgbClr val="C00000"/>
                    </a:solidFill>
                    <a:highlight>
                      <a:srgbClr val="FFFF00"/>
                    </a:highlight>
                  </a:rPr>
                  <a:t>）可调</a:t>
                </a:r>
                <a:r>
                  <a:rPr lang="en-US">
                    <a:highlight>
                      <a:srgbClr val="FFFF00"/>
                    </a:highlight>
                  </a:rPr>
                  <a:t>。</a:t>
                </a:r>
              </a:p>
              <a:p>
                <a:pPr marL="342900" lvl="0" indent="-342900">
                  <a:spcBef>
                    <a:spcPts val="600"/>
                  </a:spcBef>
                  <a:spcAft>
                    <a:spcPts val="600"/>
                  </a:spcAft>
                  <a:buFont typeface="+mj-lt"/>
                  <a:buAutoNum type="arabicPeriod"/>
                </a:pPr>
                <a:r>
                  <a:rPr lang="en-US" b="1">
                    <a:highlight>
                      <a:srgbClr val="FFFF00"/>
                    </a:highlight>
                  </a:rPr>
                  <a:t>检偏器：</a:t>
                </a:r>
                <a:r>
                  <a:rPr lang="en-US">
                    <a:highlight>
                      <a:srgbClr val="FFFF00"/>
                    </a:highlight>
                  </a:rPr>
                  <a:t> 与 PEM 快轴夹角可调（需通过理论推导验证传统的 </a:t>
                </a:r>
                <a14:m>
                  <m:oMath xmlns:m="http://schemas.openxmlformats.org/officeDocument/2006/math">
                    <m:sSup>
                      <m:sSupPr>
                        <m:ctrlPr>
                          <a:rPr lang="en-US">
                            <a:highlight>
                              <a:srgbClr val="FFFF00"/>
                            </a:highlight>
                            <a:latin typeface="Cambria Math" panose="02040503050406030204" pitchFamily="18" charset="0"/>
                          </a:rPr>
                        </m:ctrlPr>
                      </m:sSupPr>
                      <m:e>
                        <m:r>
                          <a:rPr lang="en-US">
                            <a:highlight>
                              <a:srgbClr val="FFFF00"/>
                            </a:highlight>
                            <a:latin typeface="Cambria Math" panose="02040503050406030204" pitchFamily="18" charset="0"/>
                          </a:rPr>
                          <m:t>45</m:t>
                        </m:r>
                      </m:e>
                      <m:sup>
                        <m:r>
                          <a:rPr lang="en-US">
                            <a:highlight>
                              <a:srgbClr val="FFFF00"/>
                            </a:highlight>
                            <a:latin typeface="Cambria Math" panose="02040503050406030204" pitchFamily="18" charset="0"/>
                          </a:rPr>
                          <m:t>∘</m:t>
                        </m:r>
                      </m:sup>
                    </m:sSup>
                  </m:oMath>
                </a14:m>
                <a:r>
                  <a:rPr lang="en-US">
                    <a:highlight>
                      <a:srgbClr val="FFFF00"/>
                    </a:highlight>
                  </a:rPr>
                  <a:t>是否为信噪比最高的最优角度）。</a:t>
                </a:r>
              </a:p>
              <a:p>
                <a:pPr lvl="0">
                  <a:spcBef>
                    <a:spcPts val="600"/>
                  </a:spcBef>
                  <a:spcAft>
                    <a:spcPts val="600"/>
                  </a:spcAft>
                </a:pPr>
                <a:r>
                  <a:rPr lang="en-US" b="1">
                    <a:highlight>
                      <a:srgbClr val="FFFF00"/>
                    </a:highlight>
                  </a:rPr>
                  <a:t>输入-输出映射关系构建：</a:t>
                </a:r>
                <a:r>
                  <a:rPr lang="en-US">
                    <a:highlight>
                      <a:srgbClr val="FFFF00"/>
                    </a:highlight>
                  </a:rPr>
                  <a:t> </a:t>
                </a:r>
              </a:p>
              <a:p>
                <a:pPr marL="342900" lvl="0" indent="-342900">
                  <a:spcBef>
                    <a:spcPts val="600"/>
                  </a:spcBef>
                  <a:spcAft>
                    <a:spcPts val="600"/>
                  </a:spcAft>
                  <a:buFont typeface="+mj-lt"/>
                  <a:buAutoNum type="arabicPeriod"/>
                </a:pPr>
                <a:r>
                  <a:rPr lang="en-US" b="1">
                    <a:highlight>
                      <a:srgbClr val="FFFF00"/>
                    </a:highlight>
                  </a:rPr>
                  <a:t>输入量：</a:t>
                </a:r>
                <a:r>
                  <a:rPr lang="en-US">
                    <a:highlight>
                      <a:srgbClr val="FFFF00"/>
                    </a:highlight>
                  </a:rPr>
                  <a:t> 偏振态发生器（HWP / QWP 方位角 </a:t>
                </a:r>
                <a14:m>
                  <m:oMath xmlns:m="http://schemas.openxmlformats.org/officeDocument/2006/math">
                    <m:r>
                      <a:rPr lang="en-US">
                        <a:highlight>
                          <a:srgbClr val="FFFF00"/>
                        </a:highlight>
                        <a:latin typeface="Cambria Math" panose="02040503050406030204" pitchFamily="18" charset="0"/>
                      </a:rPr>
                      <m:t>→</m:t>
                    </m:r>
                  </m:oMath>
                </a14:m>
                <a:r>
                  <a:rPr lang="en-US">
                    <a:highlight>
                      <a:srgbClr val="FFFF00"/>
                    </a:highlight>
                  </a:rPr>
                  <a:t>对应全偏振态 </a:t>
                </a:r>
                <a14:m>
                  <m:oMath xmlns:m="http://schemas.openxmlformats.org/officeDocument/2006/math">
                    <m:r>
                      <a:rPr lang="en-US" i="1">
                        <a:highlight>
                          <a:srgbClr val="FFFF00"/>
                        </a:highlight>
                        <a:latin typeface="Cambria Math" panose="02040503050406030204" pitchFamily="18" charset="0"/>
                      </a:rPr>
                      <m:t>𝑆</m:t>
                    </m:r>
                  </m:oMath>
                </a14:m>
                <a:r>
                  <a:rPr lang="en-US">
                    <a:highlight>
                      <a:srgbClr val="FFFF00"/>
                    </a:highlight>
                  </a:rPr>
                  <a:t>）。</a:t>
                </a:r>
              </a:p>
              <a:p>
                <a:pPr marL="342900" lvl="0" indent="-342900">
                  <a:spcBef>
                    <a:spcPts val="600"/>
                  </a:spcBef>
                  <a:spcAft>
                    <a:spcPts val="600"/>
                  </a:spcAft>
                  <a:buFont typeface="+mj-lt"/>
                  <a:buAutoNum type="arabicPeriod"/>
                </a:pPr>
                <a:r>
                  <a:rPr lang="en-US" b="1">
                    <a:highlight>
                      <a:srgbClr val="FFFF00"/>
                    </a:highlight>
                  </a:rPr>
                  <a:t>输出量：</a:t>
                </a:r>
                <a:r>
                  <a:rPr lang="en-US">
                    <a:highlight>
                      <a:srgbClr val="FFFF00"/>
                    </a:highlight>
                  </a:rPr>
                  <a:t> </a:t>
                </a:r>
                <a:r>
                  <a:rPr lang="en-US" b="1">
                    <a:solidFill>
                      <a:srgbClr val="C00000"/>
                    </a:solidFill>
                    <a:highlight>
                      <a:srgbClr val="FFFF00"/>
                    </a:highlight>
                  </a:rPr>
                  <a:t>锁相探测的多频信号</a:t>
                </a:r>
                <a:r>
                  <a:rPr lang="en-US">
                    <a:highlight>
                      <a:srgbClr val="FFFF00"/>
                    </a:highlight>
                  </a:rPr>
                  <a:t>（</a:t>
                </a:r>
                <a14:m>
                  <m:oMath xmlns:m="http://schemas.openxmlformats.org/officeDocument/2006/math">
                    <m:r>
                      <m:rPr>
                        <m:nor/>
                      </m:rPr>
                      <a:rPr lang="en-US" b="0" i="0">
                        <a:highlight>
                          <a:srgbClr val="FFFF00"/>
                        </a:highlight>
                      </a:rPr>
                      <m:t>DC</m:t>
                    </m:r>
                  </m:oMath>
                </a14:m>
                <a:r>
                  <a:rPr lang="en-US">
                    <a:highlight>
                      <a:srgbClr val="FFFF00"/>
                    </a:highlight>
                  </a:rPr>
                  <a:t> 以及 </a:t>
                </a:r>
                <a14:m>
                  <m:oMath xmlns:m="http://schemas.openxmlformats.org/officeDocument/2006/math">
                    <m:r>
                      <a:rPr lang="en-US">
                        <a:highlight>
                          <a:srgbClr val="FFFF00"/>
                        </a:highlight>
                        <a:latin typeface="Cambria Math" panose="02040503050406030204" pitchFamily="18" charset="0"/>
                      </a:rPr>
                      <m:t>1</m:t>
                    </m:r>
                    <m:r>
                      <a:rPr lang="en-US" i="1">
                        <a:highlight>
                          <a:srgbClr val="FFFF00"/>
                        </a:highlight>
                        <a:latin typeface="Cambria Math" panose="02040503050406030204" pitchFamily="18" charset="0"/>
                      </a:rPr>
                      <m:t>𝑓</m:t>
                    </m:r>
                    <m:r>
                      <a:rPr lang="en-US">
                        <a:highlight>
                          <a:srgbClr val="FFFF00"/>
                        </a:highlight>
                        <a:latin typeface="Cambria Math" panose="02040503050406030204" pitchFamily="18" charset="0"/>
                      </a:rPr>
                      <m:t>,2</m:t>
                    </m:r>
                    <m:r>
                      <a:rPr lang="en-US" i="1">
                        <a:highlight>
                          <a:srgbClr val="FFFF00"/>
                        </a:highlight>
                        <a:latin typeface="Cambria Math" panose="02040503050406030204" pitchFamily="18" charset="0"/>
                      </a:rPr>
                      <m:t>𝑓</m:t>
                    </m:r>
                  </m:oMath>
                </a14:m>
                <a:r>
                  <a:rPr lang="en-US">
                    <a:highlight>
                      <a:srgbClr val="FFFF00"/>
                    </a:highlight>
                  </a:rPr>
                  <a:t>的同相分量 </a:t>
                </a:r>
                <a14:m>
                  <m:oMath xmlns:m="http://schemas.openxmlformats.org/officeDocument/2006/math">
                    <m:r>
                      <a:rPr lang="en-US" i="1">
                        <a:highlight>
                          <a:srgbClr val="FFFF00"/>
                        </a:highlight>
                        <a:latin typeface="Cambria Math" panose="02040503050406030204" pitchFamily="18" charset="0"/>
                      </a:rPr>
                      <m:t>𝑋</m:t>
                    </m:r>
                  </m:oMath>
                </a14:m>
                <a:r>
                  <a:rPr lang="en-US">
                    <a:highlight>
                      <a:srgbClr val="FFFF00"/>
                    </a:highlight>
                  </a:rPr>
                  <a:t>、正交分量 </a:t>
                </a:r>
                <a14:m>
                  <m:oMath xmlns:m="http://schemas.openxmlformats.org/officeDocument/2006/math">
                    <m:r>
                      <a:rPr lang="en-US" i="1">
                        <a:highlight>
                          <a:srgbClr val="FFFF00"/>
                        </a:highlight>
                        <a:latin typeface="Cambria Math" panose="02040503050406030204" pitchFamily="18" charset="0"/>
                      </a:rPr>
                      <m:t>𝑌</m:t>
                    </m:r>
                  </m:oMath>
                </a14:m>
                <a:r>
                  <a:rPr lang="en-US">
                    <a:highlight>
                      <a:srgbClr val="FFFF00"/>
                    </a:highlight>
                  </a:rPr>
                  <a:t>）。</a:t>
                </a:r>
              </a:p>
              <a:p>
                <a:pPr marL="342900" lvl="0" indent="-342900">
                  <a:spcBef>
                    <a:spcPts val="600"/>
                  </a:spcBef>
                  <a:spcAft>
                    <a:spcPts val="600"/>
                  </a:spcAft>
                  <a:buFont typeface="+mj-lt"/>
                  <a:buAutoNum type="arabicPeriod"/>
                </a:pPr>
                <a:r>
                  <a:rPr lang="en-US" b="1">
                    <a:highlight>
                      <a:srgbClr val="FFFF00"/>
                    </a:highlight>
                  </a:rPr>
                  <a:t>目标：</a:t>
                </a:r>
                <a:r>
                  <a:rPr lang="en-US">
                    <a:highlight>
                      <a:srgbClr val="FFFF00"/>
                    </a:highlight>
                  </a:rPr>
                  <a:t> 推导并实验标定从“波片角度”到“多频电信号”的传递响应方程，建立完备的偏振反演模型。</a:t>
                </a:r>
              </a:p>
            </p:txBody>
          </p:sp>
        </mc:Choice>
        <mc:Fallback xmlns="">
          <p:sp>
            <p:nvSpPr>
              <p:cNvPr id="5" name="TextBox 4">
                <a:extLst>
                  <a:ext uri="{FF2B5EF4-FFF2-40B4-BE49-F238E27FC236}">
                    <a16:creationId xmlns:a16="http://schemas.microsoft.com/office/drawing/2014/main" id="{1D2B64C9-5D0A-7A74-75B7-291E59980959}"/>
                  </a:ext>
                </a:extLst>
              </p:cNvPr>
              <p:cNvSpPr txBox="1">
                <a:spLocks noRot="1" noChangeAspect="1" noMove="1" noResize="1" noEditPoints="1" noAdjustHandles="1" noChangeArrowheads="1" noChangeShapeType="1" noTextEdit="1"/>
              </p:cNvSpPr>
              <p:nvPr/>
            </p:nvSpPr>
            <p:spPr>
              <a:xfrm>
                <a:off x="183135" y="404664"/>
                <a:ext cx="11825729" cy="3816429"/>
              </a:xfrm>
              <a:prstGeom prst="rect">
                <a:avLst/>
              </a:prstGeom>
              <a:blipFill>
                <a:blip r:embed="rId2"/>
                <a:stretch>
                  <a:fillRect l="-412" t="-799" b="-1597"/>
                </a:stretch>
              </a:blipFill>
            </p:spPr>
            <p:txBody>
              <a:bodyPr/>
              <a:lstStyle/>
              <a:p>
                <a:r>
                  <a:rPr lang="en-US">
                    <a:noFill/>
                  </a:rPr>
                  <a:t> </a:t>
                </a:r>
              </a:p>
            </p:txBody>
          </p:sp>
        </mc:Fallback>
      </mc:AlternateContent>
    </p:spTree>
    <p:extLst>
      <p:ext uri="{BB962C8B-B14F-4D97-AF65-F5344CB8AC3E}">
        <p14:creationId xmlns:p14="http://schemas.microsoft.com/office/powerpoint/2010/main" val="36124282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Picture 11" descr="Timeline&#10;&#10;Description automatically generated with medium confidence">
            <a:extLst>
              <a:ext uri="{FF2B5EF4-FFF2-40B4-BE49-F238E27FC236}">
                <a16:creationId xmlns:a16="http://schemas.microsoft.com/office/drawing/2014/main" id="{4F2A2A8F-9517-4690-9118-9E9C119DEE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3589811" cy="964121"/>
          </a:xfrm>
          <a:prstGeom prst="rect">
            <a:avLst/>
          </a:prstGeom>
        </p:spPr>
      </p:pic>
      <p:cxnSp>
        <p:nvCxnSpPr>
          <p:cNvPr id="5" name="Straight Connector 4">
            <a:extLst>
              <a:ext uri="{FF2B5EF4-FFF2-40B4-BE49-F238E27FC236}">
                <a16:creationId xmlns:a16="http://schemas.microsoft.com/office/drawing/2014/main" id="{ACEC1F0D-A587-4FCC-B638-C7A416366B4E}"/>
              </a:ext>
            </a:extLst>
          </p:cNvPr>
          <p:cNvCxnSpPr>
            <a:cxnSpLocks/>
          </p:cNvCxnSpPr>
          <p:nvPr/>
        </p:nvCxnSpPr>
        <p:spPr>
          <a:xfrm>
            <a:off x="0" y="964121"/>
            <a:ext cx="12192002" cy="0"/>
          </a:xfrm>
          <a:prstGeom prst="line">
            <a:avLst/>
          </a:prstGeom>
          <a:noFill/>
          <a:ln w="38100" cap="flat" cmpd="sng" algn="ctr">
            <a:solidFill>
              <a:srgbClr val="164C8C"/>
            </a:solidFill>
            <a:prstDash val="solid"/>
            <a:miter lim="800000"/>
          </a:ln>
          <a:effectLst/>
        </p:spPr>
      </p:cxnSp>
      <p:grpSp>
        <p:nvGrpSpPr>
          <p:cNvPr id="8" name="Group 7">
            <a:extLst>
              <a:ext uri="{FF2B5EF4-FFF2-40B4-BE49-F238E27FC236}">
                <a16:creationId xmlns:a16="http://schemas.microsoft.com/office/drawing/2014/main" id="{9CDFCEC1-C72C-4AFF-9C6E-EE15DF50B3A1}"/>
              </a:ext>
            </a:extLst>
          </p:cNvPr>
          <p:cNvGrpSpPr/>
          <p:nvPr/>
        </p:nvGrpSpPr>
        <p:grpSpPr>
          <a:xfrm>
            <a:off x="-1" y="6042322"/>
            <a:ext cx="12192002" cy="815678"/>
            <a:chOff x="-1" y="5114925"/>
            <a:chExt cx="12192002" cy="1743075"/>
          </a:xfrm>
        </p:grpSpPr>
        <p:sp>
          <p:nvSpPr>
            <p:cNvPr id="9" name="íṥ1íde">
              <a:extLst>
                <a:ext uri="{FF2B5EF4-FFF2-40B4-BE49-F238E27FC236}">
                  <a16:creationId xmlns:a16="http://schemas.microsoft.com/office/drawing/2014/main" id="{6E2BA51F-A4D9-4F46-8543-10DB138EA98E}"/>
                </a:ext>
              </a:extLst>
            </p:cNvPr>
            <p:cNvSpPr/>
            <p:nvPr/>
          </p:nvSpPr>
          <p:spPr>
            <a:xfrm>
              <a:off x="-1" y="5114925"/>
              <a:ext cx="12192001" cy="1743075"/>
            </a:xfrm>
            <a:custGeom>
              <a:avLst/>
              <a:gdLst/>
              <a:ahLst/>
              <a:cxnLst/>
              <a:rect l="0" t="0" r="0" b="0"/>
              <a:pathLst>
                <a:path w="12192001" h="3741094" extrusionOk="0">
                  <a:moveTo>
                    <a:pt x="0" y="51100"/>
                  </a:moveTo>
                  <a:cubicBezTo>
                    <a:pt x="1197428" y="-363602"/>
                    <a:pt x="4795521" y="1882077"/>
                    <a:pt x="6831875" y="1879900"/>
                  </a:cubicBezTo>
                  <a:cubicBezTo>
                    <a:pt x="8868229" y="1877723"/>
                    <a:pt x="11357429" y="825119"/>
                    <a:pt x="12192000" y="1239821"/>
                  </a:cubicBezTo>
                  <a:cubicBezTo>
                    <a:pt x="12192000" y="2073579"/>
                    <a:pt x="12192001" y="2907336"/>
                    <a:pt x="12192001" y="3741094"/>
                  </a:cubicBezTo>
                  <a:lnTo>
                    <a:pt x="1" y="3741094"/>
                  </a:lnTo>
                  <a:cubicBezTo>
                    <a:pt x="1" y="2511096"/>
                    <a:pt x="0" y="1281098"/>
                    <a:pt x="0" y="51100"/>
                  </a:cubicBezTo>
                  <a:close/>
                </a:path>
              </a:pathLst>
            </a:custGeom>
            <a:solidFill>
              <a:srgbClr val="FFFFFF">
                <a:lumMod val="85000"/>
              </a:srgbClr>
            </a:solidFill>
            <a:ln>
              <a:noFill/>
            </a:ln>
            <a:effectLst/>
          </p:spPr>
          <p:txBody>
            <a:bodyPr spcFirstLastPara="1" wrap="square" lIns="91440" tIns="45720" rIns="91440" bIns="45720"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9pPr>
            </a:lstStyle>
            <a:p>
              <a:pPr marL="0" marR="0" lvl="0" indent="0" algn="ctr" defTabSz="457200" rtl="0" eaLnBrk="1" fontAlgn="auto" latinLnBrk="0" hangingPunct="1">
                <a:lnSpc>
                  <a:spcPct val="100000"/>
                </a:lnSpc>
                <a:spcBef>
                  <a:spcPts val="0"/>
                </a:spcBef>
                <a:spcAft>
                  <a:spcPts val="0"/>
                </a:spcAft>
                <a:buClr>
                  <a:srgbClr val="000000"/>
                </a:buClr>
                <a:buSzTx/>
                <a:buFont typeface="Arial" panose="020B0604020202090204"/>
                <a:buNone/>
                <a:tabLst/>
                <a:defRPr/>
              </a:pPr>
              <a:endParaRPr kumimoji="0" sz="1400" b="0" i="0" u="none" strike="noStrike" kern="0" cap="none" spc="0" normalizeH="0" baseline="0" noProof="0">
                <a:ln>
                  <a:noFill/>
                </a:ln>
                <a:solidFill>
                  <a:srgbClr val="000000"/>
                </a:solidFill>
                <a:effectLst/>
                <a:uLnTx/>
                <a:uFillTx/>
                <a:latin typeface="Arial"/>
                <a:ea typeface="Microsoft YaHei"/>
              </a:endParaRPr>
            </a:p>
          </p:txBody>
        </p:sp>
        <p:sp>
          <p:nvSpPr>
            <p:cNvPr id="10" name="ïsļidê">
              <a:extLst>
                <a:ext uri="{FF2B5EF4-FFF2-40B4-BE49-F238E27FC236}">
                  <a16:creationId xmlns:a16="http://schemas.microsoft.com/office/drawing/2014/main" id="{E039ED5A-27C8-46FD-A729-046833071DC5}"/>
                </a:ext>
              </a:extLst>
            </p:cNvPr>
            <p:cNvSpPr/>
            <p:nvPr/>
          </p:nvSpPr>
          <p:spPr>
            <a:xfrm>
              <a:off x="0" y="5729076"/>
              <a:ext cx="12192001" cy="1128921"/>
            </a:xfrm>
            <a:custGeom>
              <a:avLst/>
              <a:gdLst/>
              <a:ahLst/>
              <a:cxnLst/>
              <a:rect l="0" t="0" r="0" b="0"/>
              <a:pathLst>
                <a:path w="12192001" h="3741094" extrusionOk="0">
                  <a:moveTo>
                    <a:pt x="0" y="51100"/>
                  </a:moveTo>
                  <a:cubicBezTo>
                    <a:pt x="1197428" y="-363602"/>
                    <a:pt x="4795521" y="1882077"/>
                    <a:pt x="6831875" y="1879900"/>
                  </a:cubicBezTo>
                  <a:cubicBezTo>
                    <a:pt x="8868229" y="1877723"/>
                    <a:pt x="11357429" y="825119"/>
                    <a:pt x="12192000" y="1239821"/>
                  </a:cubicBezTo>
                  <a:cubicBezTo>
                    <a:pt x="12192000" y="2073579"/>
                    <a:pt x="12192001" y="2907336"/>
                    <a:pt x="12192001" y="3741094"/>
                  </a:cubicBezTo>
                  <a:lnTo>
                    <a:pt x="1" y="3741094"/>
                  </a:lnTo>
                  <a:cubicBezTo>
                    <a:pt x="1" y="2511096"/>
                    <a:pt x="0" y="1281098"/>
                    <a:pt x="0" y="51100"/>
                  </a:cubicBezTo>
                  <a:close/>
                </a:path>
              </a:pathLst>
            </a:custGeom>
            <a:solidFill>
              <a:srgbClr val="083F7F"/>
            </a:solidFill>
            <a:ln>
              <a:noFill/>
            </a:ln>
            <a:effectLst/>
          </p:spPr>
          <p:txBody>
            <a:bodyPr spcFirstLastPara="1" wrap="square" lIns="91440" tIns="45720" rIns="91440" bIns="45720"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9pPr>
            </a:lstStyle>
            <a:p>
              <a:pPr marL="0" marR="0" lvl="0" indent="0" algn="ctr" defTabSz="457200" rtl="0" eaLnBrk="1" fontAlgn="auto" latinLnBrk="0" hangingPunct="1">
                <a:lnSpc>
                  <a:spcPct val="100000"/>
                </a:lnSpc>
                <a:spcBef>
                  <a:spcPts val="0"/>
                </a:spcBef>
                <a:spcAft>
                  <a:spcPts val="0"/>
                </a:spcAft>
                <a:buClr>
                  <a:srgbClr val="000000"/>
                </a:buClr>
                <a:buSzTx/>
                <a:buFont typeface="Arial" panose="020B0604020202090204"/>
                <a:buNone/>
                <a:tabLst/>
                <a:defRPr/>
              </a:pPr>
              <a:endParaRPr kumimoji="0" sz="1400" b="0" i="0" u="none" strike="noStrike" kern="0" cap="none" spc="0" normalizeH="0" baseline="0" noProof="0">
                <a:ln>
                  <a:noFill/>
                </a:ln>
                <a:solidFill>
                  <a:srgbClr val="000000"/>
                </a:solidFill>
                <a:effectLst/>
                <a:uLnTx/>
                <a:uFillTx/>
                <a:latin typeface="Arial"/>
                <a:ea typeface="Microsoft YaHei"/>
              </a:endParaRPr>
            </a:p>
          </p:txBody>
        </p:sp>
      </p:grpSp>
      <p:sp>
        <p:nvSpPr>
          <p:cNvPr id="11" name="Slide Number Placeholder 2">
            <a:extLst>
              <a:ext uri="{FF2B5EF4-FFF2-40B4-BE49-F238E27FC236}">
                <a16:creationId xmlns:a16="http://schemas.microsoft.com/office/drawing/2014/main" id="{F22F27CA-5E6E-4762-8DE2-3B18CBE709A2}"/>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17</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ACAEE91A-E2B7-4A84-BDF3-883B0F04E2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 y="0"/>
            <a:ext cx="990599" cy="985742"/>
          </a:xfrm>
          <a:prstGeom prst="rect">
            <a:avLst/>
          </a:prstGeom>
        </p:spPr>
      </p:pic>
      <p:sp>
        <p:nvSpPr>
          <p:cNvPr id="2" name="TextBox 1">
            <a:extLst>
              <a:ext uri="{FF2B5EF4-FFF2-40B4-BE49-F238E27FC236}">
                <a16:creationId xmlns:a16="http://schemas.microsoft.com/office/drawing/2014/main" id="{F8C3D2FE-1C77-4808-A158-5FCBDB0DE32E}"/>
              </a:ext>
            </a:extLst>
          </p:cNvPr>
          <p:cNvSpPr txBox="1"/>
          <p:nvPr/>
        </p:nvSpPr>
        <p:spPr>
          <a:xfrm>
            <a:off x="2555630" y="2271471"/>
            <a:ext cx="7080740" cy="2315057"/>
          </a:xfrm>
          <a:prstGeom prst="rect">
            <a:avLst/>
          </a:prstGeom>
          <a:noFill/>
        </p:spPr>
        <p:txBody>
          <a:bodyPr wrap="square" rtlCol="0">
            <a:spAutoFit/>
          </a:bodyPr>
          <a:lstStyle/>
          <a:p>
            <a:pPr algn="ctr" defTabSz="685800">
              <a:lnSpc>
                <a:spcPct val="120000"/>
              </a:lnSpc>
              <a:spcBef>
                <a:spcPts val="600"/>
              </a:spcBef>
              <a:spcAft>
                <a:spcPts val="600"/>
              </a:spcAft>
            </a:pPr>
            <a:r>
              <a:rPr lang="zh-CN" altLang="en-US" sz="6000" b="1" dirty="0">
                <a:solidFill>
                  <a:srgbClr val="800000"/>
                </a:solidFill>
                <a:latin typeface="黑体" panose="02010609060101010101" pitchFamily="49" charset="-122"/>
                <a:ea typeface="黑体" panose="02010609060101010101" pitchFamily="49" charset="-122"/>
                <a:cs typeface="+mn-ea"/>
                <a:sym typeface="+mn-lt"/>
              </a:rPr>
              <a:t>衷心感谢大家</a:t>
            </a:r>
          </a:p>
          <a:p>
            <a:pPr algn="ctr" defTabSz="685800">
              <a:lnSpc>
                <a:spcPct val="120000"/>
              </a:lnSpc>
              <a:spcBef>
                <a:spcPts val="600"/>
              </a:spcBef>
              <a:spcAft>
                <a:spcPts val="600"/>
              </a:spcAft>
            </a:pPr>
            <a:r>
              <a:rPr lang="zh-CN" altLang="en-US" sz="6000" b="1" dirty="0">
                <a:solidFill>
                  <a:srgbClr val="800000"/>
                </a:solidFill>
                <a:latin typeface="黑体" panose="02010609060101010101" pitchFamily="49" charset="-122"/>
                <a:ea typeface="黑体" panose="02010609060101010101" pitchFamily="49" charset="-122"/>
                <a:cs typeface="+mn-ea"/>
                <a:sym typeface="+mn-lt"/>
              </a:rPr>
              <a:t>敬请批评指正</a:t>
            </a:r>
          </a:p>
        </p:txBody>
      </p:sp>
    </p:spTree>
    <p:extLst>
      <p:ext uri="{BB962C8B-B14F-4D97-AF65-F5344CB8AC3E}">
        <p14:creationId xmlns:p14="http://schemas.microsoft.com/office/powerpoint/2010/main" val="12248861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3DB12-55DF-6101-D9DB-DD03D44502D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C157224-1134-AC90-AA1E-787699BD10AE}"/>
              </a:ext>
            </a:extLst>
          </p:cNvPr>
          <p:cNvSpPr txBox="1"/>
          <p:nvPr/>
        </p:nvSpPr>
        <p:spPr>
          <a:xfrm>
            <a:off x="-34735" y="960300"/>
            <a:ext cx="3953615" cy="646331"/>
          </a:xfrm>
          <a:prstGeom prst="rect">
            <a:avLst/>
          </a:prstGeom>
          <a:noFill/>
        </p:spPr>
        <p:txBody>
          <a:bodyPr wrap="square" rtlCol="0">
            <a:spAutoFit/>
          </a:bodyPr>
          <a:lstStyle/>
          <a:p>
            <a:r>
              <a:rPr lang="zh-CN" altLang="en-US" dirty="0"/>
              <a:t>偏振信息</a:t>
            </a:r>
            <a:r>
              <a:rPr lang="zh-CN" altLang="en-US" dirty="0">
                <a:solidFill>
                  <a:srgbClr val="FF0000"/>
                </a:solidFill>
              </a:rPr>
              <a:t>编码</a:t>
            </a:r>
            <a:r>
              <a:rPr lang="zh-CN" altLang="en-US" dirty="0"/>
              <a:t>过程</a:t>
            </a:r>
            <a:r>
              <a:rPr lang="en-US" altLang="zh-CN" dirty="0"/>
              <a:t>:y</a:t>
            </a:r>
            <a:r>
              <a:rPr lang="en-US" altLang="zh-CN"/>
              <a:t>=Hx</a:t>
            </a:r>
            <a:r>
              <a:rPr lang="zh-CN" altLang="en-US"/>
              <a:t>，以</a:t>
            </a:r>
            <a:r>
              <a:rPr lang="en-US" altLang="zh-CN"/>
              <a:t>h2</a:t>
            </a:r>
            <a:r>
              <a:rPr lang="zh-CN" altLang="en-US"/>
              <a:t>为例</a:t>
            </a:r>
          </a:p>
          <a:p>
            <a:endParaRPr lang="zh-CN" altLang="en-US" dirty="0"/>
          </a:p>
        </p:txBody>
      </p:sp>
      <p:graphicFrame>
        <p:nvGraphicFramePr>
          <p:cNvPr id="7" name="表格 6">
            <a:extLst>
              <a:ext uri="{FF2B5EF4-FFF2-40B4-BE49-F238E27FC236}">
                <a16:creationId xmlns:a16="http://schemas.microsoft.com/office/drawing/2014/main" id="{6D2944E5-E5E8-E075-71D2-1044BF2E8079}"/>
              </a:ext>
            </a:extLst>
          </p:cNvPr>
          <p:cNvGraphicFramePr>
            <a:graphicFrameLocks noGrp="1"/>
          </p:cNvGraphicFramePr>
          <p:nvPr/>
        </p:nvGraphicFramePr>
        <p:xfrm>
          <a:off x="226026" y="1411788"/>
          <a:ext cx="1055646" cy="938014"/>
        </p:xfrm>
        <a:graphic>
          <a:graphicData uri="http://schemas.openxmlformats.org/drawingml/2006/table">
            <a:tbl>
              <a:tblPr firstRow="1" bandRow="1">
                <a:tableStyleId>{21E4AEA4-8DFA-4A89-87EB-49C32662AFE0}</a:tableStyleId>
              </a:tblPr>
              <a:tblGrid>
                <a:gridCol w="527823">
                  <a:extLst>
                    <a:ext uri="{9D8B030D-6E8A-4147-A177-3AD203B41FA5}">
                      <a16:colId xmlns:a16="http://schemas.microsoft.com/office/drawing/2014/main" val="1015713116"/>
                    </a:ext>
                  </a:extLst>
                </a:gridCol>
                <a:gridCol w="527823">
                  <a:extLst>
                    <a:ext uri="{9D8B030D-6E8A-4147-A177-3AD203B41FA5}">
                      <a16:colId xmlns:a16="http://schemas.microsoft.com/office/drawing/2014/main" val="410744476"/>
                    </a:ext>
                  </a:extLst>
                </a:gridCol>
              </a:tblGrid>
              <a:tr h="469007">
                <a:tc>
                  <a:txBody>
                    <a:bodyPr/>
                    <a:lstStyle/>
                    <a:p>
                      <a:pPr algn="ctr"/>
                      <a:r>
                        <a:rPr lang="en-US" altLang="zh-CN" dirty="0"/>
                        <a:t>1</a:t>
                      </a:r>
                      <a:endParaRPr lang="zh-CN" altLang="en-US" dirty="0"/>
                    </a:p>
                  </a:txBody>
                  <a:tcPr>
                    <a:noFill/>
                  </a:tcPr>
                </a:tc>
                <a:tc>
                  <a:txBody>
                    <a:bodyPr/>
                    <a:lstStyle/>
                    <a:p>
                      <a:pPr algn="ctr"/>
                      <a:r>
                        <a:rPr lang="en-US" altLang="zh-CN" dirty="0"/>
                        <a:t>2</a:t>
                      </a:r>
                      <a:endParaRPr lang="zh-CN" altLang="en-US" dirty="0"/>
                    </a:p>
                  </a:txBody>
                  <a:tcPr>
                    <a:noFill/>
                  </a:tcPr>
                </a:tc>
                <a:extLst>
                  <a:ext uri="{0D108BD9-81ED-4DB2-BD59-A6C34878D82A}">
                    <a16:rowId xmlns:a16="http://schemas.microsoft.com/office/drawing/2014/main" val="1442272728"/>
                  </a:ext>
                </a:extLst>
              </a:tr>
              <a:tr h="469007">
                <a:tc>
                  <a:txBody>
                    <a:bodyPr/>
                    <a:lstStyle/>
                    <a:p>
                      <a:pPr marL="0" algn="ctr" defTabSz="914400" rtl="0" eaLnBrk="1" latinLnBrk="0" hangingPunct="1"/>
                      <a:r>
                        <a:rPr lang="en-US" altLang="zh-CN" sz="1800" b="1" kern="1200" dirty="0">
                          <a:solidFill>
                            <a:schemeClr val="lt1"/>
                          </a:solidFill>
                          <a:latin typeface="+mn-lt"/>
                          <a:ea typeface="+mn-ea"/>
                          <a:cs typeface="+mn-cs"/>
                        </a:rPr>
                        <a:t>3</a:t>
                      </a:r>
                      <a:endParaRPr lang="zh-CN" altLang="en-US" sz="1800" b="1" kern="1200" dirty="0">
                        <a:solidFill>
                          <a:schemeClr val="lt1"/>
                        </a:solidFill>
                        <a:latin typeface="+mn-lt"/>
                        <a:ea typeface="+mn-ea"/>
                        <a:cs typeface="+mn-cs"/>
                      </a:endParaRPr>
                    </a:p>
                  </a:txBody>
                  <a:tcPr>
                    <a:noFill/>
                  </a:tcPr>
                </a:tc>
                <a:tc>
                  <a:txBody>
                    <a:bodyPr/>
                    <a:lstStyle/>
                    <a:p>
                      <a:pPr marL="0" algn="ctr" defTabSz="914400" rtl="0" eaLnBrk="1" latinLnBrk="0" hangingPunct="1"/>
                      <a:r>
                        <a:rPr lang="en-US" altLang="zh-CN" sz="1800" b="1" kern="1200" dirty="0">
                          <a:solidFill>
                            <a:schemeClr val="lt1"/>
                          </a:solidFill>
                          <a:latin typeface="+mn-lt"/>
                          <a:ea typeface="+mn-ea"/>
                          <a:cs typeface="+mn-cs"/>
                        </a:rPr>
                        <a:t>4</a:t>
                      </a:r>
                      <a:endParaRPr lang="zh-CN" altLang="en-US" sz="1800" b="1" kern="1200" dirty="0">
                        <a:solidFill>
                          <a:schemeClr val="lt1"/>
                        </a:solidFill>
                        <a:latin typeface="+mn-lt"/>
                        <a:ea typeface="+mn-ea"/>
                        <a:cs typeface="+mn-cs"/>
                      </a:endParaRPr>
                    </a:p>
                  </a:txBody>
                  <a:tcPr>
                    <a:noFill/>
                  </a:tcPr>
                </a:tc>
                <a:extLst>
                  <a:ext uri="{0D108BD9-81ED-4DB2-BD59-A6C34878D82A}">
                    <a16:rowId xmlns:a16="http://schemas.microsoft.com/office/drawing/2014/main" val="1394645308"/>
                  </a:ext>
                </a:extLst>
              </a:tr>
            </a:tbl>
          </a:graphicData>
        </a:graphic>
      </p:graphicFrame>
      <p:sp>
        <p:nvSpPr>
          <p:cNvPr id="17" name="矩形 16">
            <a:extLst>
              <a:ext uri="{FF2B5EF4-FFF2-40B4-BE49-F238E27FC236}">
                <a16:creationId xmlns:a16="http://schemas.microsoft.com/office/drawing/2014/main" id="{4BC5017E-CE73-F4EB-FBDD-F5085AEB7B13}"/>
              </a:ext>
            </a:extLst>
          </p:cNvPr>
          <p:cNvSpPr>
            <a:spLocks noGrp="1"/>
          </p:cNvSpPr>
          <p:nvPr/>
        </p:nvSpPr>
        <p:spPr>
          <a:xfrm>
            <a:off x="7578596" y="3338293"/>
            <a:ext cx="5905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像素</a:t>
            </a:r>
          </a:p>
        </p:txBody>
      </p:sp>
      <p:sp>
        <p:nvSpPr>
          <p:cNvPr id="18" name="矩形 17">
            <a:extLst>
              <a:ext uri="{FF2B5EF4-FFF2-40B4-BE49-F238E27FC236}">
                <a16:creationId xmlns:a16="http://schemas.microsoft.com/office/drawing/2014/main" id="{9110AEEF-0BDC-4F0D-A538-FC68B4A1EB2F}"/>
              </a:ext>
            </a:extLst>
          </p:cNvPr>
          <p:cNvSpPr>
            <a:spLocks noGrp="1"/>
          </p:cNvSpPr>
          <p:nvPr/>
        </p:nvSpPr>
        <p:spPr>
          <a:xfrm>
            <a:off x="8169146" y="3338293"/>
            <a:ext cx="552450" cy="361950"/>
          </a:xfrm>
          <a:prstGeom prst="rect">
            <a:avLst/>
          </a:prstGeom>
          <a:solidFill>
            <a:srgbClr val="14365C"/>
          </a:solidFill>
        </p:spPr>
        <p:txBody>
          <a:bodyPr/>
          <a:lstStyle/>
          <a:p>
            <a:r>
              <a:rPr lang="en-US" sz="1425" b="1" dirty="0">
                <a:solidFill>
                  <a:srgbClr val="FFFFFF"/>
                </a:solidFill>
                <a:latin typeface="Microsoft YaHei"/>
                <a:ea typeface="Microsoft YaHei"/>
                <a:cs typeface="Microsoft YaHei"/>
              </a:rPr>
              <a:t>S</a:t>
            </a:r>
            <a:r>
              <a:rPr sz="1425" b="1" dirty="0">
                <a:solidFill>
                  <a:srgbClr val="FFFFFF"/>
                </a:solidFill>
                <a:latin typeface="Microsoft YaHei"/>
                <a:ea typeface="Microsoft YaHei"/>
                <a:cs typeface="Microsoft YaHei"/>
              </a:rPr>
              <a:t>0</a:t>
            </a:r>
          </a:p>
        </p:txBody>
      </p:sp>
      <p:sp>
        <p:nvSpPr>
          <p:cNvPr id="19" name="矩形 18">
            <a:extLst>
              <a:ext uri="{FF2B5EF4-FFF2-40B4-BE49-F238E27FC236}">
                <a16:creationId xmlns:a16="http://schemas.microsoft.com/office/drawing/2014/main" id="{72255A5A-ABE1-4A33-178D-CFD0E681B9C4}"/>
              </a:ext>
            </a:extLst>
          </p:cNvPr>
          <p:cNvSpPr>
            <a:spLocks noGrp="1"/>
          </p:cNvSpPr>
          <p:nvPr/>
        </p:nvSpPr>
        <p:spPr>
          <a:xfrm>
            <a:off x="8721596" y="3338293"/>
            <a:ext cx="5524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S1</a:t>
            </a:r>
          </a:p>
        </p:txBody>
      </p:sp>
      <p:sp>
        <p:nvSpPr>
          <p:cNvPr id="20" name="矩形 19">
            <a:extLst>
              <a:ext uri="{FF2B5EF4-FFF2-40B4-BE49-F238E27FC236}">
                <a16:creationId xmlns:a16="http://schemas.microsoft.com/office/drawing/2014/main" id="{1274A6CA-D083-ECB5-F506-6C23C9095D10}"/>
              </a:ext>
            </a:extLst>
          </p:cNvPr>
          <p:cNvSpPr>
            <a:spLocks noGrp="1"/>
          </p:cNvSpPr>
          <p:nvPr/>
        </p:nvSpPr>
        <p:spPr>
          <a:xfrm>
            <a:off x="9274046" y="3338293"/>
            <a:ext cx="5524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S2</a:t>
            </a:r>
          </a:p>
        </p:txBody>
      </p:sp>
      <p:sp>
        <p:nvSpPr>
          <p:cNvPr id="21" name="矩形 20">
            <a:extLst>
              <a:ext uri="{FF2B5EF4-FFF2-40B4-BE49-F238E27FC236}">
                <a16:creationId xmlns:a16="http://schemas.microsoft.com/office/drawing/2014/main" id="{011C440E-A8AC-5E76-723E-772570AB2993}"/>
              </a:ext>
            </a:extLst>
          </p:cNvPr>
          <p:cNvSpPr>
            <a:spLocks noGrp="1"/>
          </p:cNvSpPr>
          <p:nvPr/>
        </p:nvSpPr>
        <p:spPr>
          <a:xfrm>
            <a:off x="9826496" y="3338293"/>
            <a:ext cx="55245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S3</a:t>
            </a:r>
          </a:p>
        </p:txBody>
      </p:sp>
      <p:sp>
        <p:nvSpPr>
          <p:cNvPr id="22" name="矩形 21">
            <a:extLst>
              <a:ext uri="{FF2B5EF4-FFF2-40B4-BE49-F238E27FC236}">
                <a16:creationId xmlns:a16="http://schemas.microsoft.com/office/drawing/2014/main" id="{0A45D670-5F40-2C81-B698-B0ADF30A7C6B}"/>
              </a:ext>
            </a:extLst>
          </p:cNvPr>
          <p:cNvSpPr>
            <a:spLocks noGrp="1"/>
          </p:cNvSpPr>
          <p:nvPr/>
        </p:nvSpPr>
        <p:spPr>
          <a:xfrm>
            <a:off x="10378946" y="3338293"/>
            <a:ext cx="1676400" cy="361950"/>
          </a:xfrm>
          <a:prstGeom prst="rect">
            <a:avLst/>
          </a:prstGeom>
          <a:solidFill>
            <a:srgbClr val="14365C"/>
          </a:solidFill>
        </p:spPr>
        <p:txBody>
          <a:bodyPr/>
          <a:lstStyle/>
          <a:p>
            <a:r>
              <a:rPr sz="1425" b="1">
                <a:solidFill>
                  <a:srgbClr val="FFFFFF"/>
                </a:solidFill>
                <a:latin typeface="Microsoft YaHei"/>
                <a:ea typeface="Microsoft YaHei"/>
                <a:cs typeface="Microsoft YaHei"/>
              </a:rPr>
              <a:t>含义</a:t>
            </a:r>
          </a:p>
        </p:txBody>
      </p:sp>
      <p:sp>
        <p:nvSpPr>
          <p:cNvPr id="23" name="矩形 22">
            <a:extLst>
              <a:ext uri="{FF2B5EF4-FFF2-40B4-BE49-F238E27FC236}">
                <a16:creationId xmlns:a16="http://schemas.microsoft.com/office/drawing/2014/main" id="{B45A03C1-614F-D386-4A2A-10A36F310B30}"/>
              </a:ext>
            </a:extLst>
          </p:cNvPr>
          <p:cNvSpPr>
            <a:spLocks noGrp="1"/>
          </p:cNvSpPr>
          <p:nvPr/>
        </p:nvSpPr>
        <p:spPr>
          <a:xfrm>
            <a:off x="7578596" y="3700243"/>
            <a:ext cx="590550" cy="361950"/>
          </a:xfrm>
          <a:prstGeom prst="rect">
            <a:avLst/>
          </a:prstGeom>
          <a:solidFill>
            <a:srgbClr val="FFFFFF"/>
          </a:solidFill>
        </p:spPr>
        <p:txBody>
          <a:bodyPr/>
          <a:lstStyle/>
          <a:p>
            <a:r>
              <a:rPr sz="1425" dirty="0">
                <a:solidFill>
                  <a:srgbClr val="15202B"/>
                </a:solidFill>
                <a:latin typeface="Microsoft YaHei"/>
                <a:ea typeface="Microsoft YaHei"/>
                <a:cs typeface="Microsoft YaHei"/>
              </a:rPr>
              <a:t>1</a:t>
            </a:r>
          </a:p>
        </p:txBody>
      </p:sp>
      <p:sp>
        <p:nvSpPr>
          <p:cNvPr id="24" name="矩形 23">
            <a:extLst>
              <a:ext uri="{FF2B5EF4-FFF2-40B4-BE49-F238E27FC236}">
                <a16:creationId xmlns:a16="http://schemas.microsoft.com/office/drawing/2014/main" id="{7B91CD06-87DC-556C-F86A-3B163A44CF0B}"/>
              </a:ext>
            </a:extLst>
          </p:cNvPr>
          <p:cNvSpPr>
            <a:spLocks noGrp="1"/>
          </p:cNvSpPr>
          <p:nvPr/>
        </p:nvSpPr>
        <p:spPr>
          <a:xfrm>
            <a:off x="8169146" y="3700243"/>
            <a:ext cx="552450" cy="361950"/>
          </a:xfrm>
          <a:prstGeom prst="rect">
            <a:avLst/>
          </a:prstGeom>
          <a:solidFill>
            <a:srgbClr val="FFFFFF"/>
          </a:solidFill>
        </p:spPr>
        <p:txBody>
          <a:bodyPr/>
          <a:lstStyle/>
          <a:p>
            <a:r>
              <a:rPr sz="1425">
                <a:solidFill>
                  <a:schemeClr val="accent2"/>
                </a:solidFill>
                <a:latin typeface="Microsoft YaHei"/>
                <a:ea typeface="Microsoft YaHei"/>
                <a:cs typeface="Microsoft YaHei"/>
              </a:rPr>
              <a:t>10</a:t>
            </a:r>
          </a:p>
        </p:txBody>
      </p:sp>
      <p:sp>
        <p:nvSpPr>
          <p:cNvPr id="25" name="矩形 24">
            <a:extLst>
              <a:ext uri="{FF2B5EF4-FFF2-40B4-BE49-F238E27FC236}">
                <a16:creationId xmlns:a16="http://schemas.microsoft.com/office/drawing/2014/main" id="{223988B4-6A9D-6093-8013-3F41C67BA1BF}"/>
              </a:ext>
            </a:extLst>
          </p:cNvPr>
          <p:cNvSpPr>
            <a:spLocks noGrp="1"/>
          </p:cNvSpPr>
          <p:nvPr/>
        </p:nvSpPr>
        <p:spPr>
          <a:xfrm>
            <a:off x="8721596" y="3700243"/>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10</a:t>
            </a:r>
          </a:p>
        </p:txBody>
      </p:sp>
      <p:sp>
        <p:nvSpPr>
          <p:cNvPr id="26" name="矩形 25">
            <a:extLst>
              <a:ext uri="{FF2B5EF4-FFF2-40B4-BE49-F238E27FC236}">
                <a16:creationId xmlns:a16="http://schemas.microsoft.com/office/drawing/2014/main" id="{AFA29938-6B68-2BA8-D192-E3F6F6EDC021}"/>
              </a:ext>
            </a:extLst>
          </p:cNvPr>
          <p:cNvSpPr>
            <a:spLocks noGrp="1"/>
          </p:cNvSpPr>
          <p:nvPr/>
        </p:nvSpPr>
        <p:spPr>
          <a:xfrm>
            <a:off x="9274046" y="3700243"/>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27" name="矩形 26">
            <a:extLst>
              <a:ext uri="{FF2B5EF4-FFF2-40B4-BE49-F238E27FC236}">
                <a16:creationId xmlns:a16="http://schemas.microsoft.com/office/drawing/2014/main" id="{20D4BF40-D064-3D12-A20A-C72637B3EB23}"/>
              </a:ext>
            </a:extLst>
          </p:cNvPr>
          <p:cNvSpPr>
            <a:spLocks noGrp="1"/>
          </p:cNvSpPr>
          <p:nvPr/>
        </p:nvSpPr>
        <p:spPr>
          <a:xfrm>
            <a:off x="9826496" y="3700243"/>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28" name="矩形 27">
            <a:extLst>
              <a:ext uri="{FF2B5EF4-FFF2-40B4-BE49-F238E27FC236}">
                <a16:creationId xmlns:a16="http://schemas.microsoft.com/office/drawing/2014/main" id="{52D794BE-4D46-1A52-E13D-16799924C49D}"/>
              </a:ext>
            </a:extLst>
          </p:cNvPr>
          <p:cNvSpPr>
            <a:spLocks noGrp="1"/>
          </p:cNvSpPr>
          <p:nvPr/>
        </p:nvSpPr>
        <p:spPr>
          <a:xfrm>
            <a:off x="10378946" y="3700243"/>
            <a:ext cx="1676400" cy="361950"/>
          </a:xfrm>
          <a:prstGeom prst="rect">
            <a:avLst/>
          </a:prstGeom>
          <a:solidFill>
            <a:srgbClr val="FFFFFF"/>
          </a:solidFill>
        </p:spPr>
        <p:txBody>
          <a:bodyPr/>
          <a:lstStyle/>
          <a:p>
            <a:r>
              <a:rPr sz="1425" dirty="0" err="1">
                <a:solidFill>
                  <a:srgbClr val="15202B"/>
                </a:solidFill>
                <a:latin typeface="Microsoft YaHei"/>
                <a:ea typeface="Microsoft YaHei"/>
                <a:cs typeface="Microsoft YaHei"/>
              </a:rPr>
              <a:t>水平线偏振</a:t>
            </a:r>
            <a:endParaRPr sz="1425" dirty="0">
              <a:solidFill>
                <a:srgbClr val="15202B"/>
              </a:solidFill>
              <a:latin typeface="Microsoft YaHei"/>
              <a:ea typeface="Microsoft YaHei"/>
              <a:cs typeface="Microsoft YaHei"/>
            </a:endParaRPr>
          </a:p>
        </p:txBody>
      </p:sp>
      <p:sp>
        <p:nvSpPr>
          <p:cNvPr id="29" name="矩形 28">
            <a:extLst>
              <a:ext uri="{FF2B5EF4-FFF2-40B4-BE49-F238E27FC236}">
                <a16:creationId xmlns:a16="http://schemas.microsoft.com/office/drawing/2014/main" id="{4BF2BE0E-7A90-AF75-97DB-080A1C5D815D}"/>
              </a:ext>
            </a:extLst>
          </p:cNvPr>
          <p:cNvSpPr>
            <a:spLocks noGrp="1"/>
          </p:cNvSpPr>
          <p:nvPr/>
        </p:nvSpPr>
        <p:spPr>
          <a:xfrm>
            <a:off x="7578596" y="4062193"/>
            <a:ext cx="5905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2</a:t>
            </a:r>
          </a:p>
        </p:txBody>
      </p:sp>
      <p:sp>
        <p:nvSpPr>
          <p:cNvPr id="30" name="矩形 29">
            <a:extLst>
              <a:ext uri="{FF2B5EF4-FFF2-40B4-BE49-F238E27FC236}">
                <a16:creationId xmlns:a16="http://schemas.microsoft.com/office/drawing/2014/main" id="{9CD66882-8F7B-00BA-8D89-B2BC26EEC628}"/>
              </a:ext>
            </a:extLst>
          </p:cNvPr>
          <p:cNvSpPr>
            <a:spLocks noGrp="1"/>
          </p:cNvSpPr>
          <p:nvPr/>
        </p:nvSpPr>
        <p:spPr>
          <a:xfrm>
            <a:off x="8169146" y="4062193"/>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8</a:t>
            </a:r>
          </a:p>
        </p:txBody>
      </p:sp>
      <p:sp>
        <p:nvSpPr>
          <p:cNvPr id="31" name="矩形 30">
            <a:extLst>
              <a:ext uri="{FF2B5EF4-FFF2-40B4-BE49-F238E27FC236}">
                <a16:creationId xmlns:a16="http://schemas.microsoft.com/office/drawing/2014/main" id="{F5A6153E-01BD-AC9A-BE93-86F2B884CB3E}"/>
              </a:ext>
            </a:extLst>
          </p:cNvPr>
          <p:cNvSpPr>
            <a:spLocks noGrp="1"/>
          </p:cNvSpPr>
          <p:nvPr/>
        </p:nvSpPr>
        <p:spPr>
          <a:xfrm>
            <a:off x="8721596" y="4062193"/>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32" name="矩形 31">
            <a:extLst>
              <a:ext uri="{FF2B5EF4-FFF2-40B4-BE49-F238E27FC236}">
                <a16:creationId xmlns:a16="http://schemas.microsoft.com/office/drawing/2014/main" id="{742C2A22-3F27-1E7A-A8C9-2E0FCECA581D}"/>
              </a:ext>
            </a:extLst>
          </p:cNvPr>
          <p:cNvSpPr>
            <a:spLocks noGrp="1"/>
          </p:cNvSpPr>
          <p:nvPr/>
        </p:nvSpPr>
        <p:spPr>
          <a:xfrm>
            <a:off x="9274046" y="4062193"/>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8</a:t>
            </a:r>
          </a:p>
        </p:txBody>
      </p:sp>
      <p:sp>
        <p:nvSpPr>
          <p:cNvPr id="33" name="矩形 32">
            <a:extLst>
              <a:ext uri="{FF2B5EF4-FFF2-40B4-BE49-F238E27FC236}">
                <a16:creationId xmlns:a16="http://schemas.microsoft.com/office/drawing/2014/main" id="{35D6D704-D126-D83E-4AC3-FF314545ED46}"/>
              </a:ext>
            </a:extLst>
          </p:cNvPr>
          <p:cNvSpPr>
            <a:spLocks noGrp="1"/>
          </p:cNvSpPr>
          <p:nvPr/>
        </p:nvSpPr>
        <p:spPr>
          <a:xfrm>
            <a:off x="9826496" y="4062193"/>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34" name="矩形 33">
            <a:extLst>
              <a:ext uri="{FF2B5EF4-FFF2-40B4-BE49-F238E27FC236}">
                <a16:creationId xmlns:a16="http://schemas.microsoft.com/office/drawing/2014/main" id="{31E4F207-A8CA-294E-DFAF-51D459C4D55A}"/>
              </a:ext>
            </a:extLst>
          </p:cNvPr>
          <p:cNvSpPr>
            <a:spLocks noGrp="1"/>
          </p:cNvSpPr>
          <p:nvPr/>
        </p:nvSpPr>
        <p:spPr>
          <a:xfrm>
            <a:off x="10378946" y="4062193"/>
            <a:ext cx="167640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+45° 线偏振</a:t>
            </a:r>
          </a:p>
        </p:txBody>
      </p:sp>
      <p:sp>
        <p:nvSpPr>
          <p:cNvPr id="35" name="矩形 34">
            <a:extLst>
              <a:ext uri="{FF2B5EF4-FFF2-40B4-BE49-F238E27FC236}">
                <a16:creationId xmlns:a16="http://schemas.microsoft.com/office/drawing/2014/main" id="{8203B8F6-E31A-F530-AD31-E750AFD819F9}"/>
              </a:ext>
            </a:extLst>
          </p:cNvPr>
          <p:cNvSpPr>
            <a:spLocks noGrp="1"/>
          </p:cNvSpPr>
          <p:nvPr/>
        </p:nvSpPr>
        <p:spPr>
          <a:xfrm>
            <a:off x="7578596" y="4424143"/>
            <a:ext cx="5905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3</a:t>
            </a:r>
          </a:p>
        </p:txBody>
      </p:sp>
      <p:sp>
        <p:nvSpPr>
          <p:cNvPr id="36" name="矩形 35">
            <a:extLst>
              <a:ext uri="{FF2B5EF4-FFF2-40B4-BE49-F238E27FC236}">
                <a16:creationId xmlns:a16="http://schemas.microsoft.com/office/drawing/2014/main" id="{DC166BE7-05BE-81A9-1B47-D6EC254F2354}"/>
              </a:ext>
            </a:extLst>
          </p:cNvPr>
          <p:cNvSpPr>
            <a:spLocks noGrp="1"/>
          </p:cNvSpPr>
          <p:nvPr/>
        </p:nvSpPr>
        <p:spPr>
          <a:xfrm>
            <a:off x="8169146" y="4424143"/>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6</a:t>
            </a:r>
          </a:p>
        </p:txBody>
      </p:sp>
      <p:sp>
        <p:nvSpPr>
          <p:cNvPr id="37" name="矩形 36">
            <a:extLst>
              <a:ext uri="{FF2B5EF4-FFF2-40B4-BE49-F238E27FC236}">
                <a16:creationId xmlns:a16="http://schemas.microsoft.com/office/drawing/2014/main" id="{36AE350D-B4A7-1D0C-E67F-0529EA676BA8}"/>
              </a:ext>
            </a:extLst>
          </p:cNvPr>
          <p:cNvSpPr>
            <a:spLocks noGrp="1"/>
          </p:cNvSpPr>
          <p:nvPr/>
        </p:nvSpPr>
        <p:spPr>
          <a:xfrm>
            <a:off x="8721596" y="4424143"/>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-6</a:t>
            </a:r>
          </a:p>
        </p:txBody>
      </p:sp>
      <p:sp>
        <p:nvSpPr>
          <p:cNvPr id="38" name="矩形 37">
            <a:extLst>
              <a:ext uri="{FF2B5EF4-FFF2-40B4-BE49-F238E27FC236}">
                <a16:creationId xmlns:a16="http://schemas.microsoft.com/office/drawing/2014/main" id="{AC45CD22-1C45-4CE6-8E97-372E8A769567}"/>
              </a:ext>
            </a:extLst>
          </p:cNvPr>
          <p:cNvSpPr>
            <a:spLocks noGrp="1"/>
          </p:cNvSpPr>
          <p:nvPr/>
        </p:nvSpPr>
        <p:spPr>
          <a:xfrm>
            <a:off x="9274046" y="4424143"/>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39" name="矩形 38">
            <a:extLst>
              <a:ext uri="{FF2B5EF4-FFF2-40B4-BE49-F238E27FC236}">
                <a16:creationId xmlns:a16="http://schemas.microsoft.com/office/drawing/2014/main" id="{6B56A524-E4B0-5B38-ACB1-7F857A031C0E}"/>
              </a:ext>
            </a:extLst>
          </p:cNvPr>
          <p:cNvSpPr>
            <a:spLocks noGrp="1"/>
          </p:cNvSpPr>
          <p:nvPr/>
        </p:nvSpPr>
        <p:spPr>
          <a:xfrm>
            <a:off x="9826496" y="4424143"/>
            <a:ext cx="552450" cy="361950"/>
          </a:xfrm>
          <a:prstGeom prst="rect">
            <a:avLst/>
          </a:prstGeom>
          <a:solidFill>
            <a:srgbClr val="FFFFFF"/>
          </a:solidFill>
        </p:spPr>
        <p:txBody>
          <a:bodyPr/>
          <a:lstStyle/>
          <a:p>
            <a:r>
              <a:rPr sz="1425">
                <a:solidFill>
                  <a:srgbClr val="15202B"/>
                </a:solidFill>
                <a:latin typeface="Microsoft YaHei"/>
                <a:ea typeface="Microsoft YaHei"/>
                <a:cs typeface="Microsoft YaHei"/>
              </a:rPr>
              <a:t>0</a:t>
            </a:r>
          </a:p>
        </p:txBody>
      </p:sp>
      <p:sp>
        <p:nvSpPr>
          <p:cNvPr id="40" name="矩形 39">
            <a:extLst>
              <a:ext uri="{FF2B5EF4-FFF2-40B4-BE49-F238E27FC236}">
                <a16:creationId xmlns:a16="http://schemas.microsoft.com/office/drawing/2014/main" id="{C8B57D0B-6927-5D23-9572-5939CF4C461E}"/>
              </a:ext>
            </a:extLst>
          </p:cNvPr>
          <p:cNvSpPr>
            <a:spLocks noGrp="1"/>
          </p:cNvSpPr>
          <p:nvPr/>
        </p:nvSpPr>
        <p:spPr>
          <a:xfrm>
            <a:off x="10378946" y="4424143"/>
            <a:ext cx="1676400" cy="361950"/>
          </a:xfrm>
          <a:prstGeom prst="rect">
            <a:avLst/>
          </a:prstGeom>
          <a:solidFill>
            <a:srgbClr val="FFFFFF"/>
          </a:solidFill>
        </p:spPr>
        <p:txBody>
          <a:bodyPr/>
          <a:lstStyle/>
          <a:p>
            <a:r>
              <a:rPr sz="1425" dirty="0" err="1">
                <a:solidFill>
                  <a:srgbClr val="15202B"/>
                </a:solidFill>
                <a:latin typeface="Microsoft YaHei"/>
                <a:ea typeface="Microsoft YaHei"/>
                <a:cs typeface="Microsoft YaHei"/>
              </a:rPr>
              <a:t>垂直线偏振</a:t>
            </a:r>
            <a:endParaRPr sz="1425" dirty="0">
              <a:solidFill>
                <a:srgbClr val="15202B"/>
              </a:solidFill>
              <a:latin typeface="Microsoft YaHei"/>
              <a:ea typeface="Microsoft YaHei"/>
              <a:cs typeface="Microsoft YaHei"/>
            </a:endParaRPr>
          </a:p>
        </p:txBody>
      </p:sp>
      <p:sp>
        <p:nvSpPr>
          <p:cNvPr id="41" name="矩形 40">
            <a:extLst>
              <a:ext uri="{FF2B5EF4-FFF2-40B4-BE49-F238E27FC236}">
                <a16:creationId xmlns:a16="http://schemas.microsoft.com/office/drawing/2014/main" id="{59311C07-EF94-8710-31B8-02135ABEC872}"/>
              </a:ext>
            </a:extLst>
          </p:cNvPr>
          <p:cNvSpPr>
            <a:spLocks noGrp="1"/>
          </p:cNvSpPr>
          <p:nvPr/>
        </p:nvSpPr>
        <p:spPr>
          <a:xfrm>
            <a:off x="7578596" y="4786093"/>
            <a:ext cx="5905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a:t>
            </a:r>
          </a:p>
        </p:txBody>
      </p:sp>
      <p:sp>
        <p:nvSpPr>
          <p:cNvPr id="42" name="矩形 41">
            <a:extLst>
              <a:ext uri="{FF2B5EF4-FFF2-40B4-BE49-F238E27FC236}">
                <a16:creationId xmlns:a16="http://schemas.microsoft.com/office/drawing/2014/main" id="{FC69D13E-2318-3CD6-7106-CE096A82F1F0}"/>
              </a:ext>
            </a:extLst>
          </p:cNvPr>
          <p:cNvSpPr>
            <a:spLocks noGrp="1"/>
          </p:cNvSpPr>
          <p:nvPr/>
        </p:nvSpPr>
        <p:spPr>
          <a:xfrm>
            <a:off x="8169146" y="4786093"/>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a:t>
            </a:r>
          </a:p>
        </p:txBody>
      </p:sp>
      <p:sp>
        <p:nvSpPr>
          <p:cNvPr id="43" name="矩形 42">
            <a:extLst>
              <a:ext uri="{FF2B5EF4-FFF2-40B4-BE49-F238E27FC236}">
                <a16:creationId xmlns:a16="http://schemas.microsoft.com/office/drawing/2014/main" id="{74CD91EA-C1C6-A6D3-2F45-52DDB987DD8B}"/>
              </a:ext>
            </a:extLst>
          </p:cNvPr>
          <p:cNvSpPr>
            <a:spLocks noGrp="1"/>
          </p:cNvSpPr>
          <p:nvPr/>
        </p:nvSpPr>
        <p:spPr>
          <a:xfrm>
            <a:off x="8721596" y="4786093"/>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44" name="矩形 43">
            <a:extLst>
              <a:ext uri="{FF2B5EF4-FFF2-40B4-BE49-F238E27FC236}">
                <a16:creationId xmlns:a16="http://schemas.microsoft.com/office/drawing/2014/main" id="{6917AD45-E891-6779-41EF-9CE81FEBC1A4}"/>
              </a:ext>
            </a:extLst>
          </p:cNvPr>
          <p:cNvSpPr>
            <a:spLocks noGrp="1"/>
          </p:cNvSpPr>
          <p:nvPr/>
        </p:nvSpPr>
        <p:spPr>
          <a:xfrm>
            <a:off x="9274046" y="4786093"/>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0</a:t>
            </a:r>
          </a:p>
        </p:txBody>
      </p:sp>
      <p:sp>
        <p:nvSpPr>
          <p:cNvPr id="45" name="矩形 44">
            <a:extLst>
              <a:ext uri="{FF2B5EF4-FFF2-40B4-BE49-F238E27FC236}">
                <a16:creationId xmlns:a16="http://schemas.microsoft.com/office/drawing/2014/main" id="{BB0502A0-B881-4526-F216-A37970140F65}"/>
              </a:ext>
            </a:extLst>
          </p:cNvPr>
          <p:cNvSpPr>
            <a:spLocks noGrp="1"/>
          </p:cNvSpPr>
          <p:nvPr/>
        </p:nvSpPr>
        <p:spPr>
          <a:xfrm>
            <a:off x="9826496" y="4786093"/>
            <a:ext cx="552450" cy="361950"/>
          </a:xfrm>
          <a:prstGeom prst="rect">
            <a:avLst/>
          </a:prstGeom>
          <a:solidFill>
            <a:srgbClr val="EEF4FA"/>
          </a:solidFill>
        </p:spPr>
        <p:txBody>
          <a:bodyPr/>
          <a:lstStyle/>
          <a:p>
            <a:r>
              <a:rPr sz="1425">
                <a:solidFill>
                  <a:srgbClr val="15202B"/>
                </a:solidFill>
                <a:latin typeface="Microsoft YaHei"/>
                <a:ea typeface="Microsoft YaHei"/>
                <a:cs typeface="Microsoft YaHei"/>
              </a:rPr>
              <a:t>4</a:t>
            </a:r>
          </a:p>
        </p:txBody>
      </p:sp>
      <p:sp>
        <p:nvSpPr>
          <p:cNvPr id="46" name="矩形 45">
            <a:extLst>
              <a:ext uri="{FF2B5EF4-FFF2-40B4-BE49-F238E27FC236}">
                <a16:creationId xmlns:a16="http://schemas.microsoft.com/office/drawing/2014/main" id="{31158B1F-01EC-90E8-7492-317C9D2A7FAF}"/>
              </a:ext>
            </a:extLst>
          </p:cNvPr>
          <p:cNvSpPr>
            <a:spLocks noGrp="1"/>
          </p:cNvSpPr>
          <p:nvPr/>
        </p:nvSpPr>
        <p:spPr>
          <a:xfrm>
            <a:off x="10378946" y="4786093"/>
            <a:ext cx="1676400" cy="361950"/>
          </a:xfrm>
          <a:prstGeom prst="rect">
            <a:avLst/>
          </a:prstGeom>
          <a:solidFill>
            <a:srgbClr val="EEF4FA"/>
          </a:solidFill>
        </p:spPr>
        <p:txBody>
          <a:bodyPr/>
          <a:lstStyle/>
          <a:p>
            <a:r>
              <a:rPr sz="1425">
                <a:solidFill>
                  <a:srgbClr val="15202B"/>
                </a:solidFill>
                <a:latin typeface="Microsoft YaHei"/>
                <a:ea typeface="Microsoft YaHei"/>
                <a:cs typeface="Microsoft YaHei"/>
              </a:rPr>
              <a:t>右旋圆偏振</a:t>
            </a:r>
          </a:p>
        </p:txBody>
      </p:sp>
      <p:sp>
        <p:nvSpPr>
          <p:cNvPr id="47" name="文本框 46">
            <a:extLst>
              <a:ext uri="{FF2B5EF4-FFF2-40B4-BE49-F238E27FC236}">
                <a16:creationId xmlns:a16="http://schemas.microsoft.com/office/drawing/2014/main" id="{41626BC4-4965-32EF-732F-C296C4D04C93}"/>
              </a:ext>
            </a:extLst>
          </p:cNvPr>
          <p:cNvSpPr txBox="1"/>
          <p:nvPr/>
        </p:nvSpPr>
        <p:spPr>
          <a:xfrm>
            <a:off x="8057156" y="943736"/>
            <a:ext cx="3528392" cy="369332"/>
          </a:xfrm>
          <a:prstGeom prst="rect">
            <a:avLst/>
          </a:prstGeom>
          <a:noFill/>
        </p:spPr>
        <p:txBody>
          <a:bodyPr wrap="square" rtlCol="0">
            <a:spAutoFit/>
          </a:bodyPr>
          <a:lstStyle/>
          <a:p>
            <a:r>
              <a:rPr lang="en-US" altLang="zh-CN" b="1" dirty="0"/>
              <a:t>2×2</a:t>
            </a:r>
            <a:r>
              <a:rPr lang="zh-CN" altLang="en-US" b="1" dirty="0"/>
              <a:t>像素图案具体偏振情况分布</a:t>
            </a:r>
          </a:p>
        </p:txBody>
      </p:sp>
      <p:graphicFrame>
        <p:nvGraphicFramePr>
          <p:cNvPr id="48" name="表格 47">
            <a:extLst>
              <a:ext uri="{FF2B5EF4-FFF2-40B4-BE49-F238E27FC236}">
                <a16:creationId xmlns:a16="http://schemas.microsoft.com/office/drawing/2014/main" id="{8585C21F-EBF8-BFD9-F63A-D9BDB0D87630}"/>
              </a:ext>
            </a:extLst>
          </p:cNvPr>
          <p:cNvGraphicFramePr>
            <a:graphicFrameLocks noGrp="1"/>
          </p:cNvGraphicFramePr>
          <p:nvPr/>
        </p:nvGraphicFramePr>
        <p:xfrm>
          <a:off x="8326418" y="1387587"/>
          <a:ext cx="2944366" cy="1838120"/>
        </p:xfrm>
        <a:graphic>
          <a:graphicData uri="http://schemas.openxmlformats.org/drawingml/2006/table">
            <a:tbl>
              <a:tblPr firstRow="1" bandRow="1">
                <a:tableStyleId>{21E4AEA4-8DFA-4A89-87EB-49C32662AFE0}</a:tableStyleId>
              </a:tblPr>
              <a:tblGrid>
                <a:gridCol w="1472183">
                  <a:extLst>
                    <a:ext uri="{9D8B030D-6E8A-4147-A177-3AD203B41FA5}">
                      <a16:colId xmlns:a16="http://schemas.microsoft.com/office/drawing/2014/main" val="1015713116"/>
                    </a:ext>
                  </a:extLst>
                </a:gridCol>
                <a:gridCol w="1472183">
                  <a:extLst>
                    <a:ext uri="{9D8B030D-6E8A-4147-A177-3AD203B41FA5}">
                      <a16:colId xmlns:a16="http://schemas.microsoft.com/office/drawing/2014/main" val="410744476"/>
                    </a:ext>
                  </a:extLst>
                </a:gridCol>
              </a:tblGrid>
              <a:tr h="919060">
                <a:tc>
                  <a:txBody>
                    <a:bodyPr/>
                    <a:lstStyle/>
                    <a:p>
                      <a:pPr algn="ctr"/>
                      <a:r>
                        <a:rPr lang="zh-CN" altLang="en-US">
                          <a:solidFill>
                            <a:schemeClr val="tx1"/>
                          </a:solidFill>
                        </a:rPr>
                        <a:t>像素</a:t>
                      </a:r>
                      <a:r>
                        <a:rPr lang="en-US" altLang="zh-CN">
                          <a:solidFill>
                            <a:schemeClr val="tx1"/>
                          </a:solidFill>
                        </a:rPr>
                        <a:t>1</a:t>
                      </a:r>
                      <a:endParaRPr lang="en-US" altLang="zh-CN" dirty="0">
                        <a:solidFill>
                          <a:schemeClr val="tx1"/>
                        </a:solidFill>
                      </a:endParaRPr>
                    </a:p>
                    <a:p>
                      <a:pPr algn="ctr"/>
                      <a:r>
                        <a:rPr lang="en-US" altLang="zh-CN" dirty="0">
                          <a:solidFill>
                            <a:schemeClr val="tx1"/>
                          </a:solidFill>
                        </a:rPr>
                        <a:t>(10,</a:t>
                      </a:r>
                      <a:r>
                        <a:rPr lang="en-US" altLang="zh-CN" dirty="0">
                          <a:solidFill>
                            <a:schemeClr val="accent2"/>
                          </a:solidFill>
                        </a:rPr>
                        <a:t>10</a:t>
                      </a:r>
                      <a:r>
                        <a:rPr lang="en-US" altLang="zh-CN" dirty="0">
                          <a:solidFill>
                            <a:schemeClr val="tx1"/>
                          </a:solidFill>
                        </a:rPr>
                        <a:t>,0,0)</a:t>
                      </a:r>
                      <a:endParaRPr lang="zh-CN" altLang="en-US" dirty="0">
                        <a:solidFill>
                          <a:schemeClr val="tx1"/>
                        </a:solidFill>
                      </a:endParaRPr>
                    </a:p>
                  </a:txBody>
                  <a:tcPr>
                    <a:solidFill>
                      <a:schemeClr val="accent6">
                        <a:lumMod val="20000"/>
                        <a:lumOff val="80000"/>
                      </a:schemeClr>
                    </a:solidFill>
                  </a:tcPr>
                </a:tc>
                <a:tc>
                  <a:txBody>
                    <a:bodyPr/>
                    <a:lstStyle/>
                    <a:p>
                      <a:pPr algn="ctr"/>
                      <a:r>
                        <a:rPr lang="zh-CN" altLang="en-US">
                          <a:solidFill>
                            <a:schemeClr val="tx1"/>
                          </a:solidFill>
                        </a:rPr>
                        <a:t>像素</a:t>
                      </a:r>
                      <a:r>
                        <a:rPr lang="en-US" altLang="zh-CN">
                          <a:solidFill>
                            <a:schemeClr val="tx1"/>
                          </a:solidFill>
                        </a:rPr>
                        <a:t>2</a:t>
                      </a:r>
                      <a:endParaRPr lang="en-US" altLang="zh-CN" dirty="0">
                        <a:solidFill>
                          <a:schemeClr val="tx1"/>
                        </a:solidFill>
                      </a:endParaRPr>
                    </a:p>
                    <a:p>
                      <a:pPr algn="ctr"/>
                      <a:r>
                        <a:rPr lang="en-US" altLang="zh-CN" dirty="0">
                          <a:solidFill>
                            <a:schemeClr val="tx1"/>
                          </a:solidFill>
                        </a:rPr>
                        <a:t>(-8,</a:t>
                      </a:r>
                      <a:r>
                        <a:rPr lang="en-US" altLang="zh-CN" dirty="0">
                          <a:solidFill>
                            <a:schemeClr val="accent2"/>
                          </a:solidFill>
                        </a:rPr>
                        <a:t>0</a:t>
                      </a:r>
                      <a:r>
                        <a:rPr lang="en-US" altLang="zh-CN" dirty="0">
                          <a:solidFill>
                            <a:schemeClr val="tx1"/>
                          </a:solidFill>
                        </a:rPr>
                        <a:t>,-8,0)</a:t>
                      </a:r>
                      <a:endParaRPr lang="zh-CN" altLang="en-US" dirty="0">
                        <a:solidFill>
                          <a:schemeClr val="tx1"/>
                        </a:solidFill>
                      </a:endParaRPr>
                    </a:p>
                  </a:txBody>
                  <a:tcPr>
                    <a:solidFill>
                      <a:schemeClr val="accent6">
                        <a:lumMod val="20000"/>
                        <a:lumOff val="80000"/>
                      </a:schemeClr>
                    </a:solidFill>
                  </a:tcPr>
                </a:tc>
                <a:extLst>
                  <a:ext uri="{0D108BD9-81ED-4DB2-BD59-A6C34878D82A}">
                    <a16:rowId xmlns:a16="http://schemas.microsoft.com/office/drawing/2014/main" val="1442272728"/>
                  </a:ext>
                </a:extLst>
              </a:tr>
              <a:tr h="919060">
                <a:tc>
                  <a:txBody>
                    <a:bodyPr/>
                    <a:lstStyle/>
                    <a:p>
                      <a:pPr marL="0" algn="ctr" defTabSz="914400" rtl="0" eaLnBrk="1" latinLnBrk="0" hangingPunct="1"/>
                      <a:r>
                        <a:rPr lang="zh-CN" altLang="en-US" sz="1800" b="1" kern="1200">
                          <a:solidFill>
                            <a:schemeClr val="tx1"/>
                          </a:solidFill>
                          <a:latin typeface="+mn-lt"/>
                          <a:ea typeface="+mn-ea"/>
                          <a:cs typeface="+mn-cs"/>
                        </a:rPr>
                        <a:t>像素</a:t>
                      </a:r>
                      <a:r>
                        <a:rPr lang="en-US" altLang="zh-CN" sz="1800" b="1" kern="1200">
                          <a:solidFill>
                            <a:schemeClr val="tx1"/>
                          </a:solidFill>
                          <a:latin typeface="+mn-lt"/>
                          <a:ea typeface="+mn-ea"/>
                          <a:cs typeface="+mn-cs"/>
                        </a:rPr>
                        <a:t>3</a:t>
                      </a:r>
                      <a:endParaRPr lang="en-US" altLang="zh-CN" sz="1800" b="1" kern="1200" dirty="0">
                        <a:solidFill>
                          <a:schemeClr val="tx1"/>
                        </a:solidFill>
                        <a:latin typeface="+mn-lt"/>
                        <a:ea typeface="+mn-ea"/>
                        <a:cs typeface="+mn-cs"/>
                      </a:endParaRPr>
                    </a:p>
                    <a:p>
                      <a:pPr marL="0" algn="ctr" defTabSz="914400" rtl="0" eaLnBrk="1" latinLnBrk="0" hangingPunct="1"/>
                      <a:r>
                        <a:rPr lang="en-US" altLang="zh-CN" sz="1800" b="1" kern="1200" dirty="0">
                          <a:solidFill>
                            <a:schemeClr val="tx1"/>
                          </a:solidFill>
                          <a:latin typeface="+mn-lt"/>
                          <a:ea typeface="+mn-ea"/>
                          <a:cs typeface="+mn-cs"/>
                        </a:rPr>
                        <a:t>(6,</a:t>
                      </a:r>
                      <a:r>
                        <a:rPr lang="en-US" altLang="zh-CN" sz="1800" b="1" kern="1200" dirty="0">
                          <a:solidFill>
                            <a:schemeClr val="accent2"/>
                          </a:solidFill>
                          <a:latin typeface="+mn-lt"/>
                          <a:ea typeface="+mn-ea"/>
                          <a:cs typeface="+mn-cs"/>
                        </a:rPr>
                        <a:t>-6</a:t>
                      </a:r>
                      <a:r>
                        <a:rPr lang="en-US" altLang="zh-CN" sz="1800" b="1" kern="1200" dirty="0">
                          <a:solidFill>
                            <a:schemeClr val="tx1"/>
                          </a:solidFill>
                          <a:latin typeface="+mn-lt"/>
                          <a:ea typeface="+mn-ea"/>
                          <a:cs typeface="+mn-cs"/>
                        </a:rPr>
                        <a:t>,0,0)</a:t>
                      </a:r>
                      <a:endParaRPr lang="zh-CN" altLang="en-US" sz="1800" b="1" kern="1200" dirty="0">
                        <a:solidFill>
                          <a:schemeClr val="tx1"/>
                        </a:solidFill>
                        <a:latin typeface="+mn-lt"/>
                        <a:ea typeface="+mn-ea"/>
                        <a:cs typeface="+mn-cs"/>
                      </a:endParaRPr>
                    </a:p>
                  </a:txBody>
                  <a:tcPr>
                    <a:solidFill>
                      <a:schemeClr val="accent6">
                        <a:lumMod val="20000"/>
                        <a:lumOff val="80000"/>
                      </a:schemeClr>
                    </a:solidFill>
                  </a:tcPr>
                </a:tc>
                <a:tc>
                  <a:txBody>
                    <a:bodyPr/>
                    <a:lstStyle/>
                    <a:p>
                      <a:pPr marL="0" algn="ctr" defTabSz="914400" rtl="0" eaLnBrk="1" latinLnBrk="0" hangingPunct="1"/>
                      <a:r>
                        <a:rPr lang="zh-CN" altLang="en-US" sz="1800" b="1" kern="1200">
                          <a:solidFill>
                            <a:schemeClr val="tx1"/>
                          </a:solidFill>
                          <a:latin typeface="+mn-lt"/>
                          <a:ea typeface="+mn-ea"/>
                          <a:cs typeface="+mn-cs"/>
                        </a:rPr>
                        <a:t>像素</a:t>
                      </a:r>
                      <a:r>
                        <a:rPr lang="en-US" altLang="zh-CN" sz="1800" b="1" kern="1200">
                          <a:solidFill>
                            <a:schemeClr val="tx1"/>
                          </a:solidFill>
                          <a:latin typeface="+mn-lt"/>
                          <a:ea typeface="+mn-ea"/>
                          <a:cs typeface="+mn-cs"/>
                        </a:rPr>
                        <a:t>4</a:t>
                      </a:r>
                      <a:endParaRPr lang="en-US" altLang="zh-CN" sz="1800" b="1" kern="1200" dirty="0">
                        <a:solidFill>
                          <a:schemeClr val="tx1"/>
                        </a:solidFill>
                        <a:latin typeface="+mn-lt"/>
                        <a:ea typeface="+mn-ea"/>
                        <a:cs typeface="+mn-cs"/>
                      </a:endParaRPr>
                    </a:p>
                    <a:p>
                      <a:pPr marL="0" algn="ctr" defTabSz="914400" rtl="0" eaLnBrk="1" latinLnBrk="0" hangingPunct="1"/>
                      <a:r>
                        <a:rPr lang="en-US" altLang="zh-CN" sz="1800" b="1" kern="1200" dirty="0">
                          <a:solidFill>
                            <a:schemeClr val="tx1"/>
                          </a:solidFill>
                          <a:latin typeface="+mn-lt"/>
                          <a:ea typeface="+mn-ea"/>
                          <a:cs typeface="+mn-cs"/>
                        </a:rPr>
                        <a:t>(-4,</a:t>
                      </a:r>
                      <a:r>
                        <a:rPr lang="en-US" altLang="zh-CN" sz="1800" b="1" kern="1200" dirty="0">
                          <a:solidFill>
                            <a:schemeClr val="accent2"/>
                          </a:solidFill>
                          <a:latin typeface="+mn-lt"/>
                          <a:ea typeface="+mn-ea"/>
                          <a:cs typeface="+mn-cs"/>
                        </a:rPr>
                        <a:t>0</a:t>
                      </a:r>
                      <a:r>
                        <a:rPr lang="en-US" altLang="zh-CN" sz="1800" b="1" kern="1200" dirty="0">
                          <a:solidFill>
                            <a:schemeClr val="tx1"/>
                          </a:solidFill>
                          <a:latin typeface="+mn-lt"/>
                          <a:ea typeface="+mn-ea"/>
                          <a:cs typeface="+mn-cs"/>
                        </a:rPr>
                        <a:t>,0,-4)</a:t>
                      </a:r>
                      <a:endParaRPr lang="zh-CN" altLang="en-US" sz="1800" b="1" kern="1200" dirty="0">
                        <a:solidFill>
                          <a:schemeClr val="tx1"/>
                        </a:solidFill>
                        <a:latin typeface="+mn-lt"/>
                        <a:ea typeface="+mn-ea"/>
                        <a:cs typeface="+mn-cs"/>
                      </a:endParaRPr>
                    </a:p>
                  </a:txBody>
                  <a:tcPr>
                    <a:solidFill>
                      <a:schemeClr val="accent6">
                        <a:lumMod val="20000"/>
                        <a:lumOff val="80000"/>
                      </a:schemeClr>
                    </a:solidFill>
                  </a:tcPr>
                </a:tc>
                <a:extLst>
                  <a:ext uri="{0D108BD9-81ED-4DB2-BD59-A6C34878D82A}">
                    <a16:rowId xmlns:a16="http://schemas.microsoft.com/office/drawing/2014/main" val="1394645308"/>
                  </a:ext>
                </a:extLst>
              </a:tr>
            </a:tbl>
          </a:graphicData>
        </a:graphic>
      </p:graphicFrame>
      <p:sp>
        <p:nvSpPr>
          <p:cNvPr id="55" name="箭头: 右 54">
            <a:extLst>
              <a:ext uri="{FF2B5EF4-FFF2-40B4-BE49-F238E27FC236}">
                <a16:creationId xmlns:a16="http://schemas.microsoft.com/office/drawing/2014/main" id="{14E8C5AD-8FB9-AA77-422F-1F3FF92E788E}"/>
              </a:ext>
            </a:extLst>
          </p:cNvPr>
          <p:cNvSpPr/>
          <p:nvPr/>
        </p:nvSpPr>
        <p:spPr>
          <a:xfrm rot="8068899" flipV="1">
            <a:off x="4315797" y="3351233"/>
            <a:ext cx="883628" cy="458210"/>
          </a:xfrm>
          <a:prstGeom prst="rightArrow">
            <a:avLst/>
          </a:prstGeom>
          <a:solidFill>
            <a:schemeClr val="bg1">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矩形 55">
            <a:extLst>
              <a:ext uri="{FF2B5EF4-FFF2-40B4-BE49-F238E27FC236}">
                <a16:creationId xmlns:a16="http://schemas.microsoft.com/office/drawing/2014/main" id="{C17CE84B-4320-8B30-26DB-CDDBDB90881D}"/>
              </a:ext>
            </a:extLst>
          </p:cNvPr>
          <p:cNvSpPr>
            <a:spLocks noGrp="1"/>
          </p:cNvSpPr>
          <p:nvPr/>
        </p:nvSpPr>
        <p:spPr>
          <a:xfrm>
            <a:off x="46948" y="3150820"/>
            <a:ext cx="742950" cy="361950"/>
          </a:xfrm>
          <a:prstGeom prst="rect">
            <a:avLst/>
          </a:prstGeom>
          <a:solidFill>
            <a:srgbClr val="14365C"/>
          </a:solidFill>
        </p:spPr>
        <p:txBody>
          <a:bodyPr/>
          <a:lstStyle/>
          <a:p>
            <a:pPr algn="ctr"/>
            <a:r>
              <a:rPr sz="1425" b="1">
                <a:solidFill>
                  <a:srgbClr val="FFFFFF"/>
                </a:solidFill>
                <a:latin typeface="Microsoft YaHei"/>
                <a:ea typeface="Microsoft YaHei"/>
                <a:cs typeface="Microsoft YaHei"/>
              </a:rPr>
              <a:t>图案</a:t>
            </a:r>
          </a:p>
        </p:txBody>
      </p:sp>
      <p:sp>
        <p:nvSpPr>
          <p:cNvPr id="57" name="矩形 56">
            <a:extLst>
              <a:ext uri="{FF2B5EF4-FFF2-40B4-BE49-F238E27FC236}">
                <a16:creationId xmlns:a16="http://schemas.microsoft.com/office/drawing/2014/main" id="{1F83AB82-1855-7BBC-8FB5-266F47210E7F}"/>
              </a:ext>
            </a:extLst>
          </p:cNvPr>
          <p:cNvSpPr>
            <a:spLocks noGrp="1"/>
          </p:cNvSpPr>
          <p:nvPr/>
        </p:nvSpPr>
        <p:spPr>
          <a:xfrm>
            <a:off x="789898" y="3150820"/>
            <a:ext cx="742950" cy="361950"/>
          </a:xfrm>
          <a:prstGeom prst="rect">
            <a:avLst/>
          </a:prstGeom>
          <a:solidFill>
            <a:srgbClr val="14365C"/>
          </a:solidFill>
        </p:spPr>
        <p:txBody>
          <a:bodyPr/>
          <a:lstStyle/>
          <a:p>
            <a:pPr algn="ctr"/>
            <a:r>
              <a:rPr sz="1425" b="1" dirty="0">
                <a:solidFill>
                  <a:srgbClr val="FFFFFF"/>
                </a:solidFill>
                <a:latin typeface="Microsoft YaHei"/>
                <a:ea typeface="Microsoft YaHei"/>
                <a:cs typeface="Microsoft YaHei"/>
              </a:rPr>
              <a:t>y_I0</a:t>
            </a:r>
          </a:p>
        </p:txBody>
      </p:sp>
      <p:sp>
        <p:nvSpPr>
          <p:cNvPr id="58" name="矩形 57">
            <a:extLst>
              <a:ext uri="{FF2B5EF4-FFF2-40B4-BE49-F238E27FC236}">
                <a16:creationId xmlns:a16="http://schemas.microsoft.com/office/drawing/2014/main" id="{763E38A8-5DCA-2240-188B-32BA98B19192}"/>
              </a:ext>
            </a:extLst>
          </p:cNvPr>
          <p:cNvSpPr>
            <a:spLocks noGrp="1"/>
          </p:cNvSpPr>
          <p:nvPr/>
        </p:nvSpPr>
        <p:spPr>
          <a:xfrm>
            <a:off x="1532848" y="3150820"/>
            <a:ext cx="742950" cy="361950"/>
          </a:xfrm>
          <a:prstGeom prst="rect">
            <a:avLst/>
          </a:prstGeom>
          <a:solidFill>
            <a:srgbClr val="14365C"/>
          </a:solidFill>
        </p:spPr>
        <p:txBody>
          <a:bodyPr/>
          <a:lstStyle/>
          <a:p>
            <a:pPr algn="ctr"/>
            <a:r>
              <a:rPr sz="1425" b="1">
                <a:solidFill>
                  <a:srgbClr val="FFFFFF"/>
                </a:solidFill>
                <a:latin typeface="Microsoft YaHei"/>
                <a:ea typeface="Microsoft YaHei"/>
                <a:cs typeface="Microsoft YaHei"/>
              </a:rPr>
              <a:t>y_S1</a:t>
            </a:r>
          </a:p>
        </p:txBody>
      </p:sp>
      <p:sp>
        <p:nvSpPr>
          <p:cNvPr id="59" name="矩形 58">
            <a:extLst>
              <a:ext uri="{FF2B5EF4-FFF2-40B4-BE49-F238E27FC236}">
                <a16:creationId xmlns:a16="http://schemas.microsoft.com/office/drawing/2014/main" id="{437F6583-169E-81E7-FA94-649FB6F5FE74}"/>
              </a:ext>
            </a:extLst>
          </p:cNvPr>
          <p:cNvSpPr>
            <a:spLocks noGrp="1"/>
          </p:cNvSpPr>
          <p:nvPr/>
        </p:nvSpPr>
        <p:spPr>
          <a:xfrm>
            <a:off x="2275798" y="3150820"/>
            <a:ext cx="742950" cy="361950"/>
          </a:xfrm>
          <a:prstGeom prst="rect">
            <a:avLst/>
          </a:prstGeom>
          <a:solidFill>
            <a:srgbClr val="14365C"/>
          </a:solidFill>
        </p:spPr>
        <p:txBody>
          <a:bodyPr/>
          <a:lstStyle/>
          <a:p>
            <a:pPr algn="ctr"/>
            <a:r>
              <a:rPr sz="1425" b="1" dirty="0">
                <a:solidFill>
                  <a:srgbClr val="FFFFFF"/>
                </a:solidFill>
                <a:latin typeface="Microsoft YaHei"/>
                <a:ea typeface="Microsoft YaHei"/>
                <a:cs typeface="Microsoft YaHei"/>
              </a:rPr>
              <a:t>y_S2</a:t>
            </a:r>
          </a:p>
        </p:txBody>
      </p:sp>
      <p:sp>
        <p:nvSpPr>
          <p:cNvPr id="60" name="矩形 59">
            <a:extLst>
              <a:ext uri="{FF2B5EF4-FFF2-40B4-BE49-F238E27FC236}">
                <a16:creationId xmlns:a16="http://schemas.microsoft.com/office/drawing/2014/main" id="{04DDBF3C-8D84-2235-C30F-9885583E10D0}"/>
              </a:ext>
            </a:extLst>
          </p:cNvPr>
          <p:cNvSpPr>
            <a:spLocks noGrp="1"/>
          </p:cNvSpPr>
          <p:nvPr/>
        </p:nvSpPr>
        <p:spPr>
          <a:xfrm>
            <a:off x="3018748" y="3150820"/>
            <a:ext cx="742950" cy="361950"/>
          </a:xfrm>
          <a:prstGeom prst="rect">
            <a:avLst/>
          </a:prstGeom>
          <a:solidFill>
            <a:srgbClr val="14365C"/>
          </a:solidFill>
        </p:spPr>
        <p:txBody>
          <a:bodyPr/>
          <a:lstStyle/>
          <a:p>
            <a:pPr algn="ctr"/>
            <a:r>
              <a:rPr sz="1425" b="1">
                <a:solidFill>
                  <a:srgbClr val="FFFFFF"/>
                </a:solidFill>
                <a:latin typeface="Microsoft YaHei"/>
                <a:ea typeface="Microsoft YaHei"/>
                <a:cs typeface="Microsoft YaHei"/>
              </a:rPr>
              <a:t>y_S3</a:t>
            </a:r>
          </a:p>
        </p:txBody>
      </p:sp>
      <p:sp>
        <p:nvSpPr>
          <p:cNvPr id="61" name="矩形 60">
            <a:extLst>
              <a:ext uri="{FF2B5EF4-FFF2-40B4-BE49-F238E27FC236}">
                <a16:creationId xmlns:a16="http://schemas.microsoft.com/office/drawing/2014/main" id="{8471948F-B7DD-37CB-6CAB-B413910FA109}"/>
              </a:ext>
            </a:extLst>
          </p:cNvPr>
          <p:cNvSpPr>
            <a:spLocks noGrp="1"/>
          </p:cNvSpPr>
          <p:nvPr/>
        </p:nvSpPr>
        <p:spPr>
          <a:xfrm>
            <a:off x="46948" y="35127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dirty="0">
                <a:solidFill>
                  <a:srgbClr val="15202B"/>
                </a:solidFill>
                <a:latin typeface="Microsoft YaHei"/>
                <a:ea typeface="Microsoft YaHei"/>
                <a:cs typeface="Microsoft YaHei"/>
              </a:rPr>
              <a:t>h1</a:t>
            </a:r>
          </a:p>
        </p:txBody>
      </p:sp>
      <p:sp>
        <p:nvSpPr>
          <p:cNvPr id="62" name="矩形 61">
            <a:extLst>
              <a:ext uri="{FF2B5EF4-FFF2-40B4-BE49-F238E27FC236}">
                <a16:creationId xmlns:a16="http://schemas.microsoft.com/office/drawing/2014/main" id="{39C28F00-599F-7465-EC27-4502C1D5B4D9}"/>
              </a:ext>
            </a:extLst>
          </p:cNvPr>
          <p:cNvSpPr>
            <a:spLocks noGrp="1"/>
          </p:cNvSpPr>
          <p:nvPr/>
        </p:nvSpPr>
        <p:spPr>
          <a:xfrm>
            <a:off x="789898" y="35127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dirty="0">
                <a:solidFill>
                  <a:srgbClr val="15202B"/>
                </a:solidFill>
                <a:latin typeface="Microsoft YaHei"/>
                <a:ea typeface="Microsoft YaHei"/>
                <a:cs typeface="Microsoft YaHei"/>
              </a:rPr>
              <a:t>28</a:t>
            </a:r>
          </a:p>
        </p:txBody>
      </p:sp>
      <p:sp>
        <p:nvSpPr>
          <p:cNvPr id="63" name="矩形 62">
            <a:extLst>
              <a:ext uri="{FF2B5EF4-FFF2-40B4-BE49-F238E27FC236}">
                <a16:creationId xmlns:a16="http://schemas.microsoft.com/office/drawing/2014/main" id="{8147724E-A96E-4AAB-D4AD-DDCF9EA1A897}"/>
              </a:ext>
            </a:extLst>
          </p:cNvPr>
          <p:cNvSpPr>
            <a:spLocks noGrp="1"/>
          </p:cNvSpPr>
          <p:nvPr/>
        </p:nvSpPr>
        <p:spPr>
          <a:xfrm>
            <a:off x="1532848" y="35127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4</a:t>
            </a:r>
          </a:p>
        </p:txBody>
      </p:sp>
      <p:sp>
        <p:nvSpPr>
          <p:cNvPr id="64" name="矩形 63">
            <a:extLst>
              <a:ext uri="{FF2B5EF4-FFF2-40B4-BE49-F238E27FC236}">
                <a16:creationId xmlns:a16="http://schemas.microsoft.com/office/drawing/2014/main" id="{BFE3E61A-53B0-CE0D-92CF-26C8404FE1B4}"/>
              </a:ext>
            </a:extLst>
          </p:cNvPr>
          <p:cNvSpPr>
            <a:spLocks noGrp="1"/>
          </p:cNvSpPr>
          <p:nvPr/>
        </p:nvSpPr>
        <p:spPr>
          <a:xfrm>
            <a:off x="2275798" y="35127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8</a:t>
            </a:r>
          </a:p>
        </p:txBody>
      </p:sp>
      <p:sp>
        <p:nvSpPr>
          <p:cNvPr id="65" name="矩形 64">
            <a:extLst>
              <a:ext uri="{FF2B5EF4-FFF2-40B4-BE49-F238E27FC236}">
                <a16:creationId xmlns:a16="http://schemas.microsoft.com/office/drawing/2014/main" id="{E27570F3-C945-A4EB-CBA8-A70366ED5BB1}"/>
              </a:ext>
            </a:extLst>
          </p:cNvPr>
          <p:cNvSpPr>
            <a:spLocks noGrp="1"/>
          </p:cNvSpPr>
          <p:nvPr/>
        </p:nvSpPr>
        <p:spPr>
          <a:xfrm>
            <a:off x="3018748" y="35127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4</a:t>
            </a:r>
          </a:p>
        </p:txBody>
      </p:sp>
      <p:sp>
        <p:nvSpPr>
          <p:cNvPr id="66" name="矩形 65">
            <a:extLst>
              <a:ext uri="{FF2B5EF4-FFF2-40B4-BE49-F238E27FC236}">
                <a16:creationId xmlns:a16="http://schemas.microsoft.com/office/drawing/2014/main" id="{5F59B03F-4CA5-8725-4A24-37EE724EBB3A}"/>
              </a:ext>
            </a:extLst>
          </p:cNvPr>
          <p:cNvSpPr>
            <a:spLocks noGrp="1"/>
          </p:cNvSpPr>
          <p:nvPr/>
        </p:nvSpPr>
        <p:spPr>
          <a:xfrm>
            <a:off x="46948" y="3874720"/>
            <a:ext cx="742950" cy="361950"/>
          </a:xfrm>
          <a:prstGeom prst="rect">
            <a:avLst/>
          </a:prstGeom>
          <a:solidFill>
            <a:srgbClr val="FFC000"/>
          </a:solidFill>
          <a:ln>
            <a:solidFill>
              <a:schemeClr val="bg2">
                <a:lumMod val="10000"/>
              </a:schemeClr>
            </a:solidFill>
          </a:ln>
        </p:spPr>
        <p:txBody>
          <a:bodyPr/>
          <a:lstStyle/>
          <a:p>
            <a:pPr algn="ctr"/>
            <a:r>
              <a:rPr sz="1425" dirty="0">
                <a:solidFill>
                  <a:srgbClr val="15202B"/>
                </a:solidFill>
                <a:latin typeface="Microsoft YaHei"/>
                <a:ea typeface="Microsoft YaHei"/>
                <a:cs typeface="Microsoft YaHei"/>
              </a:rPr>
              <a:t>h2</a:t>
            </a:r>
          </a:p>
        </p:txBody>
      </p:sp>
      <p:sp>
        <p:nvSpPr>
          <p:cNvPr id="67" name="矩形 66">
            <a:extLst>
              <a:ext uri="{FF2B5EF4-FFF2-40B4-BE49-F238E27FC236}">
                <a16:creationId xmlns:a16="http://schemas.microsoft.com/office/drawing/2014/main" id="{6CE7B25F-1ED2-881C-04A7-2B12B0AC2448}"/>
              </a:ext>
            </a:extLst>
          </p:cNvPr>
          <p:cNvSpPr>
            <a:spLocks noGrp="1"/>
          </p:cNvSpPr>
          <p:nvPr/>
        </p:nvSpPr>
        <p:spPr>
          <a:xfrm>
            <a:off x="789898" y="3874720"/>
            <a:ext cx="742950" cy="361950"/>
          </a:xfrm>
          <a:prstGeom prst="rect">
            <a:avLst/>
          </a:prstGeom>
          <a:solidFill>
            <a:srgbClr val="FFC000"/>
          </a:solidFill>
          <a:ln>
            <a:solidFill>
              <a:schemeClr val="bg2">
                <a:lumMod val="10000"/>
              </a:schemeClr>
            </a:solidFill>
          </a:ln>
        </p:spPr>
        <p:txBody>
          <a:bodyPr/>
          <a:lstStyle/>
          <a:p>
            <a:pPr algn="ctr"/>
            <a:r>
              <a:rPr sz="1425" dirty="0">
                <a:solidFill>
                  <a:srgbClr val="15202B"/>
                </a:solidFill>
                <a:latin typeface="Microsoft YaHei"/>
                <a:ea typeface="Microsoft YaHei"/>
                <a:cs typeface="Microsoft YaHei"/>
              </a:rPr>
              <a:t>4</a:t>
            </a:r>
          </a:p>
        </p:txBody>
      </p:sp>
      <p:sp>
        <p:nvSpPr>
          <p:cNvPr id="68" name="矩形 67">
            <a:extLst>
              <a:ext uri="{FF2B5EF4-FFF2-40B4-BE49-F238E27FC236}">
                <a16:creationId xmlns:a16="http://schemas.microsoft.com/office/drawing/2014/main" id="{0A3877D5-6AFC-329D-3C5E-BBF0B261C6E6}"/>
              </a:ext>
            </a:extLst>
          </p:cNvPr>
          <p:cNvSpPr>
            <a:spLocks noGrp="1"/>
          </p:cNvSpPr>
          <p:nvPr/>
        </p:nvSpPr>
        <p:spPr>
          <a:xfrm>
            <a:off x="1532848" y="3874720"/>
            <a:ext cx="742950" cy="361950"/>
          </a:xfrm>
          <a:prstGeom prst="rect">
            <a:avLst/>
          </a:prstGeom>
          <a:solidFill>
            <a:srgbClr val="FFC000"/>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4</a:t>
            </a:r>
          </a:p>
        </p:txBody>
      </p:sp>
      <p:sp>
        <p:nvSpPr>
          <p:cNvPr id="69" name="矩形 68">
            <a:extLst>
              <a:ext uri="{FF2B5EF4-FFF2-40B4-BE49-F238E27FC236}">
                <a16:creationId xmlns:a16="http://schemas.microsoft.com/office/drawing/2014/main" id="{0E0B70ED-D6C5-98D0-6FC6-A16D8974B124}"/>
              </a:ext>
            </a:extLst>
          </p:cNvPr>
          <p:cNvSpPr>
            <a:spLocks noGrp="1"/>
          </p:cNvSpPr>
          <p:nvPr/>
        </p:nvSpPr>
        <p:spPr>
          <a:xfrm>
            <a:off x="2275798" y="3874720"/>
            <a:ext cx="742950" cy="361950"/>
          </a:xfrm>
          <a:prstGeom prst="rect">
            <a:avLst/>
          </a:prstGeom>
          <a:solidFill>
            <a:srgbClr val="FFC000"/>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-8</a:t>
            </a:r>
          </a:p>
        </p:txBody>
      </p:sp>
      <p:sp>
        <p:nvSpPr>
          <p:cNvPr id="70" name="矩形 69">
            <a:extLst>
              <a:ext uri="{FF2B5EF4-FFF2-40B4-BE49-F238E27FC236}">
                <a16:creationId xmlns:a16="http://schemas.microsoft.com/office/drawing/2014/main" id="{F1E65F78-F57D-59FF-78C6-520FDA094358}"/>
              </a:ext>
            </a:extLst>
          </p:cNvPr>
          <p:cNvSpPr>
            <a:spLocks noGrp="1"/>
          </p:cNvSpPr>
          <p:nvPr/>
        </p:nvSpPr>
        <p:spPr>
          <a:xfrm>
            <a:off x="3018748" y="3874720"/>
            <a:ext cx="742950" cy="361950"/>
          </a:xfrm>
          <a:prstGeom prst="rect">
            <a:avLst/>
          </a:prstGeom>
          <a:solidFill>
            <a:srgbClr val="FFC000"/>
          </a:solidFill>
          <a:ln>
            <a:solidFill>
              <a:schemeClr val="bg2">
                <a:lumMod val="10000"/>
              </a:schemeClr>
            </a:solidFill>
          </a:ln>
        </p:spPr>
        <p:txBody>
          <a:bodyPr/>
          <a:lstStyle/>
          <a:p>
            <a:pPr algn="ctr"/>
            <a:r>
              <a:rPr sz="1425" dirty="0">
                <a:solidFill>
                  <a:srgbClr val="15202B"/>
                </a:solidFill>
                <a:latin typeface="Microsoft YaHei"/>
                <a:ea typeface="Microsoft YaHei"/>
                <a:cs typeface="Microsoft YaHei"/>
              </a:rPr>
              <a:t>-4</a:t>
            </a:r>
          </a:p>
        </p:txBody>
      </p:sp>
      <p:sp>
        <p:nvSpPr>
          <p:cNvPr id="71" name="矩形 70">
            <a:extLst>
              <a:ext uri="{FF2B5EF4-FFF2-40B4-BE49-F238E27FC236}">
                <a16:creationId xmlns:a16="http://schemas.microsoft.com/office/drawing/2014/main" id="{66C95BE5-DA4A-9656-8043-BC10881FB12E}"/>
              </a:ext>
            </a:extLst>
          </p:cNvPr>
          <p:cNvSpPr>
            <a:spLocks noGrp="1"/>
          </p:cNvSpPr>
          <p:nvPr/>
        </p:nvSpPr>
        <p:spPr>
          <a:xfrm>
            <a:off x="46948" y="42366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h3</a:t>
            </a:r>
          </a:p>
        </p:txBody>
      </p:sp>
      <p:sp>
        <p:nvSpPr>
          <p:cNvPr id="72" name="矩形 71">
            <a:extLst>
              <a:ext uri="{FF2B5EF4-FFF2-40B4-BE49-F238E27FC236}">
                <a16:creationId xmlns:a16="http://schemas.microsoft.com/office/drawing/2014/main" id="{8B71DF4E-38B4-737A-9462-2CDA4683AE80}"/>
              </a:ext>
            </a:extLst>
          </p:cNvPr>
          <p:cNvSpPr>
            <a:spLocks noGrp="1"/>
          </p:cNvSpPr>
          <p:nvPr/>
        </p:nvSpPr>
        <p:spPr>
          <a:xfrm>
            <a:off x="789898" y="42366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8</a:t>
            </a:r>
          </a:p>
        </p:txBody>
      </p:sp>
      <p:sp>
        <p:nvSpPr>
          <p:cNvPr id="73" name="矩形 72">
            <a:extLst>
              <a:ext uri="{FF2B5EF4-FFF2-40B4-BE49-F238E27FC236}">
                <a16:creationId xmlns:a16="http://schemas.microsoft.com/office/drawing/2014/main" id="{358225BA-D974-D005-4FB8-8E617E723A97}"/>
              </a:ext>
            </a:extLst>
          </p:cNvPr>
          <p:cNvSpPr>
            <a:spLocks noGrp="1"/>
          </p:cNvSpPr>
          <p:nvPr/>
        </p:nvSpPr>
        <p:spPr>
          <a:xfrm>
            <a:off x="1532848" y="42366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16</a:t>
            </a:r>
          </a:p>
        </p:txBody>
      </p:sp>
      <p:sp>
        <p:nvSpPr>
          <p:cNvPr id="74" name="矩形 73">
            <a:extLst>
              <a:ext uri="{FF2B5EF4-FFF2-40B4-BE49-F238E27FC236}">
                <a16:creationId xmlns:a16="http://schemas.microsoft.com/office/drawing/2014/main" id="{E9697210-1AE1-CA20-3999-E4F2F179A316}"/>
              </a:ext>
            </a:extLst>
          </p:cNvPr>
          <p:cNvSpPr>
            <a:spLocks noGrp="1"/>
          </p:cNvSpPr>
          <p:nvPr/>
        </p:nvSpPr>
        <p:spPr>
          <a:xfrm>
            <a:off x="2275798" y="42366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8</a:t>
            </a:r>
          </a:p>
        </p:txBody>
      </p:sp>
      <p:sp>
        <p:nvSpPr>
          <p:cNvPr id="75" name="矩形 74">
            <a:extLst>
              <a:ext uri="{FF2B5EF4-FFF2-40B4-BE49-F238E27FC236}">
                <a16:creationId xmlns:a16="http://schemas.microsoft.com/office/drawing/2014/main" id="{078EA059-F039-AED4-6A96-F0A9F2182524}"/>
              </a:ext>
            </a:extLst>
          </p:cNvPr>
          <p:cNvSpPr>
            <a:spLocks noGrp="1"/>
          </p:cNvSpPr>
          <p:nvPr/>
        </p:nvSpPr>
        <p:spPr>
          <a:xfrm>
            <a:off x="3018748" y="423667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-4</a:t>
            </a:r>
          </a:p>
        </p:txBody>
      </p:sp>
      <p:sp>
        <p:nvSpPr>
          <p:cNvPr id="76" name="矩形 75">
            <a:extLst>
              <a:ext uri="{FF2B5EF4-FFF2-40B4-BE49-F238E27FC236}">
                <a16:creationId xmlns:a16="http://schemas.microsoft.com/office/drawing/2014/main" id="{CEF922C7-06DE-DA01-4529-D33FEE0AEEDA}"/>
              </a:ext>
            </a:extLst>
          </p:cNvPr>
          <p:cNvSpPr>
            <a:spLocks noGrp="1"/>
          </p:cNvSpPr>
          <p:nvPr/>
        </p:nvSpPr>
        <p:spPr>
          <a:xfrm>
            <a:off x="46948" y="459862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h4</a:t>
            </a:r>
          </a:p>
        </p:txBody>
      </p:sp>
      <p:sp>
        <p:nvSpPr>
          <p:cNvPr id="77" name="矩形 76">
            <a:extLst>
              <a:ext uri="{FF2B5EF4-FFF2-40B4-BE49-F238E27FC236}">
                <a16:creationId xmlns:a16="http://schemas.microsoft.com/office/drawing/2014/main" id="{B90A4C9D-7341-D09D-3DC4-109E793F0135}"/>
              </a:ext>
            </a:extLst>
          </p:cNvPr>
          <p:cNvSpPr>
            <a:spLocks noGrp="1"/>
          </p:cNvSpPr>
          <p:nvPr/>
        </p:nvSpPr>
        <p:spPr>
          <a:xfrm>
            <a:off x="789898" y="459862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0</a:t>
            </a:r>
          </a:p>
        </p:txBody>
      </p:sp>
      <p:sp>
        <p:nvSpPr>
          <p:cNvPr id="78" name="矩形 77">
            <a:extLst>
              <a:ext uri="{FF2B5EF4-FFF2-40B4-BE49-F238E27FC236}">
                <a16:creationId xmlns:a16="http://schemas.microsoft.com/office/drawing/2014/main" id="{B6B24AFA-097D-5C74-26C7-4BAB3B22D487}"/>
              </a:ext>
            </a:extLst>
          </p:cNvPr>
          <p:cNvSpPr>
            <a:spLocks noGrp="1"/>
          </p:cNvSpPr>
          <p:nvPr/>
        </p:nvSpPr>
        <p:spPr>
          <a:xfrm>
            <a:off x="1532848" y="459862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16</a:t>
            </a:r>
          </a:p>
        </p:txBody>
      </p:sp>
      <p:sp>
        <p:nvSpPr>
          <p:cNvPr id="79" name="矩形 78">
            <a:extLst>
              <a:ext uri="{FF2B5EF4-FFF2-40B4-BE49-F238E27FC236}">
                <a16:creationId xmlns:a16="http://schemas.microsoft.com/office/drawing/2014/main" id="{2A480F6E-BB50-6E58-87DB-6ACF1ED47B6B}"/>
              </a:ext>
            </a:extLst>
          </p:cNvPr>
          <p:cNvSpPr>
            <a:spLocks noGrp="1"/>
          </p:cNvSpPr>
          <p:nvPr/>
        </p:nvSpPr>
        <p:spPr>
          <a:xfrm>
            <a:off x="2275798" y="459862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-8</a:t>
            </a:r>
          </a:p>
        </p:txBody>
      </p:sp>
      <p:sp>
        <p:nvSpPr>
          <p:cNvPr id="80" name="矩形 79">
            <a:extLst>
              <a:ext uri="{FF2B5EF4-FFF2-40B4-BE49-F238E27FC236}">
                <a16:creationId xmlns:a16="http://schemas.microsoft.com/office/drawing/2014/main" id="{093F0490-D851-E044-A1DA-62E1B0AFDA2D}"/>
              </a:ext>
            </a:extLst>
          </p:cNvPr>
          <p:cNvSpPr>
            <a:spLocks noGrp="1"/>
          </p:cNvSpPr>
          <p:nvPr/>
        </p:nvSpPr>
        <p:spPr>
          <a:xfrm>
            <a:off x="3018748" y="4598620"/>
            <a:ext cx="742950" cy="361950"/>
          </a:xfrm>
          <a:prstGeom prst="rect">
            <a:avLst/>
          </a:prstGeom>
          <a:solidFill>
            <a:schemeClr val="accent2">
              <a:lumMod val="20000"/>
              <a:lumOff val="80000"/>
            </a:schemeClr>
          </a:solidFill>
          <a:ln>
            <a:solidFill>
              <a:schemeClr val="bg2">
                <a:lumMod val="10000"/>
              </a:schemeClr>
            </a:solidFill>
          </a:ln>
        </p:spPr>
        <p:txBody>
          <a:bodyPr/>
          <a:lstStyle/>
          <a:p>
            <a:pPr algn="ctr"/>
            <a:r>
              <a:rPr sz="1425">
                <a:solidFill>
                  <a:srgbClr val="15202B"/>
                </a:solidFill>
                <a:latin typeface="Microsoft YaHei"/>
                <a:ea typeface="Microsoft YaHei"/>
                <a:cs typeface="Microsoft YaHei"/>
              </a:rPr>
              <a:t>4</a:t>
            </a:r>
          </a:p>
        </p:txBody>
      </p: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8FD27E03-CCD9-9700-D227-86FED648BC6F}"/>
                  </a:ext>
                </a:extLst>
              </p:cNvPr>
              <p:cNvSpPr txBox="1"/>
              <p:nvPr/>
            </p:nvSpPr>
            <p:spPr>
              <a:xfrm>
                <a:off x="810028" y="5489580"/>
                <a:ext cx="2965872" cy="369332"/>
              </a:xfrm>
              <a:prstGeom prst="rect">
                <a:avLst/>
              </a:prstGeom>
              <a:noFill/>
            </p:spPr>
            <p:txBody>
              <a:bodyPr wrap="square" rtlCol="0">
                <a:spAutoFit/>
              </a:bodyPr>
              <a:lstStyle/>
              <a:p>
                <a:r>
                  <a:rPr lang="zh-CN" altLang="en-US" dirty="0"/>
                  <a:t>偏振信息</a:t>
                </a:r>
                <a:r>
                  <a:rPr lang="zh-CN" altLang="en-US" dirty="0">
                    <a:solidFill>
                      <a:srgbClr val="FF0000"/>
                    </a:solidFill>
                  </a:rPr>
                  <a:t>解码</a:t>
                </a:r>
                <a:r>
                  <a:rPr lang="zh-CN" altLang="en-US" dirty="0"/>
                  <a:t>过程</a:t>
                </a:r>
                <a:r>
                  <a:rPr lang="en-US" altLang="zh-CN" dirty="0"/>
                  <a:t>:</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𝐻</m:t>
                        </m:r>
                      </m:e>
                      <m:sup>
                        <m:r>
                          <a:rPr lang="en-US" altLang="zh-CN" b="0" i="1" smtClean="0">
                            <a:latin typeface="Cambria Math" panose="02040503050406030204" pitchFamily="18" charset="0"/>
                          </a:rPr>
                          <m:t>−1</m:t>
                        </m:r>
                      </m:sup>
                    </m:sSup>
                  </m:oMath>
                </a14:m>
                <a:r>
                  <a:rPr lang="en-US" altLang="zh-CN" dirty="0"/>
                  <a:t>y=x</a:t>
                </a:r>
                <a:endParaRPr lang="zh-CN" altLang="en-US" dirty="0"/>
              </a:p>
            </p:txBody>
          </p:sp>
        </mc:Choice>
        <mc:Fallback xmlns="">
          <p:sp>
            <p:nvSpPr>
              <p:cNvPr id="81" name="文本框 80">
                <a:extLst>
                  <a:ext uri="{FF2B5EF4-FFF2-40B4-BE49-F238E27FC236}">
                    <a16:creationId xmlns:a16="http://schemas.microsoft.com/office/drawing/2014/main" id="{8FD27E03-CCD9-9700-D227-86FED648BC6F}"/>
                  </a:ext>
                </a:extLst>
              </p:cNvPr>
              <p:cNvSpPr txBox="1">
                <a:spLocks noRot="1" noChangeAspect="1" noMove="1" noResize="1" noEditPoints="1" noAdjustHandles="1" noChangeArrowheads="1" noChangeShapeType="1" noTextEdit="1"/>
              </p:cNvSpPr>
              <p:nvPr/>
            </p:nvSpPr>
            <p:spPr>
              <a:xfrm>
                <a:off x="810028" y="5489580"/>
                <a:ext cx="2965872" cy="369332"/>
              </a:xfrm>
              <a:prstGeom prst="rect">
                <a:avLst/>
              </a:prstGeom>
              <a:blipFill>
                <a:blip r:embed="rId3"/>
                <a:stretch>
                  <a:fillRect l="-1852"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A31D0811-45E3-F074-EE1E-9E3F6D1127E3}"/>
                  </a:ext>
                </a:extLst>
              </p:cNvPr>
              <p:cNvSpPr txBox="1"/>
              <p:nvPr/>
            </p:nvSpPr>
            <p:spPr>
              <a:xfrm>
                <a:off x="83335" y="6092405"/>
                <a:ext cx="4899388" cy="369332"/>
              </a:xfrm>
              <a:prstGeom prst="rect">
                <a:avLst/>
              </a:prstGeom>
              <a:noFill/>
            </p:spPr>
            <p:txBody>
              <a:bodyPr wrap="square" rtlCol="0">
                <a:spAutoFit/>
              </a:bodyPr>
              <a:lstStyle/>
              <a:p>
                <a:r>
                  <a:rPr lang="zh-CN" altLang="en-US" dirty="0"/>
                  <a:t>由</a:t>
                </a:r>
                <a:r>
                  <a:rPr lang="en-US" altLang="zh-CN" dirty="0"/>
                  <a:t>Hadamard</a:t>
                </a:r>
                <a:r>
                  <a:rPr lang="zh-CN" altLang="en-US" dirty="0"/>
                  <a:t>基底性质，</a:t>
                </a:r>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𝐻</m:t>
                        </m:r>
                      </m:e>
                      <m:sup>
                        <m:r>
                          <a:rPr lang="en-US" altLang="zh-CN" i="1">
                            <a:latin typeface="Cambria Math" panose="02040503050406030204" pitchFamily="18" charset="0"/>
                          </a:rPr>
                          <m:t>−1</m:t>
                        </m:r>
                      </m:sup>
                    </m:sSup>
                  </m:oMath>
                </a14:m>
                <a:r>
                  <a:rPr lang="en-US" altLang="zh-CN" dirty="0"/>
                  <a:t>=H/4</a:t>
                </a:r>
                <a:r>
                  <a:rPr lang="zh-CN" altLang="en-US" dirty="0"/>
                  <a:t>，可得</a:t>
                </a:r>
                <a:r>
                  <a:rPr lang="en-US" altLang="zh-CN" dirty="0"/>
                  <a:t>Hy/4=x</a:t>
                </a:r>
                <a:endParaRPr lang="zh-CN" altLang="en-US" dirty="0"/>
              </a:p>
            </p:txBody>
          </p:sp>
        </mc:Choice>
        <mc:Fallback xmlns="">
          <p:sp>
            <p:nvSpPr>
              <p:cNvPr id="83" name="文本框 82">
                <a:extLst>
                  <a:ext uri="{FF2B5EF4-FFF2-40B4-BE49-F238E27FC236}">
                    <a16:creationId xmlns:a16="http://schemas.microsoft.com/office/drawing/2014/main" id="{A31D0811-45E3-F074-EE1E-9E3F6D1127E3}"/>
                  </a:ext>
                </a:extLst>
              </p:cNvPr>
              <p:cNvSpPr txBox="1">
                <a:spLocks noRot="1" noChangeAspect="1" noMove="1" noResize="1" noEditPoints="1" noAdjustHandles="1" noChangeArrowheads="1" noChangeShapeType="1" noTextEdit="1"/>
              </p:cNvSpPr>
              <p:nvPr/>
            </p:nvSpPr>
            <p:spPr>
              <a:xfrm>
                <a:off x="83335" y="6092405"/>
                <a:ext cx="4899388" cy="369332"/>
              </a:xfrm>
              <a:prstGeom prst="rect">
                <a:avLst/>
              </a:prstGeom>
              <a:blipFill>
                <a:blip r:embed="rId4"/>
                <a:stretch>
                  <a:fillRect l="-1121" t="-8197" b="-24590"/>
                </a:stretch>
              </a:blipFill>
            </p:spPr>
            <p:txBody>
              <a:bodyPr/>
              <a:lstStyle/>
              <a:p>
                <a:r>
                  <a:rPr lang="zh-CN" altLang="en-US">
                    <a:noFill/>
                  </a:rPr>
                  <a:t> </a:t>
                </a:r>
              </a:p>
            </p:txBody>
          </p:sp>
        </mc:Fallback>
      </mc:AlternateContent>
      <p:cxnSp>
        <p:nvCxnSpPr>
          <p:cNvPr id="54" name="直接连接符 53">
            <a:extLst>
              <a:ext uri="{FF2B5EF4-FFF2-40B4-BE49-F238E27FC236}">
                <a16:creationId xmlns:a16="http://schemas.microsoft.com/office/drawing/2014/main" id="{6CE89179-B3E3-8185-ADC6-3C3B85162BD0}"/>
              </a:ext>
            </a:extLst>
          </p:cNvPr>
          <p:cNvCxnSpPr>
            <a:cxnSpLocks/>
          </p:cNvCxnSpPr>
          <p:nvPr/>
        </p:nvCxnSpPr>
        <p:spPr>
          <a:xfrm>
            <a:off x="-17676" y="5373216"/>
            <a:ext cx="121623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052400A-6219-DADC-F6B3-7AA28AA08192}"/>
              </a:ext>
            </a:extLst>
          </p:cNvPr>
          <p:cNvCxnSpPr>
            <a:cxnSpLocks/>
          </p:cNvCxnSpPr>
          <p:nvPr/>
        </p:nvCxnSpPr>
        <p:spPr>
          <a:xfrm>
            <a:off x="7456190" y="804723"/>
            <a:ext cx="0" cy="4568493"/>
          </a:xfrm>
          <a:prstGeom prst="line">
            <a:avLst/>
          </a:prstGeom>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9B1F67B0-39ED-85EF-8C2B-D64144D3A9A3}"/>
              </a:ext>
            </a:extLst>
          </p:cNvPr>
          <p:cNvSpPr>
            <a:spLocks noGrp="1"/>
          </p:cNvSpPr>
          <p:nvPr/>
        </p:nvSpPr>
        <p:spPr>
          <a:xfrm>
            <a:off x="186793" y="1347546"/>
            <a:ext cx="2189758" cy="1149948"/>
          </a:xfrm>
          <a:prstGeom prst="rect">
            <a:avLst/>
          </a:prstGeom>
          <a:solidFill>
            <a:srgbClr val="FFFFFF"/>
          </a:solidFill>
        </p:spPr>
        <p:txBody>
          <a:bodyPr/>
          <a:lstStyle/>
          <a:p>
            <a:r>
              <a:rPr sz="1500" b="0" dirty="0">
                <a:solidFill>
                  <a:srgbClr val="15202B"/>
                </a:solidFill>
                <a:latin typeface="Consolas"/>
                <a:ea typeface="Consolas"/>
                <a:cs typeface="Consolas"/>
              </a:rPr>
              <a:t>h1=[ 1,  1,  1,  1]</a:t>
            </a:r>
          </a:p>
          <a:p>
            <a:r>
              <a:rPr sz="1500" b="0" dirty="0">
                <a:solidFill>
                  <a:schemeClr val="accent2"/>
                </a:solidFill>
                <a:latin typeface="Consolas"/>
                <a:ea typeface="Consolas"/>
                <a:cs typeface="Consolas"/>
              </a:rPr>
              <a:t>h2=[ 1, -1,  1, -1]</a:t>
            </a:r>
          </a:p>
          <a:p>
            <a:r>
              <a:rPr sz="1500" b="0" dirty="0">
                <a:solidFill>
                  <a:srgbClr val="15202B"/>
                </a:solidFill>
                <a:latin typeface="Consolas"/>
                <a:ea typeface="Consolas"/>
                <a:cs typeface="Consolas"/>
              </a:rPr>
              <a:t>h3=[ 1,  1, -1, -1]</a:t>
            </a:r>
          </a:p>
          <a:p>
            <a:r>
              <a:rPr sz="1500" b="0" dirty="0">
                <a:solidFill>
                  <a:srgbClr val="15202B"/>
                </a:solidFill>
                <a:latin typeface="Consolas"/>
                <a:ea typeface="Consolas"/>
                <a:cs typeface="Consolas"/>
              </a:rPr>
              <a:t>h4=[ 1, -1, -</a:t>
            </a:r>
            <a:r>
              <a:rPr lang="en-US" altLang="zh-CN" sz="1500" b="0" dirty="0">
                <a:solidFill>
                  <a:srgbClr val="15202B"/>
                </a:solidFill>
                <a:latin typeface="Consolas"/>
                <a:ea typeface="Consolas"/>
                <a:cs typeface="Consolas"/>
              </a:rPr>
              <a:t>1</a:t>
            </a:r>
            <a:r>
              <a:rPr sz="1500" b="0" dirty="0">
                <a:solidFill>
                  <a:srgbClr val="15202B"/>
                </a:solidFill>
                <a:latin typeface="Consolas"/>
                <a:ea typeface="Consolas"/>
                <a:cs typeface="Consolas"/>
              </a:rPr>
              <a:t>,  1]</a:t>
            </a:r>
          </a:p>
        </p:txBody>
      </p:sp>
      <p:sp>
        <p:nvSpPr>
          <p:cNvPr id="53" name="文本框 52">
            <a:extLst>
              <a:ext uri="{FF2B5EF4-FFF2-40B4-BE49-F238E27FC236}">
                <a16:creationId xmlns:a16="http://schemas.microsoft.com/office/drawing/2014/main" id="{39D7F66F-465A-A4D2-1972-698FFC535349}"/>
              </a:ext>
            </a:extLst>
          </p:cNvPr>
          <p:cNvSpPr txBox="1"/>
          <p:nvPr/>
        </p:nvSpPr>
        <p:spPr>
          <a:xfrm>
            <a:off x="432334" y="2315616"/>
            <a:ext cx="1770683" cy="369332"/>
          </a:xfrm>
          <a:prstGeom prst="rect">
            <a:avLst/>
          </a:prstGeom>
          <a:noFill/>
        </p:spPr>
        <p:txBody>
          <a:bodyPr wrap="square" rtlCol="0">
            <a:spAutoFit/>
          </a:bodyPr>
          <a:lstStyle/>
          <a:p>
            <a:r>
              <a:rPr lang="en-US" altLang="zh-CN" dirty="0"/>
              <a:t>Hadamard</a:t>
            </a:r>
            <a:r>
              <a:rPr lang="zh-CN" altLang="en-US"/>
              <a:t>矩阵</a:t>
            </a:r>
            <a:r>
              <a:rPr lang="en-US" altLang="zh-CN" i="1"/>
              <a:t>H</a:t>
            </a:r>
            <a:endParaRPr lang="zh-CN" altLang="en-US" i="1" dirty="0"/>
          </a:p>
        </p:txBody>
      </p:sp>
      <p:sp>
        <p:nvSpPr>
          <p:cNvPr id="174" name="双括号 173">
            <a:extLst>
              <a:ext uri="{FF2B5EF4-FFF2-40B4-BE49-F238E27FC236}">
                <a16:creationId xmlns:a16="http://schemas.microsoft.com/office/drawing/2014/main" id="{00588903-C19E-6CA5-B626-391FBA8864D6}"/>
              </a:ext>
            </a:extLst>
          </p:cNvPr>
          <p:cNvSpPr/>
          <p:nvPr/>
        </p:nvSpPr>
        <p:spPr>
          <a:xfrm>
            <a:off x="4897130" y="1106052"/>
            <a:ext cx="1584175" cy="1353818"/>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5" name="文本框 174">
            <a:extLst>
              <a:ext uri="{FF2B5EF4-FFF2-40B4-BE49-F238E27FC236}">
                <a16:creationId xmlns:a16="http://schemas.microsoft.com/office/drawing/2014/main" id="{7DEB4206-30E3-F612-2489-4CAC520F21CB}"/>
              </a:ext>
            </a:extLst>
          </p:cNvPr>
          <p:cNvSpPr txBox="1"/>
          <p:nvPr/>
        </p:nvSpPr>
        <p:spPr>
          <a:xfrm>
            <a:off x="5038687" y="1183853"/>
            <a:ext cx="1395567" cy="1200329"/>
          </a:xfrm>
          <a:prstGeom prst="rect">
            <a:avLst/>
          </a:prstGeom>
          <a:noFill/>
        </p:spPr>
        <p:txBody>
          <a:bodyPr wrap="square" rtlCol="0">
            <a:spAutoFit/>
          </a:bodyPr>
          <a:lstStyle/>
          <a:p>
            <a:pPr marL="342900" indent="-342900">
              <a:buAutoNum type="arabicPlain" startAt="10"/>
            </a:pPr>
            <a:r>
              <a:rPr lang="en-US" altLang="zh-CN"/>
              <a:t>10   0   0  </a:t>
            </a:r>
          </a:p>
          <a:p>
            <a:pPr marL="342900" indent="-342900">
              <a:buAutoNum type="arabicPlain" startAt="8"/>
            </a:pPr>
            <a:r>
              <a:rPr lang="en-US" altLang="zh-CN"/>
              <a:t>0    8    0</a:t>
            </a:r>
          </a:p>
          <a:p>
            <a:r>
              <a:rPr lang="en-US" altLang="zh-CN"/>
              <a:t>6   -6   0    0</a:t>
            </a:r>
          </a:p>
          <a:p>
            <a:r>
              <a:rPr lang="en-US" altLang="zh-CN"/>
              <a:t>4    0    0    4</a:t>
            </a:r>
            <a:endParaRPr lang="zh-CN" altLang="en-US"/>
          </a:p>
        </p:txBody>
      </p:sp>
      <p:sp>
        <p:nvSpPr>
          <p:cNvPr id="176" name="文本框 175">
            <a:extLst>
              <a:ext uri="{FF2B5EF4-FFF2-40B4-BE49-F238E27FC236}">
                <a16:creationId xmlns:a16="http://schemas.microsoft.com/office/drawing/2014/main" id="{16D2265E-F986-0EE5-4C9A-D083B22B285F}"/>
              </a:ext>
            </a:extLst>
          </p:cNvPr>
          <p:cNvSpPr txBox="1"/>
          <p:nvPr/>
        </p:nvSpPr>
        <p:spPr>
          <a:xfrm>
            <a:off x="3505281" y="1763416"/>
            <a:ext cx="356188" cy="369332"/>
          </a:xfrm>
          <a:prstGeom prst="rect">
            <a:avLst/>
          </a:prstGeom>
          <a:noFill/>
        </p:spPr>
        <p:txBody>
          <a:bodyPr wrap="none" rtlCol="0">
            <a:spAutoFit/>
          </a:bodyPr>
          <a:lstStyle/>
          <a:p>
            <a:r>
              <a:rPr lang="en-US" altLang="zh-CN"/>
              <a:t>×</a:t>
            </a:r>
            <a:endParaRPr lang="zh-CN" altLang="en-US"/>
          </a:p>
        </p:txBody>
      </p:sp>
      <p:sp>
        <p:nvSpPr>
          <p:cNvPr id="178" name="文本框 177">
            <a:extLst>
              <a:ext uri="{FF2B5EF4-FFF2-40B4-BE49-F238E27FC236}">
                <a16:creationId xmlns:a16="http://schemas.microsoft.com/office/drawing/2014/main" id="{5C9BD045-3E15-01D3-7138-2E0818BD1C30}"/>
              </a:ext>
            </a:extLst>
          </p:cNvPr>
          <p:cNvSpPr txBox="1"/>
          <p:nvPr/>
        </p:nvSpPr>
        <p:spPr>
          <a:xfrm>
            <a:off x="4771963" y="2474220"/>
            <a:ext cx="1924589" cy="369332"/>
          </a:xfrm>
          <a:prstGeom prst="rect">
            <a:avLst/>
          </a:prstGeom>
          <a:noFill/>
        </p:spPr>
        <p:txBody>
          <a:bodyPr wrap="square" rtlCol="0">
            <a:spAutoFit/>
          </a:bodyPr>
          <a:lstStyle/>
          <a:p>
            <a:r>
              <a:rPr lang="zh-CN" altLang="en-US"/>
              <a:t>像素偏振度矩阵</a:t>
            </a:r>
            <a:r>
              <a:rPr lang="en-US" altLang="zh-CN"/>
              <a:t>x</a:t>
            </a:r>
            <a:endParaRPr lang="zh-CN" altLang="en-US" dirty="0"/>
          </a:p>
        </p:txBody>
      </p:sp>
      <p:sp>
        <p:nvSpPr>
          <p:cNvPr id="182" name="文本框 181">
            <a:extLst>
              <a:ext uri="{FF2B5EF4-FFF2-40B4-BE49-F238E27FC236}">
                <a16:creationId xmlns:a16="http://schemas.microsoft.com/office/drawing/2014/main" id="{9AC517A0-9446-395C-6684-54564121AD12}"/>
              </a:ext>
            </a:extLst>
          </p:cNvPr>
          <p:cNvSpPr txBox="1"/>
          <p:nvPr/>
        </p:nvSpPr>
        <p:spPr>
          <a:xfrm>
            <a:off x="4949273" y="3813435"/>
            <a:ext cx="1146727" cy="369332"/>
          </a:xfrm>
          <a:prstGeom prst="rect">
            <a:avLst/>
          </a:prstGeom>
          <a:noFill/>
        </p:spPr>
        <p:txBody>
          <a:bodyPr wrap="square" rtlCol="0">
            <a:spAutoFit/>
          </a:bodyPr>
          <a:lstStyle/>
          <a:p>
            <a:r>
              <a:rPr lang="zh-CN" altLang="en-US"/>
              <a:t>计算结果</a:t>
            </a:r>
            <a:endParaRPr lang="zh-CN" altLang="en-US" dirty="0"/>
          </a:p>
        </p:txBody>
      </p:sp>
      <p:sp>
        <p:nvSpPr>
          <p:cNvPr id="183" name="文本框 182">
            <a:extLst>
              <a:ext uri="{FF2B5EF4-FFF2-40B4-BE49-F238E27FC236}">
                <a16:creationId xmlns:a16="http://schemas.microsoft.com/office/drawing/2014/main" id="{B1A59019-733F-5319-7E69-475B713F3143}"/>
              </a:ext>
            </a:extLst>
          </p:cNvPr>
          <p:cNvSpPr txBox="1"/>
          <p:nvPr/>
        </p:nvSpPr>
        <p:spPr>
          <a:xfrm>
            <a:off x="932603" y="4979804"/>
            <a:ext cx="1685077" cy="369332"/>
          </a:xfrm>
          <a:prstGeom prst="rect">
            <a:avLst/>
          </a:prstGeom>
          <a:noFill/>
        </p:spPr>
        <p:txBody>
          <a:bodyPr wrap="none" rtlCol="0">
            <a:spAutoFit/>
          </a:bodyPr>
          <a:lstStyle/>
          <a:p>
            <a:r>
              <a:rPr lang="zh-CN" altLang="en-US"/>
              <a:t>结算结果矩阵</a:t>
            </a:r>
            <a:r>
              <a:rPr lang="en-US" altLang="zh-CN"/>
              <a:t>y</a:t>
            </a:r>
            <a:endParaRPr lang="zh-CN" altLang="en-US"/>
          </a:p>
        </p:txBody>
      </p:sp>
      <p:pic>
        <p:nvPicPr>
          <p:cNvPr id="4" name="图片 3">
            <a:extLst>
              <a:ext uri="{FF2B5EF4-FFF2-40B4-BE49-F238E27FC236}">
                <a16:creationId xmlns:a16="http://schemas.microsoft.com/office/drawing/2014/main" id="{BC9003B7-103A-3DF0-ECF6-B7A27254CEFA}"/>
              </a:ext>
            </a:extLst>
          </p:cNvPr>
          <p:cNvPicPr>
            <a:picLocks noChangeAspect="1"/>
          </p:cNvPicPr>
          <p:nvPr/>
        </p:nvPicPr>
        <p:blipFill>
          <a:blip r:embed="rId5"/>
          <a:stretch>
            <a:fillRect/>
          </a:stretch>
        </p:blipFill>
        <p:spPr>
          <a:xfrm>
            <a:off x="6125723" y="5738421"/>
            <a:ext cx="2244808" cy="1101834"/>
          </a:xfrm>
          <a:prstGeom prst="rect">
            <a:avLst/>
          </a:prstGeom>
        </p:spPr>
      </p:pic>
      <p:sp>
        <p:nvSpPr>
          <p:cNvPr id="6" name="文本框 5">
            <a:extLst>
              <a:ext uri="{FF2B5EF4-FFF2-40B4-BE49-F238E27FC236}">
                <a16:creationId xmlns:a16="http://schemas.microsoft.com/office/drawing/2014/main" id="{5950A032-22F5-A502-3D77-0F818B7AF9E7}"/>
              </a:ext>
            </a:extLst>
          </p:cNvPr>
          <p:cNvSpPr txBox="1"/>
          <p:nvPr/>
        </p:nvSpPr>
        <p:spPr>
          <a:xfrm>
            <a:off x="6153619" y="5390736"/>
            <a:ext cx="2304256" cy="369332"/>
          </a:xfrm>
          <a:prstGeom prst="rect">
            <a:avLst/>
          </a:prstGeom>
          <a:noFill/>
        </p:spPr>
        <p:txBody>
          <a:bodyPr wrap="square" rtlCol="0">
            <a:spAutoFit/>
          </a:bodyPr>
          <a:lstStyle/>
          <a:p>
            <a:r>
              <a:rPr lang="zh-CN" altLang="en-US"/>
              <a:t>文章入射光的光路图</a:t>
            </a:r>
            <a:endParaRPr lang="zh-CN" altLang="en-US" dirty="0"/>
          </a:p>
        </p:txBody>
      </p:sp>
      <p:sp>
        <p:nvSpPr>
          <p:cNvPr id="16" name="文本框 15">
            <a:extLst>
              <a:ext uri="{FF2B5EF4-FFF2-40B4-BE49-F238E27FC236}">
                <a16:creationId xmlns:a16="http://schemas.microsoft.com/office/drawing/2014/main" id="{F1B24C21-AAFB-90B4-4650-2B105765CB28}"/>
              </a:ext>
            </a:extLst>
          </p:cNvPr>
          <p:cNvSpPr txBox="1"/>
          <p:nvPr/>
        </p:nvSpPr>
        <p:spPr>
          <a:xfrm>
            <a:off x="9146151" y="5395372"/>
            <a:ext cx="2465590" cy="369332"/>
          </a:xfrm>
          <a:prstGeom prst="rect">
            <a:avLst/>
          </a:prstGeom>
          <a:noFill/>
        </p:spPr>
        <p:txBody>
          <a:bodyPr wrap="square" rtlCol="0">
            <a:spAutoFit/>
          </a:bodyPr>
          <a:lstStyle/>
          <a:p>
            <a:r>
              <a:rPr lang="en-US" altLang="zh-CN"/>
              <a:t>Stokes polarimeter</a:t>
            </a:r>
            <a:r>
              <a:rPr lang="zh-CN" altLang="en-US"/>
              <a:t>图解</a:t>
            </a:r>
            <a:r>
              <a:rPr lang="en-US" altLang="zh-CN">
                <a:solidFill>
                  <a:srgbClr val="FFFFFF"/>
                </a:solidFill>
              </a:rPr>
              <a:t> </a:t>
            </a:r>
            <a:endParaRPr lang="zh-CN" altLang="en-US" dirty="0"/>
          </a:p>
        </p:txBody>
      </p:sp>
      <p:pic>
        <p:nvPicPr>
          <p:cNvPr id="50" name="图片 49">
            <a:extLst>
              <a:ext uri="{FF2B5EF4-FFF2-40B4-BE49-F238E27FC236}">
                <a16:creationId xmlns:a16="http://schemas.microsoft.com/office/drawing/2014/main" id="{037EE00C-7A30-55AD-98CB-F456DF03ED69}"/>
              </a:ext>
            </a:extLst>
          </p:cNvPr>
          <p:cNvPicPr>
            <a:picLocks noChangeAspect="1"/>
          </p:cNvPicPr>
          <p:nvPr/>
        </p:nvPicPr>
        <p:blipFill>
          <a:blip r:embed="rId6"/>
          <a:stretch>
            <a:fillRect/>
          </a:stretch>
        </p:blipFill>
        <p:spPr>
          <a:xfrm>
            <a:off x="9028520" y="5696398"/>
            <a:ext cx="2716586" cy="1144615"/>
          </a:xfrm>
          <a:prstGeom prst="rect">
            <a:avLst/>
          </a:prstGeom>
        </p:spPr>
      </p:pic>
      <p:cxnSp>
        <p:nvCxnSpPr>
          <p:cNvPr id="51" name="Straight Connector 4">
            <a:extLst>
              <a:ext uri="{FF2B5EF4-FFF2-40B4-BE49-F238E27FC236}">
                <a16:creationId xmlns:a16="http://schemas.microsoft.com/office/drawing/2014/main" id="{09F39F66-FDF7-C09E-F3C2-3EC9B6FC1E51}"/>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pic>
        <p:nvPicPr>
          <p:cNvPr id="52" name="图片 1">
            <a:extLst>
              <a:ext uri="{FF2B5EF4-FFF2-40B4-BE49-F238E27FC236}">
                <a16:creationId xmlns:a16="http://schemas.microsoft.com/office/drawing/2014/main" id="{DF53141A-A290-8D4A-3EF4-1BA4EDDBAAE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82" name="文本框 81">
            <a:extLst>
              <a:ext uri="{FF2B5EF4-FFF2-40B4-BE49-F238E27FC236}">
                <a16:creationId xmlns:a16="http://schemas.microsoft.com/office/drawing/2014/main" id="{3DBE1FEA-E43D-2257-550C-2EE93684D4AA}"/>
              </a:ext>
            </a:extLst>
          </p:cNvPr>
          <p:cNvSpPr txBox="1"/>
          <p:nvPr/>
        </p:nvSpPr>
        <p:spPr>
          <a:xfrm>
            <a:off x="623392" y="69315"/>
            <a:ext cx="11568608" cy="369332"/>
          </a:xfrm>
          <a:prstGeom prst="rect">
            <a:avLst/>
          </a:prstGeom>
          <a:noFill/>
        </p:spPr>
        <p:txBody>
          <a:bodyPr wrap="square" rtlCol="0">
            <a:spAutoFit/>
          </a:bodyPr>
          <a:lstStyle/>
          <a:p>
            <a:r>
              <a:rPr lang="zh-CN" altLang="en-US"/>
              <a:t>附录：文章</a:t>
            </a:r>
            <a:r>
              <a:rPr lang="en-US" altLang="zh-CN">
                <a:ea typeface="微软雅黑" panose="020B0503020204020204" pitchFamily="34" charset="-122"/>
                <a:cs typeface="微软雅黑" panose="020B0503020204020204" pitchFamily="34" charset="-122"/>
              </a:rPr>
              <a:t>Single-pixel polarimetric imaging</a:t>
            </a:r>
            <a:r>
              <a:rPr lang="zh-CN" altLang="en-US"/>
              <a:t>编码与解码过程</a:t>
            </a:r>
            <a:endParaRPr lang="en-US" altLang="zh-CN" dirty="0"/>
          </a:p>
        </p:txBody>
      </p:sp>
    </p:spTree>
    <p:extLst>
      <p:ext uri="{BB962C8B-B14F-4D97-AF65-F5344CB8AC3E}">
        <p14:creationId xmlns:p14="http://schemas.microsoft.com/office/powerpoint/2010/main" val="24369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8A346-F8BA-CE57-D50D-F85DB904B3DB}"/>
            </a:ext>
          </a:extLst>
        </p:cNvPr>
        <p:cNvGrpSpPr/>
        <p:nvPr/>
      </p:nvGrpSpPr>
      <p:grpSpPr>
        <a:xfrm>
          <a:off x="0" y="0"/>
          <a:ext cx="0" cy="0"/>
          <a:chOff x="0" y="0"/>
          <a:chExt cx="0" cy="0"/>
        </a:xfrm>
      </p:grpSpPr>
      <p:pic>
        <p:nvPicPr>
          <p:cNvPr id="12" name="Picture 11" descr="Timeline&#10;&#10;Description automatically generated with medium confidence">
            <a:extLst>
              <a:ext uri="{FF2B5EF4-FFF2-40B4-BE49-F238E27FC236}">
                <a16:creationId xmlns:a16="http://schemas.microsoft.com/office/drawing/2014/main" id="{3FA48914-DBCD-456B-5267-5E4D49264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3589811" cy="964121"/>
          </a:xfrm>
          <a:prstGeom prst="rect">
            <a:avLst/>
          </a:prstGeom>
        </p:spPr>
      </p:pic>
      <p:cxnSp>
        <p:nvCxnSpPr>
          <p:cNvPr id="5" name="Straight Connector 4">
            <a:extLst>
              <a:ext uri="{FF2B5EF4-FFF2-40B4-BE49-F238E27FC236}">
                <a16:creationId xmlns:a16="http://schemas.microsoft.com/office/drawing/2014/main" id="{FD105E77-8425-5CE0-894E-D9596C4781AE}"/>
              </a:ext>
            </a:extLst>
          </p:cNvPr>
          <p:cNvCxnSpPr>
            <a:cxnSpLocks/>
          </p:cNvCxnSpPr>
          <p:nvPr/>
        </p:nvCxnSpPr>
        <p:spPr>
          <a:xfrm>
            <a:off x="0" y="964121"/>
            <a:ext cx="12192002" cy="0"/>
          </a:xfrm>
          <a:prstGeom prst="line">
            <a:avLst/>
          </a:prstGeom>
          <a:noFill/>
          <a:ln w="38100" cap="flat" cmpd="sng" algn="ctr">
            <a:solidFill>
              <a:srgbClr val="164C8C"/>
            </a:solidFill>
            <a:prstDash val="solid"/>
            <a:miter lim="800000"/>
          </a:ln>
          <a:effectLst/>
        </p:spPr>
      </p:cxnSp>
      <p:grpSp>
        <p:nvGrpSpPr>
          <p:cNvPr id="8" name="Group 7">
            <a:extLst>
              <a:ext uri="{FF2B5EF4-FFF2-40B4-BE49-F238E27FC236}">
                <a16:creationId xmlns:a16="http://schemas.microsoft.com/office/drawing/2014/main" id="{230FF3B2-15F5-1724-D04F-E3335C368B80}"/>
              </a:ext>
            </a:extLst>
          </p:cNvPr>
          <p:cNvGrpSpPr/>
          <p:nvPr/>
        </p:nvGrpSpPr>
        <p:grpSpPr>
          <a:xfrm>
            <a:off x="-1" y="6042322"/>
            <a:ext cx="12192002" cy="815678"/>
            <a:chOff x="-1" y="5114925"/>
            <a:chExt cx="12192002" cy="1743075"/>
          </a:xfrm>
        </p:grpSpPr>
        <p:sp>
          <p:nvSpPr>
            <p:cNvPr id="9" name="íṥ1íde">
              <a:extLst>
                <a:ext uri="{FF2B5EF4-FFF2-40B4-BE49-F238E27FC236}">
                  <a16:creationId xmlns:a16="http://schemas.microsoft.com/office/drawing/2014/main" id="{E2589F19-FA00-1638-730B-94A0C9FEB5A9}"/>
                </a:ext>
              </a:extLst>
            </p:cNvPr>
            <p:cNvSpPr/>
            <p:nvPr/>
          </p:nvSpPr>
          <p:spPr>
            <a:xfrm>
              <a:off x="-1" y="5114925"/>
              <a:ext cx="12192001" cy="1743075"/>
            </a:xfrm>
            <a:custGeom>
              <a:avLst/>
              <a:gdLst/>
              <a:ahLst/>
              <a:cxnLst/>
              <a:rect l="0" t="0" r="0" b="0"/>
              <a:pathLst>
                <a:path w="12192001" h="3741094" extrusionOk="0">
                  <a:moveTo>
                    <a:pt x="0" y="51100"/>
                  </a:moveTo>
                  <a:cubicBezTo>
                    <a:pt x="1197428" y="-363602"/>
                    <a:pt x="4795521" y="1882077"/>
                    <a:pt x="6831875" y="1879900"/>
                  </a:cubicBezTo>
                  <a:cubicBezTo>
                    <a:pt x="8868229" y="1877723"/>
                    <a:pt x="11357429" y="825119"/>
                    <a:pt x="12192000" y="1239821"/>
                  </a:cubicBezTo>
                  <a:cubicBezTo>
                    <a:pt x="12192000" y="2073579"/>
                    <a:pt x="12192001" y="2907336"/>
                    <a:pt x="12192001" y="3741094"/>
                  </a:cubicBezTo>
                  <a:lnTo>
                    <a:pt x="1" y="3741094"/>
                  </a:lnTo>
                  <a:cubicBezTo>
                    <a:pt x="1" y="2511096"/>
                    <a:pt x="0" y="1281098"/>
                    <a:pt x="0" y="51100"/>
                  </a:cubicBezTo>
                  <a:close/>
                </a:path>
              </a:pathLst>
            </a:custGeom>
            <a:solidFill>
              <a:srgbClr val="FFFFFF">
                <a:lumMod val="85000"/>
              </a:srgbClr>
            </a:solidFill>
            <a:ln>
              <a:noFill/>
            </a:ln>
            <a:effectLst/>
          </p:spPr>
          <p:txBody>
            <a:bodyPr spcFirstLastPara="1" wrap="square" lIns="91440" tIns="45720" rIns="91440" bIns="45720"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9pPr>
            </a:lstStyle>
            <a:p>
              <a:pPr marL="0" marR="0" lvl="0" indent="0" algn="ctr" defTabSz="457200" rtl="0" eaLnBrk="1" fontAlgn="auto" latinLnBrk="0" hangingPunct="1">
                <a:lnSpc>
                  <a:spcPct val="100000"/>
                </a:lnSpc>
                <a:spcBef>
                  <a:spcPts val="0"/>
                </a:spcBef>
                <a:spcAft>
                  <a:spcPts val="0"/>
                </a:spcAft>
                <a:buClr>
                  <a:srgbClr val="000000"/>
                </a:buClr>
                <a:buSzTx/>
                <a:buFont typeface="Arial" panose="020B0604020202090204"/>
                <a:buNone/>
                <a:tabLst/>
                <a:defRPr/>
              </a:pPr>
              <a:endParaRPr kumimoji="0" sz="1400" b="0" i="0" u="none" strike="noStrike" kern="0" cap="none" spc="0" normalizeH="0" baseline="0" noProof="0">
                <a:ln>
                  <a:noFill/>
                </a:ln>
                <a:solidFill>
                  <a:srgbClr val="000000"/>
                </a:solidFill>
                <a:effectLst/>
                <a:uLnTx/>
                <a:uFillTx/>
                <a:latin typeface="Arial"/>
                <a:ea typeface="Microsoft YaHei"/>
              </a:endParaRPr>
            </a:p>
          </p:txBody>
        </p:sp>
        <p:sp>
          <p:nvSpPr>
            <p:cNvPr id="10" name="ïsļidê">
              <a:extLst>
                <a:ext uri="{FF2B5EF4-FFF2-40B4-BE49-F238E27FC236}">
                  <a16:creationId xmlns:a16="http://schemas.microsoft.com/office/drawing/2014/main" id="{036F03AC-A815-F771-4D5C-1EB2DA7C7F55}"/>
                </a:ext>
              </a:extLst>
            </p:cNvPr>
            <p:cNvSpPr/>
            <p:nvPr/>
          </p:nvSpPr>
          <p:spPr>
            <a:xfrm>
              <a:off x="0" y="5729076"/>
              <a:ext cx="12192001" cy="1128921"/>
            </a:xfrm>
            <a:custGeom>
              <a:avLst/>
              <a:gdLst/>
              <a:ahLst/>
              <a:cxnLst/>
              <a:rect l="0" t="0" r="0" b="0"/>
              <a:pathLst>
                <a:path w="12192001" h="3741094" extrusionOk="0">
                  <a:moveTo>
                    <a:pt x="0" y="51100"/>
                  </a:moveTo>
                  <a:cubicBezTo>
                    <a:pt x="1197428" y="-363602"/>
                    <a:pt x="4795521" y="1882077"/>
                    <a:pt x="6831875" y="1879900"/>
                  </a:cubicBezTo>
                  <a:cubicBezTo>
                    <a:pt x="8868229" y="1877723"/>
                    <a:pt x="11357429" y="825119"/>
                    <a:pt x="12192000" y="1239821"/>
                  </a:cubicBezTo>
                  <a:cubicBezTo>
                    <a:pt x="12192000" y="2073579"/>
                    <a:pt x="12192001" y="2907336"/>
                    <a:pt x="12192001" y="3741094"/>
                  </a:cubicBezTo>
                  <a:lnTo>
                    <a:pt x="1" y="3741094"/>
                  </a:lnTo>
                  <a:cubicBezTo>
                    <a:pt x="1" y="2511096"/>
                    <a:pt x="0" y="1281098"/>
                    <a:pt x="0" y="51100"/>
                  </a:cubicBezTo>
                  <a:close/>
                </a:path>
              </a:pathLst>
            </a:custGeom>
            <a:solidFill>
              <a:srgbClr val="083F7F"/>
            </a:solidFill>
            <a:ln>
              <a:noFill/>
            </a:ln>
            <a:effectLst/>
          </p:spPr>
          <p:txBody>
            <a:bodyPr spcFirstLastPara="1" wrap="square" lIns="91440" tIns="45720" rIns="91440" bIns="45720" anchor="ctr"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defRPr>
              </a:lvl9pPr>
            </a:lstStyle>
            <a:p>
              <a:pPr marL="0" marR="0" lvl="0" indent="0" algn="ctr" defTabSz="457200" rtl="0" eaLnBrk="1" fontAlgn="auto" latinLnBrk="0" hangingPunct="1">
                <a:lnSpc>
                  <a:spcPct val="100000"/>
                </a:lnSpc>
                <a:spcBef>
                  <a:spcPts val="0"/>
                </a:spcBef>
                <a:spcAft>
                  <a:spcPts val="0"/>
                </a:spcAft>
                <a:buClr>
                  <a:srgbClr val="000000"/>
                </a:buClr>
                <a:buSzTx/>
                <a:buFont typeface="Arial" panose="020B0604020202090204"/>
                <a:buNone/>
                <a:tabLst/>
                <a:defRPr/>
              </a:pPr>
              <a:endParaRPr kumimoji="0" sz="1400" b="0" i="0" u="none" strike="noStrike" kern="0" cap="none" spc="0" normalizeH="0" baseline="0" noProof="0">
                <a:ln>
                  <a:noFill/>
                </a:ln>
                <a:solidFill>
                  <a:srgbClr val="000000"/>
                </a:solidFill>
                <a:effectLst/>
                <a:uLnTx/>
                <a:uFillTx/>
                <a:latin typeface="Arial"/>
                <a:ea typeface="Microsoft YaHei"/>
              </a:endParaRPr>
            </a:p>
          </p:txBody>
        </p:sp>
      </p:grpSp>
      <p:sp>
        <p:nvSpPr>
          <p:cNvPr id="11" name="Slide Number Placeholder 2">
            <a:extLst>
              <a:ext uri="{FF2B5EF4-FFF2-40B4-BE49-F238E27FC236}">
                <a16:creationId xmlns:a16="http://schemas.microsoft.com/office/drawing/2014/main" id="{1A3C6446-2089-7965-754A-5C3CFD2E450D}"/>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solidFill>
                  <a:schemeClr val="bg1"/>
                </a:solidFill>
                <a:latin typeface="Arial"/>
                <a:ea typeface="Microsoft YaHei"/>
              </a:rPr>
              <a:pPr/>
              <a:t>19</a:t>
            </a:fld>
            <a:endParaRPr lang="zh-CN" altLang="en-US" sz="2000" dirty="0">
              <a:solidFill>
                <a:schemeClr val="bg1"/>
              </a:solidFill>
              <a:latin typeface="Arial"/>
              <a:ea typeface="Microsoft YaHei"/>
            </a:endParaRPr>
          </a:p>
        </p:txBody>
      </p:sp>
      <p:pic>
        <p:nvPicPr>
          <p:cNvPr id="13" name="图片 1">
            <a:extLst>
              <a:ext uri="{FF2B5EF4-FFF2-40B4-BE49-F238E27FC236}">
                <a16:creationId xmlns:a16="http://schemas.microsoft.com/office/drawing/2014/main" id="{FC71BFE0-49E7-5E8D-B4D2-D26A0C6F8C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 y="0"/>
            <a:ext cx="990599" cy="985742"/>
          </a:xfrm>
          <a:prstGeom prst="rect">
            <a:avLst/>
          </a:prstGeom>
        </p:spPr>
      </p:pic>
      <p:sp>
        <p:nvSpPr>
          <p:cNvPr id="2" name="TextBox 1">
            <a:extLst>
              <a:ext uri="{FF2B5EF4-FFF2-40B4-BE49-F238E27FC236}">
                <a16:creationId xmlns:a16="http://schemas.microsoft.com/office/drawing/2014/main" id="{4D94E4A6-6765-1E72-4447-76FB0B28B79C}"/>
              </a:ext>
            </a:extLst>
          </p:cNvPr>
          <p:cNvSpPr txBox="1"/>
          <p:nvPr/>
        </p:nvSpPr>
        <p:spPr>
          <a:xfrm>
            <a:off x="2555630" y="2708920"/>
            <a:ext cx="7080740" cy="1053173"/>
          </a:xfrm>
          <a:prstGeom prst="rect">
            <a:avLst/>
          </a:prstGeom>
          <a:noFill/>
        </p:spPr>
        <p:txBody>
          <a:bodyPr wrap="square" rtlCol="0">
            <a:spAutoFit/>
          </a:bodyPr>
          <a:lstStyle/>
          <a:p>
            <a:pPr algn="ctr" defTabSz="685800">
              <a:lnSpc>
                <a:spcPct val="120000"/>
              </a:lnSpc>
              <a:spcBef>
                <a:spcPts val="600"/>
              </a:spcBef>
              <a:spcAft>
                <a:spcPts val="600"/>
              </a:spcAft>
            </a:pPr>
            <a:r>
              <a:rPr lang="zh-CN" altLang="en-US" sz="6000" b="1">
                <a:solidFill>
                  <a:srgbClr val="800000"/>
                </a:solidFill>
                <a:latin typeface="黑体" panose="02010609060101010101" pitchFamily="49" charset="-122"/>
                <a:ea typeface="黑体" panose="02010609060101010101" pitchFamily="49" charset="-122"/>
                <a:cs typeface="+mn-ea"/>
                <a:sym typeface="+mn-lt"/>
              </a:rPr>
              <a:t>文献阅读</a:t>
            </a:r>
            <a:endParaRPr lang="zh-CN" altLang="en-US" sz="6000" b="1" dirty="0">
              <a:solidFill>
                <a:srgbClr val="800000"/>
              </a:solidFill>
              <a:latin typeface="黑体" panose="02010609060101010101" pitchFamily="49" charset="-122"/>
              <a:ea typeface="黑体" panose="02010609060101010101" pitchFamily="49" charset="-122"/>
              <a:cs typeface="+mn-ea"/>
              <a:sym typeface="+mn-lt"/>
            </a:endParaRPr>
          </a:p>
        </p:txBody>
      </p:sp>
    </p:spTree>
    <p:extLst>
      <p:ext uri="{BB962C8B-B14F-4D97-AF65-F5344CB8AC3E}">
        <p14:creationId xmlns:p14="http://schemas.microsoft.com/office/powerpoint/2010/main" val="33634502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20E2-BF5F-435B-D9F7-287DB3350C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4F4167-95B4-A4C3-885E-4B1EC98E1FCA}"/>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EC4BC803-BB20-40CB-2A27-0E9D62D02E23}"/>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20</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2BECE3D2-4B05-5896-19CF-95D8E53223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7" name="文本框 6">
            <a:extLst>
              <a:ext uri="{FF2B5EF4-FFF2-40B4-BE49-F238E27FC236}">
                <a16:creationId xmlns:a16="http://schemas.microsoft.com/office/drawing/2014/main" id="{FF24075E-0AE7-42AE-77C7-73F01B309A1D}"/>
              </a:ext>
            </a:extLst>
          </p:cNvPr>
          <p:cNvSpPr txBox="1"/>
          <p:nvPr/>
        </p:nvSpPr>
        <p:spPr>
          <a:xfrm>
            <a:off x="695400" y="74259"/>
            <a:ext cx="11496600" cy="369332"/>
          </a:xfrm>
          <a:prstGeom prst="rect">
            <a:avLst/>
          </a:prstGeom>
          <a:noFill/>
        </p:spPr>
        <p:txBody>
          <a:bodyPr wrap="square" rtlCol="0">
            <a:spAutoFit/>
          </a:bodyPr>
          <a:lstStyle/>
          <a:p>
            <a:r>
              <a:rPr lang="zh-CN" altLang="en-US" dirty="0"/>
              <a:t>文献阅读</a:t>
            </a:r>
            <a:endParaRPr lang="zh-CN" altLang="zh-CN" dirty="0"/>
          </a:p>
        </p:txBody>
      </p:sp>
      <p:sp>
        <p:nvSpPr>
          <p:cNvPr id="8" name="文本框 7">
            <a:extLst>
              <a:ext uri="{FF2B5EF4-FFF2-40B4-BE49-F238E27FC236}">
                <a16:creationId xmlns:a16="http://schemas.microsoft.com/office/drawing/2014/main" id="{7E289225-1E8B-BC97-95F1-739E1D794D3D}"/>
              </a:ext>
            </a:extLst>
          </p:cNvPr>
          <p:cNvSpPr txBox="1"/>
          <p:nvPr/>
        </p:nvSpPr>
        <p:spPr>
          <a:xfrm>
            <a:off x="479376" y="836712"/>
            <a:ext cx="11521280" cy="461665"/>
          </a:xfrm>
          <a:prstGeom prst="rect">
            <a:avLst/>
          </a:prstGeom>
          <a:noFill/>
        </p:spPr>
        <p:txBody>
          <a:bodyPr wrap="square" rtlCol="0">
            <a:spAutoFit/>
          </a:bodyPr>
          <a:lstStyle/>
          <a:p>
            <a:r>
              <a:rPr lang="zh-CN" altLang="zh-CN" sz="2400" b="1" dirty="0"/>
              <a:t>2026_Degree-of-polarization modulation for high-dimensional optical computing</a:t>
            </a:r>
            <a:endParaRPr lang="zh-CN" altLang="en-US" sz="2400" dirty="0"/>
          </a:p>
        </p:txBody>
      </p:sp>
      <p:sp>
        <p:nvSpPr>
          <p:cNvPr id="9" name="文本框 8">
            <a:extLst>
              <a:ext uri="{FF2B5EF4-FFF2-40B4-BE49-F238E27FC236}">
                <a16:creationId xmlns:a16="http://schemas.microsoft.com/office/drawing/2014/main" id="{89AA038C-9CEA-F595-AD25-DD9AB88374DC}"/>
              </a:ext>
            </a:extLst>
          </p:cNvPr>
          <p:cNvSpPr txBox="1"/>
          <p:nvPr/>
        </p:nvSpPr>
        <p:spPr>
          <a:xfrm>
            <a:off x="284790" y="1412776"/>
            <a:ext cx="11449272" cy="369332"/>
          </a:xfrm>
          <a:prstGeom prst="rect">
            <a:avLst/>
          </a:prstGeom>
          <a:noFill/>
        </p:spPr>
        <p:txBody>
          <a:bodyPr wrap="square" rtlCol="0">
            <a:spAutoFit/>
          </a:bodyPr>
          <a:lstStyle/>
          <a:p>
            <a:r>
              <a:rPr lang="zh-CN" altLang="en-US" dirty="0"/>
              <a:t>期刊：</a:t>
            </a:r>
            <a:r>
              <a:rPr lang="zh-CN" altLang="zh-CN" dirty="0"/>
              <a:t>Natur</a:t>
            </a:r>
            <a:r>
              <a:rPr lang="zh-CN" altLang="zh-CN"/>
              <a:t>e</a:t>
            </a:r>
            <a:r>
              <a:rPr lang="en-US" altLang="zh-CN"/>
              <a:t>   </a:t>
            </a:r>
            <a:r>
              <a:rPr lang="zh-CN" altLang="en-US"/>
              <a:t>作</a:t>
            </a:r>
            <a:r>
              <a:rPr lang="zh-CN" altLang="en-US" dirty="0"/>
              <a:t>者：</a:t>
            </a:r>
            <a:r>
              <a:rPr lang="zh-CN" altLang="zh-CN" dirty="0"/>
              <a:t>Alessandro Petrin</a:t>
            </a:r>
            <a:r>
              <a:rPr lang="zh-CN" altLang="zh-CN"/>
              <a:t>i</a:t>
            </a:r>
            <a:r>
              <a:rPr lang="en-US" altLang="zh-CN"/>
              <a:t>  </a:t>
            </a:r>
            <a:r>
              <a:rPr lang="zh-CN" altLang="en-US"/>
              <a:t>单位：</a:t>
            </a:r>
            <a:r>
              <a:rPr lang="zh-CN" altLang="zh-CN"/>
              <a:t>S</a:t>
            </a:r>
            <a:r>
              <a:rPr lang="zh-CN" altLang="zh-CN" dirty="0"/>
              <a:t>apienza University of Rome    Prof. Davide Pierangeli课题组</a:t>
            </a:r>
          </a:p>
        </p:txBody>
      </p:sp>
      <p:pic>
        <p:nvPicPr>
          <p:cNvPr id="14" name="图片 13">
            <a:extLst>
              <a:ext uri="{FF2B5EF4-FFF2-40B4-BE49-F238E27FC236}">
                <a16:creationId xmlns:a16="http://schemas.microsoft.com/office/drawing/2014/main" id="{4C4C8BA5-D4DA-3530-227C-0D40A2237CE8}"/>
              </a:ext>
            </a:extLst>
          </p:cNvPr>
          <p:cNvPicPr>
            <a:picLocks noChangeAspect="1"/>
          </p:cNvPicPr>
          <p:nvPr/>
        </p:nvPicPr>
        <p:blipFill>
          <a:blip r:embed="rId3"/>
          <a:stretch>
            <a:fillRect/>
          </a:stretch>
        </p:blipFill>
        <p:spPr>
          <a:xfrm>
            <a:off x="263352" y="2852936"/>
            <a:ext cx="1710049" cy="1963824"/>
          </a:xfrm>
          <a:prstGeom prst="rect">
            <a:avLst/>
          </a:prstGeom>
        </p:spPr>
      </p:pic>
      <p:sp>
        <p:nvSpPr>
          <p:cNvPr id="16" name="文本框 15">
            <a:extLst>
              <a:ext uri="{FF2B5EF4-FFF2-40B4-BE49-F238E27FC236}">
                <a16:creationId xmlns:a16="http://schemas.microsoft.com/office/drawing/2014/main" id="{AB0B3681-A8E6-FCB0-B706-FC0C13D03C61}"/>
              </a:ext>
            </a:extLst>
          </p:cNvPr>
          <p:cNvSpPr txBox="1"/>
          <p:nvPr/>
        </p:nvSpPr>
        <p:spPr>
          <a:xfrm>
            <a:off x="119337" y="4859224"/>
            <a:ext cx="1944216" cy="369332"/>
          </a:xfrm>
          <a:prstGeom prst="rect">
            <a:avLst/>
          </a:prstGeom>
          <a:noFill/>
        </p:spPr>
        <p:txBody>
          <a:bodyPr wrap="square">
            <a:spAutoFit/>
          </a:bodyPr>
          <a:lstStyle/>
          <a:p>
            <a:r>
              <a:rPr lang="zh-CN" altLang="zh-CN" sz="1800" dirty="0"/>
              <a:t>Alessandro Petrini</a:t>
            </a:r>
            <a:endParaRPr lang="zh-CN" altLang="en-US" dirty="0"/>
          </a:p>
        </p:txBody>
      </p:sp>
      <p:pic>
        <p:nvPicPr>
          <p:cNvPr id="3" name="图片 2">
            <a:extLst>
              <a:ext uri="{FF2B5EF4-FFF2-40B4-BE49-F238E27FC236}">
                <a16:creationId xmlns:a16="http://schemas.microsoft.com/office/drawing/2014/main" id="{EC646E8B-703E-B2E7-5C35-91BA84853D8C}"/>
              </a:ext>
            </a:extLst>
          </p:cNvPr>
          <p:cNvPicPr>
            <a:picLocks noChangeAspect="1"/>
          </p:cNvPicPr>
          <p:nvPr/>
        </p:nvPicPr>
        <p:blipFill>
          <a:blip r:embed="rId4"/>
          <a:stretch>
            <a:fillRect/>
          </a:stretch>
        </p:blipFill>
        <p:spPr>
          <a:xfrm>
            <a:off x="3071664" y="1865615"/>
            <a:ext cx="6849324" cy="4651566"/>
          </a:xfrm>
          <a:prstGeom prst="rect">
            <a:avLst/>
          </a:prstGeom>
        </p:spPr>
      </p:pic>
    </p:spTree>
    <p:extLst>
      <p:ext uri="{BB962C8B-B14F-4D97-AF65-F5344CB8AC3E}">
        <p14:creationId xmlns:p14="http://schemas.microsoft.com/office/powerpoint/2010/main" val="1945925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AD806-DF31-2E6E-AE66-F8EDA0E52F9A}"/>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8C950B0-2907-2A3B-5E97-09EB1B3B036C}"/>
              </a:ext>
            </a:extLst>
          </p:cNvPr>
          <p:cNvCxnSpPr>
            <a:cxnSpLocks/>
          </p:cNvCxnSpPr>
          <p:nvPr/>
        </p:nvCxnSpPr>
        <p:spPr>
          <a:xfrm>
            <a:off x="0" y="476672"/>
            <a:ext cx="206355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AB93C8CB-745A-AF90-10BB-4C4523CDBBB2}"/>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21</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A53D5F5E-1BB9-70FA-85D2-233B31DA05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14" name="矩形 13">
            <a:extLst>
              <a:ext uri="{FF2B5EF4-FFF2-40B4-BE49-F238E27FC236}">
                <a16:creationId xmlns:a16="http://schemas.microsoft.com/office/drawing/2014/main" id="{F7CD69BA-DDC3-2861-A96E-C93A46BFF4E9}"/>
              </a:ext>
            </a:extLst>
          </p:cNvPr>
          <p:cNvSpPr/>
          <p:nvPr/>
        </p:nvSpPr>
        <p:spPr>
          <a:xfrm>
            <a:off x="61237" y="626436"/>
            <a:ext cx="6264696" cy="680600"/>
          </a:xfrm>
          <a:prstGeom prst="rect">
            <a:avLst/>
          </a:prstGeom>
          <a:solidFill>
            <a:schemeClr val="tx1">
              <a:lumMod val="10000"/>
              <a:lumOff val="90000"/>
            </a:scheme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608A3BCA-C63D-431A-F736-3A58ECAB730C}"/>
              </a:ext>
            </a:extLst>
          </p:cNvPr>
          <p:cNvSpPr txBox="1"/>
          <p:nvPr/>
        </p:nvSpPr>
        <p:spPr>
          <a:xfrm>
            <a:off x="61237" y="629928"/>
            <a:ext cx="1080120" cy="338554"/>
          </a:xfrm>
          <a:prstGeom prst="rect">
            <a:avLst/>
          </a:prstGeom>
          <a:noFill/>
        </p:spPr>
        <p:txBody>
          <a:bodyPr wrap="square" rtlCol="0">
            <a:spAutoFit/>
          </a:bodyPr>
          <a:lstStyle/>
          <a:p>
            <a:r>
              <a:rPr lang="zh-CN" altLang="en-US" sz="1600" dirty="0"/>
              <a:t>背景介绍：</a:t>
            </a:r>
          </a:p>
        </p:txBody>
      </p:sp>
      <p:sp>
        <p:nvSpPr>
          <p:cNvPr id="16" name="文本框 15">
            <a:extLst>
              <a:ext uri="{FF2B5EF4-FFF2-40B4-BE49-F238E27FC236}">
                <a16:creationId xmlns:a16="http://schemas.microsoft.com/office/drawing/2014/main" id="{BC8F2608-79F0-9CFE-1B25-76A9EB750689}"/>
              </a:ext>
            </a:extLst>
          </p:cNvPr>
          <p:cNvSpPr txBox="1"/>
          <p:nvPr/>
        </p:nvSpPr>
        <p:spPr>
          <a:xfrm>
            <a:off x="76431" y="953345"/>
            <a:ext cx="6177494" cy="338554"/>
          </a:xfrm>
          <a:prstGeom prst="rect">
            <a:avLst/>
          </a:prstGeom>
          <a:noFill/>
        </p:spPr>
        <p:txBody>
          <a:bodyPr wrap="square" rtlCol="0">
            <a:spAutoFit/>
          </a:bodyPr>
          <a:lstStyle/>
          <a:p>
            <a:pPr indent="457200"/>
            <a:r>
              <a:rPr lang="zh-CN" altLang="zh-CN" sz="1600" dirty="0"/>
              <a:t>目前还没有一种技术能够以可编程的方式对</a:t>
            </a:r>
            <a:r>
              <a:rPr lang="zh-CN" altLang="zh-CN" sz="1600" dirty="0">
                <a:solidFill>
                  <a:srgbClr val="FF0000"/>
                </a:solidFill>
              </a:rPr>
              <a:t>DOP</a:t>
            </a:r>
            <a:r>
              <a:rPr lang="zh-CN" altLang="zh-CN" sz="1600" dirty="0"/>
              <a:t>进行空间调制</a:t>
            </a:r>
            <a:endParaRPr lang="zh-CN" altLang="en-US" sz="1600" dirty="0"/>
          </a:p>
        </p:txBody>
      </p:sp>
      <p:sp>
        <p:nvSpPr>
          <p:cNvPr id="18" name="文本框 17">
            <a:extLst>
              <a:ext uri="{FF2B5EF4-FFF2-40B4-BE49-F238E27FC236}">
                <a16:creationId xmlns:a16="http://schemas.microsoft.com/office/drawing/2014/main" id="{1E311B4E-0924-4701-189E-BC1A9E10F11F}"/>
              </a:ext>
            </a:extLst>
          </p:cNvPr>
          <p:cNvSpPr txBox="1"/>
          <p:nvPr/>
        </p:nvSpPr>
        <p:spPr>
          <a:xfrm>
            <a:off x="695400" y="74259"/>
            <a:ext cx="11496600" cy="369332"/>
          </a:xfrm>
          <a:prstGeom prst="rect">
            <a:avLst/>
          </a:prstGeom>
          <a:noFill/>
        </p:spPr>
        <p:txBody>
          <a:bodyPr wrap="square" rtlCol="0">
            <a:spAutoFit/>
          </a:bodyPr>
          <a:lstStyle/>
          <a:p>
            <a:r>
              <a:rPr lang="zh-CN" altLang="en-US" dirty="0"/>
              <a:t>文献阅读</a:t>
            </a:r>
            <a:endParaRPr lang="zh-CN" altLang="zh-CN" dirty="0"/>
          </a:p>
        </p:txBody>
      </p:sp>
      <p:pic>
        <p:nvPicPr>
          <p:cNvPr id="21" name="图片 20">
            <a:extLst>
              <a:ext uri="{FF2B5EF4-FFF2-40B4-BE49-F238E27FC236}">
                <a16:creationId xmlns:a16="http://schemas.microsoft.com/office/drawing/2014/main" id="{596E3903-95B1-86EE-9B5E-E79D7E7440CD}"/>
              </a:ext>
            </a:extLst>
          </p:cNvPr>
          <p:cNvPicPr>
            <a:picLocks noChangeAspect="1"/>
          </p:cNvPicPr>
          <p:nvPr/>
        </p:nvPicPr>
        <p:blipFill>
          <a:blip r:embed="rId3"/>
          <a:stretch>
            <a:fillRect/>
          </a:stretch>
        </p:blipFill>
        <p:spPr>
          <a:xfrm>
            <a:off x="7060556" y="408055"/>
            <a:ext cx="4305846" cy="2050403"/>
          </a:xfrm>
          <a:prstGeom prst="rect">
            <a:avLst/>
          </a:prstGeom>
        </p:spPr>
      </p:pic>
      <p:sp>
        <p:nvSpPr>
          <p:cNvPr id="22" name="矩形 21">
            <a:extLst>
              <a:ext uri="{FF2B5EF4-FFF2-40B4-BE49-F238E27FC236}">
                <a16:creationId xmlns:a16="http://schemas.microsoft.com/office/drawing/2014/main" id="{7A159521-0415-67A7-06F0-07BA5B8CC123}"/>
              </a:ext>
            </a:extLst>
          </p:cNvPr>
          <p:cNvSpPr/>
          <p:nvPr/>
        </p:nvSpPr>
        <p:spPr>
          <a:xfrm>
            <a:off x="93932" y="1842923"/>
            <a:ext cx="6264696" cy="3785653"/>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73D4D1F7-AA76-E7D0-FBB4-DA0618349544}"/>
              </a:ext>
            </a:extLst>
          </p:cNvPr>
          <p:cNvSpPr txBox="1"/>
          <p:nvPr/>
        </p:nvSpPr>
        <p:spPr>
          <a:xfrm>
            <a:off x="80023" y="1842924"/>
            <a:ext cx="6278605" cy="3785652"/>
          </a:xfrm>
          <a:prstGeom prst="rect">
            <a:avLst/>
          </a:prstGeom>
          <a:noFill/>
        </p:spPr>
        <p:txBody>
          <a:bodyPr wrap="square" rtlCol="0">
            <a:spAutoFit/>
          </a:bodyPr>
          <a:lstStyle/>
          <a:p>
            <a:pPr marL="342900" indent="-342900">
              <a:buFont typeface="+mj-lt"/>
              <a:buAutoNum type="arabicPeriod"/>
            </a:pPr>
            <a:r>
              <a:rPr lang="zh-CN" altLang="en-US" sz="1600" b="1" dirty="0"/>
              <a:t>问题提出：</a:t>
            </a:r>
            <a:r>
              <a:rPr lang="zh-CN" altLang="zh-CN" sz="1600" dirty="0"/>
              <a:t>能否利用普通的相位型 SLM，通过设计每个宏像素内部光场的统计分布，在二维波前上逐点、可编程且相对独立地控制光的偏振度 DOP 和偏振态 SOP？</a:t>
            </a:r>
            <a:endParaRPr lang="en-US" altLang="zh-CN" sz="1600" dirty="0"/>
          </a:p>
          <a:p>
            <a:pPr marL="342900" indent="-342900">
              <a:buFont typeface="+mj-lt"/>
              <a:buAutoNum type="arabicPeriod"/>
            </a:pPr>
            <a:r>
              <a:rPr lang="zh-CN" altLang="en-US" sz="1600" b="1" dirty="0"/>
              <a:t>解决思路：</a:t>
            </a:r>
            <a:endParaRPr lang="en-US" altLang="zh-CN" sz="1600" b="1" dirty="0"/>
          </a:p>
          <a:p>
            <a:pPr marL="285750" indent="-285750">
              <a:buFont typeface="Arial" panose="020B0604020202020204" pitchFamily="34" charset="0"/>
              <a:buChar char="•"/>
            </a:pPr>
            <a:r>
              <a:rPr lang="zh-CN" altLang="en-US" sz="1600" dirty="0"/>
              <a:t>基于对</a:t>
            </a:r>
            <a:r>
              <a:rPr lang="en-US" altLang="zh-CN" sz="1600" dirty="0"/>
              <a:t>SLM</a:t>
            </a:r>
            <a:r>
              <a:rPr lang="zh-CN" altLang="en-US" sz="1600" dirty="0"/>
              <a:t>进行分区微观调控，分为宏模和微模（如右图），宏观统计上可以实现偏振态的和偏振度的变化。对于第</a:t>
            </a:r>
            <a:r>
              <a:rPr lang="en-US" altLang="zh-CN" sz="1600" dirty="0" err="1"/>
              <a:t>i</a:t>
            </a:r>
            <a:r>
              <a:rPr lang="zh-CN" altLang="en-US" sz="1600" dirty="0"/>
              <a:t>个宏模中的内部微模：</a:t>
            </a:r>
            <a:endParaRPr lang="en-US" altLang="zh-CN" sz="1600" dirty="0"/>
          </a:p>
          <a:p>
            <a:pPr marL="342900" indent="-342900">
              <a:buFont typeface="+mj-lt"/>
              <a:buAutoNum type="alphaLcParenR"/>
            </a:pPr>
            <a:endParaRPr lang="en-US" altLang="zh-CN" sz="1600" dirty="0"/>
          </a:p>
          <a:p>
            <a:pPr marL="457200"/>
            <a:endParaRPr lang="en-US" altLang="zh-CN" sz="1600" dirty="0"/>
          </a:p>
          <a:p>
            <a:pPr marL="457200"/>
            <a:r>
              <a:rPr lang="zh-CN" altLang="en-US" sz="1600" dirty="0"/>
              <a:t>这些微模的</a:t>
            </a:r>
            <a:r>
              <a:rPr lang="zh-CN" altLang="zh-CN" sz="1600" dirty="0"/>
              <a:t>偏振不是分别测量，而是经过传播和探测平均后形成一个宏观偏振态</a:t>
            </a:r>
            <a:r>
              <a:rPr lang="zh-CN" altLang="en-US" sz="1600" dirty="0"/>
              <a:t>，宏观偏振塔斯包含幅度和相位两个信息：</a:t>
            </a:r>
            <a:endParaRPr lang="en-US" altLang="zh-CN" sz="1600" dirty="0"/>
          </a:p>
          <a:p>
            <a:pPr marL="457200"/>
            <a:endParaRPr lang="en-US" altLang="zh-CN" sz="1600" dirty="0"/>
          </a:p>
          <a:p>
            <a:pPr marL="457200"/>
            <a:endParaRPr lang="en-US" altLang="zh-CN" sz="1600" dirty="0"/>
          </a:p>
          <a:p>
            <a:pPr marL="457200"/>
            <a:r>
              <a:rPr lang="zh-CN" altLang="en-US" sz="1600" dirty="0"/>
              <a:t>其</a:t>
            </a:r>
            <a:r>
              <a:rPr lang="zh-CN" altLang="en-US" sz="1600"/>
              <a:t>中，</a:t>
            </a:r>
            <a:r>
              <a:rPr lang="en-US" altLang="zh-CN" sz="1600"/>
              <a:t>SLM</a:t>
            </a:r>
            <a:r>
              <a:rPr lang="zh-CN" altLang="en-US" sz="1600"/>
              <a:t>引入相位差的标准差可</a:t>
            </a:r>
            <a:r>
              <a:rPr lang="zh-CN" altLang="en-US" sz="1600" dirty="0"/>
              <a:t>以控制</a:t>
            </a:r>
            <a:r>
              <a:rPr lang="en-US" altLang="zh-CN" sz="1600"/>
              <a:t>DOP</a:t>
            </a:r>
            <a:r>
              <a:rPr lang="zh-CN" altLang="en-US" sz="1600"/>
              <a:t>，均值可</a:t>
            </a:r>
            <a:r>
              <a:rPr lang="zh-CN" altLang="en-US" sz="1600" dirty="0"/>
              <a:t>以控制</a:t>
            </a:r>
            <a:r>
              <a:rPr lang="en-US" altLang="zh-CN" sz="1600" dirty="0"/>
              <a:t>SOP</a:t>
            </a:r>
            <a:r>
              <a:rPr lang="zh-CN" altLang="en-US" sz="1600" dirty="0"/>
              <a:t>，结合旋转偏振片，就可以得到所有斯托克斯参量</a:t>
            </a:r>
            <a:endParaRPr lang="en-US" altLang="zh-CN" sz="1600" dirty="0"/>
          </a:p>
        </p:txBody>
      </p:sp>
      <p:sp>
        <p:nvSpPr>
          <p:cNvPr id="26" name="Arrow: Down 11">
            <a:extLst>
              <a:ext uri="{FF2B5EF4-FFF2-40B4-BE49-F238E27FC236}">
                <a16:creationId xmlns:a16="http://schemas.microsoft.com/office/drawing/2014/main" id="{0D9D805B-1BC8-FE42-C264-8EC3653E6B18}"/>
              </a:ext>
            </a:extLst>
          </p:cNvPr>
          <p:cNvSpPr/>
          <p:nvPr/>
        </p:nvSpPr>
        <p:spPr>
          <a:xfrm>
            <a:off x="5015880" y="1458772"/>
            <a:ext cx="768350" cy="361313"/>
          </a:xfrm>
          <a:prstGeom prst="downArrow">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图片 27">
            <a:extLst>
              <a:ext uri="{FF2B5EF4-FFF2-40B4-BE49-F238E27FC236}">
                <a16:creationId xmlns:a16="http://schemas.microsoft.com/office/drawing/2014/main" id="{A4471A25-C75D-454F-D98A-1D028DEC6B91}"/>
              </a:ext>
            </a:extLst>
          </p:cNvPr>
          <p:cNvPicPr>
            <a:picLocks noChangeAspect="1"/>
          </p:cNvPicPr>
          <p:nvPr/>
        </p:nvPicPr>
        <p:blipFill>
          <a:blip r:embed="rId4"/>
          <a:stretch>
            <a:fillRect/>
          </a:stretch>
        </p:blipFill>
        <p:spPr>
          <a:xfrm>
            <a:off x="2121651" y="3516175"/>
            <a:ext cx="2010855" cy="439152"/>
          </a:xfrm>
          <a:prstGeom prst="rect">
            <a:avLst/>
          </a:prstGeom>
        </p:spPr>
      </p:pic>
      <p:pic>
        <p:nvPicPr>
          <p:cNvPr id="31" name="图片 30">
            <a:extLst>
              <a:ext uri="{FF2B5EF4-FFF2-40B4-BE49-F238E27FC236}">
                <a16:creationId xmlns:a16="http://schemas.microsoft.com/office/drawing/2014/main" id="{D86B8E85-5A64-1C21-5136-E8C228640D46}"/>
              </a:ext>
            </a:extLst>
          </p:cNvPr>
          <p:cNvPicPr>
            <a:picLocks noChangeAspect="1"/>
          </p:cNvPicPr>
          <p:nvPr/>
        </p:nvPicPr>
        <p:blipFill>
          <a:blip r:embed="rId5"/>
          <a:stretch>
            <a:fillRect/>
          </a:stretch>
        </p:blipFill>
        <p:spPr>
          <a:xfrm>
            <a:off x="2049644" y="4574132"/>
            <a:ext cx="2092310" cy="418463"/>
          </a:xfrm>
          <a:prstGeom prst="rect">
            <a:avLst/>
          </a:prstGeom>
        </p:spPr>
      </p:pic>
      <p:sp>
        <p:nvSpPr>
          <p:cNvPr id="33" name="Arrow: Down 15">
            <a:extLst>
              <a:ext uri="{FF2B5EF4-FFF2-40B4-BE49-F238E27FC236}">
                <a16:creationId xmlns:a16="http://schemas.microsoft.com/office/drawing/2014/main" id="{775DC168-6069-D1F2-B8F5-5492F5F24A94}"/>
              </a:ext>
            </a:extLst>
          </p:cNvPr>
          <p:cNvSpPr/>
          <p:nvPr/>
        </p:nvSpPr>
        <p:spPr>
          <a:xfrm rot="16200000">
            <a:off x="6324530" y="4856654"/>
            <a:ext cx="768350" cy="361313"/>
          </a:xfrm>
          <a:prstGeom prst="downArrow">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矩形 33">
            <a:extLst>
              <a:ext uri="{FF2B5EF4-FFF2-40B4-BE49-F238E27FC236}">
                <a16:creationId xmlns:a16="http://schemas.microsoft.com/office/drawing/2014/main" id="{EA07D23D-72A6-DFE0-941D-4B917854FF8A}"/>
              </a:ext>
            </a:extLst>
          </p:cNvPr>
          <p:cNvSpPr/>
          <p:nvPr/>
        </p:nvSpPr>
        <p:spPr>
          <a:xfrm>
            <a:off x="6960096" y="4369993"/>
            <a:ext cx="5040560" cy="163121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3F8B8525-CDC3-7EB7-9CC2-6BE30CF8D58E}"/>
              </a:ext>
            </a:extLst>
          </p:cNvPr>
          <p:cNvSpPr txBox="1"/>
          <p:nvPr/>
        </p:nvSpPr>
        <p:spPr>
          <a:xfrm>
            <a:off x="6960096" y="4369993"/>
            <a:ext cx="5040560" cy="1631216"/>
          </a:xfrm>
          <a:prstGeom prst="rect">
            <a:avLst/>
          </a:prstGeom>
          <a:noFill/>
        </p:spPr>
        <p:txBody>
          <a:bodyPr wrap="square" rtlCol="0">
            <a:spAutoFit/>
          </a:bodyPr>
          <a:lstStyle/>
          <a:p>
            <a:r>
              <a:rPr lang="zh-CN" altLang="en-US" sz="1600" dirty="0"/>
              <a:t>实际应用：</a:t>
            </a:r>
            <a:endParaRPr lang="en-US" altLang="zh-CN" sz="1600" dirty="0"/>
          </a:p>
          <a:p>
            <a:pPr marL="342900" indent="-342900">
              <a:buFont typeface="+mj-lt"/>
              <a:buAutoNum type="arabicPeriod"/>
            </a:pPr>
            <a:r>
              <a:rPr lang="en-US" altLang="zh-CN" sz="1600"/>
              <a:t>RGB</a:t>
            </a:r>
            <a:r>
              <a:rPr lang="zh-CN" altLang="en-US" sz="1600"/>
              <a:t>线性映射到斯斯托克斯参数上，做光子神经网络</a:t>
            </a:r>
            <a:r>
              <a:rPr lang="en-US" altLang="zh-CN" sz="1600"/>
              <a:t>PNN</a:t>
            </a:r>
            <a:r>
              <a:rPr lang="zh-CN" altLang="en-US" sz="1600"/>
              <a:t>得到了</a:t>
            </a:r>
            <a:r>
              <a:rPr lang="en-US" altLang="zh-CN" sz="1600"/>
              <a:t>50.4%</a:t>
            </a:r>
            <a:r>
              <a:rPr lang="zh-CN" altLang="en-US" sz="1600"/>
              <a:t>的正确率</a:t>
            </a:r>
            <a:endParaRPr lang="en-US" altLang="zh-CN" sz="1600"/>
          </a:p>
          <a:p>
            <a:pPr marL="342900" indent="-342900">
              <a:buFont typeface="+mj-lt"/>
              <a:buAutoNum type="arabicPeriod"/>
            </a:pPr>
            <a:r>
              <a:rPr lang="zh-CN" altLang="en-US" sz="1600"/>
              <a:t>通过</a:t>
            </a:r>
            <a:r>
              <a:rPr lang="en-US" altLang="zh-CN" sz="1600"/>
              <a:t>RGB</a:t>
            </a:r>
            <a:r>
              <a:rPr lang="zh-CN" altLang="en-US" sz="1600"/>
              <a:t>映射对</a:t>
            </a:r>
            <a:r>
              <a:rPr lang="en-US" altLang="zh-CN" sz="1600"/>
              <a:t>32×32</a:t>
            </a:r>
            <a:r>
              <a:rPr lang="zh-CN" altLang="en-US" sz="1600"/>
              <a:t>的图像进行偏振加密，再由深度神经网络</a:t>
            </a:r>
            <a:r>
              <a:rPr lang="en-US" altLang="zh-CN" sz="1600"/>
              <a:t>DNN</a:t>
            </a:r>
            <a:r>
              <a:rPr lang="zh-CN" altLang="en-US" sz="1600"/>
              <a:t>进行解密，并通过信息攻击验证了系统具有很好的安全性</a:t>
            </a:r>
            <a:endParaRPr lang="en-US" altLang="zh-CN" sz="1600"/>
          </a:p>
        </p:txBody>
      </p:sp>
    </p:spTree>
    <p:extLst>
      <p:ext uri="{BB962C8B-B14F-4D97-AF65-F5344CB8AC3E}">
        <p14:creationId xmlns:p14="http://schemas.microsoft.com/office/powerpoint/2010/main" val="3690515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06D7A-D872-DCD0-1C50-DA668656FB68}"/>
            </a:ext>
          </a:extLst>
        </p:cNvPr>
        <p:cNvGrpSpPr/>
        <p:nvPr/>
      </p:nvGrpSpPr>
      <p:grpSpPr>
        <a:xfrm>
          <a:off x="0" y="0"/>
          <a:ext cx="0" cy="0"/>
          <a:chOff x="0" y="0"/>
          <a:chExt cx="0" cy="0"/>
        </a:xfrm>
      </p:grpSpPr>
      <p:sp>
        <p:nvSpPr>
          <p:cNvPr id="11" name="Slide Number Placeholder 2">
            <a:extLst>
              <a:ext uri="{FF2B5EF4-FFF2-40B4-BE49-F238E27FC236}">
                <a16:creationId xmlns:a16="http://schemas.microsoft.com/office/drawing/2014/main" id="{12FF108D-44D6-1A61-27CC-C8FF45FF150A}"/>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22</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2CAA1BBB-D014-66B9-B338-32B51586F5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cxnSp>
        <p:nvCxnSpPr>
          <p:cNvPr id="4" name="Straight Connector 4">
            <a:extLst>
              <a:ext uri="{FF2B5EF4-FFF2-40B4-BE49-F238E27FC236}">
                <a16:creationId xmlns:a16="http://schemas.microsoft.com/office/drawing/2014/main" id="{9E45D07F-50C5-9C8A-FE89-350D8E6EF149}"/>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6" name="文本框 5">
            <a:extLst>
              <a:ext uri="{FF2B5EF4-FFF2-40B4-BE49-F238E27FC236}">
                <a16:creationId xmlns:a16="http://schemas.microsoft.com/office/drawing/2014/main" id="{D7754F5C-6D02-60CB-800F-76E46553AD7C}"/>
              </a:ext>
            </a:extLst>
          </p:cNvPr>
          <p:cNvSpPr txBox="1"/>
          <p:nvPr/>
        </p:nvSpPr>
        <p:spPr>
          <a:xfrm>
            <a:off x="674729" y="68792"/>
            <a:ext cx="11424592" cy="369332"/>
          </a:xfrm>
          <a:prstGeom prst="rect">
            <a:avLst/>
          </a:prstGeom>
          <a:noFill/>
        </p:spPr>
        <p:txBody>
          <a:bodyPr wrap="square" rtlCol="0">
            <a:spAutoFit/>
          </a:bodyPr>
          <a:lstStyle/>
          <a:p>
            <a:r>
              <a:rPr lang="zh-CN" altLang="en-US" dirty="0"/>
              <a:t>启发</a:t>
            </a:r>
          </a:p>
        </p:txBody>
      </p:sp>
      <p:sp>
        <p:nvSpPr>
          <p:cNvPr id="7" name="文本框 6">
            <a:extLst>
              <a:ext uri="{FF2B5EF4-FFF2-40B4-BE49-F238E27FC236}">
                <a16:creationId xmlns:a16="http://schemas.microsoft.com/office/drawing/2014/main" id="{3770E474-43D4-4969-57B2-9A35C61CA45D}"/>
              </a:ext>
            </a:extLst>
          </p:cNvPr>
          <p:cNvSpPr txBox="1"/>
          <p:nvPr/>
        </p:nvSpPr>
        <p:spPr>
          <a:xfrm>
            <a:off x="119336" y="584013"/>
            <a:ext cx="11293476" cy="369332"/>
          </a:xfrm>
          <a:prstGeom prst="rect">
            <a:avLst/>
          </a:prstGeom>
          <a:noFill/>
        </p:spPr>
        <p:txBody>
          <a:bodyPr wrap="none" rtlCol="0">
            <a:spAutoFit/>
          </a:bodyPr>
          <a:lstStyle/>
          <a:p>
            <a:r>
              <a:rPr lang="en-US" altLang="zh-CN" dirty="0"/>
              <a:t>SLM</a:t>
            </a:r>
            <a:r>
              <a:rPr lang="zh-CN" altLang="en-US" dirty="0"/>
              <a:t>能调控相位差来改变偏振态，</a:t>
            </a:r>
            <a:r>
              <a:rPr lang="en-US" altLang="zh-CN" dirty="0"/>
              <a:t>DMD</a:t>
            </a:r>
            <a:r>
              <a:rPr lang="zh-CN" altLang="en-US" dirty="0"/>
              <a:t>能改变幅度和相位，能不能也通过微模和宏模的方式来进行</a:t>
            </a:r>
            <a:r>
              <a:rPr lang="en-US" altLang="zh-CN" dirty="0"/>
              <a:t>RGB</a:t>
            </a:r>
            <a:r>
              <a:rPr lang="zh-CN" altLang="en-US" dirty="0"/>
              <a:t>编码？</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35A72D0-6B9B-C262-2E32-79DEE86A9674}"/>
                  </a:ext>
                </a:extLst>
              </p:cNvPr>
              <p:cNvSpPr txBox="1"/>
              <p:nvPr/>
            </p:nvSpPr>
            <p:spPr>
              <a:xfrm>
                <a:off x="152553" y="1060170"/>
                <a:ext cx="11946768" cy="1477328"/>
              </a:xfrm>
              <a:prstGeom prst="rect">
                <a:avLst/>
              </a:prstGeom>
              <a:noFill/>
            </p:spPr>
            <p:txBody>
              <a:bodyPr wrap="square" rtlCol="0">
                <a:spAutoFit/>
              </a:bodyPr>
              <a:lstStyle/>
              <a:p>
                <a:r>
                  <a:rPr lang="zh-CN" altLang="en-US" dirty="0"/>
                  <a:t>文章：</a:t>
                </a:r>
                <a:r>
                  <a:rPr lang="en-US" altLang="zh-CN" dirty="0" err="1"/>
                  <a:t>Superpixel</a:t>
                </a:r>
                <a:r>
                  <a:rPr lang="en-US" altLang="zh-CN" dirty="0"/>
                  <a:t>-based spatial amplitude and phase modulation using a digital micromirror  device</a:t>
                </a:r>
              </a:p>
              <a:p>
                <a:r>
                  <a:rPr lang="zh-CN" altLang="en-US" dirty="0"/>
                  <a:t>作者：</a:t>
                </a:r>
                <a:r>
                  <a:rPr lang="zh-CN" altLang="zh-CN" dirty="0"/>
                  <a:t>Goorden et al., Optics Express 22, 17999–18009 (2014); 2014 JIF = 3.488.</a:t>
                </a:r>
                <a:endParaRPr lang="en-US" altLang="zh-CN" dirty="0"/>
              </a:p>
              <a:p>
                <a:r>
                  <a:rPr lang="zh-CN" altLang="en-US" dirty="0"/>
                  <a:t>该文章通过把</a:t>
                </a:r>
                <a:r>
                  <a:rPr lang="zh-CN" altLang="zh-CN" dirty="0"/>
                  <a:t>4</a:t>
                </a:r>
                <a:r>
                  <a:rPr lang="en-US" altLang="zh-CN" dirty="0"/>
                  <a:t>×</a:t>
                </a:r>
                <a:r>
                  <a:rPr lang="zh-CN" altLang="zh-CN" dirty="0"/>
                  <a:t>4个微镜组成一个超像素，通过偏轴 4f 系统使16个微镜具有均匀分布于 0</a:t>
                </a:r>
                <a:r>
                  <a:rPr lang="en-US" altLang="zh-CN" dirty="0"/>
                  <a:t>-2</a:t>
                </a:r>
                <a14:m>
                  <m:oMath xmlns:m="http://schemas.openxmlformats.org/officeDocument/2006/math">
                    <m:r>
                      <a:rPr lang="zh-CN" altLang="en-US" i="1" smtClean="0">
                        <a:latin typeface="Cambria Math" panose="02040503050406030204" pitchFamily="18" charset="0"/>
                      </a:rPr>
                      <m:t>𝜋</m:t>
                    </m:r>
                  </m:oMath>
                </a14:m>
                <a:r>
                  <a:rPr lang="zh-CN" altLang="zh-CN" dirty="0"/>
                  <a:t> 的相位响应，再选择若干微镜打开，使复平面上的矢量相加得到目标复振幅。</a:t>
                </a:r>
                <a:endParaRPr lang="en-US" altLang="zh-CN" dirty="0"/>
              </a:p>
              <a:p>
                <a:r>
                  <a:rPr lang="zh-CN" altLang="en-US" dirty="0"/>
                  <a:t>结论：通过</a:t>
                </a:r>
                <a:r>
                  <a:rPr lang="en-US" altLang="zh-CN" dirty="0"/>
                  <a:t>DMD</a:t>
                </a:r>
                <a:r>
                  <a:rPr lang="zh-CN" altLang="en-US" dirty="0"/>
                  <a:t>可以控制光的幅度和相位</a:t>
                </a:r>
              </a:p>
            </p:txBody>
          </p:sp>
        </mc:Choice>
        <mc:Fallback xmlns="">
          <p:sp>
            <p:nvSpPr>
              <p:cNvPr id="9" name="文本框 8">
                <a:extLst>
                  <a:ext uri="{FF2B5EF4-FFF2-40B4-BE49-F238E27FC236}">
                    <a16:creationId xmlns:a16="http://schemas.microsoft.com/office/drawing/2014/main" id="{135A72D0-6B9B-C262-2E32-79DEE86A9674}"/>
                  </a:ext>
                </a:extLst>
              </p:cNvPr>
              <p:cNvSpPr txBox="1">
                <a:spLocks noRot="1" noChangeAspect="1" noMove="1" noResize="1" noEditPoints="1" noAdjustHandles="1" noChangeArrowheads="1" noChangeShapeType="1" noTextEdit="1"/>
              </p:cNvSpPr>
              <p:nvPr/>
            </p:nvSpPr>
            <p:spPr>
              <a:xfrm>
                <a:off x="152553" y="1060170"/>
                <a:ext cx="11946768" cy="1477328"/>
              </a:xfrm>
              <a:prstGeom prst="rect">
                <a:avLst/>
              </a:prstGeom>
              <a:blipFill>
                <a:blip r:embed="rId3"/>
                <a:stretch>
                  <a:fillRect l="-408" t="-2479" b="-5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9231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2C205-C2D1-60EB-7B33-BCB1F960769F}"/>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6BC7C9C-2F9C-6F4C-9356-4B0D94A70B2F}"/>
              </a:ext>
            </a:extLst>
          </p:cNvPr>
          <p:cNvSpPr txBox="1"/>
          <p:nvPr/>
        </p:nvSpPr>
        <p:spPr>
          <a:xfrm>
            <a:off x="239712" y="788286"/>
            <a:ext cx="10541414" cy="2092881"/>
          </a:xfrm>
          <a:prstGeom prst="rect">
            <a:avLst/>
          </a:prstGeom>
          <a:noFill/>
        </p:spPr>
        <p:txBody>
          <a:bodyPr wrap="square" rtlCol="0">
            <a:spAutoFit/>
          </a:bodyPr>
          <a:lstStyle/>
          <a:p>
            <a:r>
              <a:rPr lang="en-US" altLang="zh-CN" dirty="0"/>
              <a:t>2026.6.22</a:t>
            </a:r>
            <a:r>
              <a:rPr lang="zh-CN" altLang="en-US" dirty="0"/>
              <a:t>工作情况：新增内容为</a:t>
            </a:r>
            <a:r>
              <a:rPr lang="en-US" altLang="zh-CN" dirty="0"/>
              <a:t>P8-P10</a:t>
            </a:r>
            <a:r>
              <a:rPr lang="zh-CN" altLang="en-US" dirty="0"/>
              <a:t>和附录（</a:t>
            </a:r>
            <a:r>
              <a:rPr lang="en-US" altLang="zh-CN" dirty="0"/>
              <a:t>P10</a:t>
            </a:r>
            <a:r>
              <a:rPr lang="zh-CN" altLang="en-US" dirty="0"/>
              <a:t>的超链接）</a:t>
            </a:r>
            <a:endParaRPr lang="en-US" altLang="zh-CN" dirty="0"/>
          </a:p>
          <a:p>
            <a:pPr marL="285750" indent="-285750">
              <a:buFont typeface="Arial" panose="020B0604020202020204" pitchFamily="34" charset="0"/>
              <a:buChar char="•"/>
            </a:pPr>
            <a:r>
              <a:rPr lang="zh-CN" altLang="en-US" sz="2000" b="1" dirty="0"/>
              <a:t>目前已经完成的工作：</a:t>
            </a:r>
            <a:endParaRPr lang="en-US" altLang="zh-CN" sz="2000" b="1" dirty="0"/>
          </a:p>
          <a:p>
            <a:pPr marL="342900" indent="-342900">
              <a:buFont typeface="+mj-lt"/>
              <a:buAutoNum type="arabicPeriod"/>
            </a:pPr>
            <a:r>
              <a:rPr lang="zh-CN" altLang="en-US" dirty="0"/>
              <a:t>光路搭建基本完成（只剩下新买的锁相放大器还在研究，旧的那台只能接一个参考信号）</a:t>
            </a:r>
            <a:endParaRPr lang="en-US" altLang="zh-CN" dirty="0"/>
          </a:p>
          <a:p>
            <a:pPr marL="285750" indent="-285750">
              <a:buFont typeface="Arial" panose="020B0604020202020204" pitchFamily="34" charset="0"/>
              <a:buChar char="•"/>
            </a:pPr>
            <a:r>
              <a:rPr lang="zh-CN" altLang="en-US" sz="2000" b="1" dirty="0"/>
              <a:t>接下来的工作安排：</a:t>
            </a:r>
            <a:endParaRPr lang="en-US" altLang="zh-CN" sz="2000" b="1" dirty="0"/>
          </a:p>
          <a:p>
            <a:pPr marL="342900" indent="-342900">
              <a:buFont typeface="+mj-lt"/>
              <a:buAutoNum type="arabicPeriod"/>
            </a:pPr>
            <a:r>
              <a:rPr lang="zh-CN" altLang="en-US" dirty="0"/>
              <a:t>研究锁相放大器的驱动使用，以及与</a:t>
            </a:r>
            <a:r>
              <a:rPr lang="en-US" altLang="zh-CN" dirty="0"/>
              <a:t>DMD</a:t>
            </a:r>
            <a:r>
              <a:rPr lang="zh-CN" altLang="en-US" dirty="0"/>
              <a:t>的时序同步问题</a:t>
            </a:r>
            <a:endParaRPr lang="en-US" altLang="zh-CN" dirty="0"/>
          </a:p>
          <a:p>
            <a:r>
              <a:rPr lang="en-US" altLang="zh-CN" dirty="0"/>
              <a:t>PPT</a:t>
            </a:r>
            <a:r>
              <a:rPr lang="zh-CN" altLang="en-US" dirty="0"/>
              <a:t>存在的问题：</a:t>
            </a:r>
            <a:endParaRPr lang="en-US" altLang="zh-CN" dirty="0"/>
          </a:p>
          <a:p>
            <a:pPr marL="342900" indent="-342900">
              <a:buFont typeface="+mj-lt"/>
              <a:buAutoNum type="arabicPeriod"/>
            </a:pPr>
            <a:r>
              <a:rPr lang="zh-CN" altLang="en-US" dirty="0"/>
              <a:t>缺少仿真，需要仿真来对问题进行建模处理</a:t>
            </a:r>
            <a:endParaRPr lang="en-US" altLang="zh-CN" dirty="0"/>
          </a:p>
        </p:txBody>
      </p:sp>
      <p:sp>
        <p:nvSpPr>
          <p:cNvPr id="5" name="文本框 4">
            <a:extLst>
              <a:ext uri="{FF2B5EF4-FFF2-40B4-BE49-F238E27FC236}">
                <a16:creationId xmlns:a16="http://schemas.microsoft.com/office/drawing/2014/main" id="{27F9DEB2-050B-067F-781A-1D38561A3C2C}"/>
              </a:ext>
            </a:extLst>
          </p:cNvPr>
          <p:cNvSpPr txBox="1"/>
          <p:nvPr/>
        </p:nvSpPr>
        <p:spPr>
          <a:xfrm>
            <a:off x="239712" y="3284984"/>
            <a:ext cx="11952288" cy="3200876"/>
          </a:xfrm>
          <a:prstGeom prst="rect">
            <a:avLst/>
          </a:prstGeom>
          <a:noFill/>
        </p:spPr>
        <p:txBody>
          <a:bodyPr wrap="square" rtlCol="0">
            <a:spAutoFit/>
          </a:bodyPr>
          <a:lstStyle/>
          <a:p>
            <a:r>
              <a:rPr lang="en-US" altLang="zh-CN" dirty="0"/>
              <a:t>2026.8.7</a:t>
            </a:r>
            <a:r>
              <a:rPr lang="zh-CN" altLang="en-US" dirty="0"/>
              <a:t>工作情况：新增内容为</a:t>
            </a:r>
            <a:endParaRPr lang="en-US" altLang="zh-CN" dirty="0"/>
          </a:p>
          <a:p>
            <a:pPr marL="285750" indent="-285750">
              <a:buFont typeface="Arial" panose="020B0604020202020204" pitchFamily="34" charset="0"/>
              <a:buChar char="•"/>
            </a:pPr>
            <a:r>
              <a:rPr lang="zh-CN" altLang="en-US" sz="2000" b="1" dirty="0"/>
              <a:t>目前已经完成的工作：</a:t>
            </a:r>
            <a:endParaRPr lang="en-US" altLang="zh-CN" sz="2000" b="1" dirty="0"/>
          </a:p>
          <a:p>
            <a:pPr marL="342900" indent="-342900">
              <a:buFont typeface="+mj-lt"/>
              <a:buAutoNum type="arabicPeriod"/>
            </a:pPr>
            <a:r>
              <a:rPr lang="zh-CN" altLang="en-US" dirty="0"/>
              <a:t>已跑通仿真，基本理解仿真思路过程</a:t>
            </a:r>
            <a:endParaRPr lang="en-US" altLang="zh-CN" dirty="0"/>
          </a:p>
          <a:p>
            <a:pPr marL="285750" indent="-285750">
              <a:buFont typeface="Arial" panose="020B0604020202020204" pitchFamily="34" charset="0"/>
              <a:buChar char="•"/>
            </a:pPr>
            <a:r>
              <a:rPr lang="zh-CN" altLang="en-US" sz="2000" b="1" dirty="0"/>
              <a:t>接下来的工作安排：</a:t>
            </a:r>
            <a:endParaRPr lang="en-US" altLang="zh-CN" sz="2000" b="1" dirty="0"/>
          </a:p>
          <a:p>
            <a:pPr marL="457200" indent="-457200">
              <a:buFont typeface="+mj-lt"/>
              <a:buAutoNum type="arabicPeriod"/>
            </a:pPr>
            <a:r>
              <a:rPr lang="zh-CN" altLang="en-US" dirty="0"/>
              <a:t>实验对照仿真，收集实验具体的参数，对照仿真进行修改</a:t>
            </a:r>
            <a:endParaRPr lang="en-US" altLang="zh-CN" dirty="0"/>
          </a:p>
          <a:p>
            <a:pPr marL="457200" indent="-457200">
              <a:buFont typeface="+mj-lt"/>
              <a:buAutoNum type="arabicPeriod"/>
            </a:pPr>
            <a:r>
              <a:rPr lang="zh-CN" altLang="en-US" dirty="0"/>
              <a:t>研究锁相放大器的使用，写</a:t>
            </a:r>
            <a:r>
              <a:rPr lang="en-US" altLang="zh-CN" dirty="0" err="1"/>
              <a:t>labview</a:t>
            </a:r>
            <a:r>
              <a:rPr lang="zh-CN" altLang="en-US" dirty="0"/>
              <a:t>代码并尝试采集一批数据，分析数据误差（</a:t>
            </a:r>
            <a:r>
              <a:rPr lang="en-US" altLang="zh-CN" dirty="0"/>
              <a:t>or </a:t>
            </a:r>
            <a:r>
              <a:rPr lang="zh-CN" altLang="en-US" dirty="0"/>
              <a:t>错误）</a:t>
            </a:r>
            <a:endParaRPr lang="en-US" altLang="zh-CN" dirty="0"/>
          </a:p>
          <a:p>
            <a:r>
              <a:rPr lang="en-US" altLang="zh-CN" dirty="0"/>
              <a:t>PPT</a:t>
            </a:r>
            <a:r>
              <a:rPr lang="zh-CN" altLang="en-US" dirty="0"/>
              <a:t>存在的问题</a:t>
            </a:r>
            <a:endParaRPr lang="en-US" altLang="zh-CN" dirty="0"/>
          </a:p>
          <a:p>
            <a:pPr marL="342900" indent="-342900">
              <a:buFont typeface="+mj-lt"/>
              <a:buAutoNum type="arabicPeriod"/>
            </a:pPr>
            <a:r>
              <a:rPr lang="en-US" altLang="zh-CN" dirty="0"/>
              <a:t>PPT</a:t>
            </a:r>
            <a:r>
              <a:rPr lang="zh-CN" altLang="en-US" dirty="0"/>
              <a:t>花哨，使用魏老师的简洁模板，同时添加页码</a:t>
            </a:r>
            <a:endParaRPr lang="en-US" altLang="zh-CN" dirty="0"/>
          </a:p>
          <a:p>
            <a:pPr marL="342900" indent="-342900">
              <a:buFont typeface="+mj-lt"/>
              <a:buAutoNum type="arabicPeriod"/>
            </a:pPr>
            <a:r>
              <a:rPr lang="zh-CN" altLang="en-US" dirty="0"/>
              <a:t>需要</a:t>
            </a:r>
            <a:r>
              <a:rPr lang="en-US" altLang="zh-CN" dirty="0"/>
              <a:t>Case study</a:t>
            </a:r>
            <a:r>
              <a:rPr lang="zh-CN" altLang="en-US" dirty="0"/>
              <a:t>来辅助分析问题，以提供一些理解</a:t>
            </a:r>
            <a:endParaRPr lang="en-US" altLang="zh-CN" dirty="0"/>
          </a:p>
          <a:p>
            <a:pPr marL="342900" indent="-342900">
              <a:buFont typeface="+mj-lt"/>
              <a:buAutoNum type="arabicPeriod"/>
            </a:pPr>
            <a:r>
              <a:rPr lang="zh-CN" altLang="en-US" dirty="0"/>
              <a:t>太过注重推导公式和数学理解，要吧重心转移到图像理解，图中的变化趋势和一些峰值点，同时注重物理上的理解</a:t>
            </a:r>
            <a:endParaRPr lang="en-US" altLang="zh-CN" dirty="0"/>
          </a:p>
        </p:txBody>
      </p:sp>
      <p:cxnSp>
        <p:nvCxnSpPr>
          <p:cNvPr id="2" name="Straight Connector 4">
            <a:extLst>
              <a:ext uri="{FF2B5EF4-FFF2-40B4-BE49-F238E27FC236}">
                <a16:creationId xmlns:a16="http://schemas.microsoft.com/office/drawing/2014/main" id="{596770B5-93AD-583C-0C10-DF85627B4C7B}"/>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pic>
        <p:nvPicPr>
          <p:cNvPr id="3" name="图片 1">
            <a:extLst>
              <a:ext uri="{FF2B5EF4-FFF2-40B4-BE49-F238E27FC236}">
                <a16:creationId xmlns:a16="http://schemas.microsoft.com/office/drawing/2014/main" id="{12E00D4D-9728-8839-3183-A4A872F56E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6" name="文本框 5">
            <a:extLst>
              <a:ext uri="{FF2B5EF4-FFF2-40B4-BE49-F238E27FC236}">
                <a16:creationId xmlns:a16="http://schemas.microsoft.com/office/drawing/2014/main" id="{46CAA1E4-37F3-E3F3-5236-719BC5F5AD40}"/>
              </a:ext>
            </a:extLst>
          </p:cNvPr>
          <p:cNvSpPr txBox="1"/>
          <p:nvPr/>
        </p:nvSpPr>
        <p:spPr>
          <a:xfrm>
            <a:off x="551383" y="61239"/>
            <a:ext cx="2262158" cy="369332"/>
          </a:xfrm>
          <a:prstGeom prst="rect">
            <a:avLst/>
          </a:prstGeom>
          <a:noFill/>
        </p:spPr>
        <p:txBody>
          <a:bodyPr wrap="none" rtlCol="0">
            <a:spAutoFit/>
          </a:bodyPr>
          <a:lstStyle/>
          <a:p>
            <a:r>
              <a:rPr lang="zh-CN" altLang="en-US"/>
              <a:t>附录：工作流程记录</a:t>
            </a:r>
          </a:p>
        </p:txBody>
      </p:sp>
    </p:spTree>
    <p:extLst>
      <p:ext uri="{BB962C8B-B14F-4D97-AF65-F5344CB8AC3E}">
        <p14:creationId xmlns:p14="http://schemas.microsoft.com/office/powerpoint/2010/main" val="2037727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08D11-F9CC-3E9D-A3DA-B4936C3EE69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3DD20DE-0707-55B0-84C9-211F09E83CC1}"/>
                  </a:ext>
                </a:extLst>
              </p:cNvPr>
              <p:cNvSpPr txBox="1"/>
              <p:nvPr/>
            </p:nvSpPr>
            <p:spPr>
              <a:xfrm>
                <a:off x="239712" y="905053"/>
                <a:ext cx="10541414" cy="5416868"/>
              </a:xfrm>
              <a:prstGeom prst="rect">
                <a:avLst/>
              </a:prstGeom>
              <a:noFill/>
            </p:spPr>
            <p:txBody>
              <a:bodyPr wrap="square" rtlCol="0">
                <a:spAutoFit/>
              </a:bodyPr>
              <a:lstStyle/>
              <a:p>
                <a:r>
                  <a:rPr lang="en-US" altLang="zh-CN" dirty="0"/>
                  <a:t>2026.8.24</a:t>
                </a:r>
                <a:r>
                  <a:rPr lang="zh-CN" altLang="en-US" dirty="0"/>
                  <a:t>进展：新增内容为</a:t>
                </a:r>
                <a:r>
                  <a:rPr lang="en-US" altLang="zh-CN" dirty="0"/>
                  <a:t>P17,P18,</a:t>
                </a:r>
                <a:r>
                  <a:rPr lang="zh-CN" altLang="en-US" dirty="0"/>
                  <a:t>附录</a:t>
                </a:r>
                <a:r>
                  <a:rPr lang="en-US" altLang="zh-CN" dirty="0"/>
                  <a:t>P28,</a:t>
                </a:r>
                <a:r>
                  <a:rPr lang="zh-CN" altLang="en-US" dirty="0"/>
                  <a:t>文献阅读</a:t>
                </a:r>
                <a:r>
                  <a:rPr lang="en-US" altLang="zh-CN" dirty="0"/>
                  <a:t>P29——P35</a:t>
                </a:r>
              </a:p>
              <a:p>
                <a:pPr marL="285750" indent="-285750">
                  <a:buFont typeface="Arial" panose="020B0604020202020204" pitchFamily="34" charset="0"/>
                  <a:buChar char="•"/>
                </a:pPr>
                <a:r>
                  <a:rPr lang="zh-CN" altLang="en-US" sz="2000" b="1" dirty="0"/>
                  <a:t>目前已经完成的工作：</a:t>
                </a:r>
                <a:endParaRPr lang="en-US" altLang="zh-CN" sz="2000" b="1" dirty="0"/>
              </a:p>
              <a:p>
                <a:pPr marL="342900" indent="-342900">
                  <a:buFont typeface="+mj-lt"/>
                  <a:buAutoNum type="arabicPeriod"/>
                </a:pPr>
                <a:r>
                  <a:rPr lang="zh-CN" altLang="zh-CN" dirty="0"/>
                  <a:t>光路已具备采集条件，下一步进入 Stokes 数据重构与标定</a:t>
                </a:r>
                <a:endParaRPr lang="en-US" altLang="zh-CN" dirty="0"/>
              </a:p>
              <a:p>
                <a:pPr marL="342900" indent="-342900">
                  <a:buFont typeface="Arial" panose="020B0604020202020204" pitchFamily="34" charset="0"/>
                  <a:buChar char="•"/>
                </a:pPr>
                <a:r>
                  <a:rPr lang="zh-CN" altLang="en-US" sz="2000" b="1" dirty="0"/>
                  <a:t>接下来的工作安排：</a:t>
                </a:r>
                <a:endParaRPr lang="en-US" altLang="zh-CN" sz="2000" b="1" dirty="0"/>
              </a:p>
              <a:p>
                <a:pPr marL="342900" indent="-342900">
                  <a:buFont typeface="+mj-lt"/>
                  <a:buAutoNum type="arabicPeriod"/>
                </a:pPr>
                <a:r>
                  <a:rPr lang="zh-CN" altLang="en-US" dirty="0"/>
                  <a:t>采集输出光强数据进行图像恢复，采集直流信号，</a:t>
                </a:r>
                <a:r>
                  <a:rPr lang="en-US" altLang="zh-CN" dirty="0"/>
                  <a:t>1f</a:t>
                </a:r>
                <a:r>
                  <a:rPr lang="zh-CN" altLang="en-US" dirty="0"/>
                  <a:t>信号和</a:t>
                </a:r>
                <a:r>
                  <a:rPr lang="en-US" altLang="zh-CN" dirty="0"/>
                  <a:t>2f</a:t>
                </a:r>
                <a:r>
                  <a:rPr lang="zh-CN" altLang="en-US" dirty="0"/>
                  <a:t>信号尝试对斯托克斯参数进行恢复</a:t>
                </a:r>
                <a:endParaRPr lang="en-US" altLang="zh-CN" dirty="0"/>
              </a:p>
              <a:p>
                <a:pPr marL="342900" indent="-342900">
                  <a:buFont typeface="+mj-lt"/>
                  <a:buAutoNum type="arabicPeriod"/>
                </a:pPr>
                <a:r>
                  <a:rPr lang="zh-CN" altLang="en-US" dirty="0"/>
                  <a:t>使用偏振相机进行图片的标准斯托克斯参数标定</a:t>
                </a:r>
                <a:endParaRPr lang="en-US" altLang="zh-CN" dirty="0"/>
              </a:p>
              <a:p>
                <a:pPr marL="342900" indent="-342900">
                  <a:buFont typeface="+mj-lt"/>
                  <a:buAutoNum type="arabicPeriod"/>
                </a:pPr>
                <a:r>
                  <a:rPr lang="zh-CN" altLang="en-US" dirty="0"/>
                  <a:t>了解</a:t>
                </a:r>
                <a:r>
                  <a:rPr lang="en-US" altLang="zh-CN" dirty="0"/>
                  <a:t>DMD</a:t>
                </a:r>
                <a:r>
                  <a:rPr lang="zh-CN" altLang="en-US" dirty="0"/>
                  <a:t>文章，尝试进行</a:t>
                </a:r>
                <a:r>
                  <a:rPr lang="en-US" altLang="zh-CN" dirty="0"/>
                  <a:t>DMD</a:t>
                </a:r>
                <a:r>
                  <a:rPr lang="zh-CN" altLang="en-US" dirty="0"/>
                  <a:t>编码</a:t>
                </a:r>
                <a:r>
                  <a:rPr lang="en-US" altLang="zh-CN" dirty="0"/>
                  <a:t>RGB</a:t>
                </a:r>
                <a:r>
                  <a:rPr lang="zh-CN" altLang="en-US" dirty="0"/>
                  <a:t>至斯托克斯参数的仿真</a:t>
                </a:r>
                <a:endParaRPr lang="en-US" altLang="zh-CN" dirty="0"/>
              </a:p>
              <a:p>
                <a:r>
                  <a:rPr lang="en-US" altLang="zh-CN" dirty="0"/>
                  <a:t>DMD</a:t>
                </a:r>
                <a:r>
                  <a:rPr lang="zh-CN" altLang="en-US" dirty="0"/>
                  <a:t>文章：</a:t>
                </a:r>
                <a:r>
                  <a:rPr lang="en-US" altLang="zh-CN" dirty="0" err="1"/>
                  <a:t>Superpixel</a:t>
                </a:r>
                <a:r>
                  <a:rPr lang="en-US" altLang="zh-CN" dirty="0"/>
                  <a:t>-based spatial amplitude and phase modulation using a digital micromirror  device</a:t>
                </a:r>
              </a:p>
              <a:p>
                <a:r>
                  <a:rPr lang="zh-CN" altLang="en-US" dirty="0"/>
                  <a:t>问题：缺乏框架性的</a:t>
                </a:r>
                <a:r>
                  <a:rPr lang="zh-CN" altLang="en-US"/>
                  <a:t>理解</a:t>
                </a:r>
                <a:endParaRPr lang="en-US" altLang="zh-CN"/>
              </a:p>
              <a:p>
                <a:r>
                  <a:rPr lang="zh-CN" altLang="en-US">
                    <a:solidFill>
                      <a:srgbClr val="FF0000"/>
                    </a:solidFill>
                  </a:rPr>
                  <a:t>经魏老师的指点，目前工作逻辑混乱，当前工作重心需要调整：</a:t>
                </a:r>
                <a:endParaRPr lang="en-US" altLang="zh-CN">
                  <a:solidFill>
                    <a:srgbClr val="FF0000"/>
                  </a:solidFill>
                </a:endParaRPr>
              </a:p>
              <a:p>
                <a:pPr marL="285750" indent="-285750">
                  <a:buFont typeface="Wingdings" panose="05000000000000000000" pitchFamily="2" charset="2"/>
                  <a:buChar char="Ø"/>
                </a:pPr>
                <a:r>
                  <a:rPr lang="zh-CN" altLang="zh-CN"/>
                  <a:t>聚焦</a:t>
                </a:r>
                <a:r>
                  <a:rPr lang="en-US" altLang="zh-CN"/>
                  <a:t>PEM </a:t>
                </a:r>
                <a:r>
                  <a:rPr lang="zh-CN" altLang="zh-CN"/>
                  <a:t>偏振检测与解调验证（解耦</a:t>
                </a:r>
                <a:r>
                  <a:rPr lang="en-US" altLang="zh-CN"/>
                  <a:t> DMD </a:t>
                </a:r>
                <a:r>
                  <a:rPr lang="zh-CN" altLang="zh-CN"/>
                  <a:t>空间调制）</a:t>
                </a:r>
                <a:r>
                  <a:rPr lang="zh-CN" altLang="en-US"/>
                  <a:t>：</a:t>
                </a:r>
                <a:endParaRPr lang="en-US" altLang="zh-CN"/>
              </a:p>
              <a:p>
                <a:pPr lvl="0"/>
                <a:r>
                  <a:rPr lang="zh-CN" altLang="zh-CN"/>
                  <a:t>暂不引入</a:t>
                </a:r>
                <a:r>
                  <a:rPr lang="en-US" altLang="zh-CN"/>
                  <a:t> DMD </a:t>
                </a:r>
                <a:r>
                  <a:rPr lang="zh-CN" altLang="zh-CN"/>
                  <a:t>空间调制，先在</a:t>
                </a:r>
                <a:r>
                  <a:rPr lang="en-US" altLang="zh-CN"/>
                  <a:t>633nm</a:t>
                </a:r>
                <a:r>
                  <a:rPr lang="zh-CN" altLang="zh-CN"/>
                  <a:t>滤波片均匀光照明下，验证基于</a:t>
                </a:r>
                <a:r>
                  <a:rPr lang="en-US" altLang="zh-CN"/>
                  <a:t> PEM </a:t>
                </a:r>
                <a:r>
                  <a:rPr lang="zh-CN" altLang="zh-CN"/>
                  <a:t>的偏振态测量链路。</a:t>
                </a:r>
              </a:p>
              <a:p>
                <a:pPr lvl="0"/>
                <a:r>
                  <a:rPr lang="zh-CN" altLang="zh-CN"/>
                  <a:t>重点明确：锁相放大器能否稳定、高精度地解调提取出所需的各路信号，包括</a:t>
                </a:r>
                <a:r>
                  <a:rPr lang="en-US" altLang="zh-CN"/>
                  <a:t> DC </a:t>
                </a:r>
                <a:r>
                  <a:rPr lang="zh-CN" altLang="zh-CN"/>
                  <a:t>直流分量、</a:t>
                </a:r>
                <a14:m>
                  <m:oMath xmlns:m="http://schemas.openxmlformats.org/officeDocument/2006/math">
                    <m:r>
                      <a:rPr lang="zh-CN" altLang="en-US" b="1" i="1">
                        <a:latin typeface="Cambria Math" panose="02040503050406030204" pitchFamily="18" charset="0"/>
                      </a:rPr>
                      <m:t>𝒇</m:t>
                    </m:r>
                  </m:oMath>
                </a14:m>
                <a:r>
                  <a:rPr lang="en-US" altLang="zh-CN"/>
                  <a:t> </a:t>
                </a:r>
                <a:r>
                  <a:rPr lang="zh-CN" altLang="zh-CN"/>
                  <a:t>基频分量（</a:t>
                </a:r>
                <a14:m>
                  <m:oMath xmlns:m="http://schemas.openxmlformats.org/officeDocument/2006/math">
                    <m:r>
                      <a:rPr lang="zh-CN" altLang="en-US" b="1" i="1">
                        <a:latin typeface="Cambria Math" panose="02040503050406030204" pitchFamily="18" charset="0"/>
                      </a:rPr>
                      <m:t>𝑿</m:t>
                    </m:r>
                    <m:r>
                      <a:rPr lang="en-US" altLang="zh-CN">
                        <a:latin typeface="Cambria Math" panose="02040503050406030204" pitchFamily="18" charset="0"/>
                      </a:rPr>
                      <m:t>/</m:t>
                    </m:r>
                    <m:r>
                      <a:rPr lang="zh-CN" altLang="en-US" b="1" i="1">
                        <a:latin typeface="Cambria Math" panose="02040503050406030204" pitchFamily="18" charset="0"/>
                      </a:rPr>
                      <m:t>𝒀</m:t>
                    </m:r>
                  </m:oMath>
                </a14:m>
                <a:r>
                  <a:rPr lang="en-US" altLang="zh-CN"/>
                  <a:t> </a:t>
                </a:r>
                <a:r>
                  <a:rPr lang="zh-CN" altLang="zh-CN"/>
                  <a:t>通道） 以及 </a:t>
                </a:r>
                <a14:m>
                  <m:oMath xmlns:m="http://schemas.openxmlformats.org/officeDocument/2006/math">
                    <m:r>
                      <a:rPr lang="zh-CN" altLang="en-US" b="1">
                        <a:latin typeface="Cambria Math" panose="02040503050406030204" pitchFamily="18" charset="0"/>
                      </a:rPr>
                      <m:t>𝟐</m:t>
                    </m:r>
                    <m:r>
                      <a:rPr lang="zh-CN" altLang="en-US" b="1" i="1">
                        <a:latin typeface="Cambria Math" panose="02040503050406030204" pitchFamily="18" charset="0"/>
                      </a:rPr>
                      <m:t>𝒇</m:t>
                    </m:r>
                  </m:oMath>
                </a14:m>
                <a:r>
                  <a:rPr lang="zh-CN" altLang="zh-CN"/>
                  <a:t>倍频分量（</a:t>
                </a:r>
                <a14:m>
                  <m:oMath xmlns:m="http://schemas.openxmlformats.org/officeDocument/2006/math">
                    <m:r>
                      <a:rPr lang="zh-CN" altLang="en-US" b="1" i="1">
                        <a:latin typeface="Cambria Math" panose="02040503050406030204" pitchFamily="18" charset="0"/>
                      </a:rPr>
                      <m:t>𝑿</m:t>
                    </m:r>
                    <m:r>
                      <a:rPr lang="en-US" altLang="zh-CN">
                        <a:latin typeface="Cambria Math" panose="02040503050406030204" pitchFamily="18" charset="0"/>
                      </a:rPr>
                      <m:t>/</m:t>
                    </m:r>
                    <m:r>
                      <a:rPr lang="zh-CN" altLang="en-US" b="1" i="1">
                        <a:latin typeface="Cambria Math" panose="02040503050406030204" pitchFamily="18" charset="0"/>
                      </a:rPr>
                      <m:t>𝒀</m:t>
                    </m:r>
                  </m:oMath>
                </a14:m>
                <a:r>
                  <a:rPr lang="en-US" altLang="zh-CN"/>
                  <a:t> </a:t>
                </a:r>
                <a:r>
                  <a:rPr lang="zh-CN" altLang="zh-CN"/>
                  <a:t>通道）。</a:t>
                </a:r>
                <a:endParaRPr lang="en-US" altLang="zh-CN"/>
              </a:p>
              <a:p>
                <a:pPr lvl="0"/>
                <a:r>
                  <a:rPr lang="zh-CN" altLang="en-US"/>
                  <a:t>目标拆解：</a:t>
                </a:r>
                <a:endParaRPr lang="en-US" altLang="zh-CN"/>
              </a:p>
              <a:p>
                <a:pPr marL="342900" lvl="0" indent="-342900">
                  <a:buFont typeface="+mj-lt"/>
                  <a:buAutoNum type="arabicPeriod"/>
                </a:pPr>
                <a:r>
                  <a:rPr lang="zh-CN" altLang="en-US"/>
                  <a:t>测量</a:t>
                </a:r>
                <a:r>
                  <a:rPr lang="en-US" altLang="zh-CN"/>
                  <a:t>EPM</a:t>
                </a:r>
                <a:r>
                  <a:rPr lang="zh-CN" altLang="en-US"/>
                  <a:t>主轴</a:t>
                </a:r>
                <a:endParaRPr lang="en-US" altLang="zh-CN"/>
              </a:p>
              <a:p>
                <a:pPr marL="342900" lvl="0" indent="-342900">
                  <a:buFont typeface="+mj-lt"/>
                  <a:buAutoNum type="arabicPeriod"/>
                </a:pPr>
                <a:r>
                  <a:rPr lang="zh-CN" altLang="en-US"/>
                  <a:t>将</a:t>
                </a:r>
                <a:r>
                  <a:rPr lang="en-US" altLang="zh-CN"/>
                  <a:t>PEM</a:t>
                </a:r>
                <a:r>
                  <a:rPr lang="zh-CN" altLang="en-US"/>
                  <a:t>放入光路中，用锁相放大器读取偏振信号</a:t>
                </a:r>
                <a:endParaRPr lang="en-US" altLang="zh-CN"/>
              </a:p>
              <a:p>
                <a:pPr marL="342900" lvl="0" indent="-342900">
                  <a:buFont typeface="+mj-lt"/>
                  <a:buAutoNum type="arabicPeriod"/>
                </a:pPr>
                <a:r>
                  <a:rPr lang="zh-CN" altLang="en-US"/>
                  <a:t>将探测器更换为偏振相机测量实际偏振度</a:t>
                </a:r>
                <a:endParaRPr lang="en-US" altLang="zh-CN"/>
              </a:p>
              <a:p>
                <a:pPr marL="342900" lvl="0" indent="-342900">
                  <a:buFont typeface="+mj-lt"/>
                  <a:buAutoNum type="arabicPeriod"/>
                </a:pPr>
                <a:r>
                  <a:rPr lang="zh-CN" altLang="en-US"/>
                  <a:t>分析处理实际数据</a:t>
                </a:r>
                <a:endParaRPr lang="en-US" altLang="zh-CN"/>
              </a:p>
            </p:txBody>
          </p:sp>
        </mc:Choice>
        <mc:Fallback xmlns="">
          <p:sp>
            <p:nvSpPr>
              <p:cNvPr id="4" name="文本框 3">
                <a:extLst>
                  <a:ext uri="{FF2B5EF4-FFF2-40B4-BE49-F238E27FC236}">
                    <a16:creationId xmlns:a16="http://schemas.microsoft.com/office/drawing/2014/main" id="{F3DD20DE-0707-55B0-84C9-211F09E83CC1}"/>
                  </a:ext>
                </a:extLst>
              </p:cNvPr>
              <p:cNvSpPr txBox="1">
                <a:spLocks noRot="1" noChangeAspect="1" noMove="1" noResize="1" noEditPoints="1" noAdjustHandles="1" noChangeArrowheads="1" noChangeShapeType="1" noTextEdit="1"/>
              </p:cNvSpPr>
              <p:nvPr/>
            </p:nvSpPr>
            <p:spPr>
              <a:xfrm>
                <a:off x="239712" y="905053"/>
                <a:ext cx="10541414" cy="5416868"/>
              </a:xfrm>
              <a:prstGeom prst="rect">
                <a:avLst/>
              </a:prstGeom>
              <a:blipFill>
                <a:blip r:embed="rId3"/>
                <a:stretch>
                  <a:fillRect l="-520" t="-562" b="-787"/>
                </a:stretch>
              </a:blipFill>
            </p:spPr>
            <p:txBody>
              <a:bodyPr/>
              <a:lstStyle/>
              <a:p>
                <a:r>
                  <a:rPr lang="zh-CN" altLang="en-US">
                    <a:noFill/>
                  </a:rPr>
                  <a:t> </a:t>
                </a:r>
              </a:p>
            </p:txBody>
          </p:sp>
        </mc:Fallback>
      </mc:AlternateContent>
      <p:cxnSp>
        <p:nvCxnSpPr>
          <p:cNvPr id="2" name="Straight Connector 4">
            <a:extLst>
              <a:ext uri="{FF2B5EF4-FFF2-40B4-BE49-F238E27FC236}">
                <a16:creationId xmlns:a16="http://schemas.microsoft.com/office/drawing/2014/main" id="{94F2CA7E-8A42-53B0-CB92-55DB3E4E6C6F}"/>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pic>
        <p:nvPicPr>
          <p:cNvPr id="3" name="图片 1">
            <a:extLst>
              <a:ext uri="{FF2B5EF4-FFF2-40B4-BE49-F238E27FC236}">
                <a16:creationId xmlns:a16="http://schemas.microsoft.com/office/drawing/2014/main" id="{BA5A247F-7067-40A8-708B-478889D25D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5" name="文本框 4">
            <a:extLst>
              <a:ext uri="{FF2B5EF4-FFF2-40B4-BE49-F238E27FC236}">
                <a16:creationId xmlns:a16="http://schemas.microsoft.com/office/drawing/2014/main" id="{B775E489-A423-8916-AA01-D9648E411205}"/>
              </a:ext>
            </a:extLst>
          </p:cNvPr>
          <p:cNvSpPr txBox="1"/>
          <p:nvPr/>
        </p:nvSpPr>
        <p:spPr>
          <a:xfrm>
            <a:off x="551383" y="61239"/>
            <a:ext cx="2262158" cy="369332"/>
          </a:xfrm>
          <a:prstGeom prst="rect">
            <a:avLst/>
          </a:prstGeom>
          <a:noFill/>
        </p:spPr>
        <p:txBody>
          <a:bodyPr wrap="none" rtlCol="0">
            <a:spAutoFit/>
          </a:bodyPr>
          <a:lstStyle/>
          <a:p>
            <a:r>
              <a:rPr lang="zh-CN" altLang="en-US"/>
              <a:t>附录：工作流程记录</a:t>
            </a:r>
          </a:p>
        </p:txBody>
      </p:sp>
      <p:pic>
        <p:nvPicPr>
          <p:cNvPr id="10" name="图片 9">
            <a:extLst>
              <a:ext uri="{FF2B5EF4-FFF2-40B4-BE49-F238E27FC236}">
                <a16:creationId xmlns:a16="http://schemas.microsoft.com/office/drawing/2014/main" id="{B1C86BCC-8C60-580C-DFC5-5F260E337581}"/>
              </a:ext>
            </a:extLst>
          </p:cNvPr>
          <p:cNvPicPr>
            <a:picLocks noChangeAspect="1"/>
          </p:cNvPicPr>
          <p:nvPr/>
        </p:nvPicPr>
        <p:blipFill>
          <a:blip r:embed="rId5"/>
          <a:srcRect l="3342" t="16335" r="5703" b="30509"/>
          <a:stretch>
            <a:fillRect/>
          </a:stretch>
        </p:blipFill>
        <p:spPr>
          <a:xfrm>
            <a:off x="5591944" y="5229200"/>
            <a:ext cx="4718428" cy="919174"/>
          </a:xfrm>
          <a:prstGeom prst="rect">
            <a:avLst/>
          </a:prstGeom>
        </p:spPr>
      </p:pic>
    </p:spTree>
    <p:extLst>
      <p:ext uri="{BB962C8B-B14F-4D97-AF65-F5344CB8AC3E}">
        <p14:creationId xmlns:p14="http://schemas.microsoft.com/office/powerpoint/2010/main" val="1034911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BBCF7-2EA8-0ECB-F685-93F28E411F24}"/>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DF2FF5A-F0FD-CA2F-6737-44DC4BED7FB8}"/>
              </a:ext>
            </a:extLst>
          </p:cNvPr>
          <p:cNvCxnSpPr>
            <a:cxnSpLocks/>
          </p:cNvCxnSpPr>
          <p:nvPr/>
        </p:nvCxnSpPr>
        <p:spPr>
          <a:xfrm>
            <a:off x="0" y="476672"/>
            <a:ext cx="12192002" cy="0"/>
          </a:xfrm>
          <a:prstGeom prst="line">
            <a:avLst/>
          </a:prstGeom>
          <a:noFill/>
          <a:ln w="38100" cap="flat" cmpd="sng" algn="ctr">
            <a:solidFill>
              <a:srgbClr val="164C8C"/>
            </a:solidFill>
            <a:prstDash val="solid"/>
            <a:miter lim="800000"/>
          </a:ln>
          <a:effectLst/>
        </p:spPr>
      </p:cxnSp>
      <p:sp>
        <p:nvSpPr>
          <p:cNvPr id="11" name="Slide Number Placeholder 2">
            <a:extLst>
              <a:ext uri="{FF2B5EF4-FFF2-40B4-BE49-F238E27FC236}">
                <a16:creationId xmlns:a16="http://schemas.microsoft.com/office/drawing/2014/main" id="{2B736CB4-1D3E-E4EA-05CC-8EE48F4CED4D}"/>
              </a:ext>
            </a:extLst>
          </p:cNvPr>
          <p:cNvSpPr txBox="1">
            <a:spLocks/>
          </p:cNvSpPr>
          <p:nvPr/>
        </p:nvSpPr>
        <p:spPr>
          <a:xfrm>
            <a:off x="9213479" y="6492875"/>
            <a:ext cx="2743201" cy="365125"/>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FD64F0-5018-4E6E-A20B-8D7DA5A17E99}" type="slidenum">
              <a:rPr lang="zh-CN" altLang="en-US" sz="2000" smtClean="0">
                <a:latin typeface="Arial"/>
                <a:ea typeface="Microsoft YaHei"/>
              </a:rPr>
              <a:pPr/>
              <a:t>25</a:t>
            </a:fld>
            <a:endParaRPr lang="zh-CN" altLang="en-US" sz="2000" dirty="0">
              <a:latin typeface="Arial"/>
              <a:ea typeface="Microsoft YaHei"/>
            </a:endParaRPr>
          </a:p>
        </p:txBody>
      </p:sp>
      <p:pic>
        <p:nvPicPr>
          <p:cNvPr id="13" name="图片 1">
            <a:extLst>
              <a:ext uri="{FF2B5EF4-FFF2-40B4-BE49-F238E27FC236}">
                <a16:creationId xmlns:a16="http://schemas.microsoft.com/office/drawing/2014/main" id="{E8E801E3-6EB2-09F6-3A9E-E3FC498209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 y="0"/>
            <a:ext cx="494233" cy="491810"/>
          </a:xfrm>
          <a:prstGeom prst="rect">
            <a:avLst/>
          </a:prstGeom>
        </p:spPr>
      </p:pic>
      <p:sp>
        <p:nvSpPr>
          <p:cNvPr id="3" name="文本框 2">
            <a:extLst>
              <a:ext uri="{FF2B5EF4-FFF2-40B4-BE49-F238E27FC236}">
                <a16:creationId xmlns:a16="http://schemas.microsoft.com/office/drawing/2014/main" id="{C8C89EC9-BC4F-A5AD-1691-35524B21B62F}"/>
              </a:ext>
            </a:extLst>
          </p:cNvPr>
          <p:cNvSpPr txBox="1"/>
          <p:nvPr/>
        </p:nvSpPr>
        <p:spPr>
          <a:xfrm>
            <a:off x="623392" y="69315"/>
            <a:ext cx="11568608" cy="369332"/>
          </a:xfrm>
          <a:prstGeom prst="rect">
            <a:avLst/>
          </a:prstGeom>
          <a:noFill/>
        </p:spPr>
        <p:txBody>
          <a:bodyPr wrap="square" rtlCol="0">
            <a:spAutoFit/>
          </a:bodyPr>
          <a:lstStyle/>
          <a:p>
            <a:r>
              <a:rPr lang="zh-CN" altLang="en-US"/>
              <a:t>附录：</a:t>
            </a:r>
          </a:p>
        </p:txBody>
      </p:sp>
    </p:spTree>
    <p:extLst>
      <p:ext uri="{BB962C8B-B14F-4D97-AF65-F5344CB8AC3E}">
        <p14:creationId xmlns:p14="http://schemas.microsoft.com/office/powerpoint/2010/main" val="1796381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SLIDE_COUNT" val="2"/>
  <p:tag name="ISPRING_PRESENTATION_TITLE" val="PowerPoint 演示文稿01"/>
  <p:tag name="KSO_WPP_MARK_KEY" val="6d347496-bef3-4ed8-be83-f3ee49e2f4f7"/>
  <p:tag name="COMMONDATA" val="eyJoZGlkIjoiY2U5NjU1M2FjYjViMmE5OTQyZDg4Y2Q1ZGRlODhlOGYifQ=="/>
</p:tagLst>
</file>

<file path=ppt/theme/theme1.xml><?xml version="1.0" encoding="utf-8"?>
<a:theme xmlns:a="http://schemas.openxmlformats.org/drawingml/2006/main" name="Office 主题">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9199</TotalTime>
  <Words>5299</Words>
  <Application>Microsoft Office PowerPoint</Application>
  <PresentationFormat>Widescreen</PresentationFormat>
  <Paragraphs>380</Paragraphs>
  <Slides>25</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黑体</vt:lpstr>
      <vt:lpstr>Microsoft YaHei</vt:lpstr>
      <vt:lpstr>Microsoft YaHei</vt:lpstr>
      <vt:lpstr>Arial</vt:lpstr>
      <vt:lpstr>Calibri</vt:lpstr>
      <vt:lpstr>Cambria Math</vt:lpstr>
      <vt:lpstr>Consolas</vt:lpstr>
      <vt:lpstr>Times New Roman</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演示文稿01</dc:title>
  <dc:creator>Administrator</dc:creator>
  <cp:lastModifiedBy>Jingxuan Wei</cp:lastModifiedBy>
  <cp:revision>282</cp:revision>
  <dcterms:created xsi:type="dcterms:W3CDTF">2017-02-11T06:33:00Z</dcterms:created>
  <dcterms:modified xsi:type="dcterms:W3CDTF">2026-09-09T06:43:34Z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2052-11.1.0.12132</vt:lpwstr>
  </property>
  <property fmtid="{D5CDD505-2E9C-101B-9397-08002B2CF9AE}" pid="3" name="ICV">
    <vt:lpwstr>0B8C7CAD01FA465C812CEDF306F48FDA</vt:lpwstr>
  </property>
</Properties>
</file>