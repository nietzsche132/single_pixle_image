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7"/>
  </p:notesMasterIdLst>
  <p:sldIdLst>
    <p:sldId id="335" r:id="rId2"/>
    <p:sldId id="256" r:id="rId3"/>
    <p:sldId id="321" r:id="rId4"/>
    <p:sldId id="323" r:id="rId5"/>
    <p:sldId id="322" r:id="rId6"/>
    <p:sldId id="326" r:id="rId7"/>
    <p:sldId id="328" r:id="rId8"/>
    <p:sldId id="330" r:id="rId9"/>
    <p:sldId id="331" r:id="rId10"/>
    <p:sldId id="334" r:id="rId11"/>
    <p:sldId id="336" r:id="rId12"/>
    <p:sldId id="339" r:id="rId13"/>
    <p:sldId id="340" r:id="rId14"/>
    <p:sldId id="343" r:id="rId15"/>
    <p:sldId id="338" r:id="rId16"/>
    <p:sldId id="345" r:id="rId17"/>
    <p:sldId id="317" r:id="rId18"/>
    <p:sldId id="354" r:id="rId19"/>
    <p:sldId id="355" r:id="rId20"/>
    <p:sldId id="318" r:id="rId21"/>
    <p:sldId id="325" r:id="rId22"/>
    <p:sldId id="324" r:id="rId23"/>
    <p:sldId id="327" r:id="rId24"/>
    <p:sldId id="333" r:id="rId25"/>
    <p:sldId id="344" r:id="rId26"/>
    <p:sldId id="341" r:id="rId27"/>
    <p:sldId id="337" r:id="rId28"/>
    <p:sldId id="356" r:id="rId29"/>
    <p:sldId id="350" r:id="rId30"/>
    <p:sldId id="351" r:id="rId31"/>
    <p:sldId id="352" r:id="rId32"/>
    <p:sldId id="353" r:id="rId33"/>
    <p:sldId id="357" r:id="rId34"/>
    <p:sldId id="358" r:id="rId35"/>
    <p:sldId id="359" r:id="rId36"/>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5">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F8004"/>
    <a:srgbClr val="5B9BD5"/>
    <a:srgbClr val="265C04"/>
    <a:srgbClr val="3366AB"/>
    <a:srgbClr val="3467AB"/>
    <a:srgbClr val="0040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3" autoAdjust="0"/>
    <p:restoredTop sz="94689" autoAdjust="0"/>
  </p:normalViewPr>
  <p:slideViewPr>
    <p:cSldViewPr>
      <p:cViewPr varScale="1">
        <p:scale>
          <a:sx n="116" d="100"/>
          <a:sy n="116" d="100"/>
        </p:scale>
        <p:origin x="363" y="51"/>
      </p:cViewPr>
      <p:guideLst>
        <p:guide orient="horz" pos="2045"/>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6T08:22:42.833"/>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0 0,'2190'0,"-2175"0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6T08:22:49.537"/>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0,'2820'0,"-2805"0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6T08:22:59.809"/>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1,'2735'0,"-2721"0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6T08:23:03.789"/>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0 1,'1735'0,"-1721"0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6T08:23:09.195"/>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0 0,'1893'0,"-1879"0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6T08:23:13.506"/>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0 0,'2541'0,"-2526"0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5BF20-DF3B-4089-A157-C423B81941B8}" type="datetimeFigureOut">
              <a:rPr lang="zh-CN" altLang="en-US" smtClean="0"/>
              <a:t>2026/8/24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E15EC-5485-46CA-B1CB-CC3AF0B8A19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CFDD-9B4D-DF56-ADD7-34BED94669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2ACF57-8F46-AF27-A542-C225B6C471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57FD41-D53E-FC4B-B071-7919AFEF420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FAAD957-787E-D61E-3FB1-17A94AA6EB31}"/>
              </a:ext>
            </a:extLst>
          </p:cNvPr>
          <p:cNvSpPr>
            <a:spLocks noGrp="1"/>
          </p:cNvSpPr>
          <p:nvPr>
            <p:ph type="sldNum" sz="quarter" idx="10"/>
          </p:nvPr>
        </p:nvSpPr>
        <p:spPr/>
        <p:txBody>
          <a:bodyPr/>
          <a:lstStyle/>
          <a:p>
            <a:fld id="{576E15EC-5485-46CA-B1CB-CC3AF0B8A19D}" type="slidenum">
              <a:rPr lang="zh-CN" altLang="en-US" smtClean="0"/>
              <a:t>1</a:t>
            </a:fld>
            <a:endParaRPr lang="zh-CN" altLang="en-US"/>
          </a:p>
        </p:txBody>
      </p:sp>
    </p:spTree>
    <p:extLst>
      <p:ext uri="{BB962C8B-B14F-4D97-AF65-F5344CB8AC3E}">
        <p14:creationId xmlns:p14="http://schemas.microsoft.com/office/powerpoint/2010/main" val="1352419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Redme</a:t>
            </a:r>
            <a:r>
              <a:rPr lang="zh-CN" altLang="en-US"/>
              <a:t>：本模板由泥电</a:t>
            </a:r>
            <a:r>
              <a:rPr lang="en-US" altLang="zh-CN"/>
              <a:t>18</a:t>
            </a:r>
            <a:r>
              <a:rPr lang="zh-CN" altLang="en-US"/>
              <a:t>级学生</a:t>
            </a:r>
            <a:r>
              <a:rPr lang="en-US" altLang="zh-CN"/>
              <a:t>wwh</a:t>
            </a:r>
            <a:r>
              <a:rPr lang="zh-CN" altLang="en-US"/>
              <a:t>在免费模板基础上自制，</a:t>
            </a:r>
            <a:r>
              <a:rPr lang="en-US" altLang="zh-CN"/>
              <a:t>2023/01/06</a:t>
            </a:r>
            <a:r>
              <a:rPr lang="zh-CN" altLang="en-US"/>
              <a:t>后免费公开，欢迎修改与使用</a:t>
            </a:r>
          </a:p>
          <a:p>
            <a:r>
              <a:rPr lang="zh-CN" altLang="en-US"/>
              <a:t>https://github.com/f-555/UESTC-</a:t>
            </a:r>
          </a:p>
        </p:txBody>
      </p:sp>
      <p:sp>
        <p:nvSpPr>
          <p:cNvPr id="4" name="灯片编号占位符 3"/>
          <p:cNvSpPr>
            <a:spLocks noGrp="1"/>
          </p:cNvSpPr>
          <p:nvPr>
            <p:ph type="sldNum" sz="quarter" idx="10"/>
          </p:nvPr>
        </p:nvSpPr>
        <p:spPr/>
        <p:txBody>
          <a:bodyPr/>
          <a:lstStyle/>
          <a:p>
            <a:fld id="{576E15EC-5485-46CA-B1CB-CC3AF0B8A19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6E15EC-5485-46CA-B1CB-CC3AF0B8A19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B8518-9976-1494-8889-56DC9AE5C1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5434C2-9AA0-79AC-5E9B-7D43244C31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E4CED7-A986-5F26-302E-2E5D7B580C7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399A288-7C82-74D8-FF5D-541880447A21}"/>
              </a:ext>
            </a:extLst>
          </p:cNvPr>
          <p:cNvSpPr>
            <a:spLocks noGrp="1"/>
          </p:cNvSpPr>
          <p:nvPr>
            <p:ph type="sldNum" sz="quarter" idx="10"/>
          </p:nvPr>
        </p:nvSpPr>
        <p:spPr/>
        <p:txBody>
          <a:bodyPr/>
          <a:lstStyle/>
          <a:p>
            <a:fld id="{576E15EC-5485-46CA-B1CB-CC3AF0B8A19D}" type="slidenum">
              <a:rPr lang="zh-CN" altLang="en-US" smtClean="0"/>
              <a:t>4</a:t>
            </a:fld>
            <a:endParaRPr lang="zh-CN" altLang="en-US"/>
          </a:p>
        </p:txBody>
      </p:sp>
    </p:spTree>
    <p:extLst>
      <p:ext uri="{BB962C8B-B14F-4D97-AF65-F5344CB8AC3E}">
        <p14:creationId xmlns:p14="http://schemas.microsoft.com/office/powerpoint/2010/main" val="3207973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C1387-A021-90EE-021F-AE80823268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C4A7EC-459C-91A4-2208-77101998CE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D336F1-A883-3280-EDF8-32A8FA9E03A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CAD84FD-1BAE-C5F0-EE10-960EE69F6C44}"/>
              </a:ext>
            </a:extLst>
          </p:cNvPr>
          <p:cNvSpPr>
            <a:spLocks noGrp="1"/>
          </p:cNvSpPr>
          <p:nvPr>
            <p:ph type="sldNum" sz="quarter" idx="10"/>
          </p:nvPr>
        </p:nvSpPr>
        <p:spPr/>
        <p:txBody>
          <a:bodyPr/>
          <a:lstStyle/>
          <a:p>
            <a:fld id="{576E15EC-5485-46CA-B1CB-CC3AF0B8A19D}" type="slidenum">
              <a:rPr lang="zh-CN" altLang="en-US" smtClean="0"/>
              <a:t>5</a:t>
            </a:fld>
            <a:endParaRPr lang="zh-CN" altLang="en-US"/>
          </a:p>
        </p:txBody>
      </p:sp>
    </p:spTree>
    <p:extLst>
      <p:ext uri="{BB962C8B-B14F-4D97-AF65-F5344CB8AC3E}">
        <p14:creationId xmlns:p14="http://schemas.microsoft.com/office/powerpoint/2010/main" val="1590348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FFB91-12C4-A4F4-441B-D67834CCD3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951AF9-7BC8-4D1C-A059-7915F2C9D31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F28B30-DD69-B3D6-0EA8-5761FAB0E85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7BC85F3-3097-CF89-ADBA-3089F1A01B66}"/>
              </a:ext>
            </a:extLst>
          </p:cNvPr>
          <p:cNvSpPr>
            <a:spLocks noGrp="1"/>
          </p:cNvSpPr>
          <p:nvPr>
            <p:ph type="sldNum" sz="quarter" idx="10"/>
          </p:nvPr>
        </p:nvSpPr>
        <p:spPr/>
        <p:txBody>
          <a:bodyPr/>
          <a:lstStyle/>
          <a:p>
            <a:fld id="{576E15EC-5485-46CA-B1CB-CC3AF0B8A19D}" type="slidenum">
              <a:rPr lang="zh-CN" altLang="en-US" smtClean="0"/>
              <a:t>6</a:t>
            </a:fld>
            <a:endParaRPr lang="zh-CN" altLang="en-US"/>
          </a:p>
        </p:txBody>
      </p:sp>
    </p:spTree>
    <p:extLst>
      <p:ext uri="{BB962C8B-B14F-4D97-AF65-F5344CB8AC3E}">
        <p14:creationId xmlns:p14="http://schemas.microsoft.com/office/powerpoint/2010/main" val="405220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62CCD-7E57-4455-71DC-0F4AB2383B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C6ACE9-45AE-201E-DD09-A7ADE5FE76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3C92AB-5CE4-DEC0-6262-5ADDE831D63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876094B-C91D-8A1F-2983-C451496708A3}"/>
              </a:ext>
            </a:extLst>
          </p:cNvPr>
          <p:cNvSpPr>
            <a:spLocks noGrp="1"/>
          </p:cNvSpPr>
          <p:nvPr>
            <p:ph type="sldNum" sz="quarter" idx="10"/>
          </p:nvPr>
        </p:nvSpPr>
        <p:spPr/>
        <p:txBody>
          <a:bodyPr/>
          <a:lstStyle/>
          <a:p>
            <a:fld id="{576E15EC-5485-46CA-B1CB-CC3AF0B8A19D}" type="slidenum">
              <a:rPr lang="zh-CN" altLang="en-US" smtClean="0"/>
              <a:t>7</a:t>
            </a:fld>
            <a:endParaRPr lang="zh-CN" altLang="en-US"/>
          </a:p>
        </p:txBody>
      </p:sp>
    </p:spTree>
    <p:extLst>
      <p:ext uri="{BB962C8B-B14F-4D97-AF65-F5344CB8AC3E}">
        <p14:creationId xmlns:p14="http://schemas.microsoft.com/office/powerpoint/2010/main" val="2374931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AE323-F350-EDB0-E471-DC5C337448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B3F1C8-896E-F872-3964-08EEF3EF89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9F1AE5-0A4B-BFB5-5399-DFD51E4E489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27153C5-02FE-AF3B-DA89-179C21C34D9A}"/>
              </a:ext>
            </a:extLst>
          </p:cNvPr>
          <p:cNvSpPr>
            <a:spLocks noGrp="1"/>
          </p:cNvSpPr>
          <p:nvPr>
            <p:ph type="sldNum" sz="quarter" idx="10"/>
          </p:nvPr>
        </p:nvSpPr>
        <p:spPr/>
        <p:txBody>
          <a:bodyPr/>
          <a:lstStyle/>
          <a:p>
            <a:fld id="{576E15EC-5485-46CA-B1CB-CC3AF0B8A19D}" type="slidenum">
              <a:rPr lang="zh-CN" altLang="en-US" smtClean="0"/>
              <a:t>8</a:t>
            </a:fld>
            <a:endParaRPr lang="zh-CN" altLang="en-US"/>
          </a:p>
        </p:txBody>
      </p:sp>
    </p:spTree>
    <p:extLst>
      <p:ext uri="{BB962C8B-B14F-4D97-AF65-F5344CB8AC3E}">
        <p14:creationId xmlns:p14="http://schemas.microsoft.com/office/powerpoint/2010/main" val="4248643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E05F3-11AC-3CE2-CC3E-8C1D64BDEE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7C093E-1278-E9EA-EE55-13CB84F33A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CE419C6-73B4-DF3A-3164-C4CAE159051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10D5C93-E1AA-E58E-422C-EA5D42C1E284}"/>
              </a:ext>
            </a:extLst>
          </p:cNvPr>
          <p:cNvSpPr>
            <a:spLocks noGrp="1"/>
          </p:cNvSpPr>
          <p:nvPr>
            <p:ph type="sldNum" sz="quarter" idx="10"/>
          </p:nvPr>
        </p:nvSpPr>
        <p:spPr/>
        <p:txBody>
          <a:bodyPr/>
          <a:lstStyle/>
          <a:p>
            <a:fld id="{576E15EC-5485-46CA-B1CB-CC3AF0B8A19D}" type="slidenum">
              <a:rPr lang="zh-CN" altLang="en-US" smtClean="0"/>
              <a:t>9</a:t>
            </a:fld>
            <a:endParaRPr lang="zh-CN" altLang="en-US"/>
          </a:p>
        </p:txBody>
      </p:sp>
    </p:spTree>
    <p:extLst>
      <p:ext uri="{BB962C8B-B14F-4D97-AF65-F5344CB8AC3E}">
        <p14:creationId xmlns:p14="http://schemas.microsoft.com/office/powerpoint/2010/main" val="2692428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C6C17-EFC7-65B3-3908-F1E6D8AD01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72C074-D354-AFF8-475B-9BB0FD769C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F508C7-7903-6E4C-F977-5F2DE655EAD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839289A-D53B-4380-4A09-6624FDF35BC9}"/>
              </a:ext>
            </a:extLst>
          </p:cNvPr>
          <p:cNvSpPr>
            <a:spLocks noGrp="1"/>
          </p:cNvSpPr>
          <p:nvPr>
            <p:ph type="sldNum" sz="quarter" idx="10"/>
          </p:nvPr>
        </p:nvSpPr>
        <p:spPr/>
        <p:txBody>
          <a:bodyPr/>
          <a:lstStyle/>
          <a:p>
            <a:fld id="{576E15EC-5485-46CA-B1CB-CC3AF0B8A19D}" type="slidenum">
              <a:rPr lang="zh-CN" altLang="en-US" smtClean="0"/>
              <a:t>10</a:t>
            </a:fld>
            <a:endParaRPr lang="zh-CN" altLang="en-US"/>
          </a:p>
        </p:txBody>
      </p:sp>
    </p:spTree>
    <p:extLst>
      <p:ext uri="{BB962C8B-B14F-4D97-AF65-F5344CB8AC3E}">
        <p14:creationId xmlns:p14="http://schemas.microsoft.com/office/powerpoint/2010/main" val="2053635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3276C-D2A3-309E-6873-620EF63E5E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C8754E-4B1B-578F-BBE9-24065829F2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AEEA30-7994-D1FA-420C-82A51B8AAD2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CB5F88D-0AB4-E6E8-F9BB-387A7A030523}"/>
              </a:ext>
            </a:extLst>
          </p:cNvPr>
          <p:cNvSpPr>
            <a:spLocks noGrp="1"/>
          </p:cNvSpPr>
          <p:nvPr>
            <p:ph type="sldNum" sz="quarter" idx="10"/>
          </p:nvPr>
        </p:nvSpPr>
        <p:spPr/>
        <p:txBody>
          <a:bodyPr/>
          <a:lstStyle/>
          <a:p>
            <a:fld id="{576E15EC-5485-46CA-B1CB-CC3AF0B8A19D}" type="slidenum">
              <a:rPr lang="zh-CN" altLang="en-US" smtClean="0"/>
              <a:t>11</a:t>
            </a:fld>
            <a:endParaRPr lang="zh-CN" altLang="en-US"/>
          </a:p>
        </p:txBody>
      </p:sp>
    </p:spTree>
    <p:extLst>
      <p:ext uri="{BB962C8B-B14F-4D97-AF65-F5344CB8AC3E}">
        <p14:creationId xmlns:p14="http://schemas.microsoft.com/office/powerpoint/2010/main" val="848368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7CEA0-8C17-9F07-FACB-5D325B48F0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0242B3-6485-6C2C-D047-601B5EB81C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0A936C1-55D7-96C1-2171-3DD9068086C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72B99E9-E8B1-38A6-8754-862AE8A5180B}"/>
              </a:ext>
            </a:extLst>
          </p:cNvPr>
          <p:cNvSpPr>
            <a:spLocks noGrp="1"/>
          </p:cNvSpPr>
          <p:nvPr>
            <p:ph type="sldNum" sz="quarter" idx="10"/>
          </p:nvPr>
        </p:nvSpPr>
        <p:spPr/>
        <p:txBody>
          <a:bodyPr/>
          <a:lstStyle/>
          <a:p>
            <a:fld id="{576E15EC-5485-46CA-B1CB-CC3AF0B8A19D}" type="slidenum">
              <a:rPr lang="zh-CN" altLang="en-US" smtClean="0"/>
              <a:t>12</a:t>
            </a:fld>
            <a:endParaRPr lang="zh-CN" altLang="en-US"/>
          </a:p>
        </p:txBody>
      </p:sp>
    </p:spTree>
    <p:extLst>
      <p:ext uri="{BB962C8B-B14F-4D97-AF65-F5344CB8AC3E}">
        <p14:creationId xmlns:p14="http://schemas.microsoft.com/office/powerpoint/2010/main" val="498475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5B179-BE1E-4673-221A-34917E0211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625B7E-C7CA-D443-C77F-171E55604A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113605-C093-6128-2CA7-4808926CDD0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50475B9-499D-4A0C-73BF-C83150C7D79A}"/>
              </a:ext>
            </a:extLst>
          </p:cNvPr>
          <p:cNvSpPr>
            <a:spLocks noGrp="1"/>
          </p:cNvSpPr>
          <p:nvPr>
            <p:ph type="sldNum" sz="quarter" idx="10"/>
          </p:nvPr>
        </p:nvSpPr>
        <p:spPr/>
        <p:txBody>
          <a:bodyPr/>
          <a:lstStyle/>
          <a:p>
            <a:fld id="{576E15EC-5485-46CA-B1CB-CC3AF0B8A19D}" type="slidenum">
              <a:rPr lang="zh-CN" altLang="en-US" smtClean="0"/>
              <a:t>13</a:t>
            </a:fld>
            <a:endParaRPr lang="zh-CN" altLang="en-US"/>
          </a:p>
        </p:txBody>
      </p:sp>
    </p:spTree>
    <p:extLst>
      <p:ext uri="{BB962C8B-B14F-4D97-AF65-F5344CB8AC3E}">
        <p14:creationId xmlns:p14="http://schemas.microsoft.com/office/powerpoint/2010/main" val="30108590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4A908-C6F7-22BD-E3EC-C154644D2F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8A4137-3D2C-7D95-88A0-3D9D1B3B88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D6B77C-A366-E5E6-75D3-BDCA1F02E64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B943FD6-63A2-CE9D-4FAA-D38FA5A45C0A}"/>
              </a:ext>
            </a:extLst>
          </p:cNvPr>
          <p:cNvSpPr>
            <a:spLocks noGrp="1"/>
          </p:cNvSpPr>
          <p:nvPr>
            <p:ph type="sldNum" sz="quarter" idx="10"/>
          </p:nvPr>
        </p:nvSpPr>
        <p:spPr/>
        <p:txBody>
          <a:bodyPr/>
          <a:lstStyle/>
          <a:p>
            <a:fld id="{576E15EC-5485-46CA-B1CB-CC3AF0B8A19D}" type="slidenum">
              <a:rPr lang="zh-CN" altLang="en-US" smtClean="0"/>
              <a:t>14</a:t>
            </a:fld>
            <a:endParaRPr lang="zh-CN" altLang="en-US"/>
          </a:p>
        </p:txBody>
      </p:sp>
    </p:spTree>
    <p:extLst>
      <p:ext uri="{BB962C8B-B14F-4D97-AF65-F5344CB8AC3E}">
        <p14:creationId xmlns:p14="http://schemas.microsoft.com/office/powerpoint/2010/main" val="3704200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196B3-8117-4A43-4DE0-065CA70648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5B9732-A156-731C-6E27-AFA41BCBCB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E9113A-4558-0834-8A0B-97F27269076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F441307-3B85-5407-27BA-846EF5AE0F41}"/>
              </a:ext>
            </a:extLst>
          </p:cNvPr>
          <p:cNvSpPr>
            <a:spLocks noGrp="1"/>
          </p:cNvSpPr>
          <p:nvPr>
            <p:ph type="sldNum" sz="quarter" idx="10"/>
          </p:nvPr>
        </p:nvSpPr>
        <p:spPr/>
        <p:txBody>
          <a:bodyPr/>
          <a:lstStyle/>
          <a:p>
            <a:fld id="{576E15EC-5485-46CA-B1CB-CC3AF0B8A19D}" type="slidenum">
              <a:rPr lang="zh-CN" altLang="en-US" smtClean="0"/>
              <a:t>15</a:t>
            </a:fld>
            <a:endParaRPr lang="zh-CN" altLang="en-US"/>
          </a:p>
        </p:txBody>
      </p:sp>
    </p:spTree>
    <p:extLst>
      <p:ext uri="{BB962C8B-B14F-4D97-AF65-F5344CB8AC3E}">
        <p14:creationId xmlns:p14="http://schemas.microsoft.com/office/powerpoint/2010/main" val="41148989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EF797-FCA3-3A9B-40B0-6BE4294E3D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206474-DB67-4E7A-4A32-331AB8B1A6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E0F7044-AB80-4745-4592-F5CFA750747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D7979EC-7621-ECB6-D471-47CF0AE2CB92}"/>
              </a:ext>
            </a:extLst>
          </p:cNvPr>
          <p:cNvSpPr>
            <a:spLocks noGrp="1"/>
          </p:cNvSpPr>
          <p:nvPr>
            <p:ph type="sldNum" sz="quarter" idx="10"/>
          </p:nvPr>
        </p:nvSpPr>
        <p:spPr/>
        <p:txBody>
          <a:bodyPr/>
          <a:lstStyle/>
          <a:p>
            <a:fld id="{576E15EC-5485-46CA-B1CB-CC3AF0B8A19D}" type="slidenum">
              <a:rPr lang="zh-CN" altLang="en-US" smtClean="0"/>
              <a:t>16</a:t>
            </a:fld>
            <a:endParaRPr lang="zh-CN" altLang="en-US"/>
          </a:p>
        </p:txBody>
      </p:sp>
    </p:spTree>
    <p:extLst>
      <p:ext uri="{BB962C8B-B14F-4D97-AF65-F5344CB8AC3E}">
        <p14:creationId xmlns:p14="http://schemas.microsoft.com/office/powerpoint/2010/main" val="19218273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D2C50-D892-17E8-DDF8-B69DC5B2CF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FDBD1E-CE91-113F-FC08-02FDDBE4C7A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387D71-C039-7D52-71DC-00B7FB340A5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4D60ACD-7B19-E3CC-6527-0587BE0A7E92}"/>
              </a:ext>
            </a:extLst>
          </p:cNvPr>
          <p:cNvSpPr>
            <a:spLocks noGrp="1"/>
          </p:cNvSpPr>
          <p:nvPr>
            <p:ph type="sldNum" sz="quarter" idx="10"/>
          </p:nvPr>
        </p:nvSpPr>
        <p:spPr/>
        <p:txBody>
          <a:bodyPr/>
          <a:lstStyle/>
          <a:p>
            <a:fld id="{576E15EC-5485-46CA-B1CB-CC3AF0B8A19D}" type="slidenum">
              <a:rPr lang="zh-CN" altLang="en-US" smtClean="0"/>
              <a:t>21</a:t>
            </a:fld>
            <a:endParaRPr lang="zh-CN" altLang="en-US"/>
          </a:p>
        </p:txBody>
      </p:sp>
    </p:spTree>
    <p:extLst>
      <p:ext uri="{BB962C8B-B14F-4D97-AF65-F5344CB8AC3E}">
        <p14:creationId xmlns:p14="http://schemas.microsoft.com/office/powerpoint/2010/main" val="598020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910D7-09A0-59EF-6C8E-B0F0164195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351848-040C-458F-0E73-F4702F3DD5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D3C6CF-08D9-A4B7-D7C4-DA5865BA275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DA84B2F-5752-C14E-F159-8D0F188AA2BB}"/>
              </a:ext>
            </a:extLst>
          </p:cNvPr>
          <p:cNvSpPr>
            <a:spLocks noGrp="1"/>
          </p:cNvSpPr>
          <p:nvPr>
            <p:ph type="sldNum" sz="quarter" idx="10"/>
          </p:nvPr>
        </p:nvSpPr>
        <p:spPr/>
        <p:txBody>
          <a:bodyPr/>
          <a:lstStyle/>
          <a:p>
            <a:fld id="{576E15EC-5485-46CA-B1CB-CC3AF0B8A19D}" type="slidenum">
              <a:rPr lang="zh-CN" altLang="en-US" smtClean="0"/>
              <a:t>22</a:t>
            </a:fld>
            <a:endParaRPr lang="zh-CN" altLang="en-US"/>
          </a:p>
        </p:txBody>
      </p:sp>
    </p:spTree>
    <p:extLst>
      <p:ext uri="{BB962C8B-B14F-4D97-AF65-F5344CB8AC3E}">
        <p14:creationId xmlns:p14="http://schemas.microsoft.com/office/powerpoint/2010/main" val="27932569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FB27B-5ECC-5EA3-6818-47C1B1B61D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BE450D-2209-3C8E-0290-179BA4F0FF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DCDBBB-E48F-BF1A-C5EB-57C9A0C1F7A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F2C0B36-1CE7-E9B7-D1CD-0D6CB86DD4C5}"/>
              </a:ext>
            </a:extLst>
          </p:cNvPr>
          <p:cNvSpPr>
            <a:spLocks noGrp="1"/>
          </p:cNvSpPr>
          <p:nvPr>
            <p:ph type="sldNum" sz="quarter" idx="10"/>
          </p:nvPr>
        </p:nvSpPr>
        <p:spPr/>
        <p:txBody>
          <a:bodyPr/>
          <a:lstStyle/>
          <a:p>
            <a:fld id="{576E15EC-5485-46CA-B1CB-CC3AF0B8A19D}" type="slidenum">
              <a:rPr lang="zh-CN" altLang="en-US" smtClean="0"/>
              <a:t>23</a:t>
            </a:fld>
            <a:endParaRPr lang="zh-CN" altLang="en-US"/>
          </a:p>
        </p:txBody>
      </p:sp>
    </p:spTree>
    <p:extLst>
      <p:ext uri="{BB962C8B-B14F-4D97-AF65-F5344CB8AC3E}">
        <p14:creationId xmlns:p14="http://schemas.microsoft.com/office/powerpoint/2010/main" val="36202550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33951-299B-C906-81B6-6BEB6C6DBA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785615-E923-572A-9792-7E0E7C13FC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328B52-EFFB-5751-211F-9BAE871D5D2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78928B0-2E05-5221-65C6-E2E17BF39821}"/>
              </a:ext>
            </a:extLst>
          </p:cNvPr>
          <p:cNvSpPr>
            <a:spLocks noGrp="1"/>
          </p:cNvSpPr>
          <p:nvPr>
            <p:ph type="sldNum" sz="quarter" idx="10"/>
          </p:nvPr>
        </p:nvSpPr>
        <p:spPr/>
        <p:txBody>
          <a:bodyPr/>
          <a:lstStyle/>
          <a:p>
            <a:fld id="{576E15EC-5485-46CA-B1CB-CC3AF0B8A19D}" type="slidenum">
              <a:rPr lang="zh-CN" altLang="en-US" smtClean="0"/>
              <a:t>24</a:t>
            </a:fld>
            <a:endParaRPr lang="zh-CN" altLang="en-US"/>
          </a:p>
        </p:txBody>
      </p:sp>
    </p:spTree>
    <p:extLst>
      <p:ext uri="{BB962C8B-B14F-4D97-AF65-F5344CB8AC3E}">
        <p14:creationId xmlns:p14="http://schemas.microsoft.com/office/powerpoint/2010/main" val="10860205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4C03A-5EB7-B46E-AAEB-D40DDD7E32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46B19C-5683-F218-F333-19FDB94643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08AF73-06EF-D2CA-04EE-9231C931868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A60085B-5FE1-689B-8956-FA5B809A2613}"/>
              </a:ext>
            </a:extLst>
          </p:cNvPr>
          <p:cNvSpPr>
            <a:spLocks noGrp="1"/>
          </p:cNvSpPr>
          <p:nvPr>
            <p:ph type="sldNum" sz="quarter" idx="10"/>
          </p:nvPr>
        </p:nvSpPr>
        <p:spPr/>
        <p:txBody>
          <a:bodyPr/>
          <a:lstStyle/>
          <a:p>
            <a:fld id="{576E15EC-5485-46CA-B1CB-CC3AF0B8A19D}" type="slidenum">
              <a:rPr lang="zh-CN" altLang="en-US" smtClean="0"/>
              <a:t>25</a:t>
            </a:fld>
            <a:endParaRPr lang="zh-CN" altLang="en-US"/>
          </a:p>
        </p:txBody>
      </p:sp>
    </p:spTree>
    <p:extLst>
      <p:ext uri="{BB962C8B-B14F-4D97-AF65-F5344CB8AC3E}">
        <p14:creationId xmlns:p14="http://schemas.microsoft.com/office/powerpoint/2010/main" val="24463939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DDBD0-445F-B9C5-FC5E-87F42CC561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9C6C09-5E07-2414-15AD-B6532754E3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A2919E-134D-A8D6-24EE-336D0CBCEF2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253D5AA-05AF-BFE3-77FF-B28E8AC1360B}"/>
              </a:ext>
            </a:extLst>
          </p:cNvPr>
          <p:cNvSpPr>
            <a:spLocks noGrp="1"/>
          </p:cNvSpPr>
          <p:nvPr>
            <p:ph type="sldNum" sz="quarter" idx="10"/>
          </p:nvPr>
        </p:nvSpPr>
        <p:spPr/>
        <p:txBody>
          <a:bodyPr/>
          <a:lstStyle/>
          <a:p>
            <a:fld id="{576E15EC-5485-46CA-B1CB-CC3AF0B8A19D}" type="slidenum">
              <a:rPr lang="zh-CN" altLang="en-US" smtClean="0"/>
              <a:t>26</a:t>
            </a:fld>
            <a:endParaRPr lang="zh-CN" altLang="en-US"/>
          </a:p>
        </p:txBody>
      </p:sp>
    </p:spTree>
    <p:extLst>
      <p:ext uri="{BB962C8B-B14F-4D97-AF65-F5344CB8AC3E}">
        <p14:creationId xmlns:p14="http://schemas.microsoft.com/office/powerpoint/2010/main" val="13767438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CFDD-9B4D-DF56-ADD7-34BED94669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2ACF57-8F46-AF27-A542-C225B6C471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57FD41-D53E-FC4B-B071-7919AFEF420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FAAD957-787E-D61E-3FB1-17A94AA6EB31}"/>
              </a:ext>
            </a:extLst>
          </p:cNvPr>
          <p:cNvSpPr>
            <a:spLocks noGrp="1"/>
          </p:cNvSpPr>
          <p:nvPr>
            <p:ph type="sldNum" sz="quarter" idx="10"/>
          </p:nvPr>
        </p:nvSpPr>
        <p:spPr/>
        <p:txBody>
          <a:bodyPr/>
          <a:lstStyle/>
          <a:p>
            <a:fld id="{576E15EC-5485-46CA-B1CB-CC3AF0B8A19D}" type="slidenum">
              <a:rPr lang="zh-CN" altLang="en-US" smtClean="0"/>
              <a:t>27</a:t>
            </a:fld>
            <a:endParaRPr lang="zh-CN" altLang="en-US"/>
          </a:p>
        </p:txBody>
      </p:sp>
    </p:spTree>
    <p:extLst>
      <p:ext uri="{BB962C8B-B14F-4D97-AF65-F5344CB8AC3E}">
        <p14:creationId xmlns:p14="http://schemas.microsoft.com/office/powerpoint/2010/main" val="2132642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E2DD48E-8E4F-444A-B4BD-B64E6E3B346A}" type="datetime1">
              <a:rPr lang="zh-CN" altLang="en-US" smtClean="0"/>
              <a:t>2026/8/24</a:t>
            </a:fld>
            <a:endParaRPr lang="zh-CN" altLang="en-US"/>
          </a:p>
        </p:txBody>
      </p:sp>
      <p:sp>
        <p:nvSpPr>
          <p:cNvPr id="5" name="页脚占位符 4"/>
          <p:cNvSpPr>
            <a:spLocks noGrp="1"/>
          </p:cNvSpPr>
          <p:nvPr>
            <p:ph type="ftr" sz="quarter" idx="11"/>
          </p:nvPr>
        </p:nvSpPr>
        <p:spPr/>
        <p:txBody>
          <a:bodyPr/>
          <a:lstStyle/>
          <a:p>
            <a:r>
              <a:rPr lang="en-US" altLang="zh-CN"/>
              <a:t>1</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内页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B89D39F-753E-4A03-85CC-E3E8C51F34A0}" type="datetime1">
              <a:rPr lang="zh-CN" altLang="en-US" smtClean="0"/>
              <a:t>2026/8/24</a:t>
            </a:fld>
            <a:endParaRPr lang="zh-CN" altLang="en-US"/>
          </a:p>
        </p:txBody>
      </p:sp>
      <p:sp>
        <p:nvSpPr>
          <p:cNvPr id="5" name="页脚占位符 4"/>
          <p:cNvSpPr>
            <a:spLocks noGrp="1"/>
          </p:cNvSpPr>
          <p:nvPr>
            <p:ph type="ftr" sz="quarter" idx="11"/>
          </p:nvPr>
        </p:nvSpPr>
        <p:spPr/>
        <p:txBody>
          <a:bodyPr/>
          <a:lstStyle/>
          <a:p>
            <a:r>
              <a:rPr lang="en-US" altLang="zh-CN"/>
              <a:t>1</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内页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71807B6-8CAD-4197-9F3F-A5A112C959FB}" type="datetime1">
              <a:rPr lang="zh-CN" altLang="en-US" smtClean="0">
                <a:solidFill>
                  <a:srgbClr val="003760">
                    <a:tint val="75000"/>
                  </a:srgbClr>
                </a:solidFill>
              </a:rPr>
              <a:t>2026/8/24</a:t>
            </a:fld>
            <a:endParaRPr lang="zh-CN" altLang="en-US">
              <a:solidFill>
                <a:srgbClr val="003760">
                  <a:tint val="75000"/>
                </a:srgbClr>
              </a:solidFill>
            </a:endParaRPr>
          </a:p>
        </p:txBody>
      </p:sp>
      <p:sp>
        <p:nvSpPr>
          <p:cNvPr id="4" name="页脚占位符 3"/>
          <p:cNvSpPr>
            <a:spLocks noGrp="1"/>
          </p:cNvSpPr>
          <p:nvPr>
            <p:ph type="ftr" sz="quarter" idx="11"/>
          </p:nvPr>
        </p:nvSpPr>
        <p:spPr/>
        <p:txBody>
          <a:bodyPr/>
          <a:lstStyle/>
          <a:p>
            <a:r>
              <a:rPr lang="en-US" altLang="zh-CN">
                <a:solidFill>
                  <a:srgbClr val="003760">
                    <a:tint val="75000"/>
                  </a:srgbClr>
                </a:solidFill>
              </a:rPr>
              <a:t>1</a:t>
            </a:r>
            <a:endParaRPr lang="zh-CN" altLang="en-US">
              <a:solidFill>
                <a:srgbClr val="003760">
                  <a:tint val="75000"/>
                </a:srgb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srgbClr val="003760">
                    <a:tint val="75000"/>
                  </a:srgbClr>
                </a:solidFill>
              </a:rPr>
              <a:t>‹#›</a:t>
            </a:fld>
            <a:endParaRPr lang="zh-CN" altLang="en-US">
              <a:solidFill>
                <a:srgbClr val="003760">
                  <a:tint val="75000"/>
                </a:srgb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41FB502-58F8-422C-9DE3-8AA001458616}" type="datetime1">
              <a:rPr lang="zh-CN" altLang="en-US" smtClean="0"/>
              <a:t>2026/8/24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lvl1pPr>
              <a:defRPr sz="1600">
                <a:solidFill>
                  <a:schemeClr val="tx1"/>
                </a:solidFill>
              </a:defRPr>
            </a:lvl1pPr>
          </a:lstStyle>
          <a:p>
            <a:fld id="{6AFD64F0-5018-4E6E-A20B-8D7DA5A17E99}" type="slidenum">
              <a:rPr lang="zh-CN" altLang="en-US" smtClean="0"/>
              <a:pPr/>
              <a:t>‹#›</a:t>
            </a:fld>
            <a:endParaRPr lang="zh-CN" altLang="en-US" dirty="0"/>
          </a:p>
        </p:txBody>
      </p:sp>
    </p:spTree>
    <p:extLst>
      <p:ext uri="{BB962C8B-B14F-4D97-AF65-F5344CB8AC3E}">
        <p14:creationId xmlns:p14="http://schemas.microsoft.com/office/powerpoint/2010/main" val="4081115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9F3272-2928-42E2-90D4-7E778ABD3CB6}" type="datetime1">
              <a:rPr lang="zh-CN" altLang="en-US" smtClean="0"/>
              <a:t>2026/8/24</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1</a:t>
            </a:r>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slide" Target="slide24.xml"/><Relationship Id="rId7"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10" Type="http://schemas.openxmlformats.org/officeDocument/2006/relationships/image" Target="../media/image14.jpeg"/><Relationship Id="rId4" Type="http://schemas.openxmlformats.org/officeDocument/2006/relationships/image" Target="../media/image8.png"/><Relationship Id="rId9" Type="http://schemas.openxmlformats.org/officeDocument/2006/relationships/image" Target="../media/image13.jpe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26" Type="http://schemas.openxmlformats.org/officeDocument/2006/relationships/slide" Target="slide13.xml"/><Relationship Id="rId3" Type="http://schemas.openxmlformats.org/officeDocument/2006/relationships/image" Target="../media/image15.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2" Type="http://schemas.openxmlformats.org/officeDocument/2006/relationships/notesSlide" Target="../notesSlides/notesSlide11.xml"/><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6.png"/><Relationship Id="rId5" Type="http://schemas.openxmlformats.org/officeDocument/2006/relationships/image" Target="../media/image17.png"/><Relationship Id="rId15" Type="http://schemas.openxmlformats.org/officeDocument/2006/relationships/image" Target="../media/image27.png"/><Relationship Id="rId23" Type="http://schemas.openxmlformats.org/officeDocument/2006/relationships/image" Target="../media/image35.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8.png"/></Relationships>
</file>

<file path=ppt/slides/_rels/slide1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slide" Target="slide14.xml"/><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13.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slide" Target="slide11.xml"/><Relationship Id="rId7" Type="http://schemas.openxmlformats.org/officeDocument/2006/relationships/image" Target="../media/image5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8.png"/><Relationship Id="rId11" Type="http://schemas.openxmlformats.org/officeDocument/2006/relationships/image" Target="../media/image50.png"/><Relationship Id="rId5" Type="http://schemas.openxmlformats.org/officeDocument/2006/relationships/image" Target="../media/image57.png"/><Relationship Id="rId10" Type="http://schemas.openxmlformats.org/officeDocument/2006/relationships/image" Target="../media/image49.png"/><Relationship Id="rId4" Type="http://schemas.openxmlformats.org/officeDocument/2006/relationships/image" Target="../media/image47.png"/><Relationship Id="rId9" Type="http://schemas.openxmlformats.org/officeDocument/2006/relationships/image" Target="../media/image48.png"/></Relationships>
</file>

<file path=ppt/slides/_rels/slide14.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69.png"/><Relationship Id="rId18" Type="http://schemas.openxmlformats.org/officeDocument/2006/relationships/slide" Target="slide25.xml"/><Relationship Id="rId3" Type="http://schemas.openxmlformats.org/officeDocument/2006/relationships/slide" Target="slide12.xml"/><Relationship Id="rId7" Type="http://schemas.openxmlformats.org/officeDocument/2006/relationships/image" Target="../media/image66.png"/><Relationship Id="rId12" Type="http://schemas.openxmlformats.org/officeDocument/2006/relationships/customXml" Target="../ink/ink4.xml"/><Relationship Id="rId17" Type="http://schemas.openxmlformats.org/officeDocument/2006/relationships/image" Target="../media/image71.png"/><Relationship Id="rId2" Type="http://schemas.openxmlformats.org/officeDocument/2006/relationships/notesSlide" Target="../notesSlides/notesSlide14.xml"/><Relationship Id="rId16" Type="http://schemas.openxmlformats.org/officeDocument/2006/relationships/customXml" Target="../ink/ink6.xml"/><Relationship Id="rId1" Type="http://schemas.openxmlformats.org/officeDocument/2006/relationships/slideLayout" Target="../slideLayouts/slideLayout1.xml"/><Relationship Id="rId6" Type="http://schemas.openxmlformats.org/officeDocument/2006/relationships/customXml" Target="../ink/ink1.xml"/><Relationship Id="rId11" Type="http://schemas.openxmlformats.org/officeDocument/2006/relationships/image" Target="../media/image68.png"/><Relationship Id="rId5" Type="http://schemas.openxmlformats.org/officeDocument/2006/relationships/image" Target="../media/image52.png"/><Relationship Id="rId15" Type="http://schemas.openxmlformats.org/officeDocument/2006/relationships/image" Target="../media/image70.png"/><Relationship Id="rId10" Type="http://schemas.openxmlformats.org/officeDocument/2006/relationships/customXml" Target="../ink/ink3.xml"/><Relationship Id="rId4" Type="http://schemas.openxmlformats.org/officeDocument/2006/relationships/image" Target="../media/image51.png"/><Relationship Id="rId9" Type="http://schemas.openxmlformats.org/officeDocument/2006/relationships/image" Target="../media/image67.png"/><Relationship Id="rId14" Type="http://schemas.openxmlformats.org/officeDocument/2006/relationships/customXml" Target="../ink/ink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1"/></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3.png"/><Relationship Id="rId1" Type="http://schemas.openxmlformats.org/officeDocument/2006/relationships/slideLayout" Target="../slideLayouts/slideLayout4.xml"/><Relationship Id="rId5" Type="http://schemas.openxmlformats.org/officeDocument/2006/relationships/image" Target="../media/image61.png"/><Relationship Id="rId4" Type="http://schemas.openxmlformats.org/officeDocument/2006/relationships/image" Target="../media/image54.1"/></Relationships>
</file>

<file path=ppt/slides/_rels/slide1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3.png"/></Relationships>
</file>

<file path=ppt/slides/_rels/slide24.xml.rels><?xml version="1.0" encoding="UTF-8" standalone="yes"?>
<Relationships xmlns="http://schemas.openxmlformats.org/package/2006/relationships"><Relationship Id="rId3" Type="http://schemas.openxmlformats.org/officeDocument/2006/relationships/image" Target="../media/image74.jpeg"/><Relationship Id="rId7" Type="http://schemas.openxmlformats.org/officeDocument/2006/relationships/slide" Target="slide10.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77.jpeg"/><Relationship Id="rId5" Type="http://schemas.openxmlformats.org/officeDocument/2006/relationships/image" Target="../media/image76.jpeg"/><Relationship Id="rId4" Type="http://schemas.openxmlformats.org/officeDocument/2006/relationships/image" Target="../media/image75.jpeg"/></Relationships>
</file>

<file path=ppt/slides/_rels/slide25.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20.png"/><Relationship Id="rId5" Type="http://schemas.openxmlformats.org/officeDocument/2006/relationships/image" Target="../media/image50.png"/><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slide" Target="slide16.xml"/><Relationship Id="rId7" Type="http://schemas.openxmlformats.org/officeDocument/2006/relationships/image" Target="../media/image86.png"/><Relationship Id="rId2" Type="http://schemas.openxmlformats.org/officeDocument/2006/relationships/image" Target="../media/image53.png"/><Relationship Id="rId1" Type="http://schemas.openxmlformats.org/officeDocument/2006/relationships/slideLayout" Target="../slideLayouts/slideLayout4.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2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53.png"/><Relationship Id="rId1" Type="http://schemas.openxmlformats.org/officeDocument/2006/relationships/slideLayout" Target="../slideLayouts/slideLayout4.xml"/><Relationship Id="rId4" Type="http://schemas.openxmlformats.org/officeDocument/2006/relationships/image" Target="../media/image89.png"/></Relationships>
</file>

<file path=ppt/slides/_rels/slide3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53.png"/><Relationship Id="rId1" Type="http://schemas.openxmlformats.org/officeDocument/2006/relationships/slideLayout" Target="../slideLayouts/slideLayout4.xml"/><Relationship Id="rId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53.png"/><Relationship Id="rId1" Type="http://schemas.openxmlformats.org/officeDocument/2006/relationships/slideLayout" Target="../slideLayouts/slideLayout4.xml"/><Relationship Id="rId4" Type="http://schemas.openxmlformats.org/officeDocument/2006/relationships/image" Target="../media/image93.png"/></Relationships>
</file>

<file path=ppt/slides/_rels/slide3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53.png"/><Relationship Id="rId1" Type="http://schemas.openxmlformats.org/officeDocument/2006/relationships/slideLayout" Target="../slideLayouts/slideLayout4.xml"/><Relationship Id="rId4" Type="http://schemas.openxmlformats.org/officeDocument/2006/relationships/image" Target="../media/image95.png"/></Relationships>
</file>

<file path=ppt/slides/_rels/slide3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5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EA2C205-C2D1-60EB-7B33-BCB1F960769F}"/>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0134A5A9-4063-DE66-E3F1-9D77199AF31A}"/>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55B91FFE-C1FF-B781-793F-86EB2CD0E442}"/>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53F7A69C-C482-F708-8385-BBB4397EA8E6}"/>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472A0FA8-6FA7-CB4F-3439-0C30C7885C60}"/>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内容概述</a:t>
            </a:r>
          </a:p>
        </p:txBody>
      </p:sp>
      <p:sp>
        <p:nvSpPr>
          <p:cNvPr id="14" name="文本框 13">
            <a:extLst>
              <a:ext uri="{FF2B5EF4-FFF2-40B4-BE49-F238E27FC236}">
                <a16:creationId xmlns:a16="http://schemas.microsoft.com/office/drawing/2014/main" id="{296032C3-CB6E-8B71-B238-9B515534CDDE}"/>
              </a:ext>
            </a:extLst>
          </p:cNvPr>
          <p:cNvSpPr txBox="1"/>
          <p:nvPr/>
        </p:nvSpPr>
        <p:spPr>
          <a:xfrm>
            <a:off x="622935" y="190381"/>
            <a:ext cx="2304415" cy="646331"/>
          </a:xfrm>
          <a:prstGeom prst="rect">
            <a:avLst/>
          </a:prstGeom>
          <a:noFill/>
        </p:spPr>
        <p:txBody>
          <a:bodyPr wrap="square" rtlCol="0">
            <a:spAutoFit/>
          </a:bodyPr>
          <a:lstStyle/>
          <a:p>
            <a:pPr algn="ctr"/>
            <a:r>
              <a:rPr lang="en-US" altLang="zh-CN" sz="3600" b="1" dirty="0">
                <a:solidFill>
                  <a:srgbClr val="3467AB"/>
                </a:solidFill>
              </a:rPr>
              <a:t>8.24</a:t>
            </a:r>
          </a:p>
        </p:txBody>
      </p:sp>
      <p:sp>
        <p:nvSpPr>
          <p:cNvPr id="5" name="文本框 4">
            <a:extLst>
              <a:ext uri="{FF2B5EF4-FFF2-40B4-BE49-F238E27FC236}">
                <a16:creationId xmlns:a16="http://schemas.microsoft.com/office/drawing/2014/main" id="{FD0C84DA-EFEA-1A1D-C75F-76E204FDB575}"/>
              </a:ext>
            </a:extLst>
          </p:cNvPr>
          <p:cNvSpPr txBox="1"/>
          <p:nvPr/>
        </p:nvSpPr>
        <p:spPr>
          <a:xfrm>
            <a:off x="239712" y="980728"/>
            <a:ext cx="10541414" cy="369332"/>
          </a:xfrm>
          <a:prstGeom prst="rect">
            <a:avLst/>
          </a:prstGeom>
          <a:noFill/>
        </p:spPr>
        <p:txBody>
          <a:bodyPr wrap="square" rtlCol="0">
            <a:spAutoFit/>
          </a:bodyPr>
          <a:lstStyle/>
          <a:p>
            <a:r>
              <a:rPr lang="en-US" altLang="zh-CN" dirty="0"/>
              <a:t>2026.8.24</a:t>
            </a:r>
            <a:r>
              <a:rPr lang="zh-CN" altLang="en-US" dirty="0"/>
              <a:t>工作情况：新增内容为</a:t>
            </a:r>
            <a:r>
              <a:rPr lang="en-US" altLang="zh-CN" dirty="0"/>
              <a:t>P17,P18,</a:t>
            </a:r>
            <a:r>
              <a:rPr lang="zh-CN" altLang="en-US" dirty="0"/>
              <a:t>附录</a:t>
            </a:r>
            <a:r>
              <a:rPr lang="en-US" altLang="zh-CN" dirty="0"/>
              <a:t>P28,</a:t>
            </a:r>
            <a:r>
              <a:rPr lang="zh-CN" altLang="en-US" dirty="0"/>
              <a:t>文献阅读</a:t>
            </a:r>
            <a:r>
              <a:rPr lang="en-US" altLang="zh-CN" dirty="0"/>
              <a:t>P29——P35</a:t>
            </a:r>
          </a:p>
        </p:txBody>
      </p:sp>
      <p:sp>
        <p:nvSpPr>
          <p:cNvPr id="7" name="文本框 6">
            <a:extLst>
              <a:ext uri="{FF2B5EF4-FFF2-40B4-BE49-F238E27FC236}">
                <a16:creationId xmlns:a16="http://schemas.microsoft.com/office/drawing/2014/main" id="{B9423437-BB1C-7A78-B595-C0E65161766C}"/>
              </a:ext>
            </a:extLst>
          </p:cNvPr>
          <p:cNvSpPr txBox="1"/>
          <p:nvPr/>
        </p:nvSpPr>
        <p:spPr>
          <a:xfrm>
            <a:off x="239712" y="1412776"/>
            <a:ext cx="10541414" cy="1815882"/>
          </a:xfrm>
          <a:prstGeom prst="rect">
            <a:avLst/>
          </a:prstGeom>
          <a:noFill/>
        </p:spPr>
        <p:txBody>
          <a:bodyPr wrap="square" rtlCol="0">
            <a:spAutoFit/>
          </a:bodyPr>
          <a:lstStyle/>
          <a:p>
            <a:pPr marL="285750" indent="-285750">
              <a:buFont typeface="Arial" panose="020B0604020202020204" pitchFamily="34" charset="0"/>
              <a:buChar char="•"/>
            </a:pPr>
            <a:r>
              <a:rPr lang="zh-CN" altLang="en-US" sz="2000" b="1" dirty="0"/>
              <a:t>目前已经完成的工作：</a:t>
            </a:r>
            <a:endParaRPr lang="en-US" altLang="zh-CN" sz="2000" b="1" dirty="0"/>
          </a:p>
          <a:p>
            <a:pPr marL="342900" indent="-342900">
              <a:buFont typeface="+mj-lt"/>
              <a:buAutoNum type="arabicPeriod"/>
            </a:pPr>
            <a:r>
              <a:rPr lang="en-US" altLang="zh-CN" dirty="0"/>
              <a:t>PEM</a:t>
            </a:r>
            <a:r>
              <a:rPr lang="zh-CN" altLang="en-US" dirty="0"/>
              <a:t>已经修好，光路部分准备完毕</a:t>
            </a:r>
            <a:endParaRPr lang="en-US" altLang="zh-CN" dirty="0"/>
          </a:p>
          <a:p>
            <a:pPr marL="285750" indent="-285750">
              <a:buFont typeface="Arial" panose="020B0604020202020204" pitchFamily="34" charset="0"/>
              <a:buChar char="•"/>
            </a:pPr>
            <a:r>
              <a:rPr lang="zh-CN" altLang="en-US" sz="2000" b="1" dirty="0"/>
              <a:t>接下来的工作安排：</a:t>
            </a:r>
            <a:endParaRPr lang="en-US" altLang="zh-CN" sz="2000" b="1" dirty="0"/>
          </a:p>
          <a:p>
            <a:pPr marL="342900" indent="-342900">
              <a:buFont typeface="+mj-lt"/>
              <a:buAutoNum type="arabicPeriod"/>
            </a:pPr>
            <a:r>
              <a:rPr lang="zh-CN" altLang="en-US" dirty="0"/>
              <a:t>采集输出光强数据进行图像恢复，采集直流信号，</a:t>
            </a:r>
            <a:r>
              <a:rPr lang="en-US" altLang="zh-CN" dirty="0"/>
              <a:t>1f</a:t>
            </a:r>
            <a:r>
              <a:rPr lang="zh-CN" altLang="en-US" dirty="0"/>
              <a:t>信号和</a:t>
            </a:r>
            <a:r>
              <a:rPr lang="en-US" altLang="zh-CN" dirty="0"/>
              <a:t>2f</a:t>
            </a:r>
            <a:r>
              <a:rPr lang="zh-CN" altLang="en-US" dirty="0"/>
              <a:t>信号尝试对斯托克斯参数进行恢复</a:t>
            </a:r>
            <a:endParaRPr lang="en-US" altLang="zh-CN" dirty="0"/>
          </a:p>
          <a:p>
            <a:pPr marL="342900" indent="-342900">
              <a:buFont typeface="+mj-lt"/>
              <a:buAutoNum type="arabicPeriod"/>
            </a:pPr>
            <a:r>
              <a:rPr lang="zh-CN" altLang="en-US" dirty="0"/>
              <a:t>使用偏振相机进行图片的标准斯托克斯参数标定</a:t>
            </a:r>
            <a:endParaRPr lang="en-US" altLang="zh-CN" dirty="0"/>
          </a:p>
          <a:p>
            <a:pPr marL="342900" indent="-342900">
              <a:buFont typeface="+mj-lt"/>
              <a:buAutoNum type="arabicPeriod"/>
            </a:pPr>
            <a:r>
              <a:rPr lang="zh-CN" altLang="en-US" dirty="0"/>
              <a:t>阅读</a:t>
            </a:r>
            <a:r>
              <a:rPr lang="en-US" altLang="zh-CN" dirty="0"/>
              <a:t>DMD</a:t>
            </a:r>
            <a:r>
              <a:rPr lang="zh-CN" altLang="en-US" dirty="0"/>
              <a:t>文章，尝试进行</a:t>
            </a:r>
            <a:r>
              <a:rPr lang="en-US" altLang="zh-CN" dirty="0"/>
              <a:t>DMD</a:t>
            </a:r>
            <a:r>
              <a:rPr lang="zh-CN" altLang="en-US" dirty="0"/>
              <a:t>编码</a:t>
            </a:r>
            <a:r>
              <a:rPr lang="en-US" altLang="zh-CN" dirty="0"/>
              <a:t>RGB</a:t>
            </a:r>
            <a:r>
              <a:rPr lang="zh-CN" altLang="en-US" dirty="0"/>
              <a:t>至斯托克斯参数的仿真</a:t>
            </a:r>
            <a:endParaRPr lang="en-US" altLang="zh-CN" dirty="0"/>
          </a:p>
        </p:txBody>
      </p:sp>
    </p:spTree>
    <p:extLst>
      <p:ext uri="{BB962C8B-B14F-4D97-AF65-F5344CB8AC3E}">
        <p14:creationId xmlns:p14="http://schemas.microsoft.com/office/powerpoint/2010/main" val="754433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矩形 10"/>
          <p:cNvSpPr/>
          <p:nvPr/>
        </p:nvSpPr>
        <p:spPr>
          <a:xfrm>
            <a:off x="-635" y="2117090"/>
            <a:ext cx="12192635" cy="2097405"/>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5" name="文本框 4"/>
          <p:cNvSpPr txBox="1"/>
          <p:nvPr/>
        </p:nvSpPr>
        <p:spPr>
          <a:xfrm>
            <a:off x="3072130" y="2329815"/>
            <a:ext cx="5787390" cy="830997"/>
          </a:xfrm>
          <a:prstGeom prst="rect">
            <a:avLst/>
          </a:prstGeom>
          <a:noFill/>
        </p:spPr>
        <p:txBody>
          <a:bodyPr wrap="square" rtlCol="0">
            <a:spAutoFit/>
          </a:bodyPr>
          <a:lstStyle/>
          <a:p>
            <a:pPr algn="ctr"/>
            <a:r>
              <a:rPr lang="zh-CN" altLang="en-US" sz="4800" b="1" dirty="0">
                <a:solidFill>
                  <a:srgbClr val="FFFFFF"/>
                </a:solidFill>
                <a:cs typeface="+mn-ea"/>
                <a:sym typeface="+mn-lt"/>
              </a:rPr>
              <a:t>光路调整</a:t>
            </a:r>
          </a:p>
        </p:txBody>
      </p:sp>
      <p:grpSp>
        <p:nvGrpSpPr>
          <p:cNvPr id="19" name="组合 18"/>
          <p:cNvGrpSpPr/>
          <p:nvPr/>
        </p:nvGrpSpPr>
        <p:grpSpPr>
          <a:xfrm>
            <a:off x="1917814" y="3437424"/>
            <a:ext cx="8414158" cy="521970"/>
            <a:chOff x="2292529" y="3029773"/>
            <a:chExt cx="8414158" cy="521970"/>
          </a:xfrm>
        </p:grpSpPr>
        <p:sp>
          <p:nvSpPr>
            <p:cNvPr id="6" name="文本框 9"/>
            <p:cNvSpPr txBox="1">
              <a:spLocks noChangeArrowheads="1"/>
            </p:cNvSpPr>
            <p:nvPr/>
          </p:nvSpPr>
          <p:spPr bwMode="auto">
            <a:xfrm>
              <a:off x="3912414" y="3029773"/>
              <a:ext cx="48926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eaLnBrk="1" hangingPunct="1"/>
              <a:r>
                <a:rPr lang="en-US" altLang="zh-CN" sz="2800" b="1" dirty="0">
                  <a:solidFill>
                    <a:srgbClr val="FFFFFF"/>
                  </a:solidFill>
                  <a:latin typeface="微软雅黑" panose="020B0503020204020204" pitchFamily="34" charset="-122"/>
                  <a:ea typeface="微软雅黑" panose="020B0503020204020204" pitchFamily="34" charset="-122"/>
                </a:rPr>
                <a:t> 2026.6.5</a:t>
              </a:r>
            </a:p>
          </p:txBody>
        </p:sp>
        <p:cxnSp>
          <p:nvCxnSpPr>
            <p:cNvPr id="7" name="直接连接符 6"/>
            <p:cNvCxnSpPr>
              <a:cxnSpLocks noChangeShapeType="1"/>
              <a:stCxn id="6" idx="3"/>
            </p:cNvCxnSpPr>
            <p:nvPr/>
          </p:nvCxnSpPr>
          <p:spPr bwMode="auto">
            <a:xfrm>
              <a:off x="8805128" y="3290411"/>
              <a:ext cx="1901559" cy="0"/>
            </a:xfrm>
            <a:prstGeom prst="line">
              <a:avLst/>
            </a:prstGeom>
            <a:noFill/>
            <a:ln w="6350">
              <a:solidFill>
                <a:srgbClr val="FFFFFF"/>
              </a:solidFill>
              <a:round/>
            </a:ln>
            <a:extLst>
              <a:ext uri="{909E8E84-426E-40DD-AFC4-6F175D3DCCD1}">
                <a14:hiddenFill xmlns:a14="http://schemas.microsoft.com/office/drawing/2010/main">
                  <a:noFill/>
                </a14:hiddenFill>
              </a:ext>
            </a:extLst>
          </p:spPr>
        </p:cxnSp>
        <p:cxnSp>
          <p:nvCxnSpPr>
            <p:cNvPr id="8" name="直接连接符 7"/>
            <p:cNvCxnSpPr>
              <a:cxnSpLocks noChangeShapeType="1"/>
              <a:endCxn id="6" idx="1"/>
            </p:cNvCxnSpPr>
            <p:nvPr/>
          </p:nvCxnSpPr>
          <p:spPr bwMode="auto">
            <a:xfrm>
              <a:off x="2292529" y="3290411"/>
              <a:ext cx="1620000" cy="0"/>
            </a:xfrm>
            <a:prstGeom prst="line">
              <a:avLst/>
            </a:prstGeom>
            <a:noFill/>
            <a:ln w="28575" cmpd="sng">
              <a:solidFill>
                <a:srgbClr val="FFFFFF"/>
              </a:solidFill>
              <a:prstDash val="solid"/>
              <a:round/>
            </a:ln>
            <a:extLst>
              <a:ext uri="{909E8E84-426E-40DD-AFC4-6F175D3DCCD1}">
                <a14:hiddenFill xmlns:a14="http://schemas.microsoft.com/office/drawing/2010/main">
                  <a:noFill/>
                </a14:hiddenFill>
              </a:ext>
            </a:extLst>
          </p:spPr>
        </p:cxnSp>
      </p:grpSp>
      <p:pic>
        <p:nvPicPr>
          <p:cNvPr id="9" name="图片 8" descr="主楼线稿-正"/>
          <p:cNvPicPr>
            <a:picLocks noChangeAspect="1"/>
          </p:cNvPicPr>
          <p:nvPr/>
        </p:nvPicPr>
        <p:blipFill>
          <a:blip r:embed="rId3"/>
          <a:stretch>
            <a:fillRect/>
          </a:stretch>
        </p:blipFill>
        <p:spPr>
          <a:xfrm>
            <a:off x="-6350" y="5268595"/>
            <a:ext cx="12211050" cy="1589405"/>
          </a:xfrm>
          <a:prstGeom prst="rect">
            <a:avLst/>
          </a:prstGeom>
          <a:effectLst>
            <a:glow rad="12700">
              <a:srgbClr val="004097">
                <a:alpha val="40000"/>
              </a:srgbClr>
            </a:glow>
          </a:effectLst>
        </p:spPr>
      </p:pic>
      <p:pic>
        <p:nvPicPr>
          <p:cNvPr id="10" name="图片 9" descr="校标组合1"/>
          <p:cNvPicPr>
            <a:picLocks noChangeAspect="1"/>
          </p:cNvPicPr>
          <p:nvPr/>
        </p:nvPicPr>
        <p:blipFill>
          <a:blip r:embed="rId4"/>
          <a:stretch>
            <a:fillRect/>
          </a:stretch>
        </p:blipFill>
        <p:spPr>
          <a:xfrm>
            <a:off x="434340" y="219075"/>
            <a:ext cx="4062095" cy="923290"/>
          </a:xfrm>
          <a:prstGeom prst="rect">
            <a:avLst/>
          </a:prstGeom>
        </p:spPr>
      </p:pic>
      <p:sp>
        <p:nvSpPr>
          <p:cNvPr id="12" name="矩形 11"/>
          <p:cNvSpPr/>
          <p:nvPr/>
        </p:nvSpPr>
        <p:spPr>
          <a:xfrm>
            <a:off x="3175" y="1812290"/>
            <a:ext cx="12192635" cy="189865"/>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3" name="矩形 12"/>
          <p:cNvSpPr/>
          <p:nvPr/>
        </p:nvSpPr>
        <p:spPr>
          <a:xfrm>
            <a:off x="12065" y="4316730"/>
            <a:ext cx="12192635" cy="189865"/>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矩形 7"/>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p:cNvSpPr/>
          <p:nvPr/>
        </p:nvSpPr>
        <p:spPr>
          <a:xfrm>
            <a:off x="2927648" y="150946"/>
            <a:ext cx="5398770"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2" name="图片 11" descr="校标组合1"/>
          <p:cNvPicPr>
            <a:picLocks noChangeAspect="1"/>
          </p:cNvPicPr>
          <p:nvPr/>
        </p:nvPicPr>
        <p:blipFill>
          <a:blip r:embed="rId4"/>
          <a:stretch>
            <a:fillRect/>
          </a:stretch>
        </p:blipFill>
        <p:spPr>
          <a:xfrm>
            <a:off x="9082683" y="178217"/>
            <a:ext cx="2898775" cy="658495"/>
          </a:xfrm>
          <a:prstGeom prst="rect">
            <a:avLst/>
          </a:prstGeom>
        </p:spPr>
      </p:pic>
      <p:sp>
        <p:nvSpPr>
          <p:cNvPr id="13" name="文本框 12"/>
          <p:cNvSpPr txBox="1"/>
          <p:nvPr/>
        </p:nvSpPr>
        <p:spPr>
          <a:xfrm>
            <a:off x="2948196" y="221158"/>
            <a:ext cx="4299931"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单像素成像流程进展</a:t>
            </a:r>
          </a:p>
        </p:txBody>
      </p:sp>
      <p:sp>
        <p:nvSpPr>
          <p:cNvPr id="14" name="文本框 13"/>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总体</a:t>
            </a:r>
          </a:p>
        </p:txBody>
      </p:sp>
      <p:sp>
        <p:nvSpPr>
          <p:cNvPr id="2" name="矩形: 圆角 1">
            <a:extLst>
              <a:ext uri="{FF2B5EF4-FFF2-40B4-BE49-F238E27FC236}">
                <a16:creationId xmlns:a16="http://schemas.microsoft.com/office/drawing/2014/main" id="{0BFD3A8B-3320-F238-12BD-F486A59C34F0}"/>
              </a:ext>
            </a:extLst>
          </p:cNvPr>
          <p:cNvSpPr/>
          <p:nvPr/>
        </p:nvSpPr>
        <p:spPr>
          <a:xfrm>
            <a:off x="47327" y="1124744"/>
            <a:ext cx="3130861" cy="893507"/>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基于四步移相法的单像素傅里叶单像素成像系统搭建</a:t>
            </a:r>
            <a:endParaRPr lang="en-US" altLang="zh-CN" dirty="0"/>
          </a:p>
          <a:p>
            <a:pPr algn="ctr"/>
            <a:r>
              <a:rPr lang="en-US" altLang="zh-CN" dirty="0"/>
              <a:t>FFT</a:t>
            </a:r>
            <a:r>
              <a:rPr lang="zh-CN" altLang="en-US" dirty="0"/>
              <a:t>方法</a:t>
            </a:r>
          </a:p>
        </p:txBody>
      </p:sp>
      <p:sp>
        <p:nvSpPr>
          <p:cNvPr id="4" name="箭头: 下 3">
            <a:extLst>
              <a:ext uri="{FF2B5EF4-FFF2-40B4-BE49-F238E27FC236}">
                <a16:creationId xmlns:a16="http://schemas.microsoft.com/office/drawing/2014/main" id="{04A8CF94-20DB-1636-9553-663491C8425B}"/>
              </a:ext>
            </a:extLst>
          </p:cNvPr>
          <p:cNvSpPr/>
          <p:nvPr/>
        </p:nvSpPr>
        <p:spPr>
          <a:xfrm>
            <a:off x="1271464" y="2175547"/>
            <a:ext cx="576064" cy="1026114"/>
          </a:xfrm>
          <a:prstGeom prst="down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下 4">
            <a:extLst>
              <a:ext uri="{FF2B5EF4-FFF2-40B4-BE49-F238E27FC236}">
                <a16:creationId xmlns:a16="http://schemas.microsoft.com/office/drawing/2014/main" id="{B2B3A6CF-1B76-97DC-6211-7E73D47B4DEE}"/>
              </a:ext>
            </a:extLst>
          </p:cNvPr>
          <p:cNvSpPr/>
          <p:nvPr/>
        </p:nvSpPr>
        <p:spPr>
          <a:xfrm rot="16200000">
            <a:off x="2116814" y="2758013"/>
            <a:ext cx="576064" cy="1834716"/>
          </a:xfrm>
          <a:prstGeom prst="down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圆角 9">
            <a:extLst>
              <a:ext uri="{FF2B5EF4-FFF2-40B4-BE49-F238E27FC236}">
                <a16:creationId xmlns:a16="http://schemas.microsoft.com/office/drawing/2014/main" id="{7F987147-AC9B-3119-D803-A7812829C26C}"/>
              </a:ext>
            </a:extLst>
          </p:cNvPr>
          <p:cNvSpPr/>
          <p:nvPr/>
        </p:nvSpPr>
        <p:spPr>
          <a:xfrm>
            <a:off x="695400" y="5301208"/>
            <a:ext cx="1656184" cy="68389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压缩感知方法</a:t>
            </a:r>
          </a:p>
        </p:txBody>
      </p:sp>
      <p:sp>
        <p:nvSpPr>
          <p:cNvPr id="15" name="箭头: 下 14">
            <a:extLst>
              <a:ext uri="{FF2B5EF4-FFF2-40B4-BE49-F238E27FC236}">
                <a16:creationId xmlns:a16="http://schemas.microsoft.com/office/drawing/2014/main" id="{11113242-F86F-19ED-1B06-02676FE655E5}"/>
              </a:ext>
            </a:extLst>
          </p:cNvPr>
          <p:cNvSpPr/>
          <p:nvPr/>
        </p:nvSpPr>
        <p:spPr>
          <a:xfrm rot="10800000">
            <a:off x="1271464" y="4005064"/>
            <a:ext cx="576064" cy="1026114"/>
          </a:xfrm>
          <a:prstGeom prst="down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D818ED52-AB36-F3AC-1C9C-1F8B1327E4E9}"/>
              </a:ext>
            </a:extLst>
          </p:cNvPr>
          <p:cNvSpPr/>
          <p:nvPr/>
        </p:nvSpPr>
        <p:spPr>
          <a:xfrm>
            <a:off x="3791744" y="2636912"/>
            <a:ext cx="1656184" cy="68389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FFT</a:t>
            </a:r>
            <a:r>
              <a:rPr lang="zh-CN" altLang="en-US" dirty="0"/>
              <a:t>方法</a:t>
            </a:r>
          </a:p>
        </p:txBody>
      </p:sp>
      <p:sp>
        <p:nvSpPr>
          <p:cNvPr id="17" name="文本框 16">
            <a:extLst>
              <a:ext uri="{FF2B5EF4-FFF2-40B4-BE49-F238E27FC236}">
                <a16:creationId xmlns:a16="http://schemas.microsoft.com/office/drawing/2014/main" id="{E54B3498-D361-0290-F9FE-40946E704B7A}"/>
              </a:ext>
            </a:extLst>
          </p:cNvPr>
          <p:cNvSpPr txBox="1"/>
          <p:nvPr/>
        </p:nvSpPr>
        <p:spPr>
          <a:xfrm>
            <a:off x="1612757" y="4476416"/>
            <a:ext cx="2304256" cy="646331"/>
          </a:xfrm>
          <a:prstGeom prst="rect">
            <a:avLst/>
          </a:prstGeom>
          <a:noFill/>
        </p:spPr>
        <p:txBody>
          <a:bodyPr wrap="square" rtlCol="0">
            <a:spAutoFit/>
          </a:bodyPr>
          <a:lstStyle/>
          <a:p>
            <a:r>
              <a:rPr lang="zh-CN" altLang="en-US" dirty="0"/>
              <a:t>意外出错，把滤波器当成了的压缩感知</a:t>
            </a:r>
          </a:p>
        </p:txBody>
      </p:sp>
      <p:sp>
        <p:nvSpPr>
          <p:cNvPr id="22" name="加号 21">
            <a:extLst>
              <a:ext uri="{FF2B5EF4-FFF2-40B4-BE49-F238E27FC236}">
                <a16:creationId xmlns:a16="http://schemas.microsoft.com/office/drawing/2014/main" id="{D81218BC-1546-19DA-E4B8-89C6E7903145}"/>
              </a:ext>
            </a:extLst>
          </p:cNvPr>
          <p:cNvSpPr/>
          <p:nvPr/>
        </p:nvSpPr>
        <p:spPr>
          <a:xfrm>
            <a:off x="4285650" y="3355420"/>
            <a:ext cx="720080" cy="736124"/>
          </a:xfrm>
          <a:prstGeom prst="mathPlus">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14E35224-C835-2009-211B-E2FC614789FB}"/>
              </a:ext>
            </a:extLst>
          </p:cNvPr>
          <p:cNvSpPr/>
          <p:nvPr/>
        </p:nvSpPr>
        <p:spPr>
          <a:xfrm>
            <a:off x="3791744" y="4072733"/>
            <a:ext cx="1656184" cy="68389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滤波器</a:t>
            </a:r>
          </a:p>
        </p:txBody>
      </p:sp>
      <p:sp>
        <p:nvSpPr>
          <p:cNvPr id="24" name="箭头: 下 23">
            <a:extLst>
              <a:ext uri="{FF2B5EF4-FFF2-40B4-BE49-F238E27FC236}">
                <a16:creationId xmlns:a16="http://schemas.microsoft.com/office/drawing/2014/main" id="{5A460EFC-9DD7-40AF-0E7F-FF40C628B7FC}"/>
              </a:ext>
            </a:extLst>
          </p:cNvPr>
          <p:cNvSpPr/>
          <p:nvPr/>
        </p:nvSpPr>
        <p:spPr>
          <a:xfrm rot="15729144">
            <a:off x="5807968" y="2903288"/>
            <a:ext cx="576064" cy="1005705"/>
          </a:xfrm>
          <a:prstGeom prst="down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箭头: 下 24">
            <a:extLst>
              <a:ext uri="{FF2B5EF4-FFF2-40B4-BE49-F238E27FC236}">
                <a16:creationId xmlns:a16="http://schemas.microsoft.com/office/drawing/2014/main" id="{94FC6674-2DBE-DDD2-421C-A77F88C1BA68}"/>
              </a:ext>
            </a:extLst>
          </p:cNvPr>
          <p:cNvSpPr/>
          <p:nvPr/>
        </p:nvSpPr>
        <p:spPr>
          <a:xfrm rot="17169253">
            <a:off x="5838512" y="3548206"/>
            <a:ext cx="576064" cy="1118966"/>
          </a:xfrm>
          <a:prstGeom prst="down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圆角 25">
            <a:extLst>
              <a:ext uri="{FF2B5EF4-FFF2-40B4-BE49-F238E27FC236}">
                <a16:creationId xmlns:a16="http://schemas.microsoft.com/office/drawing/2014/main" id="{FF7B3A79-ACC4-B1C9-C80C-99B2230ADB3C}"/>
              </a:ext>
            </a:extLst>
          </p:cNvPr>
          <p:cNvSpPr/>
          <p:nvPr/>
        </p:nvSpPr>
        <p:spPr>
          <a:xfrm>
            <a:off x="6744074" y="2294964"/>
            <a:ext cx="1656184" cy="68389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补充使用压缩感知方法</a:t>
            </a:r>
          </a:p>
        </p:txBody>
      </p:sp>
      <p:sp>
        <p:nvSpPr>
          <p:cNvPr id="27" name="矩形: 圆角 26">
            <a:extLst>
              <a:ext uri="{FF2B5EF4-FFF2-40B4-BE49-F238E27FC236}">
                <a16:creationId xmlns:a16="http://schemas.microsoft.com/office/drawing/2014/main" id="{9CE06441-AFC2-7B00-DA42-03767E065294}"/>
              </a:ext>
            </a:extLst>
          </p:cNvPr>
          <p:cNvSpPr/>
          <p:nvPr/>
        </p:nvSpPr>
        <p:spPr>
          <a:xfrm>
            <a:off x="6744074" y="4320930"/>
            <a:ext cx="1656184" cy="68389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偏振探测系统</a:t>
            </a:r>
          </a:p>
        </p:txBody>
      </p:sp>
      <p:sp>
        <p:nvSpPr>
          <p:cNvPr id="28" name="文本框 27">
            <a:extLst>
              <a:ext uri="{FF2B5EF4-FFF2-40B4-BE49-F238E27FC236}">
                <a16:creationId xmlns:a16="http://schemas.microsoft.com/office/drawing/2014/main" id="{C83CC5BE-E67E-95C0-8BC4-58D7C1E6E873}"/>
              </a:ext>
            </a:extLst>
          </p:cNvPr>
          <p:cNvSpPr txBox="1"/>
          <p:nvPr/>
        </p:nvSpPr>
        <p:spPr>
          <a:xfrm>
            <a:off x="6744074" y="1571497"/>
            <a:ext cx="1896190" cy="646331"/>
          </a:xfrm>
          <a:prstGeom prst="rect">
            <a:avLst/>
          </a:prstGeom>
          <a:noFill/>
        </p:spPr>
        <p:txBody>
          <a:bodyPr wrap="square" rtlCol="0">
            <a:spAutoFit/>
          </a:bodyPr>
          <a:lstStyle/>
          <a:p>
            <a:r>
              <a:rPr lang="zh-CN" altLang="en-US" dirty="0"/>
              <a:t>推迟到偏振探测系统通过后进行</a:t>
            </a:r>
          </a:p>
        </p:txBody>
      </p:sp>
      <p:sp>
        <p:nvSpPr>
          <p:cNvPr id="32" name="矩形: 圆角 31">
            <a:extLst>
              <a:ext uri="{FF2B5EF4-FFF2-40B4-BE49-F238E27FC236}">
                <a16:creationId xmlns:a16="http://schemas.microsoft.com/office/drawing/2014/main" id="{C433A96F-28E6-4A53-E4FE-2FACD851074F}"/>
              </a:ext>
            </a:extLst>
          </p:cNvPr>
          <p:cNvSpPr/>
          <p:nvPr/>
        </p:nvSpPr>
        <p:spPr>
          <a:xfrm>
            <a:off x="8832304" y="3704621"/>
            <a:ext cx="1656184" cy="68389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文献阅读</a:t>
            </a:r>
          </a:p>
        </p:txBody>
      </p:sp>
      <p:sp>
        <p:nvSpPr>
          <p:cNvPr id="34" name="矩形: 圆角 33">
            <a:extLst>
              <a:ext uri="{FF2B5EF4-FFF2-40B4-BE49-F238E27FC236}">
                <a16:creationId xmlns:a16="http://schemas.microsoft.com/office/drawing/2014/main" id="{79C280CC-6F6A-1EA5-8546-F84BC8013E7E}"/>
              </a:ext>
            </a:extLst>
          </p:cNvPr>
          <p:cNvSpPr/>
          <p:nvPr/>
        </p:nvSpPr>
        <p:spPr>
          <a:xfrm>
            <a:off x="8544272" y="4869160"/>
            <a:ext cx="2160240" cy="68389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实际光路过程分析</a:t>
            </a:r>
          </a:p>
        </p:txBody>
      </p:sp>
      <p:sp>
        <p:nvSpPr>
          <p:cNvPr id="35" name="加号 34">
            <a:extLst>
              <a:ext uri="{FF2B5EF4-FFF2-40B4-BE49-F238E27FC236}">
                <a16:creationId xmlns:a16="http://schemas.microsoft.com/office/drawing/2014/main" id="{C3ED278C-3099-532C-2F52-C60D771C73CA}"/>
              </a:ext>
            </a:extLst>
          </p:cNvPr>
          <p:cNvSpPr/>
          <p:nvPr/>
        </p:nvSpPr>
        <p:spPr>
          <a:xfrm>
            <a:off x="9437294" y="4389363"/>
            <a:ext cx="475130" cy="479797"/>
          </a:xfrm>
          <a:prstGeom prst="mathPlus">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7353D5A9-17A4-D1DB-2A8F-EBF607EE0B29}"/>
              </a:ext>
            </a:extLst>
          </p:cNvPr>
          <p:cNvSpPr txBox="1"/>
          <p:nvPr/>
        </p:nvSpPr>
        <p:spPr>
          <a:xfrm>
            <a:off x="9338899" y="3198334"/>
            <a:ext cx="671919" cy="369332"/>
          </a:xfrm>
          <a:prstGeom prst="rect">
            <a:avLst/>
          </a:prstGeom>
          <a:noFill/>
        </p:spPr>
        <p:txBody>
          <a:bodyPr wrap="square" rtlCol="0">
            <a:spAutoFit/>
          </a:bodyPr>
          <a:lstStyle/>
          <a:p>
            <a:r>
              <a:rPr lang="zh-CN" altLang="en-US" dirty="0"/>
              <a:t>当前</a:t>
            </a:r>
          </a:p>
        </p:txBody>
      </p:sp>
      <p:sp>
        <p:nvSpPr>
          <p:cNvPr id="6" name="矩形: 圆角 5">
            <a:extLst>
              <a:ext uri="{FF2B5EF4-FFF2-40B4-BE49-F238E27FC236}">
                <a16:creationId xmlns:a16="http://schemas.microsoft.com/office/drawing/2014/main" id="{D62D9FC2-2938-B3DF-72A1-F941A0471EA3}"/>
              </a:ext>
            </a:extLst>
          </p:cNvPr>
          <p:cNvSpPr/>
          <p:nvPr/>
        </p:nvSpPr>
        <p:spPr>
          <a:xfrm>
            <a:off x="8326418" y="5877050"/>
            <a:ext cx="2522110" cy="68389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光路问题分析</a:t>
            </a:r>
          </a:p>
        </p:txBody>
      </p:sp>
      <p:sp>
        <p:nvSpPr>
          <p:cNvPr id="7" name="文本框 6">
            <a:extLst>
              <a:ext uri="{FF2B5EF4-FFF2-40B4-BE49-F238E27FC236}">
                <a16:creationId xmlns:a16="http://schemas.microsoft.com/office/drawing/2014/main" id="{9DF02AA1-6EEF-4873-ECF8-4171FC8476A6}"/>
              </a:ext>
            </a:extLst>
          </p:cNvPr>
          <p:cNvSpPr txBox="1"/>
          <p:nvPr/>
        </p:nvSpPr>
        <p:spPr>
          <a:xfrm>
            <a:off x="7248128" y="6034331"/>
            <a:ext cx="887944" cy="369332"/>
          </a:xfrm>
          <a:prstGeom prst="rect">
            <a:avLst/>
          </a:prstGeom>
          <a:noFill/>
        </p:spPr>
        <p:txBody>
          <a:bodyPr wrap="square" rtlCol="0">
            <a:spAutoFit/>
          </a:bodyPr>
          <a:lstStyle/>
          <a:p>
            <a:r>
              <a:rPr lang="zh-CN" altLang="en-US" dirty="0"/>
              <a:t>下一步</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FF441DE-DB21-AA2D-AE3A-B519977283FB}"/>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DDFBA029-4F75-736C-FC9B-31AB4058006E}"/>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76C5998B-1467-27AE-F047-1CF3C7685C64}"/>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5C6F6648-C101-D904-947C-30C81050D1FD}"/>
              </a:ext>
            </a:extLst>
          </p:cNvPr>
          <p:cNvSpPr/>
          <p:nvPr/>
        </p:nvSpPr>
        <p:spPr>
          <a:xfrm>
            <a:off x="2927648" y="150946"/>
            <a:ext cx="9361040"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3200" b="1" dirty="0">
                <a:solidFill>
                  <a:srgbClr val="FFFFFF"/>
                </a:solidFill>
              </a:rPr>
              <a:t>2012_OL_Single-pixel polarimetric imaging</a:t>
            </a:r>
          </a:p>
        </p:txBody>
      </p:sp>
      <p:sp>
        <p:nvSpPr>
          <p:cNvPr id="14" name="文本框 13">
            <a:extLst>
              <a:ext uri="{FF2B5EF4-FFF2-40B4-BE49-F238E27FC236}">
                <a16:creationId xmlns:a16="http://schemas.microsoft.com/office/drawing/2014/main" id="{3B01759E-F5A3-12EF-4BA2-1C0CBEEDBC32}"/>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核心文献</a:t>
            </a:r>
          </a:p>
        </p:txBody>
      </p:sp>
      <p:sp>
        <p:nvSpPr>
          <p:cNvPr id="6" name="文本框 5">
            <a:extLst>
              <a:ext uri="{FF2B5EF4-FFF2-40B4-BE49-F238E27FC236}">
                <a16:creationId xmlns:a16="http://schemas.microsoft.com/office/drawing/2014/main" id="{3955FEB0-9115-D27F-E577-D8CF7C544014}"/>
              </a:ext>
            </a:extLst>
          </p:cNvPr>
          <p:cNvSpPr txBox="1"/>
          <p:nvPr/>
        </p:nvSpPr>
        <p:spPr>
          <a:xfrm>
            <a:off x="119336" y="908720"/>
            <a:ext cx="11861422" cy="1015663"/>
          </a:xfrm>
          <a:prstGeom prst="rect">
            <a:avLst/>
          </a:prstGeom>
          <a:noFill/>
        </p:spPr>
        <p:txBody>
          <a:bodyPr wrap="square">
            <a:spAutoFit/>
          </a:bodyPr>
          <a:lstStyle/>
          <a:p>
            <a:pPr>
              <a:buNone/>
            </a:pPr>
            <a:r>
              <a:rPr lang="zh-CN" altLang="en-US" sz="2400" b="1" dirty="0"/>
              <a:t>一句话概括</a:t>
            </a:r>
            <a:r>
              <a:rPr lang="zh-CN" altLang="en-US" dirty="0"/>
              <a:t>：</a:t>
            </a:r>
            <a:endParaRPr lang="en-US" altLang="zh-CN" dirty="0"/>
          </a:p>
          <a:p>
            <a:pPr indent="457200">
              <a:buNone/>
            </a:pPr>
            <a:r>
              <a:rPr lang="zh-CN" altLang="en-US" dirty="0"/>
              <a:t>文章把商业 </a:t>
            </a:r>
            <a:r>
              <a:rPr lang="en-US" altLang="zh-CN" dirty="0"/>
              <a:t>Stokes polarimeter </a:t>
            </a:r>
            <a:r>
              <a:rPr lang="zh-CN" altLang="en-US" dirty="0"/>
              <a:t>的高精度整体偏振测量能力和“ </a:t>
            </a:r>
            <a:r>
              <a:rPr lang="en-US" altLang="zh-CN" dirty="0"/>
              <a:t>SLM </a:t>
            </a:r>
            <a:r>
              <a:rPr lang="zh-CN" altLang="en-US" dirty="0"/>
              <a:t>空间编码 </a:t>
            </a:r>
            <a:r>
              <a:rPr lang="en-US" altLang="zh-CN" dirty="0"/>
              <a:t>+ compressed sensing </a:t>
            </a:r>
            <a:r>
              <a:rPr lang="zh-CN" altLang="en-US" dirty="0"/>
              <a:t>的单像素成像能力”结合起来，使一个原本没有空间分辨能力的偏振仪能够重建目标的空间分辨 </a:t>
            </a:r>
            <a:r>
              <a:rPr lang="en-US" altLang="zh-CN" dirty="0"/>
              <a:t>Stokes </a:t>
            </a:r>
            <a:r>
              <a:rPr lang="zh-CN" altLang="en-US" dirty="0"/>
              <a:t>参数图像。</a:t>
            </a:r>
          </a:p>
        </p:txBody>
      </p:sp>
      <p:sp>
        <p:nvSpPr>
          <p:cNvPr id="7" name="文本框 6">
            <a:extLst>
              <a:ext uri="{FF2B5EF4-FFF2-40B4-BE49-F238E27FC236}">
                <a16:creationId xmlns:a16="http://schemas.microsoft.com/office/drawing/2014/main" id="{C97322C3-8253-3A57-AF61-0979ABBDF843}"/>
              </a:ext>
            </a:extLst>
          </p:cNvPr>
          <p:cNvSpPr txBox="1"/>
          <p:nvPr/>
        </p:nvSpPr>
        <p:spPr>
          <a:xfrm>
            <a:off x="119336" y="2060848"/>
            <a:ext cx="11861422" cy="2585323"/>
          </a:xfrm>
          <a:prstGeom prst="rect">
            <a:avLst/>
          </a:prstGeom>
          <a:noFill/>
        </p:spPr>
        <p:txBody>
          <a:bodyPr wrap="square">
            <a:spAutoFit/>
          </a:bodyPr>
          <a:lstStyle/>
          <a:p>
            <a:pPr>
              <a:buNone/>
            </a:pPr>
            <a:r>
              <a:rPr lang="zh-CN" altLang="en-US" sz="2400" b="1" dirty="0"/>
              <a:t>背景：</a:t>
            </a:r>
            <a:endParaRPr lang="en-US" altLang="zh-CN" sz="2400" b="1" dirty="0"/>
          </a:p>
          <a:p>
            <a:pPr indent="457200"/>
            <a:r>
              <a:rPr lang="zh-CN" altLang="en-US" dirty="0"/>
              <a:t>商业 </a:t>
            </a:r>
            <a:r>
              <a:rPr lang="en-US" altLang="zh-CN" dirty="0"/>
              <a:t>Stokes polarimeter </a:t>
            </a:r>
            <a:r>
              <a:rPr lang="zh-CN" altLang="en-US" dirty="0"/>
              <a:t>通常只能测量整个入射光束的整体偏振态，也就是给出一个“无空间分辨”的 </a:t>
            </a:r>
            <a:r>
              <a:rPr lang="en-US" altLang="zh-CN" dirty="0"/>
              <a:t>Stokes </a:t>
            </a:r>
            <a:r>
              <a:rPr lang="zh-CN" altLang="en-US" dirty="0"/>
              <a:t>向量。不能告诉我们物体不同位置的偏振信息。</a:t>
            </a:r>
            <a:endParaRPr lang="en-US" altLang="zh-CN" dirty="0"/>
          </a:p>
          <a:p>
            <a:r>
              <a:rPr lang="zh-CN" altLang="en-US" sz="2400" b="1" dirty="0"/>
              <a:t>问题</a:t>
            </a:r>
            <a:r>
              <a:rPr lang="en-US" altLang="zh-CN" sz="2400" b="1" dirty="0"/>
              <a:t>:</a:t>
            </a:r>
          </a:p>
          <a:p>
            <a:r>
              <a:rPr lang="en-US" altLang="zh-CN" dirty="0"/>
              <a:t>Stokes polarimeter </a:t>
            </a:r>
            <a:r>
              <a:rPr lang="zh-CN" altLang="en-US" dirty="0"/>
              <a:t>本身只能输出一束光的整体 </a:t>
            </a:r>
            <a:r>
              <a:rPr lang="en-US" altLang="zh-CN" dirty="0"/>
              <a:t>Stokes </a:t>
            </a:r>
            <a:r>
              <a:rPr lang="zh-CN" altLang="en-US" dirty="0"/>
              <a:t>向量，如何通过空间调制和重建得到不同位置的偏振状态？</a:t>
            </a:r>
            <a:endParaRPr lang="en-US" altLang="zh-CN" dirty="0"/>
          </a:p>
          <a:p>
            <a:r>
              <a:rPr lang="zh-CN" altLang="en-US" sz="2400" b="1" dirty="0"/>
              <a:t>方法：</a:t>
            </a:r>
            <a:endParaRPr lang="en-US" altLang="zh-CN" sz="2400" b="1" dirty="0"/>
          </a:p>
          <a:p>
            <a:r>
              <a:rPr lang="en-US" altLang="zh-CN" dirty="0"/>
              <a:t>SLM </a:t>
            </a:r>
            <a:r>
              <a:rPr lang="zh-CN" altLang="en-US" dirty="0"/>
              <a:t>空间编码（</a:t>
            </a:r>
            <a:r>
              <a:rPr lang="en-US" altLang="zh-CN" dirty="0"/>
              <a:t>Hadamard</a:t>
            </a:r>
            <a:r>
              <a:rPr lang="zh-CN" altLang="en-US" dirty="0"/>
              <a:t>基底） </a:t>
            </a:r>
            <a:r>
              <a:rPr lang="en-US" altLang="zh-CN" dirty="0"/>
              <a:t>+ compressed sensing</a:t>
            </a:r>
            <a:r>
              <a:rPr lang="zh-CN" altLang="en-US" dirty="0"/>
              <a:t>。</a:t>
            </a:r>
            <a:endParaRPr lang="en-US" altLang="zh-CN" dirty="0"/>
          </a:p>
          <a:p>
            <a:r>
              <a:rPr lang="zh-CN" altLang="en-US" dirty="0"/>
              <a:t>核心过程讲解：</a:t>
            </a:r>
            <a:endParaRPr lang="en-US" altLang="zh-CN" dirty="0"/>
          </a:p>
        </p:txBody>
      </p:sp>
      <p:sp>
        <p:nvSpPr>
          <p:cNvPr id="2" name="矩形 1">
            <a:extLst>
              <a:ext uri="{FF2B5EF4-FFF2-40B4-BE49-F238E27FC236}">
                <a16:creationId xmlns:a16="http://schemas.microsoft.com/office/drawing/2014/main" id="{D709C948-C355-D4EC-310D-AAFA8D36CB98}"/>
              </a:ext>
            </a:extLst>
          </p:cNvPr>
          <p:cNvSpPr>
            <a:spLocks noGrp="1"/>
          </p:cNvSpPr>
          <p:nvPr/>
        </p:nvSpPr>
        <p:spPr>
          <a:xfrm>
            <a:off x="3295650" y="4577308"/>
            <a:ext cx="59055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像素</a:t>
            </a:r>
          </a:p>
        </p:txBody>
      </p:sp>
      <p:sp>
        <p:nvSpPr>
          <p:cNvPr id="3" name="矩形 2">
            <a:extLst>
              <a:ext uri="{FF2B5EF4-FFF2-40B4-BE49-F238E27FC236}">
                <a16:creationId xmlns:a16="http://schemas.microsoft.com/office/drawing/2014/main" id="{684E69E9-034E-04F7-B57C-53B0C5CC33F8}"/>
              </a:ext>
            </a:extLst>
          </p:cNvPr>
          <p:cNvSpPr>
            <a:spLocks noGrp="1"/>
          </p:cNvSpPr>
          <p:nvPr/>
        </p:nvSpPr>
        <p:spPr>
          <a:xfrm>
            <a:off x="3886200" y="4577308"/>
            <a:ext cx="552450" cy="361950"/>
          </a:xfrm>
          <a:prstGeom prst="rect">
            <a:avLst/>
          </a:prstGeom>
          <a:solidFill>
            <a:srgbClr val="14365C"/>
          </a:solidFill>
        </p:spPr>
        <p:txBody>
          <a:bodyPr/>
          <a:lstStyle/>
          <a:p>
            <a:r>
              <a:rPr lang="en-US" sz="1425" b="1" dirty="0">
                <a:solidFill>
                  <a:srgbClr val="FFFFFF"/>
                </a:solidFill>
                <a:latin typeface="Microsoft YaHei"/>
                <a:ea typeface="Microsoft YaHei"/>
                <a:cs typeface="Microsoft YaHei"/>
              </a:rPr>
              <a:t>S</a:t>
            </a:r>
            <a:r>
              <a:rPr sz="1425" b="1" dirty="0">
                <a:solidFill>
                  <a:srgbClr val="FFFFFF"/>
                </a:solidFill>
                <a:latin typeface="Microsoft YaHei"/>
                <a:ea typeface="Microsoft YaHei"/>
                <a:cs typeface="Microsoft YaHei"/>
              </a:rPr>
              <a:t>0</a:t>
            </a:r>
          </a:p>
        </p:txBody>
      </p:sp>
      <p:sp>
        <p:nvSpPr>
          <p:cNvPr id="4" name="矩形 3">
            <a:extLst>
              <a:ext uri="{FF2B5EF4-FFF2-40B4-BE49-F238E27FC236}">
                <a16:creationId xmlns:a16="http://schemas.microsoft.com/office/drawing/2014/main" id="{DB7000BB-E68D-A801-1608-EE90B7ABDCFD}"/>
              </a:ext>
            </a:extLst>
          </p:cNvPr>
          <p:cNvSpPr>
            <a:spLocks noGrp="1"/>
          </p:cNvSpPr>
          <p:nvPr/>
        </p:nvSpPr>
        <p:spPr>
          <a:xfrm>
            <a:off x="4438650" y="4577308"/>
            <a:ext cx="55245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S1</a:t>
            </a:r>
          </a:p>
        </p:txBody>
      </p:sp>
      <p:sp>
        <p:nvSpPr>
          <p:cNvPr id="5" name="矩形 4">
            <a:extLst>
              <a:ext uri="{FF2B5EF4-FFF2-40B4-BE49-F238E27FC236}">
                <a16:creationId xmlns:a16="http://schemas.microsoft.com/office/drawing/2014/main" id="{9BB8F425-29A9-6D7F-07B9-B97856B50A39}"/>
              </a:ext>
            </a:extLst>
          </p:cNvPr>
          <p:cNvSpPr>
            <a:spLocks noGrp="1"/>
          </p:cNvSpPr>
          <p:nvPr/>
        </p:nvSpPr>
        <p:spPr>
          <a:xfrm>
            <a:off x="4991100" y="4577308"/>
            <a:ext cx="55245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S2</a:t>
            </a:r>
          </a:p>
        </p:txBody>
      </p:sp>
      <p:sp>
        <p:nvSpPr>
          <p:cNvPr id="10" name="矩形 9">
            <a:extLst>
              <a:ext uri="{FF2B5EF4-FFF2-40B4-BE49-F238E27FC236}">
                <a16:creationId xmlns:a16="http://schemas.microsoft.com/office/drawing/2014/main" id="{9B87C725-72AD-6258-2825-3F991154FCF4}"/>
              </a:ext>
            </a:extLst>
          </p:cNvPr>
          <p:cNvSpPr>
            <a:spLocks noGrp="1"/>
          </p:cNvSpPr>
          <p:nvPr/>
        </p:nvSpPr>
        <p:spPr>
          <a:xfrm>
            <a:off x="5543550" y="4577308"/>
            <a:ext cx="55245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S3</a:t>
            </a:r>
          </a:p>
        </p:txBody>
      </p:sp>
      <p:sp>
        <p:nvSpPr>
          <p:cNvPr id="12" name="矩形 11">
            <a:extLst>
              <a:ext uri="{FF2B5EF4-FFF2-40B4-BE49-F238E27FC236}">
                <a16:creationId xmlns:a16="http://schemas.microsoft.com/office/drawing/2014/main" id="{5A64963E-9152-7103-ED4F-FAD6B98ADD56}"/>
              </a:ext>
            </a:extLst>
          </p:cNvPr>
          <p:cNvSpPr>
            <a:spLocks noGrp="1"/>
          </p:cNvSpPr>
          <p:nvPr/>
        </p:nvSpPr>
        <p:spPr>
          <a:xfrm>
            <a:off x="6096000" y="4577308"/>
            <a:ext cx="167640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含义</a:t>
            </a:r>
          </a:p>
        </p:txBody>
      </p:sp>
      <p:sp>
        <p:nvSpPr>
          <p:cNvPr id="13" name="矩形 12">
            <a:extLst>
              <a:ext uri="{FF2B5EF4-FFF2-40B4-BE49-F238E27FC236}">
                <a16:creationId xmlns:a16="http://schemas.microsoft.com/office/drawing/2014/main" id="{4968A5E8-A9A8-F84F-BDEA-63816C3BFB0A}"/>
              </a:ext>
            </a:extLst>
          </p:cNvPr>
          <p:cNvSpPr>
            <a:spLocks noGrp="1"/>
          </p:cNvSpPr>
          <p:nvPr/>
        </p:nvSpPr>
        <p:spPr>
          <a:xfrm>
            <a:off x="3295650" y="4939258"/>
            <a:ext cx="590550" cy="361950"/>
          </a:xfrm>
          <a:prstGeom prst="rect">
            <a:avLst/>
          </a:prstGeom>
          <a:solidFill>
            <a:srgbClr val="FFFFFF"/>
          </a:solidFill>
        </p:spPr>
        <p:txBody>
          <a:bodyPr/>
          <a:lstStyle/>
          <a:p>
            <a:r>
              <a:rPr sz="1425" dirty="0">
                <a:solidFill>
                  <a:srgbClr val="15202B"/>
                </a:solidFill>
                <a:latin typeface="Microsoft YaHei"/>
                <a:ea typeface="Microsoft YaHei"/>
                <a:cs typeface="Microsoft YaHei"/>
              </a:rPr>
              <a:t>1</a:t>
            </a:r>
          </a:p>
        </p:txBody>
      </p:sp>
      <p:sp>
        <p:nvSpPr>
          <p:cNvPr id="15" name="矩形 14">
            <a:extLst>
              <a:ext uri="{FF2B5EF4-FFF2-40B4-BE49-F238E27FC236}">
                <a16:creationId xmlns:a16="http://schemas.microsoft.com/office/drawing/2014/main" id="{89824049-9671-6792-ADD9-ECCC0B89FA02}"/>
              </a:ext>
            </a:extLst>
          </p:cNvPr>
          <p:cNvSpPr>
            <a:spLocks noGrp="1"/>
          </p:cNvSpPr>
          <p:nvPr/>
        </p:nvSpPr>
        <p:spPr>
          <a:xfrm>
            <a:off x="3886200" y="4939258"/>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10</a:t>
            </a:r>
          </a:p>
        </p:txBody>
      </p:sp>
      <p:sp>
        <p:nvSpPr>
          <p:cNvPr id="16" name="矩形 15">
            <a:extLst>
              <a:ext uri="{FF2B5EF4-FFF2-40B4-BE49-F238E27FC236}">
                <a16:creationId xmlns:a16="http://schemas.microsoft.com/office/drawing/2014/main" id="{7CA98A21-CCCC-057D-6DBA-5F26F19BDA4B}"/>
              </a:ext>
            </a:extLst>
          </p:cNvPr>
          <p:cNvSpPr>
            <a:spLocks noGrp="1"/>
          </p:cNvSpPr>
          <p:nvPr/>
        </p:nvSpPr>
        <p:spPr>
          <a:xfrm>
            <a:off x="4438650" y="4939258"/>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10</a:t>
            </a:r>
          </a:p>
        </p:txBody>
      </p:sp>
      <p:sp>
        <p:nvSpPr>
          <p:cNvPr id="17" name="矩形 16">
            <a:extLst>
              <a:ext uri="{FF2B5EF4-FFF2-40B4-BE49-F238E27FC236}">
                <a16:creationId xmlns:a16="http://schemas.microsoft.com/office/drawing/2014/main" id="{8F0B675F-3694-A733-5924-A5A83160BA4E}"/>
              </a:ext>
            </a:extLst>
          </p:cNvPr>
          <p:cNvSpPr>
            <a:spLocks noGrp="1"/>
          </p:cNvSpPr>
          <p:nvPr/>
        </p:nvSpPr>
        <p:spPr>
          <a:xfrm>
            <a:off x="4991100" y="4939258"/>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0</a:t>
            </a:r>
          </a:p>
        </p:txBody>
      </p:sp>
      <p:sp>
        <p:nvSpPr>
          <p:cNvPr id="18" name="矩形 17">
            <a:extLst>
              <a:ext uri="{FF2B5EF4-FFF2-40B4-BE49-F238E27FC236}">
                <a16:creationId xmlns:a16="http://schemas.microsoft.com/office/drawing/2014/main" id="{30DEF653-07C8-D5DC-99EE-D67153D8DCC7}"/>
              </a:ext>
            </a:extLst>
          </p:cNvPr>
          <p:cNvSpPr>
            <a:spLocks noGrp="1"/>
          </p:cNvSpPr>
          <p:nvPr/>
        </p:nvSpPr>
        <p:spPr>
          <a:xfrm>
            <a:off x="5543550" y="4939258"/>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0</a:t>
            </a:r>
          </a:p>
        </p:txBody>
      </p:sp>
      <p:sp>
        <p:nvSpPr>
          <p:cNvPr id="19" name="矩形 18">
            <a:extLst>
              <a:ext uri="{FF2B5EF4-FFF2-40B4-BE49-F238E27FC236}">
                <a16:creationId xmlns:a16="http://schemas.microsoft.com/office/drawing/2014/main" id="{D41646EF-AC86-78DD-248B-DF1566200083}"/>
              </a:ext>
            </a:extLst>
          </p:cNvPr>
          <p:cNvSpPr>
            <a:spLocks noGrp="1"/>
          </p:cNvSpPr>
          <p:nvPr/>
        </p:nvSpPr>
        <p:spPr>
          <a:xfrm>
            <a:off x="6096000" y="4939258"/>
            <a:ext cx="1676400" cy="361950"/>
          </a:xfrm>
          <a:prstGeom prst="rect">
            <a:avLst/>
          </a:prstGeom>
          <a:solidFill>
            <a:srgbClr val="FFFFFF"/>
          </a:solidFill>
        </p:spPr>
        <p:txBody>
          <a:bodyPr/>
          <a:lstStyle/>
          <a:p>
            <a:r>
              <a:rPr sz="1425" dirty="0" err="1">
                <a:solidFill>
                  <a:srgbClr val="15202B"/>
                </a:solidFill>
                <a:latin typeface="Microsoft YaHei"/>
                <a:ea typeface="Microsoft YaHei"/>
                <a:cs typeface="Microsoft YaHei"/>
              </a:rPr>
              <a:t>水平线偏振</a:t>
            </a:r>
            <a:endParaRPr sz="1425" dirty="0">
              <a:solidFill>
                <a:srgbClr val="15202B"/>
              </a:solidFill>
              <a:latin typeface="Microsoft YaHei"/>
              <a:ea typeface="Microsoft YaHei"/>
              <a:cs typeface="Microsoft YaHei"/>
            </a:endParaRPr>
          </a:p>
        </p:txBody>
      </p:sp>
      <p:sp>
        <p:nvSpPr>
          <p:cNvPr id="20" name="矩形 19">
            <a:extLst>
              <a:ext uri="{FF2B5EF4-FFF2-40B4-BE49-F238E27FC236}">
                <a16:creationId xmlns:a16="http://schemas.microsoft.com/office/drawing/2014/main" id="{CFFABDC2-7868-9888-27E0-1C5E667427D3}"/>
              </a:ext>
            </a:extLst>
          </p:cNvPr>
          <p:cNvSpPr>
            <a:spLocks noGrp="1"/>
          </p:cNvSpPr>
          <p:nvPr/>
        </p:nvSpPr>
        <p:spPr>
          <a:xfrm>
            <a:off x="3295650" y="5301208"/>
            <a:ext cx="5905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2</a:t>
            </a:r>
          </a:p>
        </p:txBody>
      </p:sp>
      <p:sp>
        <p:nvSpPr>
          <p:cNvPr id="21" name="矩形 20">
            <a:extLst>
              <a:ext uri="{FF2B5EF4-FFF2-40B4-BE49-F238E27FC236}">
                <a16:creationId xmlns:a16="http://schemas.microsoft.com/office/drawing/2014/main" id="{2E34A7D1-5107-832E-519C-6F8DCDD465F9}"/>
              </a:ext>
            </a:extLst>
          </p:cNvPr>
          <p:cNvSpPr>
            <a:spLocks noGrp="1"/>
          </p:cNvSpPr>
          <p:nvPr/>
        </p:nvSpPr>
        <p:spPr>
          <a:xfrm>
            <a:off x="3886200" y="5301208"/>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8</a:t>
            </a:r>
          </a:p>
        </p:txBody>
      </p:sp>
      <p:sp>
        <p:nvSpPr>
          <p:cNvPr id="22" name="矩形 21">
            <a:extLst>
              <a:ext uri="{FF2B5EF4-FFF2-40B4-BE49-F238E27FC236}">
                <a16:creationId xmlns:a16="http://schemas.microsoft.com/office/drawing/2014/main" id="{17F09938-7A7E-B0E0-7571-E4F361B5C8F6}"/>
              </a:ext>
            </a:extLst>
          </p:cNvPr>
          <p:cNvSpPr>
            <a:spLocks noGrp="1"/>
          </p:cNvSpPr>
          <p:nvPr/>
        </p:nvSpPr>
        <p:spPr>
          <a:xfrm>
            <a:off x="4438650" y="5301208"/>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0</a:t>
            </a:r>
          </a:p>
        </p:txBody>
      </p:sp>
      <p:sp>
        <p:nvSpPr>
          <p:cNvPr id="23" name="矩形 22">
            <a:extLst>
              <a:ext uri="{FF2B5EF4-FFF2-40B4-BE49-F238E27FC236}">
                <a16:creationId xmlns:a16="http://schemas.microsoft.com/office/drawing/2014/main" id="{7B118BE0-97ED-EE4D-E148-DA2FD834D2E2}"/>
              </a:ext>
            </a:extLst>
          </p:cNvPr>
          <p:cNvSpPr>
            <a:spLocks noGrp="1"/>
          </p:cNvSpPr>
          <p:nvPr/>
        </p:nvSpPr>
        <p:spPr>
          <a:xfrm>
            <a:off x="4991100" y="5301208"/>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8</a:t>
            </a:r>
          </a:p>
        </p:txBody>
      </p:sp>
      <p:sp>
        <p:nvSpPr>
          <p:cNvPr id="24" name="矩形 23">
            <a:extLst>
              <a:ext uri="{FF2B5EF4-FFF2-40B4-BE49-F238E27FC236}">
                <a16:creationId xmlns:a16="http://schemas.microsoft.com/office/drawing/2014/main" id="{D779B607-E07E-A1D5-778D-8CF55AC1080E}"/>
              </a:ext>
            </a:extLst>
          </p:cNvPr>
          <p:cNvSpPr>
            <a:spLocks noGrp="1"/>
          </p:cNvSpPr>
          <p:nvPr/>
        </p:nvSpPr>
        <p:spPr>
          <a:xfrm>
            <a:off x="5543550" y="5301208"/>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0</a:t>
            </a:r>
          </a:p>
        </p:txBody>
      </p:sp>
      <p:sp>
        <p:nvSpPr>
          <p:cNvPr id="25" name="矩形 24">
            <a:extLst>
              <a:ext uri="{FF2B5EF4-FFF2-40B4-BE49-F238E27FC236}">
                <a16:creationId xmlns:a16="http://schemas.microsoft.com/office/drawing/2014/main" id="{0707A602-EA15-2E49-EADF-57CABAE39EF0}"/>
              </a:ext>
            </a:extLst>
          </p:cNvPr>
          <p:cNvSpPr>
            <a:spLocks noGrp="1"/>
          </p:cNvSpPr>
          <p:nvPr/>
        </p:nvSpPr>
        <p:spPr>
          <a:xfrm>
            <a:off x="6096000" y="5301208"/>
            <a:ext cx="1676400" cy="361950"/>
          </a:xfrm>
          <a:prstGeom prst="rect">
            <a:avLst/>
          </a:prstGeom>
          <a:solidFill>
            <a:srgbClr val="EEF4FA"/>
          </a:solidFill>
        </p:spPr>
        <p:txBody>
          <a:bodyPr/>
          <a:lstStyle/>
          <a:p>
            <a:r>
              <a:rPr sz="1425">
                <a:solidFill>
                  <a:srgbClr val="15202B"/>
                </a:solidFill>
                <a:latin typeface="Microsoft YaHei"/>
                <a:ea typeface="Microsoft YaHei"/>
                <a:cs typeface="Microsoft YaHei"/>
              </a:rPr>
              <a:t>+45° 线偏振</a:t>
            </a:r>
          </a:p>
        </p:txBody>
      </p:sp>
      <p:sp>
        <p:nvSpPr>
          <p:cNvPr id="26" name="矩形 25">
            <a:extLst>
              <a:ext uri="{FF2B5EF4-FFF2-40B4-BE49-F238E27FC236}">
                <a16:creationId xmlns:a16="http://schemas.microsoft.com/office/drawing/2014/main" id="{0299785A-5721-47A0-56A2-7A5C23CB4D0D}"/>
              </a:ext>
            </a:extLst>
          </p:cNvPr>
          <p:cNvSpPr>
            <a:spLocks noGrp="1"/>
          </p:cNvSpPr>
          <p:nvPr/>
        </p:nvSpPr>
        <p:spPr>
          <a:xfrm>
            <a:off x="3295650" y="5663158"/>
            <a:ext cx="5905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3</a:t>
            </a:r>
          </a:p>
        </p:txBody>
      </p:sp>
      <p:sp>
        <p:nvSpPr>
          <p:cNvPr id="27" name="矩形 26">
            <a:extLst>
              <a:ext uri="{FF2B5EF4-FFF2-40B4-BE49-F238E27FC236}">
                <a16:creationId xmlns:a16="http://schemas.microsoft.com/office/drawing/2014/main" id="{1D7E0E30-DDEC-6E32-5D0D-58E3FCBC8016}"/>
              </a:ext>
            </a:extLst>
          </p:cNvPr>
          <p:cNvSpPr>
            <a:spLocks noGrp="1"/>
          </p:cNvSpPr>
          <p:nvPr/>
        </p:nvSpPr>
        <p:spPr>
          <a:xfrm>
            <a:off x="3886200" y="5663158"/>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6</a:t>
            </a:r>
          </a:p>
        </p:txBody>
      </p:sp>
      <p:sp>
        <p:nvSpPr>
          <p:cNvPr id="28" name="矩形 27">
            <a:extLst>
              <a:ext uri="{FF2B5EF4-FFF2-40B4-BE49-F238E27FC236}">
                <a16:creationId xmlns:a16="http://schemas.microsoft.com/office/drawing/2014/main" id="{3C35A976-5DEA-C949-CE85-3A5D39E5C38A}"/>
              </a:ext>
            </a:extLst>
          </p:cNvPr>
          <p:cNvSpPr>
            <a:spLocks noGrp="1"/>
          </p:cNvSpPr>
          <p:nvPr/>
        </p:nvSpPr>
        <p:spPr>
          <a:xfrm>
            <a:off x="4438650" y="5663158"/>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-6</a:t>
            </a:r>
          </a:p>
        </p:txBody>
      </p:sp>
      <p:sp>
        <p:nvSpPr>
          <p:cNvPr id="29" name="矩形 28">
            <a:extLst>
              <a:ext uri="{FF2B5EF4-FFF2-40B4-BE49-F238E27FC236}">
                <a16:creationId xmlns:a16="http://schemas.microsoft.com/office/drawing/2014/main" id="{876A131D-1F9D-1EB5-45AF-CDA515698E1C}"/>
              </a:ext>
            </a:extLst>
          </p:cNvPr>
          <p:cNvSpPr>
            <a:spLocks noGrp="1"/>
          </p:cNvSpPr>
          <p:nvPr/>
        </p:nvSpPr>
        <p:spPr>
          <a:xfrm>
            <a:off x="4991100" y="5663158"/>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0</a:t>
            </a:r>
          </a:p>
        </p:txBody>
      </p:sp>
      <p:sp>
        <p:nvSpPr>
          <p:cNvPr id="30" name="矩形 29">
            <a:extLst>
              <a:ext uri="{FF2B5EF4-FFF2-40B4-BE49-F238E27FC236}">
                <a16:creationId xmlns:a16="http://schemas.microsoft.com/office/drawing/2014/main" id="{3996918E-D9F4-386B-865F-23052F2AC660}"/>
              </a:ext>
            </a:extLst>
          </p:cNvPr>
          <p:cNvSpPr>
            <a:spLocks noGrp="1"/>
          </p:cNvSpPr>
          <p:nvPr/>
        </p:nvSpPr>
        <p:spPr>
          <a:xfrm>
            <a:off x="5543550" y="5663158"/>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0</a:t>
            </a:r>
          </a:p>
        </p:txBody>
      </p:sp>
      <p:sp>
        <p:nvSpPr>
          <p:cNvPr id="31" name="矩形 30">
            <a:extLst>
              <a:ext uri="{FF2B5EF4-FFF2-40B4-BE49-F238E27FC236}">
                <a16:creationId xmlns:a16="http://schemas.microsoft.com/office/drawing/2014/main" id="{56183E27-7A2F-AF31-72D1-77023C29EDDE}"/>
              </a:ext>
            </a:extLst>
          </p:cNvPr>
          <p:cNvSpPr>
            <a:spLocks noGrp="1"/>
          </p:cNvSpPr>
          <p:nvPr/>
        </p:nvSpPr>
        <p:spPr>
          <a:xfrm>
            <a:off x="6096000" y="5663158"/>
            <a:ext cx="1676400" cy="361950"/>
          </a:xfrm>
          <a:prstGeom prst="rect">
            <a:avLst/>
          </a:prstGeom>
          <a:solidFill>
            <a:srgbClr val="FFFFFF"/>
          </a:solidFill>
        </p:spPr>
        <p:txBody>
          <a:bodyPr/>
          <a:lstStyle/>
          <a:p>
            <a:r>
              <a:rPr sz="1425">
                <a:solidFill>
                  <a:srgbClr val="15202B"/>
                </a:solidFill>
                <a:latin typeface="Microsoft YaHei"/>
                <a:ea typeface="Microsoft YaHei"/>
                <a:cs typeface="Microsoft YaHei"/>
              </a:rPr>
              <a:t>垂直线偏振</a:t>
            </a:r>
          </a:p>
        </p:txBody>
      </p:sp>
      <p:sp>
        <p:nvSpPr>
          <p:cNvPr id="32" name="矩形 31">
            <a:extLst>
              <a:ext uri="{FF2B5EF4-FFF2-40B4-BE49-F238E27FC236}">
                <a16:creationId xmlns:a16="http://schemas.microsoft.com/office/drawing/2014/main" id="{3B0C619C-32DE-EB6E-7CC6-A8F46DF2530F}"/>
              </a:ext>
            </a:extLst>
          </p:cNvPr>
          <p:cNvSpPr>
            <a:spLocks noGrp="1"/>
          </p:cNvSpPr>
          <p:nvPr/>
        </p:nvSpPr>
        <p:spPr>
          <a:xfrm>
            <a:off x="3295650" y="6025108"/>
            <a:ext cx="5905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4</a:t>
            </a:r>
          </a:p>
        </p:txBody>
      </p:sp>
      <p:sp>
        <p:nvSpPr>
          <p:cNvPr id="33" name="矩形 32">
            <a:extLst>
              <a:ext uri="{FF2B5EF4-FFF2-40B4-BE49-F238E27FC236}">
                <a16:creationId xmlns:a16="http://schemas.microsoft.com/office/drawing/2014/main" id="{EEC8C822-99B8-9A69-279E-8E1BB38C528A}"/>
              </a:ext>
            </a:extLst>
          </p:cNvPr>
          <p:cNvSpPr>
            <a:spLocks noGrp="1"/>
          </p:cNvSpPr>
          <p:nvPr/>
        </p:nvSpPr>
        <p:spPr>
          <a:xfrm>
            <a:off x="3886200" y="6025108"/>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4</a:t>
            </a:r>
          </a:p>
        </p:txBody>
      </p:sp>
      <p:sp>
        <p:nvSpPr>
          <p:cNvPr id="34" name="矩形 33">
            <a:extLst>
              <a:ext uri="{FF2B5EF4-FFF2-40B4-BE49-F238E27FC236}">
                <a16:creationId xmlns:a16="http://schemas.microsoft.com/office/drawing/2014/main" id="{FB399FFC-DFFD-40F6-9B37-10EA913242DF}"/>
              </a:ext>
            </a:extLst>
          </p:cNvPr>
          <p:cNvSpPr>
            <a:spLocks noGrp="1"/>
          </p:cNvSpPr>
          <p:nvPr/>
        </p:nvSpPr>
        <p:spPr>
          <a:xfrm>
            <a:off x="4438650" y="6025108"/>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0</a:t>
            </a:r>
          </a:p>
        </p:txBody>
      </p:sp>
      <p:sp>
        <p:nvSpPr>
          <p:cNvPr id="35" name="矩形 34">
            <a:extLst>
              <a:ext uri="{FF2B5EF4-FFF2-40B4-BE49-F238E27FC236}">
                <a16:creationId xmlns:a16="http://schemas.microsoft.com/office/drawing/2014/main" id="{BE484A21-9378-E003-9AC2-92BB1E288BCF}"/>
              </a:ext>
            </a:extLst>
          </p:cNvPr>
          <p:cNvSpPr>
            <a:spLocks noGrp="1"/>
          </p:cNvSpPr>
          <p:nvPr/>
        </p:nvSpPr>
        <p:spPr>
          <a:xfrm>
            <a:off x="4991100" y="6025108"/>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0</a:t>
            </a:r>
          </a:p>
        </p:txBody>
      </p:sp>
      <p:sp>
        <p:nvSpPr>
          <p:cNvPr id="36" name="矩形 35">
            <a:extLst>
              <a:ext uri="{FF2B5EF4-FFF2-40B4-BE49-F238E27FC236}">
                <a16:creationId xmlns:a16="http://schemas.microsoft.com/office/drawing/2014/main" id="{5A6BD63B-9F99-C643-E7BA-78E1542CDB5A}"/>
              </a:ext>
            </a:extLst>
          </p:cNvPr>
          <p:cNvSpPr>
            <a:spLocks noGrp="1"/>
          </p:cNvSpPr>
          <p:nvPr/>
        </p:nvSpPr>
        <p:spPr>
          <a:xfrm>
            <a:off x="5543550" y="6025108"/>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4</a:t>
            </a:r>
          </a:p>
        </p:txBody>
      </p:sp>
      <p:sp>
        <p:nvSpPr>
          <p:cNvPr id="37" name="矩形 36">
            <a:extLst>
              <a:ext uri="{FF2B5EF4-FFF2-40B4-BE49-F238E27FC236}">
                <a16:creationId xmlns:a16="http://schemas.microsoft.com/office/drawing/2014/main" id="{821A9D7D-67DF-DC35-AD33-8B921CCA5ED8}"/>
              </a:ext>
            </a:extLst>
          </p:cNvPr>
          <p:cNvSpPr>
            <a:spLocks noGrp="1"/>
          </p:cNvSpPr>
          <p:nvPr/>
        </p:nvSpPr>
        <p:spPr>
          <a:xfrm>
            <a:off x="6096000" y="6025108"/>
            <a:ext cx="1676400" cy="361950"/>
          </a:xfrm>
          <a:prstGeom prst="rect">
            <a:avLst/>
          </a:prstGeom>
          <a:solidFill>
            <a:srgbClr val="EEF4FA"/>
          </a:solidFill>
        </p:spPr>
        <p:txBody>
          <a:bodyPr/>
          <a:lstStyle/>
          <a:p>
            <a:r>
              <a:rPr sz="1425">
                <a:solidFill>
                  <a:srgbClr val="15202B"/>
                </a:solidFill>
                <a:latin typeface="Microsoft YaHei"/>
                <a:ea typeface="Microsoft YaHei"/>
                <a:cs typeface="Microsoft YaHei"/>
              </a:rPr>
              <a:t>右旋圆偏振</a:t>
            </a:r>
          </a:p>
        </p:txBody>
      </p:sp>
      <p:graphicFrame>
        <p:nvGraphicFramePr>
          <p:cNvPr id="38" name="表格 37">
            <a:extLst>
              <a:ext uri="{FF2B5EF4-FFF2-40B4-BE49-F238E27FC236}">
                <a16:creationId xmlns:a16="http://schemas.microsoft.com/office/drawing/2014/main" id="{4B71788A-900F-3948-7A83-D4DF8C318CDE}"/>
              </a:ext>
            </a:extLst>
          </p:cNvPr>
          <p:cNvGraphicFramePr>
            <a:graphicFrameLocks noGrp="1"/>
          </p:cNvGraphicFramePr>
          <p:nvPr>
            <p:extLst>
              <p:ext uri="{D42A27DB-BD31-4B8C-83A1-F6EECF244321}">
                <p14:modId xmlns:p14="http://schemas.microsoft.com/office/powerpoint/2010/main" val="3675904536"/>
              </p:ext>
            </p:extLst>
          </p:nvPr>
        </p:nvGraphicFramePr>
        <p:xfrm>
          <a:off x="1091427" y="5083274"/>
          <a:ext cx="1055646" cy="938014"/>
        </p:xfrm>
        <a:graphic>
          <a:graphicData uri="http://schemas.openxmlformats.org/drawingml/2006/table">
            <a:tbl>
              <a:tblPr firstRow="1" bandRow="1">
                <a:tableStyleId>{21E4AEA4-8DFA-4A89-87EB-49C32662AFE0}</a:tableStyleId>
              </a:tblPr>
              <a:tblGrid>
                <a:gridCol w="527823">
                  <a:extLst>
                    <a:ext uri="{9D8B030D-6E8A-4147-A177-3AD203B41FA5}">
                      <a16:colId xmlns:a16="http://schemas.microsoft.com/office/drawing/2014/main" val="1015713116"/>
                    </a:ext>
                  </a:extLst>
                </a:gridCol>
                <a:gridCol w="527823">
                  <a:extLst>
                    <a:ext uri="{9D8B030D-6E8A-4147-A177-3AD203B41FA5}">
                      <a16:colId xmlns:a16="http://schemas.microsoft.com/office/drawing/2014/main" val="410744476"/>
                    </a:ext>
                  </a:extLst>
                </a:gridCol>
              </a:tblGrid>
              <a:tr h="469007">
                <a:tc>
                  <a:txBody>
                    <a:bodyPr/>
                    <a:lstStyle/>
                    <a:p>
                      <a:pPr algn="ctr"/>
                      <a:r>
                        <a:rPr lang="en-US" altLang="zh-CN" dirty="0"/>
                        <a:t>1</a:t>
                      </a:r>
                      <a:endParaRPr lang="zh-CN" altLang="en-US" dirty="0"/>
                    </a:p>
                  </a:txBody>
                  <a:tcPr>
                    <a:noFill/>
                  </a:tcPr>
                </a:tc>
                <a:tc>
                  <a:txBody>
                    <a:bodyPr/>
                    <a:lstStyle/>
                    <a:p>
                      <a:pPr algn="ctr"/>
                      <a:r>
                        <a:rPr lang="en-US" altLang="zh-CN" dirty="0"/>
                        <a:t>2</a:t>
                      </a:r>
                      <a:endParaRPr lang="zh-CN" altLang="en-US" dirty="0"/>
                    </a:p>
                  </a:txBody>
                  <a:tcPr>
                    <a:noFill/>
                  </a:tcPr>
                </a:tc>
                <a:extLst>
                  <a:ext uri="{0D108BD9-81ED-4DB2-BD59-A6C34878D82A}">
                    <a16:rowId xmlns:a16="http://schemas.microsoft.com/office/drawing/2014/main" val="1442272728"/>
                  </a:ext>
                </a:extLst>
              </a:tr>
              <a:tr h="469007">
                <a:tc>
                  <a:txBody>
                    <a:bodyPr/>
                    <a:lstStyle/>
                    <a:p>
                      <a:pPr marL="0" algn="ctr" defTabSz="914400" rtl="0" eaLnBrk="1" latinLnBrk="0" hangingPunct="1"/>
                      <a:r>
                        <a:rPr lang="en-US" altLang="zh-CN" sz="1800" b="1" kern="1200" dirty="0">
                          <a:solidFill>
                            <a:schemeClr val="lt1"/>
                          </a:solidFill>
                          <a:latin typeface="+mn-lt"/>
                          <a:ea typeface="+mn-ea"/>
                          <a:cs typeface="+mn-cs"/>
                        </a:rPr>
                        <a:t>3</a:t>
                      </a:r>
                      <a:endParaRPr lang="zh-CN" altLang="en-US" sz="1800" b="1" kern="1200" dirty="0">
                        <a:solidFill>
                          <a:schemeClr val="lt1"/>
                        </a:solidFill>
                        <a:latin typeface="+mn-lt"/>
                        <a:ea typeface="+mn-ea"/>
                        <a:cs typeface="+mn-cs"/>
                      </a:endParaRPr>
                    </a:p>
                  </a:txBody>
                  <a:tcPr>
                    <a:noFill/>
                  </a:tcPr>
                </a:tc>
                <a:tc>
                  <a:txBody>
                    <a:bodyPr/>
                    <a:lstStyle/>
                    <a:p>
                      <a:pPr marL="0" algn="ctr" defTabSz="914400" rtl="0" eaLnBrk="1" latinLnBrk="0" hangingPunct="1"/>
                      <a:r>
                        <a:rPr lang="en-US" altLang="zh-CN" sz="1800" b="1" kern="1200" dirty="0">
                          <a:solidFill>
                            <a:schemeClr val="lt1"/>
                          </a:solidFill>
                          <a:latin typeface="+mn-lt"/>
                          <a:ea typeface="+mn-ea"/>
                          <a:cs typeface="+mn-cs"/>
                        </a:rPr>
                        <a:t>4</a:t>
                      </a:r>
                      <a:endParaRPr lang="zh-CN" altLang="en-US" sz="1800" b="1" kern="1200" dirty="0">
                        <a:solidFill>
                          <a:schemeClr val="lt1"/>
                        </a:solidFill>
                        <a:latin typeface="+mn-lt"/>
                        <a:ea typeface="+mn-ea"/>
                        <a:cs typeface="+mn-cs"/>
                      </a:endParaRPr>
                    </a:p>
                  </a:txBody>
                  <a:tcPr>
                    <a:noFill/>
                  </a:tcPr>
                </a:tc>
                <a:extLst>
                  <a:ext uri="{0D108BD9-81ED-4DB2-BD59-A6C34878D82A}">
                    <a16:rowId xmlns:a16="http://schemas.microsoft.com/office/drawing/2014/main" val="1394645308"/>
                  </a:ext>
                </a:extLst>
              </a:tr>
            </a:tbl>
          </a:graphicData>
        </a:graphic>
      </p:graphicFrame>
      <p:sp>
        <p:nvSpPr>
          <p:cNvPr id="39" name="矩形 38">
            <a:extLst>
              <a:ext uri="{FF2B5EF4-FFF2-40B4-BE49-F238E27FC236}">
                <a16:creationId xmlns:a16="http://schemas.microsoft.com/office/drawing/2014/main" id="{6BAAE002-D0C2-6020-873D-3647EB513622}"/>
              </a:ext>
            </a:extLst>
          </p:cNvPr>
          <p:cNvSpPr>
            <a:spLocks noGrp="1"/>
          </p:cNvSpPr>
          <p:nvPr/>
        </p:nvSpPr>
        <p:spPr>
          <a:xfrm>
            <a:off x="9408368" y="4838869"/>
            <a:ext cx="2189758" cy="1149948"/>
          </a:xfrm>
          <a:prstGeom prst="rect">
            <a:avLst/>
          </a:prstGeom>
          <a:solidFill>
            <a:srgbClr val="FFFFFF"/>
          </a:solidFill>
        </p:spPr>
        <p:txBody>
          <a:bodyPr/>
          <a:lstStyle/>
          <a:p>
            <a:r>
              <a:rPr sz="1500" b="0" dirty="0">
                <a:solidFill>
                  <a:srgbClr val="15202B"/>
                </a:solidFill>
                <a:latin typeface="Consolas"/>
                <a:ea typeface="Consolas"/>
                <a:cs typeface="Consolas"/>
              </a:rPr>
              <a:t>h1=[ 1,  1,  1,  1]</a:t>
            </a:r>
          </a:p>
          <a:p>
            <a:r>
              <a:rPr sz="1500" b="0" dirty="0">
                <a:solidFill>
                  <a:srgbClr val="15202B"/>
                </a:solidFill>
                <a:latin typeface="Consolas"/>
                <a:ea typeface="Consolas"/>
                <a:cs typeface="Consolas"/>
              </a:rPr>
              <a:t>h2=[ 1, -1,  1, -1]</a:t>
            </a:r>
          </a:p>
          <a:p>
            <a:r>
              <a:rPr sz="1500" b="0" dirty="0">
                <a:solidFill>
                  <a:srgbClr val="15202B"/>
                </a:solidFill>
                <a:latin typeface="Consolas"/>
                <a:ea typeface="Consolas"/>
                <a:cs typeface="Consolas"/>
              </a:rPr>
              <a:t>h3=[ 1,  1, -1, -1]</a:t>
            </a:r>
          </a:p>
          <a:p>
            <a:r>
              <a:rPr sz="1500" b="0" dirty="0">
                <a:solidFill>
                  <a:srgbClr val="15202B"/>
                </a:solidFill>
                <a:latin typeface="Consolas"/>
                <a:ea typeface="Consolas"/>
                <a:cs typeface="Consolas"/>
              </a:rPr>
              <a:t>h4=[ 1, -1, -</a:t>
            </a:r>
            <a:r>
              <a:rPr lang="en-US" altLang="zh-CN" sz="1500" b="0" dirty="0">
                <a:solidFill>
                  <a:srgbClr val="15202B"/>
                </a:solidFill>
                <a:latin typeface="Consolas"/>
                <a:ea typeface="Consolas"/>
                <a:cs typeface="Consolas"/>
              </a:rPr>
              <a:t>1</a:t>
            </a:r>
            <a:r>
              <a:rPr sz="1500" b="0" dirty="0">
                <a:solidFill>
                  <a:srgbClr val="15202B"/>
                </a:solidFill>
                <a:latin typeface="Consolas"/>
                <a:ea typeface="Consolas"/>
                <a:cs typeface="Consolas"/>
              </a:rPr>
              <a:t>,  1]</a:t>
            </a:r>
          </a:p>
        </p:txBody>
      </p:sp>
      <p:sp>
        <p:nvSpPr>
          <p:cNvPr id="40" name="文本框 39">
            <a:extLst>
              <a:ext uri="{FF2B5EF4-FFF2-40B4-BE49-F238E27FC236}">
                <a16:creationId xmlns:a16="http://schemas.microsoft.com/office/drawing/2014/main" id="{88DAAEA9-A88C-577B-A39F-574B7F7026B1}"/>
              </a:ext>
            </a:extLst>
          </p:cNvPr>
          <p:cNvSpPr txBox="1"/>
          <p:nvPr/>
        </p:nvSpPr>
        <p:spPr>
          <a:xfrm>
            <a:off x="897857" y="6165304"/>
            <a:ext cx="1365059" cy="369332"/>
          </a:xfrm>
          <a:prstGeom prst="rect">
            <a:avLst/>
          </a:prstGeom>
          <a:noFill/>
        </p:spPr>
        <p:txBody>
          <a:bodyPr wrap="square" rtlCol="0">
            <a:spAutoFit/>
          </a:bodyPr>
          <a:lstStyle/>
          <a:p>
            <a:r>
              <a:rPr lang="en-US" altLang="zh-CN" dirty="0"/>
              <a:t>2×2</a:t>
            </a:r>
            <a:r>
              <a:rPr lang="zh-CN" altLang="en-US" dirty="0"/>
              <a:t>像图案</a:t>
            </a:r>
          </a:p>
        </p:txBody>
      </p:sp>
      <p:sp>
        <p:nvSpPr>
          <p:cNvPr id="41" name="文本框 40">
            <a:extLst>
              <a:ext uri="{FF2B5EF4-FFF2-40B4-BE49-F238E27FC236}">
                <a16:creationId xmlns:a16="http://schemas.microsoft.com/office/drawing/2014/main" id="{A0069884-8592-6DAC-F234-0902507E8176}"/>
              </a:ext>
            </a:extLst>
          </p:cNvPr>
          <p:cNvSpPr txBox="1"/>
          <p:nvPr/>
        </p:nvSpPr>
        <p:spPr>
          <a:xfrm>
            <a:off x="3935760" y="6453336"/>
            <a:ext cx="3528392" cy="369332"/>
          </a:xfrm>
          <a:prstGeom prst="rect">
            <a:avLst/>
          </a:prstGeom>
          <a:noFill/>
        </p:spPr>
        <p:txBody>
          <a:bodyPr wrap="square" rtlCol="0">
            <a:spAutoFit/>
          </a:bodyPr>
          <a:lstStyle/>
          <a:p>
            <a:r>
              <a:rPr lang="en-US" altLang="zh-CN" dirty="0"/>
              <a:t>2×2</a:t>
            </a:r>
            <a:r>
              <a:rPr lang="zh-CN" altLang="en-US" dirty="0"/>
              <a:t>像素图案具体偏振情况分布</a:t>
            </a:r>
          </a:p>
        </p:txBody>
      </p:sp>
      <p:sp>
        <p:nvSpPr>
          <p:cNvPr id="42" name="文本框 41">
            <a:extLst>
              <a:ext uri="{FF2B5EF4-FFF2-40B4-BE49-F238E27FC236}">
                <a16:creationId xmlns:a16="http://schemas.microsoft.com/office/drawing/2014/main" id="{90D91889-22C4-DB97-13E6-EE41CFFD451A}"/>
              </a:ext>
            </a:extLst>
          </p:cNvPr>
          <p:cNvSpPr txBox="1"/>
          <p:nvPr/>
        </p:nvSpPr>
        <p:spPr>
          <a:xfrm>
            <a:off x="9653909" y="6101475"/>
            <a:ext cx="1770683" cy="369332"/>
          </a:xfrm>
          <a:prstGeom prst="rect">
            <a:avLst/>
          </a:prstGeom>
          <a:noFill/>
        </p:spPr>
        <p:txBody>
          <a:bodyPr wrap="square" rtlCol="0">
            <a:spAutoFit/>
          </a:bodyPr>
          <a:lstStyle/>
          <a:p>
            <a:r>
              <a:rPr lang="en-US" altLang="zh-CN" dirty="0"/>
              <a:t>Hadamard</a:t>
            </a:r>
            <a:r>
              <a:rPr lang="zh-CN" altLang="en-US" dirty="0"/>
              <a:t>矩阵</a:t>
            </a:r>
          </a:p>
        </p:txBody>
      </p:sp>
    </p:spTree>
    <p:extLst>
      <p:ext uri="{BB962C8B-B14F-4D97-AF65-F5344CB8AC3E}">
        <p14:creationId xmlns:p14="http://schemas.microsoft.com/office/powerpoint/2010/main" val="57030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03DB12-55DF-6101-D9DB-DD03D44502DE}"/>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F928D442-892E-C805-57E8-89425BFAFD21}"/>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7838E719-276A-42C8-D059-4FFCEE731033}"/>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822EC488-4E3F-97F0-5265-70B33911248C}"/>
              </a:ext>
            </a:extLst>
          </p:cNvPr>
          <p:cNvSpPr/>
          <p:nvPr/>
        </p:nvSpPr>
        <p:spPr>
          <a:xfrm>
            <a:off x="2927648" y="150946"/>
            <a:ext cx="5398770"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2" name="图片 11" descr="校标组合1">
            <a:extLst>
              <a:ext uri="{FF2B5EF4-FFF2-40B4-BE49-F238E27FC236}">
                <a16:creationId xmlns:a16="http://schemas.microsoft.com/office/drawing/2014/main" id="{2D750CA9-705F-DACD-8A7C-CA909C31666C}"/>
              </a:ext>
            </a:extLst>
          </p:cNvPr>
          <p:cNvPicPr>
            <a:picLocks noChangeAspect="1"/>
          </p:cNvPicPr>
          <p:nvPr/>
        </p:nvPicPr>
        <p:blipFill>
          <a:blip r:embed="rId3"/>
          <a:stretch>
            <a:fillRect/>
          </a:stretch>
        </p:blipFill>
        <p:spPr>
          <a:xfrm>
            <a:off x="9082683" y="178217"/>
            <a:ext cx="2898775" cy="658495"/>
          </a:xfrm>
          <a:prstGeom prst="rect">
            <a:avLst/>
          </a:prstGeom>
        </p:spPr>
      </p:pic>
      <p:sp>
        <p:nvSpPr>
          <p:cNvPr id="13" name="文本框 12">
            <a:extLst>
              <a:ext uri="{FF2B5EF4-FFF2-40B4-BE49-F238E27FC236}">
                <a16:creationId xmlns:a16="http://schemas.microsoft.com/office/drawing/2014/main" id="{75EBB073-07A7-044E-C02E-35B6D457240C}"/>
              </a:ext>
            </a:extLst>
          </p:cNvPr>
          <p:cNvSpPr txBox="1"/>
          <p:nvPr/>
        </p:nvSpPr>
        <p:spPr>
          <a:xfrm>
            <a:off x="2948196" y="221158"/>
            <a:ext cx="4299931" cy="58356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核心过程</a:t>
            </a:r>
          </a:p>
        </p:txBody>
      </p:sp>
      <p:sp>
        <p:nvSpPr>
          <p:cNvPr id="14" name="文本框 13">
            <a:extLst>
              <a:ext uri="{FF2B5EF4-FFF2-40B4-BE49-F238E27FC236}">
                <a16:creationId xmlns:a16="http://schemas.microsoft.com/office/drawing/2014/main" id="{5171F3F6-B927-B34E-11F2-5145A9FCD51A}"/>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核心文献</a:t>
            </a:r>
            <a:endParaRPr lang="en-US" altLang="zh-CN" sz="3600" b="1" dirty="0">
              <a:solidFill>
                <a:srgbClr val="3467AB"/>
              </a:solidFill>
            </a:endParaRPr>
          </a:p>
        </p:txBody>
      </p:sp>
      <p:sp>
        <p:nvSpPr>
          <p:cNvPr id="2" name="文本框 1">
            <a:extLst>
              <a:ext uri="{FF2B5EF4-FFF2-40B4-BE49-F238E27FC236}">
                <a16:creationId xmlns:a16="http://schemas.microsoft.com/office/drawing/2014/main" id="{5C157224-1134-AC90-AA1E-787699BD10AE}"/>
              </a:ext>
            </a:extLst>
          </p:cNvPr>
          <p:cNvSpPr txBox="1"/>
          <p:nvPr/>
        </p:nvSpPr>
        <p:spPr>
          <a:xfrm>
            <a:off x="-34734" y="960300"/>
            <a:ext cx="2993120" cy="369332"/>
          </a:xfrm>
          <a:prstGeom prst="rect">
            <a:avLst/>
          </a:prstGeom>
          <a:noFill/>
        </p:spPr>
        <p:txBody>
          <a:bodyPr wrap="square" rtlCol="0">
            <a:spAutoFit/>
          </a:bodyPr>
          <a:lstStyle/>
          <a:p>
            <a:r>
              <a:rPr lang="zh-CN" altLang="en-US" dirty="0"/>
              <a:t>偏振信息</a:t>
            </a:r>
            <a:r>
              <a:rPr lang="zh-CN" altLang="en-US" dirty="0">
                <a:solidFill>
                  <a:srgbClr val="FF0000"/>
                </a:solidFill>
              </a:rPr>
              <a:t>编码</a:t>
            </a:r>
            <a:r>
              <a:rPr lang="zh-CN" altLang="en-US" dirty="0"/>
              <a:t>过程</a:t>
            </a:r>
            <a:r>
              <a:rPr lang="en-US" altLang="zh-CN" dirty="0"/>
              <a:t>:y=</a:t>
            </a:r>
            <a:r>
              <a:rPr lang="en-US" altLang="zh-CN" dirty="0" err="1"/>
              <a:t>Hx</a:t>
            </a:r>
            <a:endParaRPr lang="zh-CN" altLang="en-US" dirty="0"/>
          </a:p>
        </p:txBody>
      </p:sp>
      <p:sp>
        <p:nvSpPr>
          <p:cNvPr id="6" name="文本框 5">
            <a:extLst>
              <a:ext uri="{FF2B5EF4-FFF2-40B4-BE49-F238E27FC236}">
                <a16:creationId xmlns:a16="http://schemas.microsoft.com/office/drawing/2014/main" id="{308F143C-7C78-71EC-3F46-348691C3A91D}"/>
              </a:ext>
            </a:extLst>
          </p:cNvPr>
          <p:cNvSpPr txBox="1"/>
          <p:nvPr/>
        </p:nvSpPr>
        <p:spPr>
          <a:xfrm>
            <a:off x="2167555" y="1286252"/>
            <a:ext cx="1224136" cy="369332"/>
          </a:xfrm>
          <a:prstGeom prst="rect">
            <a:avLst/>
          </a:prstGeom>
          <a:noFill/>
        </p:spPr>
        <p:txBody>
          <a:bodyPr wrap="square" rtlCol="0">
            <a:spAutoFit/>
          </a:bodyPr>
          <a:lstStyle/>
          <a:p>
            <a:r>
              <a:rPr lang="zh-CN" altLang="en-US" dirty="0"/>
              <a:t>以</a:t>
            </a:r>
            <a:r>
              <a:rPr lang="en-US" altLang="zh-CN" dirty="0"/>
              <a:t>h2</a:t>
            </a:r>
            <a:r>
              <a:rPr lang="zh-CN" altLang="en-US" dirty="0"/>
              <a:t>为例</a:t>
            </a:r>
          </a:p>
        </p:txBody>
      </p:sp>
      <p:graphicFrame>
        <p:nvGraphicFramePr>
          <p:cNvPr id="7" name="表格 6">
            <a:extLst>
              <a:ext uri="{FF2B5EF4-FFF2-40B4-BE49-F238E27FC236}">
                <a16:creationId xmlns:a16="http://schemas.microsoft.com/office/drawing/2014/main" id="{6D2944E5-E5E8-E075-71D2-1044BF2E8079}"/>
              </a:ext>
            </a:extLst>
          </p:cNvPr>
          <p:cNvGraphicFramePr>
            <a:graphicFrameLocks noGrp="1"/>
          </p:cNvGraphicFramePr>
          <p:nvPr>
            <p:extLst>
              <p:ext uri="{D42A27DB-BD31-4B8C-83A1-F6EECF244321}">
                <p14:modId xmlns:p14="http://schemas.microsoft.com/office/powerpoint/2010/main" val="4239497575"/>
              </p:ext>
            </p:extLst>
          </p:nvPr>
        </p:nvGraphicFramePr>
        <p:xfrm>
          <a:off x="226026" y="1411788"/>
          <a:ext cx="1055646" cy="938014"/>
        </p:xfrm>
        <a:graphic>
          <a:graphicData uri="http://schemas.openxmlformats.org/drawingml/2006/table">
            <a:tbl>
              <a:tblPr firstRow="1" bandRow="1">
                <a:tableStyleId>{21E4AEA4-8DFA-4A89-87EB-49C32662AFE0}</a:tableStyleId>
              </a:tblPr>
              <a:tblGrid>
                <a:gridCol w="527823">
                  <a:extLst>
                    <a:ext uri="{9D8B030D-6E8A-4147-A177-3AD203B41FA5}">
                      <a16:colId xmlns:a16="http://schemas.microsoft.com/office/drawing/2014/main" val="1015713116"/>
                    </a:ext>
                  </a:extLst>
                </a:gridCol>
                <a:gridCol w="527823">
                  <a:extLst>
                    <a:ext uri="{9D8B030D-6E8A-4147-A177-3AD203B41FA5}">
                      <a16:colId xmlns:a16="http://schemas.microsoft.com/office/drawing/2014/main" val="410744476"/>
                    </a:ext>
                  </a:extLst>
                </a:gridCol>
              </a:tblGrid>
              <a:tr h="469007">
                <a:tc>
                  <a:txBody>
                    <a:bodyPr/>
                    <a:lstStyle/>
                    <a:p>
                      <a:pPr algn="ctr"/>
                      <a:r>
                        <a:rPr lang="en-US" altLang="zh-CN" dirty="0"/>
                        <a:t>1</a:t>
                      </a:r>
                      <a:endParaRPr lang="zh-CN" altLang="en-US" dirty="0"/>
                    </a:p>
                  </a:txBody>
                  <a:tcPr>
                    <a:noFill/>
                  </a:tcPr>
                </a:tc>
                <a:tc>
                  <a:txBody>
                    <a:bodyPr/>
                    <a:lstStyle/>
                    <a:p>
                      <a:pPr algn="ctr"/>
                      <a:r>
                        <a:rPr lang="en-US" altLang="zh-CN" dirty="0"/>
                        <a:t>2</a:t>
                      </a:r>
                      <a:endParaRPr lang="zh-CN" altLang="en-US" dirty="0"/>
                    </a:p>
                  </a:txBody>
                  <a:tcPr>
                    <a:noFill/>
                  </a:tcPr>
                </a:tc>
                <a:extLst>
                  <a:ext uri="{0D108BD9-81ED-4DB2-BD59-A6C34878D82A}">
                    <a16:rowId xmlns:a16="http://schemas.microsoft.com/office/drawing/2014/main" val="1442272728"/>
                  </a:ext>
                </a:extLst>
              </a:tr>
              <a:tr h="469007">
                <a:tc>
                  <a:txBody>
                    <a:bodyPr/>
                    <a:lstStyle/>
                    <a:p>
                      <a:pPr marL="0" algn="ctr" defTabSz="914400" rtl="0" eaLnBrk="1" latinLnBrk="0" hangingPunct="1"/>
                      <a:r>
                        <a:rPr lang="en-US" altLang="zh-CN" sz="1800" b="1" kern="1200" dirty="0">
                          <a:solidFill>
                            <a:schemeClr val="lt1"/>
                          </a:solidFill>
                          <a:latin typeface="+mn-lt"/>
                          <a:ea typeface="+mn-ea"/>
                          <a:cs typeface="+mn-cs"/>
                        </a:rPr>
                        <a:t>3</a:t>
                      </a:r>
                      <a:endParaRPr lang="zh-CN" altLang="en-US" sz="1800" b="1" kern="1200" dirty="0">
                        <a:solidFill>
                          <a:schemeClr val="lt1"/>
                        </a:solidFill>
                        <a:latin typeface="+mn-lt"/>
                        <a:ea typeface="+mn-ea"/>
                        <a:cs typeface="+mn-cs"/>
                      </a:endParaRPr>
                    </a:p>
                  </a:txBody>
                  <a:tcPr>
                    <a:noFill/>
                  </a:tcPr>
                </a:tc>
                <a:tc>
                  <a:txBody>
                    <a:bodyPr/>
                    <a:lstStyle/>
                    <a:p>
                      <a:pPr marL="0" algn="ctr" defTabSz="914400" rtl="0" eaLnBrk="1" latinLnBrk="0" hangingPunct="1"/>
                      <a:r>
                        <a:rPr lang="en-US" altLang="zh-CN" sz="1800" b="1" kern="1200" dirty="0">
                          <a:solidFill>
                            <a:schemeClr val="lt1"/>
                          </a:solidFill>
                          <a:latin typeface="+mn-lt"/>
                          <a:ea typeface="+mn-ea"/>
                          <a:cs typeface="+mn-cs"/>
                        </a:rPr>
                        <a:t>4</a:t>
                      </a:r>
                      <a:endParaRPr lang="zh-CN" altLang="en-US" sz="1800" b="1" kern="1200" dirty="0">
                        <a:solidFill>
                          <a:schemeClr val="lt1"/>
                        </a:solidFill>
                        <a:latin typeface="+mn-lt"/>
                        <a:ea typeface="+mn-ea"/>
                        <a:cs typeface="+mn-cs"/>
                      </a:endParaRPr>
                    </a:p>
                  </a:txBody>
                  <a:tcPr>
                    <a:noFill/>
                  </a:tcPr>
                </a:tc>
                <a:extLst>
                  <a:ext uri="{0D108BD9-81ED-4DB2-BD59-A6C34878D82A}">
                    <a16:rowId xmlns:a16="http://schemas.microsoft.com/office/drawing/2014/main" val="1394645308"/>
                  </a:ext>
                </a:extLst>
              </a:tr>
            </a:tbl>
          </a:graphicData>
        </a:graphic>
      </p:graphicFrame>
      <p:sp>
        <p:nvSpPr>
          <p:cNvPr id="10" name="箭头: 右 9">
            <a:extLst>
              <a:ext uri="{FF2B5EF4-FFF2-40B4-BE49-F238E27FC236}">
                <a16:creationId xmlns:a16="http://schemas.microsoft.com/office/drawing/2014/main" id="{7BD8CE45-5428-181A-33CC-0A2E46FDE980}"/>
              </a:ext>
            </a:extLst>
          </p:cNvPr>
          <p:cNvSpPr/>
          <p:nvPr/>
        </p:nvSpPr>
        <p:spPr>
          <a:xfrm>
            <a:off x="1853486" y="1755259"/>
            <a:ext cx="1800200" cy="251073"/>
          </a:xfrm>
          <a:prstGeom prst="rightArrow">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71E4FFDC-8E5D-5FDE-FDF5-7006C1DC5ED3}"/>
              </a:ext>
            </a:extLst>
          </p:cNvPr>
          <p:cNvSpPr txBox="1"/>
          <p:nvPr/>
        </p:nvSpPr>
        <p:spPr>
          <a:xfrm>
            <a:off x="1307346" y="2218665"/>
            <a:ext cx="2688332" cy="369332"/>
          </a:xfrm>
          <a:prstGeom prst="rect">
            <a:avLst/>
          </a:prstGeom>
          <a:noFill/>
        </p:spPr>
        <p:txBody>
          <a:bodyPr wrap="square">
            <a:spAutoFit/>
          </a:bodyPr>
          <a:lstStyle/>
          <a:p>
            <a:r>
              <a:rPr lang="pt-BR" altLang="zh-CN" sz="1800" b="0" dirty="0">
                <a:solidFill>
                  <a:srgbClr val="15202B"/>
                </a:solidFill>
                <a:latin typeface="Consolas"/>
                <a:ea typeface="Consolas"/>
                <a:cs typeface="Consolas"/>
              </a:rPr>
              <a:t>h2=[ 1, -1,  1, -1]</a:t>
            </a:r>
          </a:p>
        </p:txBody>
      </p:sp>
      <p:sp>
        <p:nvSpPr>
          <p:cNvPr id="17" name="矩形 16">
            <a:extLst>
              <a:ext uri="{FF2B5EF4-FFF2-40B4-BE49-F238E27FC236}">
                <a16:creationId xmlns:a16="http://schemas.microsoft.com/office/drawing/2014/main" id="{4BC5017E-CE73-F4EB-FBDD-F5085AEB7B13}"/>
              </a:ext>
            </a:extLst>
          </p:cNvPr>
          <p:cNvSpPr>
            <a:spLocks noGrp="1"/>
          </p:cNvSpPr>
          <p:nvPr/>
        </p:nvSpPr>
        <p:spPr>
          <a:xfrm>
            <a:off x="7578596" y="1211086"/>
            <a:ext cx="59055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像素</a:t>
            </a:r>
          </a:p>
        </p:txBody>
      </p:sp>
      <p:sp>
        <p:nvSpPr>
          <p:cNvPr id="18" name="矩形 17">
            <a:extLst>
              <a:ext uri="{FF2B5EF4-FFF2-40B4-BE49-F238E27FC236}">
                <a16:creationId xmlns:a16="http://schemas.microsoft.com/office/drawing/2014/main" id="{9110AEEF-0BDC-4F0D-A538-FC68B4A1EB2F}"/>
              </a:ext>
            </a:extLst>
          </p:cNvPr>
          <p:cNvSpPr>
            <a:spLocks noGrp="1"/>
          </p:cNvSpPr>
          <p:nvPr/>
        </p:nvSpPr>
        <p:spPr>
          <a:xfrm>
            <a:off x="8169146" y="1211086"/>
            <a:ext cx="552450" cy="361950"/>
          </a:xfrm>
          <a:prstGeom prst="rect">
            <a:avLst/>
          </a:prstGeom>
          <a:solidFill>
            <a:srgbClr val="14365C"/>
          </a:solidFill>
        </p:spPr>
        <p:txBody>
          <a:bodyPr/>
          <a:lstStyle/>
          <a:p>
            <a:r>
              <a:rPr lang="en-US" sz="1425" b="1" dirty="0">
                <a:solidFill>
                  <a:srgbClr val="FFFFFF"/>
                </a:solidFill>
                <a:latin typeface="Microsoft YaHei"/>
                <a:ea typeface="Microsoft YaHei"/>
                <a:cs typeface="Microsoft YaHei"/>
              </a:rPr>
              <a:t>S</a:t>
            </a:r>
            <a:r>
              <a:rPr sz="1425" b="1" dirty="0">
                <a:solidFill>
                  <a:srgbClr val="FFFFFF"/>
                </a:solidFill>
                <a:latin typeface="Microsoft YaHei"/>
                <a:ea typeface="Microsoft YaHei"/>
                <a:cs typeface="Microsoft YaHei"/>
              </a:rPr>
              <a:t>0</a:t>
            </a:r>
          </a:p>
        </p:txBody>
      </p:sp>
      <p:sp>
        <p:nvSpPr>
          <p:cNvPr id="19" name="矩形 18">
            <a:extLst>
              <a:ext uri="{FF2B5EF4-FFF2-40B4-BE49-F238E27FC236}">
                <a16:creationId xmlns:a16="http://schemas.microsoft.com/office/drawing/2014/main" id="{72255A5A-ABE1-4A33-178D-CFD0E681B9C4}"/>
              </a:ext>
            </a:extLst>
          </p:cNvPr>
          <p:cNvSpPr>
            <a:spLocks noGrp="1"/>
          </p:cNvSpPr>
          <p:nvPr/>
        </p:nvSpPr>
        <p:spPr>
          <a:xfrm>
            <a:off x="8721596" y="1211086"/>
            <a:ext cx="55245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S1</a:t>
            </a:r>
          </a:p>
        </p:txBody>
      </p:sp>
      <p:sp>
        <p:nvSpPr>
          <p:cNvPr id="20" name="矩形 19">
            <a:extLst>
              <a:ext uri="{FF2B5EF4-FFF2-40B4-BE49-F238E27FC236}">
                <a16:creationId xmlns:a16="http://schemas.microsoft.com/office/drawing/2014/main" id="{1274A6CA-D083-ECB5-F506-6C23C9095D10}"/>
              </a:ext>
            </a:extLst>
          </p:cNvPr>
          <p:cNvSpPr>
            <a:spLocks noGrp="1"/>
          </p:cNvSpPr>
          <p:nvPr/>
        </p:nvSpPr>
        <p:spPr>
          <a:xfrm>
            <a:off x="9274046" y="1211086"/>
            <a:ext cx="55245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S2</a:t>
            </a:r>
          </a:p>
        </p:txBody>
      </p:sp>
      <p:sp>
        <p:nvSpPr>
          <p:cNvPr id="21" name="矩形 20">
            <a:extLst>
              <a:ext uri="{FF2B5EF4-FFF2-40B4-BE49-F238E27FC236}">
                <a16:creationId xmlns:a16="http://schemas.microsoft.com/office/drawing/2014/main" id="{011C440E-A8AC-5E76-723E-772570AB2993}"/>
              </a:ext>
            </a:extLst>
          </p:cNvPr>
          <p:cNvSpPr>
            <a:spLocks noGrp="1"/>
          </p:cNvSpPr>
          <p:nvPr/>
        </p:nvSpPr>
        <p:spPr>
          <a:xfrm>
            <a:off x="9826496" y="1211086"/>
            <a:ext cx="55245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S3</a:t>
            </a:r>
          </a:p>
        </p:txBody>
      </p:sp>
      <p:sp>
        <p:nvSpPr>
          <p:cNvPr id="22" name="矩形 21">
            <a:extLst>
              <a:ext uri="{FF2B5EF4-FFF2-40B4-BE49-F238E27FC236}">
                <a16:creationId xmlns:a16="http://schemas.microsoft.com/office/drawing/2014/main" id="{0A45D670-5F40-2C81-B698-B0ADF30A7C6B}"/>
              </a:ext>
            </a:extLst>
          </p:cNvPr>
          <p:cNvSpPr>
            <a:spLocks noGrp="1"/>
          </p:cNvSpPr>
          <p:nvPr/>
        </p:nvSpPr>
        <p:spPr>
          <a:xfrm>
            <a:off x="10378946" y="1211086"/>
            <a:ext cx="167640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含义</a:t>
            </a:r>
          </a:p>
        </p:txBody>
      </p:sp>
      <p:sp>
        <p:nvSpPr>
          <p:cNvPr id="23" name="矩形 22">
            <a:extLst>
              <a:ext uri="{FF2B5EF4-FFF2-40B4-BE49-F238E27FC236}">
                <a16:creationId xmlns:a16="http://schemas.microsoft.com/office/drawing/2014/main" id="{B45A03C1-614F-D386-4A2A-10A36F310B30}"/>
              </a:ext>
            </a:extLst>
          </p:cNvPr>
          <p:cNvSpPr>
            <a:spLocks noGrp="1"/>
          </p:cNvSpPr>
          <p:nvPr/>
        </p:nvSpPr>
        <p:spPr>
          <a:xfrm>
            <a:off x="7578596" y="1573036"/>
            <a:ext cx="590550" cy="361950"/>
          </a:xfrm>
          <a:prstGeom prst="rect">
            <a:avLst/>
          </a:prstGeom>
          <a:solidFill>
            <a:srgbClr val="FFFFFF"/>
          </a:solidFill>
        </p:spPr>
        <p:txBody>
          <a:bodyPr/>
          <a:lstStyle/>
          <a:p>
            <a:r>
              <a:rPr sz="1425" dirty="0">
                <a:solidFill>
                  <a:srgbClr val="15202B"/>
                </a:solidFill>
                <a:latin typeface="Microsoft YaHei"/>
                <a:ea typeface="Microsoft YaHei"/>
                <a:cs typeface="Microsoft YaHei"/>
              </a:rPr>
              <a:t>1</a:t>
            </a:r>
          </a:p>
        </p:txBody>
      </p:sp>
      <p:sp>
        <p:nvSpPr>
          <p:cNvPr id="24" name="矩形 23">
            <a:extLst>
              <a:ext uri="{FF2B5EF4-FFF2-40B4-BE49-F238E27FC236}">
                <a16:creationId xmlns:a16="http://schemas.microsoft.com/office/drawing/2014/main" id="{7B91CD06-87DC-556C-F86A-3B163A44CF0B}"/>
              </a:ext>
            </a:extLst>
          </p:cNvPr>
          <p:cNvSpPr>
            <a:spLocks noGrp="1"/>
          </p:cNvSpPr>
          <p:nvPr/>
        </p:nvSpPr>
        <p:spPr>
          <a:xfrm>
            <a:off x="8169146" y="1573036"/>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10</a:t>
            </a:r>
          </a:p>
        </p:txBody>
      </p:sp>
      <p:sp>
        <p:nvSpPr>
          <p:cNvPr id="25" name="矩形 24">
            <a:extLst>
              <a:ext uri="{FF2B5EF4-FFF2-40B4-BE49-F238E27FC236}">
                <a16:creationId xmlns:a16="http://schemas.microsoft.com/office/drawing/2014/main" id="{223988B4-6A9D-6093-8013-3F41C67BA1BF}"/>
              </a:ext>
            </a:extLst>
          </p:cNvPr>
          <p:cNvSpPr>
            <a:spLocks noGrp="1"/>
          </p:cNvSpPr>
          <p:nvPr/>
        </p:nvSpPr>
        <p:spPr>
          <a:xfrm>
            <a:off x="8721596" y="1573036"/>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10</a:t>
            </a:r>
          </a:p>
        </p:txBody>
      </p:sp>
      <p:sp>
        <p:nvSpPr>
          <p:cNvPr id="26" name="矩形 25">
            <a:extLst>
              <a:ext uri="{FF2B5EF4-FFF2-40B4-BE49-F238E27FC236}">
                <a16:creationId xmlns:a16="http://schemas.microsoft.com/office/drawing/2014/main" id="{AFA29938-6B68-2BA8-D192-E3F6F6EDC021}"/>
              </a:ext>
            </a:extLst>
          </p:cNvPr>
          <p:cNvSpPr>
            <a:spLocks noGrp="1"/>
          </p:cNvSpPr>
          <p:nvPr/>
        </p:nvSpPr>
        <p:spPr>
          <a:xfrm>
            <a:off x="9274046" y="1573036"/>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0</a:t>
            </a:r>
          </a:p>
        </p:txBody>
      </p:sp>
      <p:sp>
        <p:nvSpPr>
          <p:cNvPr id="27" name="矩形 26">
            <a:extLst>
              <a:ext uri="{FF2B5EF4-FFF2-40B4-BE49-F238E27FC236}">
                <a16:creationId xmlns:a16="http://schemas.microsoft.com/office/drawing/2014/main" id="{20D4BF40-D064-3D12-A20A-C72637B3EB23}"/>
              </a:ext>
            </a:extLst>
          </p:cNvPr>
          <p:cNvSpPr>
            <a:spLocks noGrp="1"/>
          </p:cNvSpPr>
          <p:nvPr/>
        </p:nvSpPr>
        <p:spPr>
          <a:xfrm>
            <a:off x="9826496" y="1573036"/>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0</a:t>
            </a:r>
          </a:p>
        </p:txBody>
      </p:sp>
      <p:sp>
        <p:nvSpPr>
          <p:cNvPr id="28" name="矩形 27">
            <a:extLst>
              <a:ext uri="{FF2B5EF4-FFF2-40B4-BE49-F238E27FC236}">
                <a16:creationId xmlns:a16="http://schemas.microsoft.com/office/drawing/2014/main" id="{52D794BE-4D46-1A52-E13D-16799924C49D}"/>
              </a:ext>
            </a:extLst>
          </p:cNvPr>
          <p:cNvSpPr>
            <a:spLocks noGrp="1"/>
          </p:cNvSpPr>
          <p:nvPr/>
        </p:nvSpPr>
        <p:spPr>
          <a:xfrm>
            <a:off x="10378946" y="1573036"/>
            <a:ext cx="1676400" cy="361950"/>
          </a:xfrm>
          <a:prstGeom prst="rect">
            <a:avLst/>
          </a:prstGeom>
          <a:solidFill>
            <a:srgbClr val="FFFFFF"/>
          </a:solidFill>
        </p:spPr>
        <p:txBody>
          <a:bodyPr/>
          <a:lstStyle/>
          <a:p>
            <a:r>
              <a:rPr sz="1425" dirty="0" err="1">
                <a:solidFill>
                  <a:srgbClr val="15202B"/>
                </a:solidFill>
                <a:latin typeface="Microsoft YaHei"/>
                <a:ea typeface="Microsoft YaHei"/>
                <a:cs typeface="Microsoft YaHei"/>
              </a:rPr>
              <a:t>水平线偏振</a:t>
            </a:r>
            <a:endParaRPr sz="1425" dirty="0">
              <a:solidFill>
                <a:srgbClr val="15202B"/>
              </a:solidFill>
              <a:latin typeface="Microsoft YaHei"/>
              <a:ea typeface="Microsoft YaHei"/>
              <a:cs typeface="Microsoft YaHei"/>
            </a:endParaRPr>
          </a:p>
        </p:txBody>
      </p:sp>
      <p:sp>
        <p:nvSpPr>
          <p:cNvPr id="29" name="矩形 28">
            <a:extLst>
              <a:ext uri="{FF2B5EF4-FFF2-40B4-BE49-F238E27FC236}">
                <a16:creationId xmlns:a16="http://schemas.microsoft.com/office/drawing/2014/main" id="{4BF2BE0E-7A90-AF75-97DB-080A1C5D815D}"/>
              </a:ext>
            </a:extLst>
          </p:cNvPr>
          <p:cNvSpPr>
            <a:spLocks noGrp="1"/>
          </p:cNvSpPr>
          <p:nvPr/>
        </p:nvSpPr>
        <p:spPr>
          <a:xfrm>
            <a:off x="7578596" y="1934986"/>
            <a:ext cx="5905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2</a:t>
            </a:r>
          </a:p>
        </p:txBody>
      </p:sp>
      <p:sp>
        <p:nvSpPr>
          <p:cNvPr id="30" name="矩形 29">
            <a:extLst>
              <a:ext uri="{FF2B5EF4-FFF2-40B4-BE49-F238E27FC236}">
                <a16:creationId xmlns:a16="http://schemas.microsoft.com/office/drawing/2014/main" id="{9CD66882-8F7B-00BA-8D89-B2BC26EEC628}"/>
              </a:ext>
            </a:extLst>
          </p:cNvPr>
          <p:cNvSpPr>
            <a:spLocks noGrp="1"/>
          </p:cNvSpPr>
          <p:nvPr/>
        </p:nvSpPr>
        <p:spPr>
          <a:xfrm>
            <a:off x="8169146" y="1934986"/>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8</a:t>
            </a:r>
          </a:p>
        </p:txBody>
      </p:sp>
      <p:sp>
        <p:nvSpPr>
          <p:cNvPr id="31" name="矩形 30">
            <a:extLst>
              <a:ext uri="{FF2B5EF4-FFF2-40B4-BE49-F238E27FC236}">
                <a16:creationId xmlns:a16="http://schemas.microsoft.com/office/drawing/2014/main" id="{F5A6153E-01BD-AC9A-BE93-86F2B884CB3E}"/>
              </a:ext>
            </a:extLst>
          </p:cNvPr>
          <p:cNvSpPr>
            <a:spLocks noGrp="1"/>
          </p:cNvSpPr>
          <p:nvPr/>
        </p:nvSpPr>
        <p:spPr>
          <a:xfrm>
            <a:off x="8721596" y="1934986"/>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0</a:t>
            </a:r>
          </a:p>
        </p:txBody>
      </p:sp>
      <p:sp>
        <p:nvSpPr>
          <p:cNvPr id="32" name="矩形 31">
            <a:extLst>
              <a:ext uri="{FF2B5EF4-FFF2-40B4-BE49-F238E27FC236}">
                <a16:creationId xmlns:a16="http://schemas.microsoft.com/office/drawing/2014/main" id="{742C2A22-3F27-1E7A-A8C9-2E0FCECA581D}"/>
              </a:ext>
            </a:extLst>
          </p:cNvPr>
          <p:cNvSpPr>
            <a:spLocks noGrp="1"/>
          </p:cNvSpPr>
          <p:nvPr/>
        </p:nvSpPr>
        <p:spPr>
          <a:xfrm>
            <a:off x="9274046" y="1934986"/>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8</a:t>
            </a:r>
          </a:p>
        </p:txBody>
      </p:sp>
      <p:sp>
        <p:nvSpPr>
          <p:cNvPr id="33" name="矩形 32">
            <a:extLst>
              <a:ext uri="{FF2B5EF4-FFF2-40B4-BE49-F238E27FC236}">
                <a16:creationId xmlns:a16="http://schemas.microsoft.com/office/drawing/2014/main" id="{35D6D704-D126-D83E-4AC3-FF314545ED46}"/>
              </a:ext>
            </a:extLst>
          </p:cNvPr>
          <p:cNvSpPr>
            <a:spLocks noGrp="1"/>
          </p:cNvSpPr>
          <p:nvPr/>
        </p:nvSpPr>
        <p:spPr>
          <a:xfrm>
            <a:off x="9826496" y="1934986"/>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0</a:t>
            </a:r>
          </a:p>
        </p:txBody>
      </p:sp>
      <p:sp>
        <p:nvSpPr>
          <p:cNvPr id="34" name="矩形 33">
            <a:extLst>
              <a:ext uri="{FF2B5EF4-FFF2-40B4-BE49-F238E27FC236}">
                <a16:creationId xmlns:a16="http://schemas.microsoft.com/office/drawing/2014/main" id="{31E4F207-A8CA-294E-DFAF-51D459C4D55A}"/>
              </a:ext>
            </a:extLst>
          </p:cNvPr>
          <p:cNvSpPr>
            <a:spLocks noGrp="1"/>
          </p:cNvSpPr>
          <p:nvPr/>
        </p:nvSpPr>
        <p:spPr>
          <a:xfrm>
            <a:off x="10378946" y="1934986"/>
            <a:ext cx="1676400" cy="361950"/>
          </a:xfrm>
          <a:prstGeom prst="rect">
            <a:avLst/>
          </a:prstGeom>
          <a:solidFill>
            <a:srgbClr val="EEF4FA"/>
          </a:solidFill>
        </p:spPr>
        <p:txBody>
          <a:bodyPr/>
          <a:lstStyle/>
          <a:p>
            <a:r>
              <a:rPr sz="1425">
                <a:solidFill>
                  <a:srgbClr val="15202B"/>
                </a:solidFill>
                <a:latin typeface="Microsoft YaHei"/>
                <a:ea typeface="Microsoft YaHei"/>
                <a:cs typeface="Microsoft YaHei"/>
              </a:rPr>
              <a:t>+45° 线偏振</a:t>
            </a:r>
          </a:p>
        </p:txBody>
      </p:sp>
      <p:sp>
        <p:nvSpPr>
          <p:cNvPr id="35" name="矩形 34">
            <a:extLst>
              <a:ext uri="{FF2B5EF4-FFF2-40B4-BE49-F238E27FC236}">
                <a16:creationId xmlns:a16="http://schemas.microsoft.com/office/drawing/2014/main" id="{8203B8F6-E31A-F530-AD31-E750AFD819F9}"/>
              </a:ext>
            </a:extLst>
          </p:cNvPr>
          <p:cNvSpPr>
            <a:spLocks noGrp="1"/>
          </p:cNvSpPr>
          <p:nvPr/>
        </p:nvSpPr>
        <p:spPr>
          <a:xfrm>
            <a:off x="7578596" y="2296936"/>
            <a:ext cx="5905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3</a:t>
            </a:r>
          </a:p>
        </p:txBody>
      </p:sp>
      <p:sp>
        <p:nvSpPr>
          <p:cNvPr id="36" name="矩形 35">
            <a:extLst>
              <a:ext uri="{FF2B5EF4-FFF2-40B4-BE49-F238E27FC236}">
                <a16:creationId xmlns:a16="http://schemas.microsoft.com/office/drawing/2014/main" id="{DC166BE7-05BE-81A9-1B47-D6EC254F2354}"/>
              </a:ext>
            </a:extLst>
          </p:cNvPr>
          <p:cNvSpPr>
            <a:spLocks noGrp="1"/>
          </p:cNvSpPr>
          <p:nvPr/>
        </p:nvSpPr>
        <p:spPr>
          <a:xfrm>
            <a:off x="8169146" y="2296936"/>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6</a:t>
            </a:r>
          </a:p>
        </p:txBody>
      </p:sp>
      <p:sp>
        <p:nvSpPr>
          <p:cNvPr id="37" name="矩形 36">
            <a:extLst>
              <a:ext uri="{FF2B5EF4-FFF2-40B4-BE49-F238E27FC236}">
                <a16:creationId xmlns:a16="http://schemas.microsoft.com/office/drawing/2014/main" id="{36AE350D-B4A7-1D0C-E67F-0529EA676BA8}"/>
              </a:ext>
            </a:extLst>
          </p:cNvPr>
          <p:cNvSpPr>
            <a:spLocks noGrp="1"/>
          </p:cNvSpPr>
          <p:nvPr/>
        </p:nvSpPr>
        <p:spPr>
          <a:xfrm>
            <a:off x="8721596" y="2296936"/>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-6</a:t>
            </a:r>
          </a:p>
        </p:txBody>
      </p:sp>
      <p:sp>
        <p:nvSpPr>
          <p:cNvPr id="38" name="矩形 37">
            <a:extLst>
              <a:ext uri="{FF2B5EF4-FFF2-40B4-BE49-F238E27FC236}">
                <a16:creationId xmlns:a16="http://schemas.microsoft.com/office/drawing/2014/main" id="{AC45CD22-1C45-4CE6-8E97-372E8A769567}"/>
              </a:ext>
            </a:extLst>
          </p:cNvPr>
          <p:cNvSpPr>
            <a:spLocks noGrp="1"/>
          </p:cNvSpPr>
          <p:nvPr/>
        </p:nvSpPr>
        <p:spPr>
          <a:xfrm>
            <a:off x="9274046" y="2296936"/>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0</a:t>
            </a:r>
          </a:p>
        </p:txBody>
      </p:sp>
      <p:sp>
        <p:nvSpPr>
          <p:cNvPr id="39" name="矩形 38">
            <a:extLst>
              <a:ext uri="{FF2B5EF4-FFF2-40B4-BE49-F238E27FC236}">
                <a16:creationId xmlns:a16="http://schemas.microsoft.com/office/drawing/2014/main" id="{6B56A524-E4B0-5B38-ACB1-7F857A031C0E}"/>
              </a:ext>
            </a:extLst>
          </p:cNvPr>
          <p:cNvSpPr>
            <a:spLocks noGrp="1"/>
          </p:cNvSpPr>
          <p:nvPr/>
        </p:nvSpPr>
        <p:spPr>
          <a:xfrm>
            <a:off x="9826496" y="2296936"/>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0</a:t>
            </a:r>
          </a:p>
        </p:txBody>
      </p:sp>
      <p:sp>
        <p:nvSpPr>
          <p:cNvPr id="40" name="矩形 39">
            <a:extLst>
              <a:ext uri="{FF2B5EF4-FFF2-40B4-BE49-F238E27FC236}">
                <a16:creationId xmlns:a16="http://schemas.microsoft.com/office/drawing/2014/main" id="{C8B57D0B-6927-5D23-9572-5939CF4C461E}"/>
              </a:ext>
            </a:extLst>
          </p:cNvPr>
          <p:cNvSpPr>
            <a:spLocks noGrp="1"/>
          </p:cNvSpPr>
          <p:nvPr/>
        </p:nvSpPr>
        <p:spPr>
          <a:xfrm>
            <a:off x="10378946" y="2296936"/>
            <a:ext cx="1676400" cy="361950"/>
          </a:xfrm>
          <a:prstGeom prst="rect">
            <a:avLst/>
          </a:prstGeom>
          <a:solidFill>
            <a:srgbClr val="FFFFFF"/>
          </a:solidFill>
        </p:spPr>
        <p:txBody>
          <a:bodyPr/>
          <a:lstStyle/>
          <a:p>
            <a:r>
              <a:rPr sz="1425" dirty="0" err="1">
                <a:solidFill>
                  <a:srgbClr val="15202B"/>
                </a:solidFill>
                <a:latin typeface="Microsoft YaHei"/>
                <a:ea typeface="Microsoft YaHei"/>
                <a:cs typeface="Microsoft YaHei"/>
              </a:rPr>
              <a:t>垂直线偏振</a:t>
            </a:r>
            <a:endParaRPr sz="1425" dirty="0">
              <a:solidFill>
                <a:srgbClr val="15202B"/>
              </a:solidFill>
              <a:latin typeface="Microsoft YaHei"/>
              <a:ea typeface="Microsoft YaHei"/>
              <a:cs typeface="Microsoft YaHei"/>
            </a:endParaRPr>
          </a:p>
        </p:txBody>
      </p:sp>
      <p:sp>
        <p:nvSpPr>
          <p:cNvPr id="41" name="矩形 40">
            <a:extLst>
              <a:ext uri="{FF2B5EF4-FFF2-40B4-BE49-F238E27FC236}">
                <a16:creationId xmlns:a16="http://schemas.microsoft.com/office/drawing/2014/main" id="{59311C07-EF94-8710-31B8-02135ABEC872}"/>
              </a:ext>
            </a:extLst>
          </p:cNvPr>
          <p:cNvSpPr>
            <a:spLocks noGrp="1"/>
          </p:cNvSpPr>
          <p:nvPr/>
        </p:nvSpPr>
        <p:spPr>
          <a:xfrm>
            <a:off x="7578596" y="2658886"/>
            <a:ext cx="5905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4</a:t>
            </a:r>
          </a:p>
        </p:txBody>
      </p:sp>
      <p:sp>
        <p:nvSpPr>
          <p:cNvPr id="42" name="矩形 41">
            <a:extLst>
              <a:ext uri="{FF2B5EF4-FFF2-40B4-BE49-F238E27FC236}">
                <a16:creationId xmlns:a16="http://schemas.microsoft.com/office/drawing/2014/main" id="{FC69D13E-2318-3CD6-7106-CE096A82F1F0}"/>
              </a:ext>
            </a:extLst>
          </p:cNvPr>
          <p:cNvSpPr>
            <a:spLocks noGrp="1"/>
          </p:cNvSpPr>
          <p:nvPr/>
        </p:nvSpPr>
        <p:spPr>
          <a:xfrm>
            <a:off x="8169146" y="2658886"/>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4</a:t>
            </a:r>
          </a:p>
        </p:txBody>
      </p:sp>
      <p:sp>
        <p:nvSpPr>
          <p:cNvPr id="43" name="矩形 42">
            <a:extLst>
              <a:ext uri="{FF2B5EF4-FFF2-40B4-BE49-F238E27FC236}">
                <a16:creationId xmlns:a16="http://schemas.microsoft.com/office/drawing/2014/main" id="{74CD91EA-C1C6-A6D3-2F45-52DDB987DD8B}"/>
              </a:ext>
            </a:extLst>
          </p:cNvPr>
          <p:cNvSpPr>
            <a:spLocks noGrp="1"/>
          </p:cNvSpPr>
          <p:nvPr/>
        </p:nvSpPr>
        <p:spPr>
          <a:xfrm>
            <a:off x="8721596" y="2658886"/>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0</a:t>
            </a:r>
          </a:p>
        </p:txBody>
      </p:sp>
      <p:sp>
        <p:nvSpPr>
          <p:cNvPr id="44" name="矩形 43">
            <a:extLst>
              <a:ext uri="{FF2B5EF4-FFF2-40B4-BE49-F238E27FC236}">
                <a16:creationId xmlns:a16="http://schemas.microsoft.com/office/drawing/2014/main" id="{6917AD45-E891-6779-41EF-9CE81FEBC1A4}"/>
              </a:ext>
            </a:extLst>
          </p:cNvPr>
          <p:cNvSpPr>
            <a:spLocks noGrp="1"/>
          </p:cNvSpPr>
          <p:nvPr/>
        </p:nvSpPr>
        <p:spPr>
          <a:xfrm>
            <a:off x="9274046" y="2658886"/>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0</a:t>
            </a:r>
          </a:p>
        </p:txBody>
      </p:sp>
      <p:sp>
        <p:nvSpPr>
          <p:cNvPr id="45" name="矩形 44">
            <a:extLst>
              <a:ext uri="{FF2B5EF4-FFF2-40B4-BE49-F238E27FC236}">
                <a16:creationId xmlns:a16="http://schemas.microsoft.com/office/drawing/2014/main" id="{BB0502A0-B881-4526-F216-A37970140F65}"/>
              </a:ext>
            </a:extLst>
          </p:cNvPr>
          <p:cNvSpPr>
            <a:spLocks noGrp="1"/>
          </p:cNvSpPr>
          <p:nvPr/>
        </p:nvSpPr>
        <p:spPr>
          <a:xfrm>
            <a:off x="9826496" y="2658886"/>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4</a:t>
            </a:r>
          </a:p>
        </p:txBody>
      </p:sp>
      <p:sp>
        <p:nvSpPr>
          <p:cNvPr id="46" name="矩形 45">
            <a:extLst>
              <a:ext uri="{FF2B5EF4-FFF2-40B4-BE49-F238E27FC236}">
                <a16:creationId xmlns:a16="http://schemas.microsoft.com/office/drawing/2014/main" id="{31158B1F-01EC-90E8-7492-317C9D2A7FAF}"/>
              </a:ext>
            </a:extLst>
          </p:cNvPr>
          <p:cNvSpPr>
            <a:spLocks noGrp="1"/>
          </p:cNvSpPr>
          <p:nvPr/>
        </p:nvSpPr>
        <p:spPr>
          <a:xfrm>
            <a:off x="10378946" y="2658886"/>
            <a:ext cx="1676400" cy="361950"/>
          </a:xfrm>
          <a:prstGeom prst="rect">
            <a:avLst/>
          </a:prstGeom>
          <a:solidFill>
            <a:srgbClr val="EEF4FA"/>
          </a:solidFill>
        </p:spPr>
        <p:txBody>
          <a:bodyPr/>
          <a:lstStyle/>
          <a:p>
            <a:r>
              <a:rPr sz="1425">
                <a:solidFill>
                  <a:srgbClr val="15202B"/>
                </a:solidFill>
                <a:latin typeface="Microsoft YaHei"/>
                <a:ea typeface="Microsoft YaHei"/>
                <a:cs typeface="Microsoft YaHei"/>
              </a:rPr>
              <a:t>右旋圆偏振</a:t>
            </a:r>
          </a:p>
        </p:txBody>
      </p:sp>
      <p:sp>
        <p:nvSpPr>
          <p:cNvPr id="47" name="文本框 46">
            <a:extLst>
              <a:ext uri="{FF2B5EF4-FFF2-40B4-BE49-F238E27FC236}">
                <a16:creationId xmlns:a16="http://schemas.microsoft.com/office/drawing/2014/main" id="{41626BC4-4965-32EF-732F-C296C4D04C93}"/>
              </a:ext>
            </a:extLst>
          </p:cNvPr>
          <p:cNvSpPr txBox="1"/>
          <p:nvPr/>
        </p:nvSpPr>
        <p:spPr>
          <a:xfrm>
            <a:off x="7968208" y="3089985"/>
            <a:ext cx="3528392" cy="369332"/>
          </a:xfrm>
          <a:prstGeom prst="rect">
            <a:avLst/>
          </a:prstGeom>
          <a:noFill/>
        </p:spPr>
        <p:txBody>
          <a:bodyPr wrap="square" rtlCol="0">
            <a:spAutoFit/>
          </a:bodyPr>
          <a:lstStyle/>
          <a:p>
            <a:r>
              <a:rPr lang="en-US" altLang="zh-CN" dirty="0"/>
              <a:t>2×2</a:t>
            </a:r>
            <a:r>
              <a:rPr lang="zh-CN" altLang="en-US" dirty="0"/>
              <a:t>像素图案具体偏振情况分布</a:t>
            </a:r>
          </a:p>
        </p:txBody>
      </p:sp>
      <p:graphicFrame>
        <p:nvGraphicFramePr>
          <p:cNvPr id="48" name="表格 47">
            <a:extLst>
              <a:ext uri="{FF2B5EF4-FFF2-40B4-BE49-F238E27FC236}">
                <a16:creationId xmlns:a16="http://schemas.microsoft.com/office/drawing/2014/main" id="{8585C21F-EBF8-BFD9-F63A-D9BDB0D87630}"/>
              </a:ext>
            </a:extLst>
          </p:cNvPr>
          <p:cNvGraphicFramePr>
            <a:graphicFrameLocks noGrp="1"/>
          </p:cNvGraphicFramePr>
          <p:nvPr>
            <p:extLst>
              <p:ext uri="{D42A27DB-BD31-4B8C-83A1-F6EECF244321}">
                <p14:modId xmlns:p14="http://schemas.microsoft.com/office/powerpoint/2010/main" val="2401371117"/>
              </p:ext>
            </p:extLst>
          </p:nvPr>
        </p:nvGraphicFramePr>
        <p:xfrm>
          <a:off x="4367808" y="960300"/>
          <a:ext cx="2944366" cy="1838120"/>
        </p:xfrm>
        <a:graphic>
          <a:graphicData uri="http://schemas.openxmlformats.org/drawingml/2006/table">
            <a:tbl>
              <a:tblPr firstRow="1" bandRow="1">
                <a:tableStyleId>{21E4AEA4-8DFA-4A89-87EB-49C32662AFE0}</a:tableStyleId>
              </a:tblPr>
              <a:tblGrid>
                <a:gridCol w="1472183">
                  <a:extLst>
                    <a:ext uri="{9D8B030D-6E8A-4147-A177-3AD203B41FA5}">
                      <a16:colId xmlns:a16="http://schemas.microsoft.com/office/drawing/2014/main" val="1015713116"/>
                    </a:ext>
                  </a:extLst>
                </a:gridCol>
                <a:gridCol w="1472183">
                  <a:extLst>
                    <a:ext uri="{9D8B030D-6E8A-4147-A177-3AD203B41FA5}">
                      <a16:colId xmlns:a16="http://schemas.microsoft.com/office/drawing/2014/main" val="410744476"/>
                    </a:ext>
                  </a:extLst>
                </a:gridCol>
              </a:tblGrid>
              <a:tr h="919060">
                <a:tc>
                  <a:txBody>
                    <a:bodyPr/>
                    <a:lstStyle/>
                    <a:p>
                      <a:pPr algn="ctr"/>
                      <a:r>
                        <a:rPr lang="en-US" altLang="zh-CN" dirty="0"/>
                        <a:t>1</a:t>
                      </a:r>
                    </a:p>
                    <a:p>
                      <a:pPr algn="ctr"/>
                      <a:r>
                        <a:rPr lang="en-US" altLang="zh-CN" dirty="0"/>
                        <a:t>(10,10,0,0)</a:t>
                      </a:r>
                      <a:endParaRPr lang="zh-CN" altLang="en-US" dirty="0"/>
                    </a:p>
                  </a:txBody>
                  <a:tcPr>
                    <a:noFill/>
                  </a:tcPr>
                </a:tc>
                <a:tc>
                  <a:txBody>
                    <a:bodyPr/>
                    <a:lstStyle/>
                    <a:p>
                      <a:pPr algn="ctr"/>
                      <a:r>
                        <a:rPr lang="en-US" altLang="zh-CN" dirty="0"/>
                        <a:t>2</a:t>
                      </a:r>
                    </a:p>
                    <a:p>
                      <a:pPr algn="ctr"/>
                      <a:r>
                        <a:rPr lang="en-US" altLang="zh-CN" dirty="0"/>
                        <a:t>(-8,0,-8,0)</a:t>
                      </a:r>
                      <a:endParaRPr lang="zh-CN" altLang="en-US" dirty="0"/>
                    </a:p>
                  </a:txBody>
                  <a:tcPr>
                    <a:noFill/>
                  </a:tcPr>
                </a:tc>
                <a:extLst>
                  <a:ext uri="{0D108BD9-81ED-4DB2-BD59-A6C34878D82A}">
                    <a16:rowId xmlns:a16="http://schemas.microsoft.com/office/drawing/2014/main" val="1442272728"/>
                  </a:ext>
                </a:extLst>
              </a:tr>
              <a:tr h="919060">
                <a:tc>
                  <a:txBody>
                    <a:bodyPr/>
                    <a:lstStyle/>
                    <a:p>
                      <a:pPr marL="0" algn="ctr" defTabSz="914400" rtl="0" eaLnBrk="1" latinLnBrk="0" hangingPunct="1"/>
                      <a:r>
                        <a:rPr lang="en-US" altLang="zh-CN" sz="1800" b="1" kern="1200" dirty="0">
                          <a:solidFill>
                            <a:schemeClr val="lt1"/>
                          </a:solidFill>
                          <a:latin typeface="+mn-lt"/>
                          <a:ea typeface="+mn-ea"/>
                          <a:cs typeface="+mn-cs"/>
                        </a:rPr>
                        <a:t>3</a:t>
                      </a:r>
                    </a:p>
                    <a:p>
                      <a:pPr marL="0" algn="ctr" defTabSz="914400" rtl="0" eaLnBrk="1" latinLnBrk="0" hangingPunct="1"/>
                      <a:r>
                        <a:rPr lang="en-US" altLang="zh-CN" sz="1800" b="1" kern="1200" dirty="0">
                          <a:solidFill>
                            <a:schemeClr val="lt1"/>
                          </a:solidFill>
                          <a:latin typeface="+mn-lt"/>
                          <a:ea typeface="+mn-ea"/>
                          <a:cs typeface="+mn-cs"/>
                        </a:rPr>
                        <a:t>(6,-6,0,0)</a:t>
                      </a:r>
                      <a:endParaRPr lang="zh-CN" altLang="en-US" sz="1800" b="1" kern="1200" dirty="0">
                        <a:solidFill>
                          <a:schemeClr val="lt1"/>
                        </a:solidFill>
                        <a:latin typeface="+mn-lt"/>
                        <a:ea typeface="+mn-ea"/>
                        <a:cs typeface="+mn-cs"/>
                      </a:endParaRPr>
                    </a:p>
                  </a:txBody>
                  <a:tcPr>
                    <a:noFill/>
                  </a:tcPr>
                </a:tc>
                <a:tc>
                  <a:txBody>
                    <a:bodyPr/>
                    <a:lstStyle/>
                    <a:p>
                      <a:pPr marL="0" algn="ctr" defTabSz="914400" rtl="0" eaLnBrk="1" latinLnBrk="0" hangingPunct="1"/>
                      <a:r>
                        <a:rPr lang="en-US" altLang="zh-CN" sz="1800" b="1" kern="1200" dirty="0">
                          <a:solidFill>
                            <a:schemeClr val="lt1"/>
                          </a:solidFill>
                          <a:latin typeface="+mn-lt"/>
                          <a:ea typeface="+mn-ea"/>
                          <a:cs typeface="+mn-cs"/>
                        </a:rPr>
                        <a:t>4</a:t>
                      </a:r>
                    </a:p>
                    <a:p>
                      <a:pPr marL="0" algn="ctr" defTabSz="914400" rtl="0" eaLnBrk="1" latinLnBrk="0" hangingPunct="1"/>
                      <a:r>
                        <a:rPr lang="en-US" altLang="zh-CN" sz="1800" b="1" kern="1200" dirty="0">
                          <a:solidFill>
                            <a:schemeClr val="lt1"/>
                          </a:solidFill>
                          <a:latin typeface="+mn-lt"/>
                          <a:ea typeface="+mn-ea"/>
                          <a:cs typeface="+mn-cs"/>
                        </a:rPr>
                        <a:t>(-4,0,0,-4)</a:t>
                      </a:r>
                      <a:endParaRPr lang="zh-CN" altLang="en-US" sz="1800" b="1" kern="1200" dirty="0">
                        <a:solidFill>
                          <a:schemeClr val="lt1"/>
                        </a:solidFill>
                        <a:latin typeface="+mn-lt"/>
                        <a:ea typeface="+mn-ea"/>
                        <a:cs typeface="+mn-cs"/>
                      </a:endParaRPr>
                    </a:p>
                  </a:txBody>
                  <a:tcPr>
                    <a:noFill/>
                  </a:tcPr>
                </a:tc>
                <a:extLst>
                  <a:ext uri="{0D108BD9-81ED-4DB2-BD59-A6C34878D82A}">
                    <a16:rowId xmlns:a16="http://schemas.microsoft.com/office/drawing/2014/main" val="1394645308"/>
                  </a:ext>
                </a:extLst>
              </a:tr>
            </a:tbl>
          </a:graphicData>
        </a:graphic>
      </p:graphicFrame>
      <p:sp>
        <p:nvSpPr>
          <p:cNvPr id="49" name="箭头: 右 48">
            <a:extLst>
              <a:ext uri="{FF2B5EF4-FFF2-40B4-BE49-F238E27FC236}">
                <a16:creationId xmlns:a16="http://schemas.microsoft.com/office/drawing/2014/main" id="{1BCAA98F-589A-BDCF-843A-D221E99C9FB3}"/>
              </a:ext>
            </a:extLst>
          </p:cNvPr>
          <p:cNvSpPr/>
          <p:nvPr/>
        </p:nvSpPr>
        <p:spPr>
          <a:xfrm rot="5400000">
            <a:off x="5995947" y="3167375"/>
            <a:ext cx="883225" cy="395089"/>
          </a:xfrm>
          <a:prstGeom prst="rightArrow">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E17B62FA-7782-4287-8028-974BD115D20A}"/>
              </a:ext>
            </a:extLst>
          </p:cNvPr>
          <p:cNvSpPr txBox="1"/>
          <p:nvPr/>
        </p:nvSpPr>
        <p:spPr>
          <a:xfrm>
            <a:off x="4039600" y="3072242"/>
            <a:ext cx="2335112" cy="369332"/>
          </a:xfrm>
          <a:prstGeom prst="rect">
            <a:avLst/>
          </a:prstGeom>
          <a:noFill/>
        </p:spPr>
        <p:txBody>
          <a:bodyPr wrap="square" rtlCol="0">
            <a:spAutoFit/>
          </a:bodyPr>
          <a:lstStyle/>
          <a:p>
            <a:r>
              <a:rPr lang="zh-CN" altLang="en-US" dirty="0"/>
              <a:t>每个像素点求和过后</a:t>
            </a:r>
          </a:p>
        </p:txBody>
      </p:sp>
      <p:sp>
        <p:nvSpPr>
          <p:cNvPr id="52" name="文本框 51">
            <a:extLst>
              <a:ext uri="{FF2B5EF4-FFF2-40B4-BE49-F238E27FC236}">
                <a16:creationId xmlns:a16="http://schemas.microsoft.com/office/drawing/2014/main" id="{BF56E0C3-3B25-22F4-DD86-F1C7D0E978FE}"/>
              </a:ext>
            </a:extLst>
          </p:cNvPr>
          <p:cNvSpPr txBox="1"/>
          <p:nvPr/>
        </p:nvSpPr>
        <p:spPr>
          <a:xfrm>
            <a:off x="4511824" y="3888717"/>
            <a:ext cx="2944366" cy="646331"/>
          </a:xfrm>
          <a:prstGeom prst="rect">
            <a:avLst/>
          </a:prstGeom>
          <a:noFill/>
        </p:spPr>
        <p:txBody>
          <a:bodyPr wrap="square">
            <a:spAutoFit/>
          </a:bodyPr>
          <a:lstStyle/>
          <a:p>
            <a:pPr marL="0" algn="ctr" defTabSz="914400" rtl="0" eaLnBrk="1" latinLnBrk="0" hangingPunct="1"/>
            <a:r>
              <a:rPr lang="en-US" altLang="zh-CN" sz="1800" b="1" kern="1200" dirty="0">
                <a:solidFill>
                  <a:schemeClr val="lt1"/>
                </a:solidFill>
                <a:latin typeface="+mn-lt"/>
                <a:ea typeface="+mn-ea"/>
                <a:cs typeface="+mn-cs"/>
              </a:rPr>
              <a:t>y_I0  ,y_S1, y_S2, y_S3</a:t>
            </a:r>
          </a:p>
          <a:p>
            <a:pPr marL="0" algn="ctr" defTabSz="914400" rtl="0" eaLnBrk="1" latinLnBrk="0" hangingPunct="1"/>
            <a:r>
              <a:rPr lang="en-US" altLang="zh-CN" sz="1800" b="1" kern="1200" dirty="0">
                <a:solidFill>
                  <a:schemeClr val="lt1"/>
                </a:solidFill>
                <a:latin typeface="+mn-lt"/>
                <a:ea typeface="+mn-ea"/>
                <a:cs typeface="+mn-cs"/>
              </a:rPr>
              <a:t>(  4    ,  4    ,  -8    ,  -4   )</a:t>
            </a:r>
            <a:endParaRPr lang="zh-CN" altLang="en-US" sz="1800" b="1" kern="1200" dirty="0">
              <a:solidFill>
                <a:schemeClr val="lt1"/>
              </a:solidFill>
              <a:latin typeface="+mn-lt"/>
              <a:ea typeface="+mn-ea"/>
              <a:cs typeface="+mn-cs"/>
            </a:endParaRPr>
          </a:p>
        </p:txBody>
      </p:sp>
      <p:sp>
        <p:nvSpPr>
          <p:cNvPr id="55" name="箭头: 右 54">
            <a:extLst>
              <a:ext uri="{FF2B5EF4-FFF2-40B4-BE49-F238E27FC236}">
                <a16:creationId xmlns:a16="http://schemas.microsoft.com/office/drawing/2014/main" id="{14E8C5AD-8FB9-AA77-422F-1F3FF92E788E}"/>
              </a:ext>
            </a:extLst>
          </p:cNvPr>
          <p:cNvSpPr/>
          <p:nvPr/>
        </p:nvSpPr>
        <p:spPr>
          <a:xfrm rot="10800000">
            <a:off x="3791744" y="4055695"/>
            <a:ext cx="883628" cy="314862"/>
          </a:xfrm>
          <a:prstGeom prst="rightArrow">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矩形 55">
            <a:extLst>
              <a:ext uri="{FF2B5EF4-FFF2-40B4-BE49-F238E27FC236}">
                <a16:creationId xmlns:a16="http://schemas.microsoft.com/office/drawing/2014/main" id="{C17CE84B-4320-8B30-26DB-CDDBDB90881D}"/>
              </a:ext>
            </a:extLst>
          </p:cNvPr>
          <p:cNvSpPr>
            <a:spLocks noGrp="1"/>
          </p:cNvSpPr>
          <p:nvPr/>
        </p:nvSpPr>
        <p:spPr>
          <a:xfrm>
            <a:off x="46948" y="3150820"/>
            <a:ext cx="742950" cy="361950"/>
          </a:xfrm>
          <a:prstGeom prst="rect">
            <a:avLst/>
          </a:prstGeom>
          <a:solidFill>
            <a:srgbClr val="14365C"/>
          </a:solidFill>
        </p:spPr>
        <p:txBody>
          <a:bodyPr/>
          <a:lstStyle/>
          <a:p>
            <a:pPr algn="ctr"/>
            <a:r>
              <a:rPr sz="1425" b="1">
                <a:solidFill>
                  <a:srgbClr val="FFFFFF"/>
                </a:solidFill>
                <a:latin typeface="Microsoft YaHei"/>
                <a:ea typeface="Microsoft YaHei"/>
                <a:cs typeface="Microsoft YaHei"/>
              </a:rPr>
              <a:t>图案</a:t>
            </a:r>
          </a:p>
        </p:txBody>
      </p:sp>
      <p:sp>
        <p:nvSpPr>
          <p:cNvPr id="57" name="矩形 56">
            <a:extLst>
              <a:ext uri="{FF2B5EF4-FFF2-40B4-BE49-F238E27FC236}">
                <a16:creationId xmlns:a16="http://schemas.microsoft.com/office/drawing/2014/main" id="{1F83AB82-1855-7BBC-8FB5-266F47210E7F}"/>
              </a:ext>
            </a:extLst>
          </p:cNvPr>
          <p:cNvSpPr>
            <a:spLocks noGrp="1"/>
          </p:cNvSpPr>
          <p:nvPr/>
        </p:nvSpPr>
        <p:spPr>
          <a:xfrm>
            <a:off x="789898" y="3150820"/>
            <a:ext cx="742950" cy="361950"/>
          </a:xfrm>
          <a:prstGeom prst="rect">
            <a:avLst/>
          </a:prstGeom>
          <a:solidFill>
            <a:srgbClr val="14365C"/>
          </a:solidFill>
        </p:spPr>
        <p:txBody>
          <a:bodyPr/>
          <a:lstStyle/>
          <a:p>
            <a:pPr algn="ctr"/>
            <a:r>
              <a:rPr sz="1425" b="1" dirty="0">
                <a:solidFill>
                  <a:srgbClr val="FFFFFF"/>
                </a:solidFill>
                <a:latin typeface="Microsoft YaHei"/>
                <a:ea typeface="Microsoft YaHei"/>
                <a:cs typeface="Microsoft YaHei"/>
              </a:rPr>
              <a:t>y_I0</a:t>
            </a:r>
          </a:p>
        </p:txBody>
      </p:sp>
      <p:sp>
        <p:nvSpPr>
          <p:cNvPr id="58" name="矩形 57">
            <a:extLst>
              <a:ext uri="{FF2B5EF4-FFF2-40B4-BE49-F238E27FC236}">
                <a16:creationId xmlns:a16="http://schemas.microsoft.com/office/drawing/2014/main" id="{763E38A8-5DCA-2240-188B-32BA98B19192}"/>
              </a:ext>
            </a:extLst>
          </p:cNvPr>
          <p:cNvSpPr>
            <a:spLocks noGrp="1"/>
          </p:cNvSpPr>
          <p:nvPr/>
        </p:nvSpPr>
        <p:spPr>
          <a:xfrm>
            <a:off x="1532848" y="3150820"/>
            <a:ext cx="742950" cy="361950"/>
          </a:xfrm>
          <a:prstGeom prst="rect">
            <a:avLst/>
          </a:prstGeom>
          <a:solidFill>
            <a:srgbClr val="14365C"/>
          </a:solidFill>
        </p:spPr>
        <p:txBody>
          <a:bodyPr/>
          <a:lstStyle/>
          <a:p>
            <a:pPr algn="ctr"/>
            <a:r>
              <a:rPr sz="1425" b="1">
                <a:solidFill>
                  <a:srgbClr val="FFFFFF"/>
                </a:solidFill>
                <a:latin typeface="Microsoft YaHei"/>
                <a:ea typeface="Microsoft YaHei"/>
                <a:cs typeface="Microsoft YaHei"/>
              </a:rPr>
              <a:t>y_S1</a:t>
            </a:r>
          </a:p>
        </p:txBody>
      </p:sp>
      <p:sp>
        <p:nvSpPr>
          <p:cNvPr id="59" name="矩形 58">
            <a:extLst>
              <a:ext uri="{FF2B5EF4-FFF2-40B4-BE49-F238E27FC236}">
                <a16:creationId xmlns:a16="http://schemas.microsoft.com/office/drawing/2014/main" id="{437F6583-169E-81E7-FA94-649FB6F5FE74}"/>
              </a:ext>
            </a:extLst>
          </p:cNvPr>
          <p:cNvSpPr>
            <a:spLocks noGrp="1"/>
          </p:cNvSpPr>
          <p:nvPr/>
        </p:nvSpPr>
        <p:spPr>
          <a:xfrm>
            <a:off x="2275798" y="3150820"/>
            <a:ext cx="742950" cy="361950"/>
          </a:xfrm>
          <a:prstGeom prst="rect">
            <a:avLst/>
          </a:prstGeom>
          <a:solidFill>
            <a:srgbClr val="14365C"/>
          </a:solidFill>
        </p:spPr>
        <p:txBody>
          <a:bodyPr/>
          <a:lstStyle/>
          <a:p>
            <a:pPr algn="ctr"/>
            <a:r>
              <a:rPr sz="1425" b="1" dirty="0">
                <a:solidFill>
                  <a:srgbClr val="FFFFFF"/>
                </a:solidFill>
                <a:latin typeface="Microsoft YaHei"/>
                <a:ea typeface="Microsoft YaHei"/>
                <a:cs typeface="Microsoft YaHei"/>
              </a:rPr>
              <a:t>y_S2</a:t>
            </a:r>
          </a:p>
        </p:txBody>
      </p:sp>
      <p:sp>
        <p:nvSpPr>
          <p:cNvPr id="60" name="矩形 59">
            <a:extLst>
              <a:ext uri="{FF2B5EF4-FFF2-40B4-BE49-F238E27FC236}">
                <a16:creationId xmlns:a16="http://schemas.microsoft.com/office/drawing/2014/main" id="{04DDBF3C-8D84-2235-C30F-9885583E10D0}"/>
              </a:ext>
            </a:extLst>
          </p:cNvPr>
          <p:cNvSpPr>
            <a:spLocks noGrp="1"/>
          </p:cNvSpPr>
          <p:nvPr/>
        </p:nvSpPr>
        <p:spPr>
          <a:xfrm>
            <a:off x="3018748" y="3150820"/>
            <a:ext cx="742950" cy="361950"/>
          </a:xfrm>
          <a:prstGeom prst="rect">
            <a:avLst/>
          </a:prstGeom>
          <a:solidFill>
            <a:srgbClr val="14365C"/>
          </a:solidFill>
        </p:spPr>
        <p:txBody>
          <a:bodyPr/>
          <a:lstStyle/>
          <a:p>
            <a:pPr algn="ctr"/>
            <a:r>
              <a:rPr sz="1425" b="1">
                <a:solidFill>
                  <a:srgbClr val="FFFFFF"/>
                </a:solidFill>
                <a:latin typeface="Microsoft YaHei"/>
                <a:ea typeface="Microsoft YaHei"/>
                <a:cs typeface="Microsoft YaHei"/>
              </a:rPr>
              <a:t>y_S3</a:t>
            </a:r>
          </a:p>
        </p:txBody>
      </p:sp>
      <p:sp>
        <p:nvSpPr>
          <p:cNvPr id="61" name="矩形 60">
            <a:extLst>
              <a:ext uri="{FF2B5EF4-FFF2-40B4-BE49-F238E27FC236}">
                <a16:creationId xmlns:a16="http://schemas.microsoft.com/office/drawing/2014/main" id="{8471948F-B7DD-37CB-6CAB-B413910FA109}"/>
              </a:ext>
            </a:extLst>
          </p:cNvPr>
          <p:cNvSpPr>
            <a:spLocks noGrp="1"/>
          </p:cNvSpPr>
          <p:nvPr/>
        </p:nvSpPr>
        <p:spPr>
          <a:xfrm>
            <a:off x="46948" y="35127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dirty="0">
                <a:solidFill>
                  <a:srgbClr val="15202B"/>
                </a:solidFill>
                <a:latin typeface="Microsoft YaHei"/>
                <a:ea typeface="Microsoft YaHei"/>
                <a:cs typeface="Microsoft YaHei"/>
              </a:rPr>
              <a:t>h1</a:t>
            </a:r>
          </a:p>
        </p:txBody>
      </p:sp>
      <p:sp>
        <p:nvSpPr>
          <p:cNvPr id="62" name="矩形 61">
            <a:extLst>
              <a:ext uri="{FF2B5EF4-FFF2-40B4-BE49-F238E27FC236}">
                <a16:creationId xmlns:a16="http://schemas.microsoft.com/office/drawing/2014/main" id="{39C28F00-599F-7465-EC27-4502C1D5B4D9}"/>
              </a:ext>
            </a:extLst>
          </p:cNvPr>
          <p:cNvSpPr>
            <a:spLocks noGrp="1"/>
          </p:cNvSpPr>
          <p:nvPr/>
        </p:nvSpPr>
        <p:spPr>
          <a:xfrm>
            <a:off x="789898" y="35127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dirty="0">
                <a:solidFill>
                  <a:srgbClr val="15202B"/>
                </a:solidFill>
                <a:latin typeface="Microsoft YaHei"/>
                <a:ea typeface="Microsoft YaHei"/>
                <a:cs typeface="Microsoft YaHei"/>
              </a:rPr>
              <a:t>28</a:t>
            </a:r>
          </a:p>
        </p:txBody>
      </p:sp>
      <p:sp>
        <p:nvSpPr>
          <p:cNvPr id="63" name="矩形 62">
            <a:extLst>
              <a:ext uri="{FF2B5EF4-FFF2-40B4-BE49-F238E27FC236}">
                <a16:creationId xmlns:a16="http://schemas.microsoft.com/office/drawing/2014/main" id="{8147724E-A96E-4AAB-D4AD-DDCF9EA1A897}"/>
              </a:ext>
            </a:extLst>
          </p:cNvPr>
          <p:cNvSpPr>
            <a:spLocks noGrp="1"/>
          </p:cNvSpPr>
          <p:nvPr/>
        </p:nvSpPr>
        <p:spPr>
          <a:xfrm>
            <a:off x="1532848" y="35127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4</a:t>
            </a:r>
          </a:p>
        </p:txBody>
      </p:sp>
      <p:sp>
        <p:nvSpPr>
          <p:cNvPr id="64" name="矩形 63">
            <a:extLst>
              <a:ext uri="{FF2B5EF4-FFF2-40B4-BE49-F238E27FC236}">
                <a16:creationId xmlns:a16="http://schemas.microsoft.com/office/drawing/2014/main" id="{BFE3E61A-53B0-CE0D-92CF-26C8404FE1B4}"/>
              </a:ext>
            </a:extLst>
          </p:cNvPr>
          <p:cNvSpPr>
            <a:spLocks noGrp="1"/>
          </p:cNvSpPr>
          <p:nvPr/>
        </p:nvSpPr>
        <p:spPr>
          <a:xfrm>
            <a:off x="2275798" y="35127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8</a:t>
            </a:r>
          </a:p>
        </p:txBody>
      </p:sp>
      <p:sp>
        <p:nvSpPr>
          <p:cNvPr id="65" name="矩形 64">
            <a:extLst>
              <a:ext uri="{FF2B5EF4-FFF2-40B4-BE49-F238E27FC236}">
                <a16:creationId xmlns:a16="http://schemas.microsoft.com/office/drawing/2014/main" id="{E27570F3-C945-A4EB-CBA8-A70366ED5BB1}"/>
              </a:ext>
            </a:extLst>
          </p:cNvPr>
          <p:cNvSpPr>
            <a:spLocks noGrp="1"/>
          </p:cNvSpPr>
          <p:nvPr/>
        </p:nvSpPr>
        <p:spPr>
          <a:xfrm>
            <a:off x="3018748" y="35127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4</a:t>
            </a:r>
          </a:p>
        </p:txBody>
      </p:sp>
      <p:sp>
        <p:nvSpPr>
          <p:cNvPr id="66" name="矩形 65">
            <a:extLst>
              <a:ext uri="{FF2B5EF4-FFF2-40B4-BE49-F238E27FC236}">
                <a16:creationId xmlns:a16="http://schemas.microsoft.com/office/drawing/2014/main" id="{5F59B03F-4CA5-8725-4A24-37EE724EBB3A}"/>
              </a:ext>
            </a:extLst>
          </p:cNvPr>
          <p:cNvSpPr>
            <a:spLocks noGrp="1"/>
          </p:cNvSpPr>
          <p:nvPr/>
        </p:nvSpPr>
        <p:spPr>
          <a:xfrm>
            <a:off x="46948" y="3874720"/>
            <a:ext cx="742950" cy="361950"/>
          </a:xfrm>
          <a:prstGeom prst="rect">
            <a:avLst/>
          </a:prstGeom>
          <a:solidFill>
            <a:srgbClr val="FFC000"/>
          </a:solidFill>
          <a:ln>
            <a:solidFill>
              <a:schemeClr val="bg2">
                <a:lumMod val="10000"/>
              </a:schemeClr>
            </a:solidFill>
          </a:ln>
        </p:spPr>
        <p:txBody>
          <a:bodyPr/>
          <a:lstStyle/>
          <a:p>
            <a:pPr algn="ctr"/>
            <a:r>
              <a:rPr sz="1425" dirty="0">
                <a:solidFill>
                  <a:srgbClr val="15202B"/>
                </a:solidFill>
                <a:latin typeface="Microsoft YaHei"/>
                <a:ea typeface="Microsoft YaHei"/>
                <a:cs typeface="Microsoft YaHei"/>
              </a:rPr>
              <a:t>h2</a:t>
            </a:r>
          </a:p>
        </p:txBody>
      </p:sp>
      <p:sp>
        <p:nvSpPr>
          <p:cNvPr id="67" name="矩形 66">
            <a:extLst>
              <a:ext uri="{FF2B5EF4-FFF2-40B4-BE49-F238E27FC236}">
                <a16:creationId xmlns:a16="http://schemas.microsoft.com/office/drawing/2014/main" id="{6CE7B25F-1ED2-881C-04A7-2B12B0AC2448}"/>
              </a:ext>
            </a:extLst>
          </p:cNvPr>
          <p:cNvSpPr>
            <a:spLocks noGrp="1"/>
          </p:cNvSpPr>
          <p:nvPr/>
        </p:nvSpPr>
        <p:spPr>
          <a:xfrm>
            <a:off x="789898" y="3874720"/>
            <a:ext cx="742950" cy="361950"/>
          </a:xfrm>
          <a:prstGeom prst="rect">
            <a:avLst/>
          </a:prstGeom>
          <a:solidFill>
            <a:srgbClr val="FFC000"/>
          </a:solidFill>
          <a:ln>
            <a:solidFill>
              <a:schemeClr val="bg2">
                <a:lumMod val="10000"/>
              </a:schemeClr>
            </a:solidFill>
          </a:ln>
        </p:spPr>
        <p:txBody>
          <a:bodyPr/>
          <a:lstStyle/>
          <a:p>
            <a:pPr algn="ctr"/>
            <a:r>
              <a:rPr sz="1425" dirty="0">
                <a:solidFill>
                  <a:srgbClr val="15202B"/>
                </a:solidFill>
                <a:latin typeface="Microsoft YaHei"/>
                <a:ea typeface="Microsoft YaHei"/>
                <a:cs typeface="Microsoft YaHei"/>
              </a:rPr>
              <a:t>4</a:t>
            </a:r>
          </a:p>
        </p:txBody>
      </p:sp>
      <p:sp>
        <p:nvSpPr>
          <p:cNvPr id="68" name="矩形 67">
            <a:extLst>
              <a:ext uri="{FF2B5EF4-FFF2-40B4-BE49-F238E27FC236}">
                <a16:creationId xmlns:a16="http://schemas.microsoft.com/office/drawing/2014/main" id="{0A3877D5-6AFC-329D-3C5E-BBF0B261C6E6}"/>
              </a:ext>
            </a:extLst>
          </p:cNvPr>
          <p:cNvSpPr>
            <a:spLocks noGrp="1"/>
          </p:cNvSpPr>
          <p:nvPr/>
        </p:nvSpPr>
        <p:spPr>
          <a:xfrm>
            <a:off x="1532848" y="3874720"/>
            <a:ext cx="742950" cy="361950"/>
          </a:xfrm>
          <a:prstGeom prst="rect">
            <a:avLst/>
          </a:prstGeom>
          <a:solidFill>
            <a:srgbClr val="FFC000"/>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4</a:t>
            </a:r>
          </a:p>
        </p:txBody>
      </p:sp>
      <p:sp>
        <p:nvSpPr>
          <p:cNvPr id="69" name="矩形 68">
            <a:extLst>
              <a:ext uri="{FF2B5EF4-FFF2-40B4-BE49-F238E27FC236}">
                <a16:creationId xmlns:a16="http://schemas.microsoft.com/office/drawing/2014/main" id="{0E0B70ED-D6C5-98D0-6FC6-A16D8974B124}"/>
              </a:ext>
            </a:extLst>
          </p:cNvPr>
          <p:cNvSpPr>
            <a:spLocks noGrp="1"/>
          </p:cNvSpPr>
          <p:nvPr/>
        </p:nvSpPr>
        <p:spPr>
          <a:xfrm>
            <a:off x="2275798" y="3874720"/>
            <a:ext cx="742950" cy="361950"/>
          </a:xfrm>
          <a:prstGeom prst="rect">
            <a:avLst/>
          </a:prstGeom>
          <a:solidFill>
            <a:srgbClr val="FFC000"/>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-8</a:t>
            </a:r>
          </a:p>
        </p:txBody>
      </p:sp>
      <p:sp>
        <p:nvSpPr>
          <p:cNvPr id="70" name="矩形 69">
            <a:extLst>
              <a:ext uri="{FF2B5EF4-FFF2-40B4-BE49-F238E27FC236}">
                <a16:creationId xmlns:a16="http://schemas.microsoft.com/office/drawing/2014/main" id="{F1E65F78-F57D-59FF-78C6-520FDA094358}"/>
              </a:ext>
            </a:extLst>
          </p:cNvPr>
          <p:cNvSpPr>
            <a:spLocks noGrp="1"/>
          </p:cNvSpPr>
          <p:nvPr/>
        </p:nvSpPr>
        <p:spPr>
          <a:xfrm>
            <a:off x="3018748" y="3874720"/>
            <a:ext cx="742950" cy="361950"/>
          </a:xfrm>
          <a:prstGeom prst="rect">
            <a:avLst/>
          </a:prstGeom>
          <a:solidFill>
            <a:srgbClr val="FFC000"/>
          </a:solidFill>
          <a:ln>
            <a:solidFill>
              <a:schemeClr val="bg2">
                <a:lumMod val="10000"/>
              </a:schemeClr>
            </a:solidFill>
          </a:ln>
        </p:spPr>
        <p:txBody>
          <a:bodyPr/>
          <a:lstStyle/>
          <a:p>
            <a:pPr algn="ctr"/>
            <a:r>
              <a:rPr sz="1425" dirty="0">
                <a:solidFill>
                  <a:srgbClr val="15202B"/>
                </a:solidFill>
                <a:latin typeface="Microsoft YaHei"/>
                <a:ea typeface="Microsoft YaHei"/>
                <a:cs typeface="Microsoft YaHei"/>
              </a:rPr>
              <a:t>-4</a:t>
            </a:r>
          </a:p>
        </p:txBody>
      </p:sp>
      <p:sp>
        <p:nvSpPr>
          <p:cNvPr id="71" name="矩形 70">
            <a:extLst>
              <a:ext uri="{FF2B5EF4-FFF2-40B4-BE49-F238E27FC236}">
                <a16:creationId xmlns:a16="http://schemas.microsoft.com/office/drawing/2014/main" id="{66C95BE5-DA4A-9656-8043-BC10881FB12E}"/>
              </a:ext>
            </a:extLst>
          </p:cNvPr>
          <p:cNvSpPr>
            <a:spLocks noGrp="1"/>
          </p:cNvSpPr>
          <p:nvPr/>
        </p:nvSpPr>
        <p:spPr>
          <a:xfrm>
            <a:off x="46948" y="42366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h3</a:t>
            </a:r>
          </a:p>
        </p:txBody>
      </p:sp>
      <p:sp>
        <p:nvSpPr>
          <p:cNvPr id="72" name="矩形 71">
            <a:extLst>
              <a:ext uri="{FF2B5EF4-FFF2-40B4-BE49-F238E27FC236}">
                <a16:creationId xmlns:a16="http://schemas.microsoft.com/office/drawing/2014/main" id="{8B71DF4E-38B4-737A-9462-2CDA4683AE80}"/>
              </a:ext>
            </a:extLst>
          </p:cNvPr>
          <p:cNvSpPr>
            <a:spLocks noGrp="1"/>
          </p:cNvSpPr>
          <p:nvPr/>
        </p:nvSpPr>
        <p:spPr>
          <a:xfrm>
            <a:off x="789898" y="42366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8</a:t>
            </a:r>
          </a:p>
        </p:txBody>
      </p:sp>
      <p:sp>
        <p:nvSpPr>
          <p:cNvPr id="73" name="矩形 72">
            <a:extLst>
              <a:ext uri="{FF2B5EF4-FFF2-40B4-BE49-F238E27FC236}">
                <a16:creationId xmlns:a16="http://schemas.microsoft.com/office/drawing/2014/main" id="{358225BA-D974-D005-4FB8-8E617E723A97}"/>
              </a:ext>
            </a:extLst>
          </p:cNvPr>
          <p:cNvSpPr>
            <a:spLocks noGrp="1"/>
          </p:cNvSpPr>
          <p:nvPr/>
        </p:nvSpPr>
        <p:spPr>
          <a:xfrm>
            <a:off x="1532848" y="42366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16</a:t>
            </a:r>
          </a:p>
        </p:txBody>
      </p:sp>
      <p:sp>
        <p:nvSpPr>
          <p:cNvPr id="74" name="矩形 73">
            <a:extLst>
              <a:ext uri="{FF2B5EF4-FFF2-40B4-BE49-F238E27FC236}">
                <a16:creationId xmlns:a16="http://schemas.microsoft.com/office/drawing/2014/main" id="{E9697210-1AE1-CA20-3999-E4F2F179A316}"/>
              </a:ext>
            </a:extLst>
          </p:cNvPr>
          <p:cNvSpPr>
            <a:spLocks noGrp="1"/>
          </p:cNvSpPr>
          <p:nvPr/>
        </p:nvSpPr>
        <p:spPr>
          <a:xfrm>
            <a:off x="2275798" y="42366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8</a:t>
            </a:r>
          </a:p>
        </p:txBody>
      </p:sp>
      <p:sp>
        <p:nvSpPr>
          <p:cNvPr id="75" name="矩形 74">
            <a:extLst>
              <a:ext uri="{FF2B5EF4-FFF2-40B4-BE49-F238E27FC236}">
                <a16:creationId xmlns:a16="http://schemas.microsoft.com/office/drawing/2014/main" id="{078EA059-F039-AED4-6A96-F0A9F2182524}"/>
              </a:ext>
            </a:extLst>
          </p:cNvPr>
          <p:cNvSpPr>
            <a:spLocks noGrp="1"/>
          </p:cNvSpPr>
          <p:nvPr/>
        </p:nvSpPr>
        <p:spPr>
          <a:xfrm>
            <a:off x="3018748" y="42366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-4</a:t>
            </a:r>
          </a:p>
        </p:txBody>
      </p:sp>
      <p:sp>
        <p:nvSpPr>
          <p:cNvPr id="76" name="矩形 75">
            <a:extLst>
              <a:ext uri="{FF2B5EF4-FFF2-40B4-BE49-F238E27FC236}">
                <a16:creationId xmlns:a16="http://schemas.microsoft.com/office/drawing/2014/main" id="{CEF922C7-06DE-DA01-4529-D33FEE0AEEDA}"/>
              </a:ext>
            </a:extLst>
          </p:cNvPr>
          <p:cNvSpPr>
            <a:spLocks noGrp="1"/>
          </p:cNvSpPr>
          <p:nvPr/>
        </p:nvSpPr>
        <p:spPr>
          <a:xfrm>
            <a:off x="46948" y="459862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h4</a:t>
            </a:r>
          </a:p>
        </p:txBody>
      </p:sp>
      <p:sp>
        <p:nvSpPr>
          <p:cNvPr id="77" name="矩形 76">
            <a:extLst>
              <a:ext uri="{FF2B5EF4-FFF2-40B4-BE49-F238E27FC236}">
                <a16:creationId xmlns:a16="http://schemas.microsoft.com/office/drawing/2014/main" id="{B90A4C9D-7341-D09D-3DC4-109E793F0135}"/>
              </a:ext>
            </a:extLst>
          </p:cNvPr>
          <p:cNvSpPr>
            <a:spLocks noGrp="1"/>
          </p:cNvSpPr>
          <p:nvPr/>
        </p:nvSpPr>
        <p:spPr>
          <a:xfrm>
            <a:off x="789898" y="459862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0</a:t>
            </a:r>
          </a:p>
        </p:txBody>
      </p:sp>
      <p:sp>
        <p:nvSpPr>
          <p:cNvPr id="78" name="矩形 77">
            <a:extLst>
              <a:ext uri="{FF2B5EF4-FFF2-40B4-BE49-F238E27FC236}">
                <a16:creationId xmlns:a16="http://schemas.microsoft.com/office/drawing/2014/main" id="{B6B24AFA-097D-5C74-26C7-4BAB3B22D487}"/>
              </a:ext>
            </a:extLst>
          </p:cNvPr>
          <p:cNvSpPr>
            <a:spLocks noGrp="1"/>
          </p:cNvSpPr>
          <p:nvPr/>
        </p:nvSpPr>
        <p:spPr>
          <a:xfrm>
            <a:off x="1532848" y="459862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16</a:t>
            </a:r>
          </a:p>
        </p:txBody>
      </p:sp>
      <p:sp>
        <p:nvSpPr>
          <p:cNvPr id="79" name="矩形 78">
            <a:extLst>
              <a:ext uri="{FF2B5EF4-FFF2-40B4-BE49-F238E27FC236}">
                <a16:creationId xmlns:a16="http://schemas.microsoft.com/office/drawing/2014/main" id="{2A480F6E-BB50-6E58-87DB-6ACF1ED47B6B}"/>
              </a:ext>
            </a:extLst>
          </p:cNvPr>
          <p:cNvSpPr>
            <a:spLocks noGrp="1"/>
          </p:cNvSpPr>
          <p:nvPr/>
        </p:nvSpPr>
        <p:spPr>
          <a:xfrm>
            <a:off x="2275798" y="459862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-8</a:t>
            </a:r>
          </a:p>
        </p:txBody>
      </p:sp>
      <p:sp>
        <p:nvSpPr>
          <p:cNvPr id="80" name="矩形 79">
            <a:extLst>
              <a:ext uri="{FF2B5EF4-FFF2-40B4-BE49-F238E27FC236}">
                <a16:creationId xmlns:a16="http://schemas.microsoft.com/office/drawing/2014/main" id="{093F0490-D851-E044-A1DA-62E1B0AFDA2D}"/>
              </a:ext>
            </a:extLst>
          </p:cNvPr>
          <p:cNvSpPr>
            <a:spLocks noGrp="1"/>
          </p:cNvSpPr>
          <p:nvPr/>
        </p:nvSpPr>
        <p:spPr>
          <a:xfrm>
            <a:off x="3018748" y="459862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4</a:t>
            </a:r>
          </a:p>
        </p:txBody>
      </p:sp>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8FD27E03-CCD9-9700-D227-86FED648BC6F}"/>
                  </a:ext>
                </a:extLst>
              </p:cNvPr>
              <p:cNvSpPr txBox="1"/>
              <p:nvPr/>
            </p:nvSpPr>
            <p:spPr>
              <a:xfrm>
                <a:off x="-17676" y="5445591"/>
                <a:ext cx="2965872" cy="369332"/>
              </a:xfrm>
              <a:prstGeom prst="rect">
                <a:avLst/>
              </a:prstGeom>
              <a:noFill/>
            </p:spPr>
            <p:txBody>
              <a:bodyPr wrap="square" rtlCol="0">
                <a:spAutoFit/>
              </a:bodyPr>
              <a:lstStyle/>
              <a:p>
                <a:r>
                  <a:rPr lang="zh-CN" altLang="en-US" dirty="0"/>
                  <a:t>偏振信息</a:t>
                </a:r>
                <a:r>
                  <a:rPr lang="zh-CN" altLang="en-US" dirty="0">
                    <a:solidFill>
                      <a:srgbClr val="FF0000"/>
                    </a:solidFill>
                  </a:rPr>
                  <a:t>解码</a:t>
                </a:r>
                <a:r>
                  <a:rPr lang="zh-CN" altLang="en-US" dirty="0"/>
                  <a:t>过程</a:t>
                </a:r>
                <a:r>
                  <a:rPr lang="en-US" altLang="zh-CN" dirty="0"/>
                  <a:t>:</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𝐻</m:t>
                        </m:r>
                      </m:e>
                      <m:sup>
                        <m:r>
                          <a:rPr lang="en-US" altLang="zh-CN" b="0" i="1" smtClean="0">
                            <a:latin typeface="Cambria Math" panose="02040503050406030204" pitchFamily="18" charset="0"/>
                          </a:rPr>
                          <m:t>−1</m:t>
                        </m:r>
                      </m:sup>
                    </m:sSup>
                  </m:oMath>
                </a14:m>
                <a:r>
                  <a:rPr lang="en-US" altLang="zh-CN" dirty="0"/>
                  <a:t>y=x</a:t>
                </a:r>
                <a:endParaRPr lang="zh-CN" altLang="en-US" dirty="0"/>
              </a:p>
            </p:txBody>
          </p:sp>
        </mc:Choice>
        <mc:Fallback xmlns="">
          <p:sp>
            <p:nvSpPr>
              <p:cNvPr id="81" name="文本框 80">
                <a:extLst>
                  <a:ext uri="{FF2B5EF4-FFF2-40B4-BE49-F238E27FC236}">
                    <a16:creationId xmlns:a16="http://schemas.microsoft.com/office/drawing/2014/main" id="{8FD27E03-CCD9-9700-D227-86FED648BC6F}"/>
                  </a:ext>
                </a:extLst>
              </p:cNvPr>
              <p:cNvSpPr txBox="1">
                <a:spLocks noRot="1" noChangeAspect="1" noMove="1" noResize="1" noEditPoints="1" noAdjustHandles="1" noChangeArrowheads="1" noChangeShapeType="1" noTextEdit="1"/>
              </p:cNvSpPr>
              <p:nvPr/>
            </p:nvSpPr>
            <p:spPr>
              <a:xfrm>
                <a:off x="-17676" y="5445591"/>
                <a:ext cx="2965872" cy="369332"/>
              </a:xfrm>
              <a:prstGeom prst="rect">
                <a:avLst/>
              </a:prstGeom>
              <a:blipFill>
                <a:blip r:embed="rId4"/>
                <a:stretch>
                  <a:fillRect l="-1643"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A31D0811-45E3-F074-EE1E-9E3F6D1127E3}"/>
                  </a:ext>
                </a:extLst>
              </p:cNvPr>
              <p:cNvSpPr txBox="1"/>
              <p:nvPr/>
            </p:nvSpPr>
            <p:spPr>
              <a:xfrm>
                <a:off x="595945" y="5857043"/>
                <a:ext cx="2558213" cy="646331"/>
              </a:xfrm>
              <a:prstGeom prst="rect">
                <a:avLst/>
              </a:prstGeom>
              <a:noFill/>
            </p:spPr>
            <p:txBody>
              <a:bodyPr wrap="square" rtlCol="0">
                <a:spAutoFit/>
              </a:bodyPr>
              <a:lstStyle/>
              <a:p>
                <a:r>
                  <a:rPr lang="zh-CN" altLang="en-US" dirty="0"/>
                  <a:t>由</a:t>
                </a:r>
                <a:r>
                  <a:rPr lang="en-US" altLang="zh-CN" dirty="0"/>
                  <a:t>Hadamard</a:t>
                </a:r>
                <a:r>
                  <a:rPr lang="zh-CN" altLang="en-US" dirty="0"/>
                  <a:t>基底性质，</a:t>
                </a:r>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𝐻</m:t>
                        </m:r>
                      </m:e>
                      <m:sup>
                        <m:r>
                          <a:rPr lang="en-US" altLang="zh-CN" i="1">
                            <a:latin typeface="Cambria Math" panose="02040503050406030204" pitchFamily="18" charset="0"/>
                          </a:rPr>
                          <m:t>−1</m:t>
                        </m:r>
                      </m:sup>
                    </m:sSup>
                  </m:oMath>
                </a14:m>
                <a:r>
                  <a:rPr lang="en-US" altLang="zh-CN" dirty="0"/>
                  <a:t>=H/4</a:t>
                </a:r>
                <a:r>
                  <a:rPr lang="zh-CN" altLang="en-US" dirty="0"/>
                  <a:t>，可得</a:t>
                </a:r>
                <a:r>
                  <a:rPr lang="en-US" altLang="zh-CN" dirty="0"/>
                  <a:t>Hy/4=x</a:t>
                </a:r>
                <a:endParaRPr lang="zh-CN" altLang="en-US" dirty="0"/>
              </a:p>
            </p:txBody>
          </p:sp>
        </mc:Choice>
        <mc:Fallback xmlns="">
          <p:sp>
            <p:nvSpPr>
              <p:cNvPr id="83" name="文本框 82">
                <a:extLst>
                  <a:ext uri="{FF2B5EF4-FFF2-40B4-BE49-F238E27FC236}">
                    <a16:creationId xmlns:a16="http://schemas.microsoft.com/office/drawing/2014/main" id="{A31D0811-45E3-F074-EE1E-9E3F6D1127E3}"/>
                  </a:ext>
                </a:extLst>
              </p:cNvPr>
              <p:cNvSpPr txBox="1">
                <a:spLocks noRot="1" noChangeAspect="1" noMove="1" noResize="1" noEditPoints="1" noAdjustHandles="1" noChangeArrowheads="1" noChangeShapeType="1" noTextEdit="1"/>
              </p:cNvSpPr>
              <p:nvPr/>
            </p:nvSpPr>
            <p:spPr>
              <a:xfrm>
                <a:off x="595945" y="5857043"/>
                <a:ext cx="2558213" cy="646331"/>
              </a:xfrm>
              <a:prstGeom prst="rect">
                <a:avLst/>
              </a:prstGeom>
              <a:blipFill>
                <a:blip r:embed="rId5"/>
                <a:stretch>
                  <a:fillRect l="-2148" t="-5660" r="-4535" b="-14151"/>
                </a:stretch>
              </a:blipFill>
            </p:spPr>
            <p:txBody>
              <a:bodyPr/>
              <a:lstStyle/>
              <a:p>
                <a:r>
                  <a:rPr lang="zh-CN" altLang="en-US">
                    <a:noFill/>
                  </a:rPr>
                  <a:t> </a:t>
                </a:r>
              </a:p>
            </p:txBody>
          </p:sp>
        </mc:Fallback>
      </mc:AlternateContent>
      <p:sp>
        <p:nvSpPr>
          <p:cNvPr id="84" name="文本框 83">
            <a:extLst>
              <a:ext uri="{FF2B5EF4-FFF2-40B4-BE49-F238E27FC236}">
                <a16:creationId xmlns:a16="http://schemas.microsoft.com/office/drawing/2014/main" id="{4A4A3379-24D0-6527-EE74-B254224F2B4B}"/>
              </a:ext>
            </a:extLst>
          </p:cNvPr>
          <p:cNvSpPr txBox="1"/>
          <p:nvPr/>
        </p:nvSpPr>
        <p:spPr>
          <a:xfrm>
            <a:off x="3610749" y="5918524"/>
            <a:ext cx="2845291" cy="646331"/>
          </a:xfrm>
          <a:prstGeom prst="rect">
            <a:avLst/>
          </a:prstGeom>
          <a:noFill/>
        </p:spPr>
        <p:txBody>
          <a:bodyPr wrap="square" rtlCol="0">
            <a:spAutoFit/>
          </a:bodyPr>
          <a:lstStyle/>
          <a:p>
            <a:r>
              <a:rPr lang="zh-CN" altLang="en-US" dirty="0"/>
              <a:t>以</a:t>
            </a:r>
            <a:r>
              <a:rPr lang="en-US" altLang="zh-CN" dirty="0"/>
              <a:t>y_I0</a:t>
            </a:r>
            <a:r>
              <a:rPr lang="zh-CN" altLang="en-US" dirty="0"/>
              <a:t>中的第</a:t>
            </a:r>
            <a:r>
              <a:rPr lang="en-US" altLang="zh-CN" dirty="0">
                <a:solidFill>
                  <a:srgbClr val="15202B"/>
                </a:solidFill>
                <a:latin typeface="Consolas"/>
                <a:ea typeface="Consolas"/>
                <a:cs typeface="Consolas"/>
              </a:rPr>
              <a:t>I0(2)</a:t>
            </a:r>
            <a:r>
              <a:rPr lang="zh-CN" altLang="en-US" dirty="0">
                <a:solidFill>
                  <a:srgbClr val="15202B"/>
                </a:solidFill>
                <a:latin typeface="Consolas"/>
                <a:ea typeface="Consolas"/>
                <a:cs typeface="Consolas"/>
              </a:rPr>
              <a:t>（</a:t>
            </a:r>
            <a:r>
              <a:rPr lang="en-US" altLang="zh-CN" dirty="0">
                <a:solidFill>
                  <a:srgbClr val="15202B"/>
                </a:solidFill>
                <a:latin typeface="Consolas"/>
                <a:ea typeface="Consolas"/>
                <a:cs typeface="Consolas"/>
              </a:rPr>
              <a:t>h2</a:t>
            </a:r>
            <a:r>
              <a:rPr lang="zh-CN" altLang="en-US" dirty="0">
                <a:solidFill>
                  <a:srgbClr val="15202B"/>
                </a:solidFill>
                <a:latin typeface="Consolas"/>
                <a:ea typeface="Consolas"/>
                <a:cs typeface="Consolas"/>
              </a:rPr>
              <a:t>那行值为</a:t>
            </a:r>
            <a:r>
              <a:rPr lang="zh-CN" altLang="en-US" dirty="0"/>
              <a:t>值</a:t>
            </a:r>
            <a:r>
              <a:rPr lang="en-US" altLang="zh-CN" dirty="0"/>
              <a:t>4</a:t>
            </a:r>
            <a:r>
              <a:rPr lang="zh-CN" altLang="en-US" dirty="0"/>
              <a:t>那个）为例：</a:t>
            </a:r>
            <a:endParaRPr lang="en-US" altLang="zh-CN" dirty="0"/>
          </a:p>
        </p:txBody>
      </p:sp>
      <p:sp>
        <p:nvSpPr>
          <p:cNvPr id="86" name="文本框 85">
            <a:extLst>
              <a:ext uri="{FF2B5EF4-FFF2-40B4-BE49-F238E27FC236}">
                <a16:creationId xmlns:a16="http://schemas.microsoft.com/office/drawing/2014/main" id="{9F86A991-7645-3317-E133-F6C881F65F16}"/>
              </a:ext>
            </a:extLst>
          </p:cNvPr>
          <p:cNvSpPr txBox="1"/>
          <p:nvPr/>
        </p:nvSpPr>
        <p:spPr>
          <a:xfrm>
            <a:off x="7678244" y="6057023"/>
            <a:ext cx="4034379" cy="369332"/>
          </a:xfrm>
          <a:prstGeom prst="rect">
            <a:avLst/>
          </a:prstGeom>
          <a:noFill/>
        </p:spPr>
        <p:txBody>
          <a:bodyPr wrap="square">
            <a:spAutoFit/>
          </a:bodyPr>
          <a:lstStyle/>
          <a:p>
            <a:r>
              <a:rPr lang="en-US" altLang="zh-CN" sz="1800" b="0" dirty="0">
                <a:solidFill>
                  <a:srgbClr val="15202B"/>
                </a:solidFill>
                <a:latin typeface="Consolas"/>
                <a:ea typeface="Consolas"/>
                <a:cs typeface="Consolas"/>
              </a:rPr>
              <a:t>I0(2)=(28-4+8-0)/4=8,</a:t>
            </a:r>
            <a:r>
              <a:rPr lang="zh-CN" altLang="en-US" sz="1800" b="0" dirty="0">
                <a:solidFill>
                  <a:srgbClr val="15202B"/>
                </a:solidFill>
                <a:latin typeface="Consolas"/>
                <a:ea typeface="Consolas"/>
                <a:cs typeface="Consolas"/>
              </a:rPr>
              <a:t>其余同理</a:t>
            </a:r>
            <a:endParaRPr lang="en-US" altLang="zh-CN" sz="1800" b="0" dirty="0">
              <a:solidFill>
                <a:srgbClr val="15202B"/>
              </a:solidFill>
              <a:latin typeface="Consolas"/>
              <a:ea typeface="Consolas"/>
              <a:cs typeface="Consolas"/>
            </a:endParaRPr>
          </a:p>
        </p:txBody>
      </p:sp>
      <p:sp>
        <p:nvSpPr>
          <p:cNvPr id="87" name="箭头: 右 86">
            <a:extLst>
              <a:ext uri="{FF2B5EF4-FFF2-40B4-BE49-F238E27FC236}">
                <a16:creationId xmlns:a16="http://schemas.microsoft.com/office/drawing/2014/main" id="{42D71648-C4E2-64C8-0A0B-6D94C583C8DF}"/>
              </a:ext>
            </a:extLst>
          </p:cNvPr>
          <p:cNvSpPr/>
          <p:nvPr/>
        </p:nvSpPr>
        <p:spPr>
          <a:xfrm>
            <a:off x="6572562" y="6084258"/>
            <a:ext cx="883628" cy="314862"/>
          </a:xfrm>
          <a:prstGeom prst="rightArrow">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F7062A03-F9A6-FAE5-ADE6-068F5A90286C}"/>
              </a:ext>
            </a:extLst>
          </p:cNvPr>
          <p:cNvSpPr txBox="1"/>
          <p:nvPr/>
        </p:nvSpPr>
        <p:spPr>
          <a:xfrm>
            <a:off x="7905118" y="4137582"/>
            <a:ext cx="4034379" cy="646331"/>
          </a:xfrm>
          <a:prstGeom prst="rect">
            <a:avLst/>
          </a:prstGeom>
          <a:noFill/>
        </p:spPr>
        <p:txBody>
          <a:bodyPr wrap="square">
            <a:spAutoFit/>
          </a:bodyPr>
          <a:lstStyle/>
          <a:p>
            <a:pPr algn="ctr"/>
            <a:r>
              <a:rPr lang="en-US" altLang="zh-CN" dirty="0"/>
              <a:t> Hadamard</a:t>
            </a:r>
            <a:r>
              <a:rPr lang="zh-CN" altLang="en-US" dirty="0"/>
              <a:t>基底的</a:t>
            </a:r>
            <a:r>
              <a:rPr lang="en-US" altLang="zh-CN" dirty="0"/>
              <a:t>-1</a:t>
            </a:r>
            <a:r>
              <a:rPr lang="zh-CN" altLang="en-US" dirty="0"/>
              <a:t> 需要互补图案相减实现</a:t>
            </a:r>
            <a:r>
              <a:rPr lang="en-US" altLang="zh-CN" dirty="0"/>
              <a:t>,</a:t>
            </a:r>
            <a:r>
              <a:rPr lang="zh-CN" altLang="en-US" dirty="0"/>
              <a:t>相当于投影两张图案进行相减</a:t>
            </a:r>
            <a:endParaRPr lang="zh-CN" altLang="en-US" dirty="0">
              <a:solidFill>
                <a:srgbClr val="15202B"/>
              </a:solidFill>
              <a:latin typeface="Consolas"/>
            </a:endParaRPr>
          </a:p>
        </p:txBody>
      </p:sp>
      <p:cxnSp>
        <p:nvCxnSpPr>
          <p:cNvPr id="54" name="直接连接符 53">
            <a:extLst>
              <a:ext uri="{FF2B5EF4-FFF2-40B4-BE49-F238E27FC236}">
                <a16:creationId xmlns:a16="http://schemas.microsoft.com/office/drawing/2014/main" id="{6CE89179-B3E3-8185-ADC6-3C3B85162BD0}"/>
              </a:ext>
            </a:extLst>
          </p:cNvPr>
          <p:cNvCxnSpPr>
            <a:cxnSpLocks/>
          </p:cNvCxnSpPr>
          <p:nvPr/>
        </p:nvCxnSpPr>
        <p:spPr>
          <a:xfrm>
            <a:off x="-17676" y="5229200"/>
            <a:ext cx="121623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052400A-6219-DADC-F6B3-7AA28AA08192}"/>
              </a:ext>
            </a:extLst>
          </p:cNvPr>
          <p:cNvCxnSpPr/>
          <p:nvPr/>
        </p:nvCxnSpPr>
        <p:spPr>
          <a:xfrm>
            <a:off x="7456190" y="804723"/>
            <a:ext cx="0" cy="442447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279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9D0240C-FB47-2BC9-8B3F-557F5383DDE3}"/>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3F0D014B-92F3-31F4-C4CF-F87D3AA6CA9D}"/>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AFC762C2-FDB8-435E-0E0B-6BA29B3AA096}"/>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60688389-74D4-268F-B767-88F482D677E3}"/>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DB285D1D-B26C-F588-60F2-52CA72B52C0E}"/>
              </a:ext>
            </a:extLst>
          </p:cNvPr>
          <p:cNvSpPr txBox="1"/>
          <p:nvPr/>
        </p:nvSpPr>
        <p:spPr>
          <a:xfrm>
            <a:off x="2948196" y="221158"/>
            <a:ext cx="5596076"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如何理解光路中的信息编码？</a:t>
            </a:r>
          </a:p>
        </p:txBody>
      </p:sp>
      <p:sp>
        <p:nvSpPr>
          <p:cNvPr id="14" name="文本框 13">
            <a:extLst>
              <a:ext uri="{FF2B5EF4-FFF2-40B4-BE49-F238E27FC236}">
                <a16:creationId xmlns:a16="http://schemas.microsoft.com/office/drawing/2014/main" id="{3DA26D0F-9D94-AA80-54B0-7B11078268F1}"/>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编码对比</a:t>
            </a:r>
          </a:p>
        </p:txBody>
      </p:sp>
      <p:sp>
        <p:nvSpPr>
          <p:cNvPr id="18" name="箭头: 右 17">
            <a:extLst>
              <a:ext uri="{FF2B5EF4-FFF2-40B4-BE49-F238E27FC236}">
                <a16:creationId xmlns:a16="http://schemas.microsoft.com/office/drawing/2014/main" id="{5D756168-47A3-047E-CF4D-00BBD586269A}"/>
              </a:ext>
            </a:extLst>
          </p:cNvPr>
          <p:cNvSpPr/>
          <p:nvPr/>
        </p:nvSpPr>
        <p:spPr>
          <a:xfrm>
            <a:off x="119336" y="1412776"/>
            <a:ext cx="576064" cy="504056"/>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C8BBD106-4003-2932-5CE8-79E728F27A07}"/>
              </a:ext>
            </a:extLst>
          </p:cNvPr>
          <p:cNvSpPr txBox="1"/>
          <p:nvPr/>
        </p:nvSpPr>
        <p:spPr>
          <a:xfrm>
            <a:off x="47328" y="781792"/>
            <a:ext cx="720080" cy="646331"/>
          </a:xfrm>
          <a:prstGeom prst="rect">
            <a:avLst/>
          </a:prstGeom>
          <a:noFill/>
        </p:spPr>
        <p:txBody>
          <a:bodyPr wrap="square" rtlCol="0">
            <a:spAutoFit/>
          </a:bodyPr>
          <a:lstStyle/>
          <a:p>
            <a:r>
              <a:rPr lang="zh-CN" altLang="en-US" dirty="0"/>
              <a:t>绿光光源</a:t>
            </a:r>
          </a:p>
        </p:txBody>
      </p:sp>
      <p:sp>
        <p:nvSpPr>
          <p:cNvPr id="21" name="文本框 20">
            <a:extLst>
              <a:ext uri="{FF2B5EF4-FFF2-40B4-BE49-F238E27FC236}">
                <a16:creationId xmlns:a16="http://schemas.microsoft.com/office/drawing/2014/main" id="{5E0DF9F3-2625-B32A-1895-9CCD8CCD0D30}"/>
              </a:ext>
            </a:extLst>
          </p:cNvPr>
          <p:cNvSpPr txBox="1"/>
          <p:nvPr/>
        </p:nvSpPr>
        <p:spPr>
          <a:xfrm>
            <a:off x="757599" y="949139"/>
            <a:ext cx="796095" cy="369332"/>
          </a:xfrm>
          <a:prstGeom prst="rect">
            <a:avLst/>
          </a:prstGeom>
          <a:noFill/>
        </p:spPr>
        <p:txBody>
          <a:bodyPr wrap="square" rtlCol="0">
            <a:spAutoFit/>
          </a:bodyPr>
          <a:lstStyle/>
          <a:p>
            <a:r>
              <a:rPr lang="zh-CN" altLang="en-US" dirty="0"/>
              <a:t>透镜</a:t>
            </a:r>
            <a:r>
              <a:rPr lang="en-US" altLang="zh-CN" dirty="0"/>
              <a:t>1</a:t>
            </a:r>
            <a:endParaRPr lang="zh-CN" altLang="en-US" dirty="0"/>
          </a:p>
        </p:txBody>
      </p:sp>
      <p:sp>
        <p:nvSpPr>
          <p:cNvPr id="29" name="椭圆 28">
            <a:extLst>
              <a:ext uri="{FF2B5EF4-FFF2-40B4-BE49-F238E27FC236}">
                <a16:creationId xmlns:a16="http://schemas.microsoft.com/office/drawing/2014/main" id="{B79AA3A6-7FD3-854F-B17E-37D851AC01B2}"/>
              </a:ext>
            </a:extLst>
          </p:cNvPr>
          <p:cNvSpPr/>
          <p:nvPr/>
        </p:nvSpPr>
        <p:spPr>
          <a:xfrm>
            <a:off x="1631504" y="1307207"/>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23837369-229B-CBFA-9234-98DF67E4A80E}"/>
              </a:ext>
            </a:extLst>
          </p:cNvPr>
          <p:cNvSpPr txBox="1"/>
          <p:nvPr/>
        </p:nvSpPr>
        <p:spPr>
          <a:xfrm>
            <a:off x="1484532" y="976720"/>
            <a:ext cx="1011068" cy="369332"/>
          </a:xfrm>
          <a:prstGeom prst="rect">
            <a:avLst/>
          </a:prstGeom>
          <a:noFill/>
        </p:spPr>
        <p:txBody>
          <a:bodyPr wrap="square" rtlCol="0">
            <a:spAutoFit/>
          </a:bodyPr>
          <a:lstStyle/>
          <a:p>
            <a:r>
              <a:rPr lang="zh-CN" altLang="en-US" dirty="0"/>
              <a:t>起偏器</a:t>
            </a:r>
          </a:p>
        </p:txBody>
      </p:sp>
      <p:sp>
        <p:nvSpPr>
          <p:cNvPr id="38" name="矩形 37">
            <a:extLst>
              <a:ext uri="{FF2B5EF4-FFF2-40B4-BE49-F238E27FC236}">
                <a16:creationId xmlns:a16="http://schemas.microsoft.com/office/drawing/2014/main" id="{FD91FCC5-1568-8950-D8C3-AAE833608FBC}"/>
              </a:ext>
            </a:extLst>
          </p:cNvPr>
          <p:cNvSpPr/>
          <p:nvPr/>
        </p:nvSpPr>
        <p:spPr>
          <a:xfrm>
            <a:off x="2585259" y="1123223"/>
            <a:ext cx="144016" cy="1152128"/>
          </a:xfrm>
          <a:prstGeom prst="rect">
            <a:avLst/>
          </a:prstGeom>
          <a:solidFill>
            <a:schemeClr val="bg2"/>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A8E1E664-55E5-85C8-A770-FAC396981BA8}"/>
              </a:ext>
            </a:extLst>
          </p:cNvPr>
          <p:cNvSpPr txBox="1"/>
          <p:nvPr/>
        </p:nvSpPr>
        <p:spPr>
          <a:xfrm>
            <a:off x="2352431" y="781792"/>
            <a:ext cx="652585" cy="369332"/>
          </a:xfrm>
          <a:prstGeom prst="rect">
            <a:avLst/>
          </a:prstGeom>
          <a:noFill/>
        </p:spPr>
        <p:txBody>
          <a:bodyPr wrap="square" rtlCol="0">
            <a:spAutoFit/>
          </a:bodyPr>
          <a:lstStyle/>
          <a:p>
            <a:r>
              <a:rPr lang="zh-CN" altLang="en-US" dirty="0"/>
              <a:t>物体</a:t>
            </a:r>
          </a:p>
        </p:txBody>
      </p:sp>
      <p:sp>
        <p:nvSpPr>
          <p:cNvPr id="41" name="文本框 40">
            <a:extLst>
              <a:ext uri="{FF2B5EF4-FFF2-40B4-BE49-F238E27FC236}">
                <a16:creationId xmlns:a16="http://schemas.microsoft.com/office/drawing/2014/main" id="{D67943CB-D0BE-5096-B1F2-ED6E59621366}"/>
              </a:ext>
            </a:extLst>
          </p:cNvPr>
          <p:cNvSpPr txBox="1"/>
          <p:nvPr/>
        </p:nvSpPr>
        <p:spPr>
          <a:xfrm>
            <a:off x="2927350" y="1061987"/>
            <a:ext cx="796095" cy="369332"/>
          </a:xfrm>
          <a:prstGeom prst="rect">
            <a:avLst/>
          </a:prstGeom>
          <a:noFill/>
        </p:spPr>
        <p:txBody>
          <a:bodyPr wrap="square" rtlCol="0">
            <a:spAutoFit/>
          </a:bodyPr>
          <a:lstStyle/>
          <a:p>
            <a:r>
              <a:rPr lang="zh-CN" altLang="en-US" dirty="0"/>
              <a:t>透镜</a:t>
            </a:r>
            <a:r>
              <a:rPr lang="en-US" altLang="zh-CN" dirty="0"/>
              <a:t>2</a:t>
            </a:r>
            <a:endParaRPr lang="zh-CN" altLang="en-US" dirty="0"/>
          </a:p>
        </p:txBody>
      </p:sp>
      <p:sp>
        <p:nvSpPr>
          <p:cNvPr id="42" name="文本框 41">
            <a:extLst>
              <a:ext uri="{FF2B5EF4-FFF2-40B4-BE49-F238E27FC236}">
                <a16:creationId xmlns:a16="http://schemas.microsoft.com/office/drawing/2014/main" id="{C059D682-834C-289E-3C55-6D3B5CDCA95F}"/>
              </a:ext>
            </a:extLst>
          </p:cNvPr>
          <p:cNvSpPr txBox="1"/>
          <p:nvPr/>
        </p:nvSpPr>
        <p:spPr>
          <a:xfrm>
            <a:off x="3735875" y="1061987"/>
            <a:ext cx="796095" cy="369332"/>
          </a:xfrm>
          <a:prstGeom prst="rect">
            <a:avLst/>
          </a:prstGeom>
          <a:noFill/>
        </p:spPr>
        <p:txBody>
          <a:bodyPr wrap="square" rtlCol="0">
            <a:spAutoFit/>
          </a:bodyPr>
          <a:lstStyle/>
          <a:p>
            <a:r>
              <a:rPr lang="en-US" altLang="zh-CN" dirty="0"/>
              <a:t>DMD</a:t>
            </a:r>
            <a:endParaRPr lang="zh-CN" altLang="en-US" dirty="0"/>
          </a:p>
        </p:txBody>
      </p:sp>
      <p:sp>
        <p:nvSpPr>
          <p:cNvPr id="43" name="矩形 42">
            <a:extLst>
              <a:ext uri="{FF2B5EF4-FFF2-40B4-BE49-F238E27FC236}">
                <a16:creationId xmlns:a16="http://schemas.microsoft.com/office/drawing/2014/main" id="{2F1604C4-96C8-F5A3-BF91-B0BABFE2E2AB}"/>
              </a:ext>
            </a:extLst>
          </p:cNvPr>
          <p:cNvSpPr/>
          <p:nvPr/>
        </p:nvSpPr>
        <p:spPr>
          <a:xfrm>
            <a:off x="4021171" y="1423699"/>
            <a:ext cx="161667" cy="432048"/>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AC68216C-2046-7E66-0752-A00DC68C7D4F}"/>
              </a:ext>
            </a:extLst>
          </p:cNvPr>
          <p:cNvSpPr txBox="1"/>
          <p:nvPr/>
        </p:nvSpPr>
        <p:spPr>
          <a:xfrm>
            <a:off x="4566437" y="1061987"/>
            <a:ext cx="1097515" cy="369332"/>
          </a:xfrm>
          <a:prstGeom prst="rect">
            <a:avLst/>
          </a:prstGeom>
          <a:noFill/>
        </p:spPr>
        <p:txBody>
          <a:bodyPr wrap="square" rtlCol="0">
            <a:spAutoFit/>
          </a:bodyPr>
          <a:lstStyle/>
          <a:p>
            <a:r>
              <a:rPr lang="zh-CN" altLang="en-US" dirty="0"/>
              <a:t>准直透镜</a:t>
            </a:r>
          </a:p>
        </p:txBody>
      </p:sp>
      <p:sp>
        <p:nvSpPr>
          <p:cNvPr id="48" name="矩形 47">
            <a:extLst>
              <a:ext uri="{FF2B5EF4-FFF2-40B4-BE49-F238E27FC236}">
                <a16:creationId xmlns:a16="http://schemas.microsoft.com/office/drawing/2014/main" id="{B040C3DE-2ECE-37B7-4F3D-2FB0CA45628D}"/>
              </a:ext>
            </a:extLst>
          </p:cNvPr>
          <p:cNvSpPr/>
          <p:nvPr/>
        </p:nvSpPr>
        <p:spPr>
          <a:xfrm>
            <a:off x="5951984" y="1544398"/>
            <a:ext cx="504056" cy="214153"/>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8A5740F5-0B1B-E605-D488-00DCFFBBC815}"/>
              </a:ext>
            </a:extLst>
          </p:cNvPr>
          <p:cNvSpPr txBox="1"/>
          <p:nvPr/>
        </p:nvSpPr>
        <p:spPr>
          <a:xfrm>
            <a:off x="5843229" y="1061987"/>
            <a:ext cx="1097515" cy="369332"/>
          </a:xfrm>
          <a:prstGeom prst="rect">
            <a:avLst/>
          </a:prstGeom>
          <a:noFill/>
        </p:spPr>
        <p:txBody>
          <a:bodyPr wrap="square" rtlCol="0">
            <a:spAutoFit/>
          </a:bodyPr>
          <a:lstStyle/>
          <a:p>
            <a:r>
              <a:rPr lang="en-US" altLang="zh-CN" dirty="0"/>
              <a:t>PEM</a:t>
            </a:r>
            <a:endParaRPr lang="zh-CN" altLang="en-US" dirty="0"/>
          </a:p>
        </p:txBody>
      </p:sp>
      <p:sp>
        <p:nvSpPr>
          <p:cNvPr id="50" name="椭圆 49">
            <a:extLst>
              <a:ext uri="{FF2B5EF4-FFF2-40B4-BE49-F238E27FC236}">
                <a16:creationId xmlns:a16="http://schemas.microsoft.com/office/drawing/2014/main" id="{63DF98AE-F958-5F1A-FB00-EDB786550C72}"/>
              </a:ext>
            </a:extLst>
          </p:cNvPr>
          <p:cNvSpPr/>
          <p:nvPr/>
        </p:nvSpPr>
        <p:spPr>
          <a:xfrm>
            <a:off x="6940744" y="1423699"/>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9B08898F-464F-747A-93B9-1C00F4E220A5}"/>
              </a:ext>
            </a:extLst>
          </p:cNvPr>
          <p:cNvSpPr txBox="1"/>
          <p:nvPr/>
        </p:nvSpPr>
        <p:spPr>
          <a:xfrm>
            <a:off x="6745274" y="976720"/>
            <a:ext cx="1011068" cy="369332"/>
          </a:xfrm>
          <a:prstGeom prst="rect">
            <a:avLst/>
          </a:prstGeom>
          <a:noFill/>
        </p:spPr>
        <p:txBody>
          <a:bodyPr wrap="square" rtlCol="0">
            <a:spAutoFit/>
          </a:bodyPr>
          <a:lstStyle/>
          <a:p>
            <a:r>
              <a:rPr lang="zh-CN" altLang="en-US" dirty="0"/>
              <a:t>检偏器</a:t>
            </a:r>
          </a:p>
        </p:txBody>
      </p:sp>
      <p:sp>
        <p:nvSpPr>
          <p:cNvPr id="53" name="文本框 52">
            <a:extLst>
              <a:ext uri="{FF2B5EF4-FFF2-40B4-BE49-F238E27FC236}">
                <a16:creationId xmlns:a16="http://schemas.microsoft.com/office/drawing/2014/main" id="{13BA3FED-E290-8C75-4FFB-302AD91C78CD}"/>
              </a:ext>
            </a:extLst>
          </p:cNvPr>
          <p:cNvSpPr txBox="1"/>
          <p:nvPr/>
        </p:nvSpPr>
        <p:spPr>
          <a:xfrm>
            <a:off x="7709332" y="976720"/>
            <a:ext cx="1151206" cy="369332"/>
          </a:xfrm>
          <a:prstGeom prst="rect">
            <a:avLst/>
          </a:prstGeom>
          <a:noFill/>
        </p:spPr>
        <p:txBody>
          <a:bodyPr wrap="square" rtlCol="0">
            <a:spAutoFit/>
          </a:bodyPr>
          <a:lstStyle/>
          <a:p>
            <a:r>
              <a:rPr lang="zh-CN" altLang="en-US" dirty="0"/>
              <a:t>聚光透镜</a:t>
            </a:r>
          </a:p>
        </p:txBody>
      </p:sp>
      <p:sp>
        <p:nvSpPr>
          <p:cNvPr id="54" name="椭圆 53">
            <a:extLst>
              <a:ext uri="{FF2B5EF4-FFF2-40B4-BE49-F238E27FC236}">
                <a16:creationId xmlns:a16="http://schemas.microsoft.com/office/drawing/2014/main" id="{A1AA3AAE-A1A4-4A33-0785-59A486ECAC40}"/>
              </a:ext>
            </a:extLst>
          </p:cNvPr>
          <p:cNvSpPr/>
          <p:nvPr/>
        </p:nvSpPr>
        <p:spPr>
          <a:xfrm>
            <a:off x="9046548" y="1423699"/>
            <a:ext cx="504056" cy="646331"/>
          </a:xfrm>
          <a:prstGeom prst="ellipse">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AB19F7A5-3D55-74F3-BB3D-9E8278A87BD2}"/>
              </a:ext>
            </a:extLst>
          </p:cNvPr>
          <p:cNvSpPr txBox="1"/>
          <p:nvPr/>
        </p:nvSpPr>
        <p:spPr>
          <a:xfrm>
            <a:off x="8810276" y="976720"/>
            <a:ext cx="895486" cy="369332"/>
          </a:xfrm>
          <a:prstGeom prst="rect">
            <a:avLst/>
          </a:prstGeom>
          <a:noFill/>
        </p:spPr>
        <p:txBody>
          <a:bodyPr wrap="square" rtlCol="0">
            <a:spAutoFit/>
          </a:bodyPr>
          <a:lstStyle/>
          <a:p>
            <a:r>
              <a:rPr lang="zh-CN" altLang="en-US" dirty="0"/>
              <a:t>探测器</a:t>
            </a:r>
          </a:p>
        </p:txBody>
      </p:sp>
      <p:sp>
        <p:nvSpPr>
          <p:cNvPr id="57" name="矩形: 圆角 56">
            <a:extLst>
              <a:ext uri="{FF2B5EF4-FFF2-40B4-BE49-F238E27FC236}">
                <a16:creationId xmlns:a16="http://schemas.microsoft.com/office/drawing/2014/main" id="{76D17B96-024C-D922-556C-E47E39903440}"/>
              </a:ext>
            </a:extLst>
          </p:cNvPr>
          <p:cNvSpPr/>
          <p:nvPr/>
        </p:nvSpPr>
        <p:spPr>
          <a:xfrm>
            <a:off x="11008197" y="1470783"/>
            <a:ext cx="836342" cy="5852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E33D6B42-2B69-06CA-0197-0C27BEF24B9D}"/>
              </a:ext>
            </a:extLst>
          </p:cNvPr>
          <p:cNvSpPr txBox="1"/>
          <p:nvPr/>
        </p:nvSpPr>
        <p:spPr>
          <a:xfrm>
            <a:off x="11008197" y="951316"/>
            <a:ext cx="895486" cy="369332"/>
          </a:xfrm>
          <a:prstGeom prst="rect">
            <a:avLst/>
          </a:prstGeom>
          <a:noFill/>
        </p:spPr>
        <p:txBody>
          <a:bodyPr wrap="square" rtlCol="0">
            <a:spAutoFit/>
          </a:bodyPr>
          <a:lstStyle/>
          <a:p>
            <a:r>
              <a:rPr lang="en-US" altLang="zh-CN" dirty="0"/>
              <a:t>PC</a:t>
            </a:r>
            <a:r>
              <a:rPr lang="zh-CN" altLang="en-US" dirty="0"/>
              <a:t>端</a:t>
            </a:r>
          </a:p>
        </p:txBody>
      </p:sp>
      <p:sp>
        <p:nvSpPr>
          <p:cNvPr id="59" name="矩形: 圆角 58">
            <a:extLst>
              <a:ext uri="{FF2B5EF4-FFF2-40B4-BE49-F238E27FC236}">
                <a16:creationId xmlns:a16="http://schemas.microsoft.com/office/drawing/2014/main" id="{343EAC33-F6A3-79F3-8F65-8A014ED11DB0}"/>
              </a:ext>
            </a:extLst>
          </p:cNvPr>
          <p:cNvSpPr/>
          <p:nvPr/>
        </p:nvSpPr>
        <p:spPr>
          <a:xfrm>
            <a:off x="9811098" y="1475229"/>
            <a:ext cx="836342" cy="58524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72B793D3-FEFC-AF82-1179-16432AA1807D}"/>
              </a:ext>
            </a:extLst>
          </p:cNvPr>
          <p:cNvSpPr txBox="1"/>
          <p:nvPr/>
        </p:nvSpPr>
        <p:spPr>
          <a:xfrm>
            <a:off x="9864148" y="1002029"/>
            <a:ext cx="721668" cy="369332"/>
          </a:xfrm>
          <a:prstGeom prst="rect">
            <a:avLst/>
          </a:prstGeom>
          <a:noFill/>
        </p:spPr>
        <p:txBody>
          <a:bodyPr wrap="square" rtlCol="0">
            <a:spAutoFit/>
          </a:bodyPr>
          <a:lstStyle/>
          <a:p>
            <a:r>
              <a:rPr lang="zh-CN" altLang="en-US" dirty="0"/>
              <a:t>锁相</a:t>
            </a:r>
          </a:p>
        </p:txBody>
      </p:sp>
      <p:cxnSp>
        <p:nvCxnSpPr>
          <p:cNvPr id="62" name="直接连接符 61">
            <a:extLst>
              <a:ext uri="{FF2B5EF4-FFF2-40B4-BE49-F238E27FC236}">
                <a16:creationId xmlns:a16="http://schemas.microsoft.com/office/drawing/2014/main" id="{3893EF0A-E511-9314-2395-AC74C49FD802}"/>
              </a:ext>
            </a:extLst>
          </p:cNvPr>
          <p:cNvCxnSpPr>
            <a:stCxn id="29" idx="3"/>
            <a:endCxn id="29" idx="7"/>
          </p:cNvCxnSpPr>
          <p:nvPr/>
        </p:nvCxnSpPr>
        <p:spPr>
          <a:xfrm flipV="1">
            <a:off x="1705321" y="1401860"/>
            <a:ext cx="356422" cy="4570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48" name="直接连接符 2047">
            <a:extLst>
              <a:ext uri="{FF2B5EF4-FFF2-40B4-BE49-F238E27FC236}">
                <a16:creationId xmlns:a16="http://schemas.microsoft.com/office/drawing/2014/main" id="{F6B65577-4686-B4AF-B3F9-16650227797F}"/>
              </a:ext>
            </a:extLst>
          </p:cNvPr>
          <p:cNvCxnSpPr>
            <a:stCxn id="50" idx="3"/>
            <a:endCxn id="50" idx="7"/>
          </p:cNvCxnSpPr>
          <p:nvPr/>
        </p:nvCxnSpPr>
        <p:spPr>
          <a:xfrm flipV="1">
            <a:off x="7014561" y="1518352"/>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2049" name="椭圆 2048">
            <a:extLst>
              <a:ext uri="{FF2B5EF4-FFF2-40B4-BE49-F238E27FC236}">
                <a16:creationId xmlns:a16="http://schemas.microsoft.com/office/drawing/2014/main" id="{330C570A-C072-CA0C-D929-F8BBB470B015}"/>
              </a:ext>
            </a:extLst>
          </p:cNvPr>
          <p:cNvSpPr/>
          <p:nvPr/>
        </p:nvSpPr>
        <p:spPr>
          <a:xfrm>
            <a:off x="1064265" y="1401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1" name="椭圆 2050">
            <a:extLst>
              <a:ext uri="{FF2B5EF4-FFF2-40B4-BE49-F238E27FC236}">
                <a16:creationId xmlns:a16="http://schemas.microsoft.com/office/drawing/2014/main" id="{8CF1A48C-215C-9D9E-F837-6B4B3DC7D983}"/>
              </a:ext>
            </a:extLst>
          </p:cNvPr>
          <p:cNvSpPr/>
          <p:nvPr/>
        </p:nvSpPr>
        <p:spPr>
          <a:xfrm>
            <a:off x="3205343" y="1401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2" name="椭圆 2051">
            <a:extLst>
              <a:ext uri="{FF2B5EF4-FFF2-40B4-BE49-F238E27FC236}">
                <a16:creationId xmlns:a16="http://schemas.microsoft.com/office/drawing/2014/main" id="{99F3B48D-3DB3-9633-45A3-D0DF21AA8980}"/>
              </a:ext>
            </a:extLst>
          </p:cNvPr>
          <p:cNvSpPr/>
          <p:nvPr/>
        </p:nvSpPr>
        <p:spPr>
          <a:xfrm>
            <a:off x="5025347" y="1401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3" name="文本框 2052">
            <a:extLst>
              <a:ext uri="{FF2B5EF4-FFF2-40B4-BE49-F238E27FC236}">
                <a16:creationId xmlns:a16="http://schemas.microsoft.com/office/drawing/2014/main" id="{F8CE6620-48B7-3D52-354C-5E4BE8F683E8}"/>
              </a:ext>
            </a:extLst>
          </p:cNvPr>
          <p:cNvSpPr txBox="1"/>
          <p:nvPr/>
        </p:nvSpPr>
        <p:spPr>
          <a:xfrm>
            <a:off x="19082" y="2420888"/>
            <a:ext cx="12172917" cy="4247317"/>
          </a:xfrm>
          <a:prstGeom prst="rect">
            <a:avLst/>
          </a:prstGeom>
          <a:noFill/>
        </p:spPr>
        <p:txBody>
          <a:bodyPr wrap="square" rtlCol="0">
            <a:spAutoFit/>
          </a:bodyPr>
          <a:lstStyle/>
          <a:p>
            <a:pPr indent="457200"/>
            <a:r>
              <a:rPr lang="zh-CN" altLang="en-US" dirty="0"/>
              <a:t>光源经过起偏器件（</a:t>
            </a:r>
            <a:r>
              <a:rPr lang="en-US" altLang="zh-CN" dirty="0"/>
              <a:t>45°</a:t>
            </a:r>
            <a:r>
              <a:rPr lang="zh-CN" altLang="en-US" dirty="0"/>
              <a:t>）后变为了线偏振光。</a:t>
            </a:r>
            <a:r>
              <a:rPr lang="zh-CN" altLang="en-US" dirty="0">
                <a:solidFill>
                  <a:srgbClr val="1A1C1F"/>
                </a:solidFill>
                <a:latin typeface="-apple-system"/>
              </a:rPr>
              <a:t>假设物体材料为玻璃纸（厚度均匀、应力均匀、分子取向一致，而且照明也均匀。</a:t>
            </a:r>
            <a:r>
              <a:rPr lang="zh-CN" altLang="en-US" dirty="0"/>
              <a:t> 文献使用的材料为玻璃纸</a:t>
            </a:r>
            <a:r>
              <a:rPr lang="en-US" altLang="zh-CN" dirty="0"/>
              <a:t>+</a:t>
            </a:r>
            <a:r>
              <a:rPr lang="zh-CN" altLang="en-US" dirty="0"/>
              <a:t>振幅掩模，见附录</a:t>
            </a:r>
            <a:r>
              <a:rPr lang="zh-CN" altLang="en-US" dirty="0">
                <a:solidFill>
                  <a:srgbClr val="1A1C1F"/>
                </a:solidFill>
                <a:latin typeface="-apple-system"/>
              </a:rPr>
              <a:t>），出射光</a:t>
            </a:r>
            <a:r>
              <a:rPr lang="en-US" altLang="zh-CN" dirty="0">
                <a:solidFill>
                  <a:srgbClr val="FF0000"/>
                </a:solidFill>
                <a:latin typeface="-apple-system"/>
              </a:rPr>
              <a:t>I1</a:t>
            </a:r>
            <a:r>
              <a:rPr lang="zh-CN" altLang="en-US" dirty="0">
                <a:solidFill>
                  <a:srgbClr val="1A1C1F"/>
                </a:solidFill>
                <a:latin typeface="-apple-system"/>
              </a:rPr>
              <a:t>的</a:t>
            </a:r>
            <a:r>
              <a:rPr lang="zh-CN" altLang="en-US" dirty="0"/>
              <a:t>偏振信息相同。（</a:t>
            </a:r>
            <a:r>
              <a:rPr lang="zh-CN" altLang="en-US" dirty="0">
                <a:solidFill>
                  <a:srgbClr val="FF0000"/>
                </a:solidFill>
              </a:rPr>
              <a:t>出射光携带物体偏振信息</a:t>
            </a:r>
            <a:r>
              <a:rPr lang="zh-CN" altLang="en-US" dirty="0"/>
              <a:t>）</a:t>
            </a:r>
            <a:endParaRPr lang="en-US" altLang="zh-CN" dirty="0"/>
          </a:p>
          <a:p>
            <a:pPr indent="457200"/>
            <a:r>
              <a:rPr lang="zh-CN" altLang="en-US" dirty="0">
                <a:solidFill>
                  <a:srgbClr val="FF0000"/>
                </a:solidFill>
              </a:rPr>
              <a:t>编码</a:t>
            </a:r>
            <a:r>
              <a:rPr lang="en-US" altLang="zh-CN" dirty="0">
                <a:solidFill>
                  <a:srgbClr val="FF0000"/>
                </a:solidFill>
              </a:rPr>
              <a:t>1</a:t>
            </a:r>
            <a:r>
              <a:rPr lang="zh-CN" altLang="en-US" dirty="0">
                <a:solidFill>
                  <a:srgbClr val="FF0000"/>
                </a:solidFill>
              </a:rPr>
              <a:t>：</a:t>
            </a:r>
            <a:r>
              <a:rPr lang="zh-CN" altLang="en-US" dirty="0"/>
              <a:t>光</a:t>
            </a:r>
            <a:r>
              <a:rPr lang="en-US" altLang="zh-CN" dirty="0">
                <a:solidFill>
                  <a:srgbClr val="FF0000"/>
                </a:solidFill>
              </a:rPr>
              <a:t>I1</a:t>
            </a:r>
            <a:r>
              <a:rPr lang="zh-CN" altLang="en-US" dirty="0"/>
              <a:t>经过透镜调整大小后入射到</a:t>
            </a:r>
            <a:r>
              <a:rPr lang="en-US" altLang="zh-CN" dirty="0"/>
              <a:t>DMD</a:t>
            </a:r>
            <a:r>
              <a:rPr lang="zh-CN" altLang="en-US" dirty="0"/>
              <a:t>器件，</a:t>
            </a:r>
            <a:r>
              <a:rPr lang="en-US" altLang="zh-CN" dirty="0"/>
              <a:t>DMD</a:t>
            </a:r>
            <a:r>
              <a:rPr lang="zh-CN" altLang="en-US" dirty="0"/>
              <a:t>反射的偏振光</a:t>
            </a:r>
            <a:r>
              <a:rPr lang="en-US" altLang="zh-CN" dirty="0">
                <a:solidFill>
                  <a:srgbClr val="FF0000"/>
                </a:solidFill>
              </a:rPr>
              <a:t>I2</a:t>
            </a:r>
            <a:r>
              <a:rPr lang="zh-CN" altLang="en-US" dirty="0"/>
              <a:t>为物体偏振信息与基底信息之间的内积（</a:t>
            </a:r>
            <a:r>
              <a:rPr lang="en-US" altLang="zh-CN" dirty="0"/>
              <a:t>DMD</a:t>
            </a:r>
            <a:r>
              <a:rPr lang="zh-CN" altLang="en-US" dirty="0"/>
              <a:t>微镜为</a:t>
            </a:r>
            <a:r>
              <a:rPr lang="en-US" altLang="zh-CN" dirty="0"/>
              <a:t>0</a:t>
            </a:r>
            <a:r>
              <a:rPr lang="zh-CN" altLang="en-US" dirty="0"/>
              <a:t>的地方的光被</a:t>
            </a:r>
            <a:r>
              <a:rPr lang="en-US" altLang="zh-CN" dirty="0"/>
              <a:t>out</a:t>
            </a:r>
            <a:r>
              <a:rPr lang="zh-CN" altLang="en-US" dirty="0"/>
              <a:t>，为</a:t>
            </a:r>
            <a:r>
              <a:rPr lang="en-US" altLang="zh-CN" dirty="0"/>
              <a:t>1</a:t>
            </a:r>
            <a:r>
              <a:rPr lang="zh-CN" altLang="en-US" dirty="0"/>
              <a:t>的地方的光被反射到后续光路中）</a:t>
            </a:r>
            <a:endParaRPr lang="en-US" altLang="zh-CN" dirty="0"/>
          </a:p>
          <a:p>
            <a:pPr indent="457200"/>
            <a:r>
              <a:rPr lang="en-US" altLang="zh-CN" dirty="0"/>
              <a:t>I2</a:t>
            </a:r>
            <a:r>
              <a:rPr lang="zh-CN" altLang="en-US" dirty="0"/>
              <a:t>的斯托克克斯量</a:t>
            </a:r>
            <a:r>
              <a:rPr lang="en-US" altLang="zh-CN" dirty="0"/>
              <a:t>S=[S0</a:t>
            </a:r>
            <a:r>
              <a:rPr lang="zh-CN" altLang="en-US" dirty="0"/>
              <a:t>，</a:t>
            </a:r>
            <a:r>
              <a:rPr lang="en-US" altLang="zh-CN" dirty="0"/>
              <a:t>S1</a:t>
            </a:r>
            <a:r>
              <a:rPr lang="zh-CN" altLang="en-US" dirty="0"/>
              <a:t>，</a:t>
            </a:r>
            <a:r>
              <a:rPr lang="en-US" altLang="zh-CN" dirty="0"/>
              <a:t>S2</a:t>
            </a:r>
            <a:r>
              <a:rPr lang="zh-CN" altLang="en-US" dirty="0"/>
              <a:t>，</a:t>
            </a:r>
            <a:r>
              <a:rPr lang="en-US" altLang="zh-CN" dirty="0"/>
              <a:t>S3]</a:t>
            </a:r>
          </a:p>
          <a:p>
            <a:pPr indent="457200"/>
            <a:r>
              <a:rPr lang="zh-CN" altLang="en-US" dirty="0">
                <a:solidFill>
                  <a:srgbClr val="FF0000"/>
                </a:solidFill>
              </a:rPr>
              <a:t>编码</a:t>
            </a:r>
            <a:r>
              <a:rPr lang="en-US" altLang="zh-CN" dirty="0">
                <a:solidFill>
                  <a:srgbClr val="FF0000"/>
                </a:solidFill>
              </a:rPr>
              <a:t>2</a:t>
            </a:r>
            <a:r>
              <a:rPr lang="zh-CN" altLang="en-US" dirty="0">
                <a:solidFill>
                  <a:srgbClr val="FF0000"/>
                </a:solidFill>
              </a:rPr>
              <a:t>：</a:t>
            </a:r>
            <a:r>
              <a:rPr lang="en-US" altLang="zh-CN" dirty="0">
                <a:solidFill>
                  <a:srgbClr val="FF0000"/>
                </a:solidFill>
              </a:rPr>
              <a:t>I2</a:t>
            </a:r>
            <a:r>
              <a:rPr lang="zh-CN" altLang="en-US" dirty="0"/>
              <a:t>经过准直透镜后进入</a:t>
            </a:r>
            <a:r>
              <a:rPr lang="en-US" altLang="zh-CN" dirty="0"/>
              <a:t>PEM</a:t>
            </a:r>
            <a:r>
              <a:rPr lang="zh-CN" altLang="en-US" dirty="0"/>
              <a:t>中，</a:t>
            </a:r>
            <a:r>
              <a:rPr lang="en-US" altLang="zh-CN" dirty="0"/>
              <a:t>PEM</a:t>
            </a:r>
            <a:r>
              <a:rPr lang="zh-CN" altLang="en-US" dirty="0"/>
              <a:t>（</a:t>
            </a:r>
            <a:r>
              <a:rPr lang="en-US" altLang="zh-CN" dirty="0"/>
              <a:t>f=50KHz</a:t>
            </a:r>
            <a:r>
              <a:rPr lang="zh-CN" altLang="en-US" dirty="0"/>
              <a:t>）光的线偏振信息和圆偏振信息分别移动到 </a:t>
            </a:r>
            <a:r>
              <a:rPr lang="en-US" altLang="zh-CN" dirty="0"/>
              <a:t>2f </a:t>
            </a:r>
            <a:r>
              <a:rPr lang="zh-CN" altLang="en-US" dirty="0"/>
              <a:t>和 </a:t>
            </a:r>
            <a:r>
              <a:rPr lang="en-US" altLang="zh-CN" dirty="0"/>
              <a:t>f </a:t>
            </a:r>
            <a:r>
              <a:rPr lang="zh-CN" altLang="en-US" dirty="0"/>
              <a:t>两个频率下，光强信息本身没有变化，只是内部部分光的频率做了调整，最终出射光</a:t>
            </a:r>
            <a:r>
              <a:rPr lang="en-US" altLang="zh-CN" dirty="0">
                <a:solidFill>
                  <a:srgbClr val="FF0000"/>
                </a:solidFill>
              </a:rPr>
              <a:t>I3</a:t>
            </a:r>
          </a:p>
          <a:p>
            <a:pPr indent="457200" algn="just"/>
            <a:r>
              <a:rPr lang="en-US" altLang="zh-CN" dirty="0"/>
              <a:t>PEM</a:t>
            </a:r>
            <a:r>
              <a:rPr lang="zh-CN" altLang="en-US" dirty="0"/>
              <a:t>引入相位延迟</a:t>
            </a:r>
            <a:r>
              <a:rPr lang="el-GR" altLang="zh-CN" dirty="0"/>
              <a:t>δ(</a:t>
            </a:r>
            <a:r>
              <a:rPr lang="en-US" altLang="zh-CN" dirty="0"/>
              <a:t>t) = </a:t>
            </a:r>
            <a:r>
              <a:rPr lang="el-GR" altLang="zh-CN" dirty="0"/>
              <a:t>δ0 </a:t>
            </a:r>
            <a:r>
              <a:rPr lang="en-US" altLang="zh-CN" dirty="0"/>
              <a:t>sin(</a:t>
            </a:r>
            <a:r>
              <a:rPr lang="el-GR" altLang="zh-CN" dirty="0"/>
              <a:t>ω</a:t>
            </a:r>
            <a:r>
              <a:rPr lang="en-US" altLang="zh-CN" dirty="0"/>
              <a:t>t)</a:t>
            </a:r>
            <a:r>
              <a:rPr lang="zh-CN" altLang="en-US" dirty="0"/>
              <a:t>，</a:t>
            </a:r>
            <a:r>
              <a:rPr lang="en-US" altLang="zh-CN" dirty="0"/>
              <a:t>    S2'(t) = S2 cos</a:t>
            </a:r>
            <a:r>
              <a:rPr lang="el-GR" altLang="zh-CN" dirty="0"/>
              <a:t>δ(</a:t>
            </a:r>
            <a:r>
              <a:rPr lang="en-US" altLang="zh-CN" dirty="0"/>
              <a:t>t) + S3 sin</a:t>
            </a:r>
            <a:r>
              <a:rPr lang="el-GR" altLang="zh-CN" dirty="0"/>
              <a:t>δ(</a:t>
            </a:r>
            <a:r>
              <a:rPr lang="en-US" altLang="zh-CN" dirty="0"/>
              <a:t>t)    S3'(t) = -S2 sin</a:t>
            </a:r>
            <a:r>
              <a:rPr lang="el-GR" altLang="zh-CN" dirty="0"/>
              <a:t>δ(</a:t>
            </a:r>
            <a:r>
              <a:rPr lang="en-US" altLang="zh-CN" dirty="0"/>
              <a:t>t) + S3 cos</a:t>
            </a:r>
            <a:r>
              <a:rPr lang="el-GR" altLang="zh-CN" dirty="0"/>
              <a:t>δ(</a:t>
            </a:r>
            <a:r>
              <a:rPr lang="en-US" altLang="zh-CN" dirty="0"/>
              <a:t>t)</a:t>
            </a:r>
          </a:p>
          <a:p>
            <a:pPr indent="457200" algn="just"/>
            <a:r>
              <a:rPr lang="zh-CN" altLang="en-US" dirty="0">
                <a:solidFill>
                  <a:srgbClr val="FF0000"/>
                </a:solidFill>
              </a:rPr>
              <a:t>编码</a:t>
            </a:r>
            <a:r>
              <a:rPr lang="en-US" altLang="zh-CN" dirty="0">
                <a:solidFill>
                  <a:srgbClr val="FF0000"/>
                </a:solidFill>
              </a:rPr>
              <a:t>3</a:t>
            </a:r>
            <a:r>
              <a:rPr lang="zh-CN" altLang="en-US" dirty="0">
                <a:solidFill>
                  <a:srgbClr val="FF0000"/>
                </a:solidFill>
              </a:rPr>
              <a:t>：</a:t>
            </a:r>
            <a:r>
              <a:rPr lang="en-US" altLang="zh-CN" dirty="0">
                <a:solidFill>
                  <a:srgbClr val="FF0000"/>
                </a:solidFill>
              </a:rPr>
              <a:t>I3</a:t>
            </a:r>
            <a:r>
              <a:rPr lang="zh-CN" altLang="en-US" dirty="0"/>
              <a:t>经过检偏器后，光在</a:t>
            </a:r>
            <a:r>
              <a:rPr lang="en-US" altLang="zh-CN" dirty="0"/>
              <a:t>45°</a:t>
            </a:r>
            <a:r>
              <a:rPr lang="zh-CN" altLang="en-US" dirty="0"/>
              <a:t>方向上的投影的分量被保留</a:t>
            </a:r>
            <a:r>
              <a:rPr lang="en-US" altLang="zh-CN" dirty="0"/>
              <a:t>(I45 = (S0 + S2) / 2)</a:t>
            </a:r>
          </a:p>
          <a:p>
            <a:pPr indent="457200" algn="just"/>
            <a:r>
              <a:rPr lang="pt-BR" altLang="zh-CN" dirty="0"/>
              <a:t>I(t) = 1/2 [S0 + S2‘(t)]=1/2 [S0 + S2 cosδ(t) + S3 sinδ(t)],</a:t>
            </a:r>
            <a:r>
              <a:rPr lang="zh-CN" altLang="en-US" dirty="0"/>
              <a:t>贝塞尔展开后</a:t>
            </a:r>
            <a:r>
              <a:rPr lang="zh-CN" altLang="en-US" dirty="0">
                <a:sym typeface="Wingdings" panose="05000000000000000000" pitchFamily="2" charset="2"/>
              </a:rPr>
              <a:t>（无法测出</a:t>
            </a:r>
            <a:r>
              <a:rPr lang="en-US" altLang="zh-CN" dirty="0">
                <a:sym typeface="Wingdings" panose="05000000000000000000" pitchFamily="2" charset="2"/>
              </a:rPr>
              <a:t>S1</a:t>
            </a:r>
            <a:r>
              <a:rPr lang="zh-CN" altLang="en-US" dirty="0">
                <a:sym typeface="Wingdings" panose="05000000000000000000" pitchFamily="2" charset="2"/>
              </a:rPr>
              <a:t>，仍需转动一次偏振片）</a:t>
            </a:r>
            <a:endParaRPr lang="en-US" altLang="zh-CN" dirty="0"/>
          </a:p>
          <a:p>
            <a:pPr indent="457200" algn="ctr"/>
            <a:r>
              <a:rPr lang="pt-BR" altLang="zh-CN" dirty="0"/>
              <a:t>DC ∝ S0 + J0(</a:t>
            </a:r>
            <a:r>
              <a:rPr lang="el-GR" altLang="zh-CN" dirty="0"/>
              <a:t>δ0) </a:t>
            </a:r>
            <a:r>
              <a:rPr lang="pt-BR" altLang="zh-CN" dirty="0"/>
              <a:t>S2</a:t>
            </a:r>
          </a:p>
          <a:p>
            <a:pPr indent="457200" algn="ctr"/>
            <a:r>
              <a:rPr lang="pt-BR" altLang="zh-CN" dirty="0"/>
              <a:t>1f ∝ J1(</a:t>
            </a:r>
            <a:r>
              <a:rPr lang="el-GR" altLang="zh-CN" dirty="0"/>
              <a:t>δ0) </a:t>
            </a:r>
            <a:r>
              <a:rPr lang="pt-BR" altLang="zh-CN" dirty="0"/>
              <a:t>S3</a:t>
            </a:r>
          </a:p>
          <a:p>
            <a:pPr indent="457200" algn="ctr"/>
            <a:r>
              <a:rPr lang="pt-BR" altLang="zh-CN" dirty="0"/>
              <a:t>2f ∝ J2(</a:t>
            </a:r>
            <a:r>
              <a:rPr lang="el-GR" altLang="zh-CN" dirty="0"/>
              <a:t>δ0) </a:t>
            </a:r>
            <a:r>
              <a:rPr lang="pt-BR" altLang="zh-CN" dirty="0"/>
              <a:t>S2</a:t>
            </a:r>
          </a:p>
          <a:p>
            <a:pPr indent="457200"/>
            <a:r>
              <a:rPr lang="zh-CN" altLang="en-US" dirty="0">
                <a:solidFill>
                  <a:srgbClr val="FF0000"/>
                </a:solidFill>
              </a:rPr>
              <a:t>解码</a:t>
            </a:r>
            <a:r>
              <a:rPr lang="en-US" altLang="zh-CN" dirty="0">
                <a:solidFill>
                  <a:srgbClr val="FF0000"/>
                </a:solidFill>
              </a:rPr>
              <a:t>:</a:t>
            </a:r>
            <a:r>
              <a:rPr lang="zh-CN" altLang="en-US" dirty="0"/>
              <a:t>锁相放大器测量</a:t>
            </a:r>
            <a:r>
              <a:rPr lang="en-US" altLang="zh-CN" dirty="0"/>
              <a:t>f</a:t>
            </a:r>
            <a:r>
              <a:rPr lang="zh-CN" altLang="en-US" dirty="0"/>
              <a:t>和</a:t>
            </a:r>
            <a:r>
              <a:rPr lang="en-US" altLang="zh-CN" dirty="0"/>
              <a:t>2f</a:t>
            </a:r>
            <a:r>
              <a:rPr lang="zh-CN" altLang="en-US" dirty="0"/>
              <a:t>的信号，得到</a:t>
            </a:r>
            <a:r>
              <a:rPr lang="en-US" altLang="zh-CN" dirty="0"/>
              <a:t>S2</a:t>
            </a:r>
            <a:r>
              <a:rPr lang="zh-CN" altLang="en-US" dirty="0"/>
              <a:t>和</a:t>
            </a:r>
            <a:r>
              <a:rPr lang="en-US" altLang="zh-CN" dirty="0"/>
              <a:t>S3</a:t>
            </a:r>
            <a:endParaRPr lang="pt-BR" altLang="zh-CN" dirty="0"/>
          </a:p>
        </p:txBody>
      </p:sp>
      <p:sp>
        <p:nvSpPr>
          <p:cNvPr id="2054" name="椭圆 2053">
            <a:extLst>
              <a:ext uri="{FF2B5EF4-FFF2-40B4-BE49-F238E27FC236}">
                <a16:creationId xmlns:a16="http://schemas.microsoft.com/office/drawing/2014/main" id="{9084A9E9-7F38-E070-AECA-F3694E4E612A}"/>
              </a:ext>
            </a:extLst>
          </p:cNvPr>
          <p:cNvSpPr/>
          <p:nvPr/>
        </p:nvSpPr>
        <p:spPr>
          <a:xfrm>
            <a:off x="8230544" y="1401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31906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EC69C34-5060-29B3-8467-31C459C0CB62}"/>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9FEF3B52-EA06-1579-243C-F095DE9834E9}"/>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C4A57E6F-F5AC-8942-CE18-C03882B3C2F9}"/>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AAF604A4-2C9A-665B-E6FF-9F887F7F22A7}"/>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D7F01EFE-2198-5937-461D-3C62C986BFBA}"/>
              </a:ext>
            </a:extLst>
          </p:cNvPr>
          <p:cNvSpPr txBox="1"/>
          <p:nvPr/>
        </p:nvSpPr>
        <p:spPr>
          <a:xfrm>
            <a:off x="2948196" y="221158"/>
            <a:ext cx="8548404"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光路中的一些器件的问题</a:t>
            </a:r>
          </a:p>
        </p:txBody>
      </p:sp>
      <p:sp>
        <p:nvSpPr>
          <p:cNvPr id="14" name="文本框 13">
            <a:extLst>
              <a:ext uri="{FF2B5EF4-FFF2-40B4-BE49-F238E27FC236}">
                <a16:creationId xmlns:a16="http://schemas.microsoft.com/office/drawing/2014/main" id="{E8C4F888-D539-2663-B347-9645B2A6DACA}"/>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一些疑惑</a:t>
            </a:r>
          </a:p>
        </p:txBody>
      </p:sp>
      <p:sp>
        <p:nvSpPr>
          <p:cNvPr id="18" name="箭头: 右 17">
            <a:extLst>
              <a:ext uri="{FF2B5EF4-FFF2-40B4-BE49-F238E27FC236}">
                <a16:creationId xmlns:a16="http://schemas.microsoft.com/office/drawing/2014/main" id="{156B9E23-D917-FD7A-731E-30139B4EB61B}"/>
              </a:ext>
            </a:extLst>
          </p:cNvPr>
          <p:cNvSpPr/>
          <p:nvPr/>
        </p:nvSpPr>
        <p:spPr>
          <a:xfrm>
            <a:off x="119336" y="1412776"/>
            <a:ext cx="576064" cy="504056"/>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82759AED-1C5E-AA97-009E-951270A83212}"/>
              </a:ext>
            </a:extLst>
          </p:cNvPr>
          <p:cNvSpPr txBox="1"/>
          <p:nvPr/>
        </p:nvSpPr>
        <p:spPr>
          <a:xfrm>
            <a:off x="47328" y="781792"/>
            <a:ext cx="720080" cy="646331"/>
          </a:xfrm>
          <a:prstGeom prst="rect">
            <a:avLst/>
          </a:prstGeom>
          <a:noFill/>
        </p:spPr>
        <p:txBody>
          <a:bodyPr wrap="square" rtlCol="0">
            <a:spAutoFit/>
          </a:bodyPr>
          <a:lstStyle/>
          <a:p>
            <a:r>
              <a:rPr lang="zh-CN" altLang="en-US" dirty="0"/>
              <a:t>绿光光源</a:t>
            </a:r>
          </a:p>
        </p:txBody>
      </p:sp>
      <p:sp>
        <p:nvSpPr>
          <p:cNvPr id="21" name="文本框 20">
            <a:extLst>
              <a:ext uri="{FF2B5EF4-FFF2-40B4-BE49-F238E27FC236}">
                <a16:creationId xmlns:a16="http://schemas.microsoft.com/office/drawing/2014/main" id="{7081AC1C-FDBD-E5CC-D9F6-077D3C53F5BD}"/>
              </a:ext>
            </a:extLst>
          </p:cNvPr>
          <p:cNvSpPr txBox="1"/>
          <p:nvPr/>
        </p:nvSpPr>
        <p:spPr>
          <a:xfrm>
            <a:off x="757599" y="949139"/>
            <a:ext cx="796095" cy="369332"/>
          </a:xfrm>
          <a:prstGeom prst="rect">
            <a:avLst/>
          </a:prstGeom>
          <a:noFill/>
        </p:spPr>
        <p:txBody>
          <a:bodyPr wrap="square" rtlCol="0">
            <a:spAutoFit/>
          </a:bodyPr>
          <a:lstStyle/>
          <a:p>
            <a:r>
              <a:rPr lang="zh-CN" altLang="en-US" dirty="0"/>
              <a:t>透镜</a:t>
            </a:r>
            <a:r>
              <a:rPr lang="en-US" altLang="zh-CN" dirty="0"/>
              <a:t>1</a:t>
            </a:r>
            <a:endParaRPr lang="zh-CN" altLang="en-US" dirty="0"/>
          </a:p>
        </p:txBody>
      </p:sp>
      <p:sp>
        <p:nvSpPr>
          <p:cNvPr id="29" name="椭圆 28">
            <a:extLst>
              <a:ext uri="{FF2B5EF4-FFF2-40B4-BE49-F238E27FC236}">
                <a16:creationId xmlns:a16="http://schemas.microsoft.com/office/drawing/2014/main" id="{1024958F-5C90-63C1-7604-6CA68B48C3C8}"/>
              </a:ext>
            </a:extLst>
          </p:cNvPr>
          <p:cNvSpPr/>
          <p:nvPr/>
        </p:nvSpPr>
        <p:spPr>
          <a:xfrm>
            <a:off x="1631504" y="1307207"/>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D2B7D0C4-FE8C-3F33-A4D1-D46808AB2781}"/>
              </a:ext>
            </a:extLst>
          </p:cNvPr>
          <p:cNvSpPr txBox="1"/>
          <p:nvPr/>
        </p:nvSpPr>
        <p:spPr>
          <a:xfrm>
            <a:off x="1484532" y="976720"/>
            <a:ext cx="1011068" cy="369332"/>
          </a:xfrm>
          <a:prstGeom prst="rect">
            <a:avLst/>
          </a:prstGeom>
          <a:noFill/>
        </p:spPr>
        <p:txBody>
          <a:bodyPr wrap="square" rtlCol="0">
            <a:spAutoFit/>
          </a:bodyPr>
          <a:lstStyle/>
          <a:p>
            <a:r>
              <a:rPr lang="zh-CN" altLang="en-US" dirty="0"/>
              <a:t>起偏器</a:t>
            </a:r>
          </a:p>
        </p:txBody>
      </p:sp>
      <p:cxnSp>
        <p:nvCxnSpPr>
          <p:cNvPr id="36" name="直接箭头连接符 35">
            <a:extLst>
              <a:ext uri="{FF2B5EF4-FFF2-40B4-BE49-F238E27FC236}">
                <a16:creationId xmlns:a16="http://schemas.microsoft.com/office/drawing/2014/main" id="{4A7FBE55-C374-BCCD-3BB0-ED983F81C7F1}"/>
              </a:ext>
            </a:extLst>
          </p:cNvPr>
          <p:cNvCxnSpPr>
            <a:cxnSpLocks/>
          </p:cNvCxnSpPr>
          <p:nvPr/>
        </p:nvCxnSpPr>
        <p:spPr>
          <a:xfrm flipH="1">
            <a:off x="983511" y="2056029"/>
            <a:ext cx="936025" cy="2934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12B5152D-1FCC-057C-D355-35381475EADF}"/>
                  </a:ext>
                </a:extLst>
              </p:cNvPr>
              <p:cNvSpPr txBox="1"/>
              <p:nvPr/>
            </p:nvSpPr>
            <p:spPr>
              <a:xfrm>
                <a:off x="19082" y="2362496"/>
                <a:ext cx="12172917" cy="1331390"/>
              </a:xfrm>
              <a:prstGeom prst="rect">
                <a:avLst/>
              </a:prstGeom>
              <a:noFill/>
            </p:spPr>
            <p:txBody>
              <a:bodyPr wrap="square" rtlCol="0">
                <a:spAutoFit/>
              </a:bodyPr>
              <a:lstStyle/>
              <a:p>
                <a:r>
                  <a:rPr lang="en-US" altLang="zh-CN" dirty="0"/>
                  <a:t>1.</a:t>
                </a:r>
                <a:r>
                  <a:rPr lang="zh-CN" altLang="en-US" dirty="0"/>
                  <a:t>为什么要用起偏器？</a:t>
                </a:r>
                <a:endParaRPr lang="en-US" altLang="zh-CN" dirty="0"/>
              </a:p>
              <a:p>
                <a:r>
                  <a:rPr lang="zh-CN" altLang="en-US" dirty="0"/>
                  <a:t>自然光相当于是多个不同偏振态随即混合的光，直接照射的话没有已知入射偏振态，就很难判断样品造成了什么偏振变化，用了</a:t>
                </a:r>
                <a:r>
                  <a:rPr lang="en-US" altLang="zh-CN" dirty="0">
                    <a:solidFill>
                      <a:srgbClr val="FF0000"/>
                    </a:solidFill>
                  </a:rPr>
                  <a:t>45°</a:t>
                </a:r>
                <a:r>
                  <a:rPr lang="zh-CN" altLang="en-US" dirty="0"/>
                  <a:t>的线偏振片做起偏后</a:t>
                </a:r>
                <a:r>
                  <a:rPr lang="en-US" altLang="zh-CN" dirty="0"/>
                  <a:t>,</a:t>
                </a:r>
                <a:r>
                  <a:rPr lang="zh-CN" altLang="en-US" dirty="0"/>
                  <a:t>水平垂直偏振各</a:t>
                </a: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en-US" altLang="zh-CN" i="1" smtClean="0">
                                <a:latin typeface="Cambria Math" panose="02040503050406030204" pitchFamily="18" charset="0"/>
                              </a:rPr>
                            </m:ctrlPr>
                          </m:radPr>
                          <m:deg/>
                          <m:e>
                            <m:r>
                              <a:rPr lang="en-US" altLang="zh-CN" i="1">
                                <a:latin typeface="Cambria Math" panose="02040503050406030204" pitchFamily="18" charset="0"/>
                              </a:rPr>
                              <m:t>2</m:t>
                            </m:r>
                          </m:e>
                        </m:rad>
                      </m:den>
                    </m:f>
                    <m:r>
                      <a:rPr lang="zh-CN" altLang="en-US" i="1">
                        <a:latin typeface="Cambria Math" panose="02040503050406030204" pitchFamily="18" charset="0"/>
                      </a:rPr>
                      <m:t>，</m:t>
                    </m:r>
                  </m:oMath>
                </a14:m>
                <a:r>
                  <a:rPr lang="zh-CN" altLang="en-US" dirty="0"/>
                  <a:t>出射光的调制明显会受到物体投射的影响。（</a:t>
                </a:r>
                <a:r>
                  <a:rPr lang="en-US" altLang="zh-CN" dirty="0"/>
                  <a:t>S1:</a:t>
                </a:r>
                <a:r>
                  <a:rPr lang="zh-CN" altLang="en-US" dirty="0"/>
                  <a:t>水平垂直</a:t>
                </a:r>
                <a:r>
                  <a:rPr lang="en-US" altLang="zh-CN" dirty="0"/>
                  <a:t>,S2+-45°</a:t>
                </a:r>
                <a:r>
                  <a:rPr lang="zh-CN" altLang="en-US" dirty="0"/>
                  <a:t>，</a:t>
                </a:r>
                <a:r>
                  <a:rPr lang="en-US" altLang="zh-CN" dirty="0"/>
                  <a:t>S3</a:t>
                </a:r>
                <a:r>
                  <a:rPr lang="zh-CN" altLang="en-US" dirty="0"/>
                  <a:t>：相位延迟，退偏等）</a:t>
                </a:r>
                <a:endParaRPr lang="en-US" altLang="zh-CN" dirty="0"/>
              </a:p>
            </p:txBody>
          </p:sp>
        </mc:Choice>
        <mc:Fallback xmlns="">
          <p:sp>
            <p:nvSpPr>
              <p:cNvPr id="37" name="文本框 36">
                <a:extLst>
                  <a:ext uri="{FF2B5EF4-FFF2-40B4-BE49-F238E27FC236}">
                    <a16:creationId xmlns:a16="http://schemas.microsoft.com/office/drawing/2014/main" id="{12B5152D-1FCC-057C-D355-35381475EADF}"/>
                  </a:ext>
                </a:extLst>
              </p:cNvPr>
              <p:cNvSpPr txBox="1">
                <a:spLocks noRot="1" noChangeAspect="1" noMove="1" noResize="1" noEditPoints="1" noAdjustHandles="1" noChangeArrowheads="1" noChangeShapeType="1" noTextEdit="1"/>
              </p:cNvSpPr>
              <p:nvPr/>
            </p:nvSpPr>
            <p:spPr>
              <a:xfrm>
                <a:off x="19082" y="2362496"/>
                <a:ext cx="12172917" cy="1331390"/>
              </a:xfrm>
              <a:prstGeom prst="rect">
                <a:avLst/>
              </a:prstGeom>
              <a:blipFill>
                <a:blip r:embed="rId3"/>
                <a:stretch>
                  <a:fillRect l="-401" t="-2752" b="-6422"/>
                </a:stretch>
              </a:blipFill>
            </p:spPr>
            <p:txBody>
              <a:bodyPr/>
              <a:lstStyle/>
              <a:p>
                <a:r>
                  <a:rPr lang="zh-CN" altLang="en-US">
                    <a:noFill/>
                  </a:rPr>
                  <a:t> </a:t>
                </a:r>
              </a:p>
            </p:txBody>
          </p:sp>
        </mc:Fallback>
      </mc:AlternateContent>
      <p:sp>
        <p:nvSpPr>
          <p:cNvPr id="38" name="矩形 37">
            <a:extLst>
              <a:ext uri="{FF2B5EF4-FFF2-40B4-BE49-F238E27FC236}">
                <a16:creationId xmlns:a16="http://schemas.microsoft.com/office/drawing/2014/main" id="{6B672543-EDD8-661C-3B93-9A34BA7ED63B}"/>
              </a:ext>
            </a:extLst>
          </p:cNvPr>
          <p:cNvSpPr/>
          <p:nvPr/>
        </p:nvSpPr>
        <p:spPr>
          <a:xfrm>
            <a:off x="2585259" y="1123223"/>
            <a:ext cx="144016" cy="1152128"/>
          </a:xfrm>
          <a:prstGeom prst="rect">
            <a:avLst/>
          </a:prstGeom>
          <a:solidFill>
            <a:schemeClr val="bg2"/>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7EBAC41B-BA16-8C94-D635-F7AFA6246F1D}"/>
              </a:ext>
            </a:extLst>
          </p:cNvPr>
          <p:cNvSpPr txBox="1"/>
          <p:nvPr/>
        </p:nvSpPr>
        <p:spPr>
          <a:xfrm>
            <a:off x="2352431" y="781792"/>
            <a:ext cx="652585" cy="369332"/>
          </a:xfrm>
          <a:prstGeom prst="rect">
            <a:avLst/>
          </a:prstGeom>
          <a:noFill/>
        </p:spPr>
        <p:txBody>
          <a:bodyPr wrap="square" rtlCol="0">
            <a:spAutoFit/>
          </a:bodyPr>
          <a:lstStyle/>
          <a:p>
            <a:r>
              <a:rPr lang="zh-CN" altLang="en-US" dirty="0"/>
              <a:t>物体</a:t>
            </a:r>
          </a:p>
        </p:txBody>
      </p:sp>
      <p:sp>
        <p:nvSpPr>
          <p:cNvPr id="41" name="文本框 40">
            <a:extLst>
              <a:ext uri="{FF2B5EF4-FFF2-40B4-BE49-F238E27FC236}">
                <a16:creationId xmlns:a16="http://schemas.microsoft.com/office/drawing/2014/main" id="{93A22704-E82F-4C47-DAC1-6374F638F210}"/>
              </a:ext>
            </a:extLst>
          </p:cNvPr>
          <p:cNvSpPr txBox="1"/>
          <p:nvPr/>
        </p:nvSpPr>
        <p:spPr>
          <a:xfrm>
            <a:off x="2927350" y="1061987"/>
            <a:ext cx="796095" cy="369332"/>
          </a:xfrm>
          <a:prstGeom prst="rect">
            <a:avLst/>
          </a:prstGeom>
          <a:noFill/>
        </p:spPr>
        <p:txBody>
          <a:bodyPr wrap="square" rtlCol="0">
            <a:spAutoFit/>
          </a:bodyPr>
          <a:lstStyle/>
          <a:p>
            <a:r>
              <a:rPr lang="zh-CN" altLang="en-US" dirty="0"/>
              <a:t>透镜</a:t>
            </a:r>
            <a:r>
              <a:rPr lang="en-US" altLang="zh-CN" dirty="0"/>
              <a:t>2</a:t>
            </a:r>
            <a:endParaRPr lang="zh-CN" altLang="en-US" dirty="0"/>
          </a:p>
        </p:txBody>
      </p:sp>
      <p:sp>
        <p:nvSpPr>
          <p:cNvPr id="42" name="文本框 41">
            <a:extLst>
              <a:ext uri="{FF2B5EF4-FFF2-40B4-BE49-F238E27FC236}">
                <a16:creationId xmlns:a16="http://schemas.microsoft.com/office/drawing/2014/main" id="{2EFB2015-9EAE-08FC-2DC4-C5EF18FC507A}"/>
              </a:ext>
            </a:extLst>
          </p:cNvPr>
          <p:cNvSpPr txBox="1"/>
          <p:nvPr/>
        </p:nvSpPr>
        <p:spPr>
          <a:xfrm>
            <a:off x="3735875" y="1061987"/>
            <a:ext cx="796095" cy="369332"/>
          </a:xfrm>
          <a:prstGeom prst="rect">
            <a:avLst/>
          </a:prstGeom>
          <a:noFill/>
        </p:spPr>
        <p:txBody>
          <a:bodyPr wrap="square" rtlCol="0">
            <a:spAutoFit/>
          </a:bodyPr>
          <a:lstStyle/>
          <a:p>
            <a:r>
              <a:rPr lang="en-US" altLang="zh-CN" dirty="0"/>
              <a:t>DMD</a:t>
            </a:r>
            <a:endParaRPr lang="zh-CN" altLang="en-US" dirty="0"/>
          </a:p>
        </p:txBody>
      </p:sp>
      <p:sp>
        <p:nvSpPr>
          <p:cNvPr id="43" name="矩形 42">
            <a:extLst>
              <a:ext uri="{FF2B5EF4-FFF2-40B4-BE49-F238E27FC236}">
                <a16:creationId xmlns:a16="http://schemas.microsoft.com/office/drawing/2014/main" id="{2E89AC41-F2C3-224D-3027-5140A9DB1793}"/>
              </a:ext>
            </a:extLst>
          </p:cNvPr>
          <p:cNvSpPr/>
          <p:nvPr/>
        </p:nvSpPr>
        <p:spPr>
          <a:xfrm>
            <a:off x="4021171" y="1423699"/>
            <a:ext cx="161667" cy="432048"/>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2E9DF1EF-513D-30BE-70EF-0738F4A0918B}"/>
              </a:ext>
            </a:extLst>
          </p:cNvPr>
          <p:cNvSpPr txBox="1"/>
          <p:nvPr/>
        </p:nvSpPr>
        <p:spPr>
          <a:xfrm>
            <a:off x="4566437" y="1061987"/>
            <a:ext cx="1097515" cy="369332"/>
          </a:xfrm>
          <a:prstGeom prst="rect">
            <a:avLst/>
          </a:prstGeom>
          <a:noFill/>
        </p:spPr>
        <p:txBody>
          <a:bodyPr wrap="square" rtlCol="0">
            <a:spAutoFit/>
          </a:bodyPr>
          <a:lstStyle/>
          <a:p>
            <a:r>
              <a:rPr lang="zh-CN" altLang="en-US" dirty="0"/>
              <a:t>准直透镜</a:t>
            </a:r>
          </a:p>
        </p:txBody>
      </p:sp>
      <p:sp>
        <p:nvSpPr>
          <p:cNvPr id="48" name="矩形 47">
            <a:extLst>
              <a:ext uri="{FF2B5EF4-FFF2-40B4-BE49-F238E27FC236}">
                <a16:creationId xmlns:a16="http://schemas.microsoft.com/office/drawing/2014/main" id="{79A903E6-B739-9D4B-F3FA-9A975E4DA04A}"/>
              </a:ext>
            </a:extLst>
          </p:cNvPr>
          <p:cNvSpPr/>
          <p:nvPr/>
        </p:nvSpPr>
        <p:spPr>
          <a:xfrm>
            <a:off x="5951984" y="1544398"/>
            <a:ext cx="504056" cy="214153"/>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AA5DD31E-1E14-B8CB-F8BA-D97B1ACF2DBF}"/>
              </a:ext>
            </a:extLst>
          </p:cNvPr>
          <p:cNvSpPr txBox="1"/>
          <p:nvPr/>
        </p:nvSpPr>
        <p:spPr>
          <a:xfrm>
            <a:off x="5843229" y="1061987"/>
            <a:ext cx="1097515" cy="369332"/>
          </a:xfrm>
          <a:prstGeom prst="rect">
            <a:avLst/>
          </a:prstGeom>
          <a:noFill/>
        </p:spPr>
        <p:txBody>
          <a:bodyPr wrap="square" rtlCol="0">
            <a:spAutoFit/>
          </a:bodyPr>
          <a:lstStyle/>
          <a:p>
            <a:r>
              <a:rPr lang="en-US" altLang="zh-CN" dirty="0"/>
              <a:t>PEM</a:t>
            </a:r>
            <a:endParaRPr lang="zh-CN" altLang="en-US" dirty="0"/>
          </a:p>
        </p:txBody>
      </p:sp>
      <p:sp>
        <p:nvSpPr>
          <p:cNvPr id="50" name="椭圆 49">
            <a:extLst>
              <a:ext uri="{FF2B5EF4-FFF2-40B4-BE49-F238E27FC236}">
                <a16:creationId xmlns:a16="http://schemas.microsoft.com/office/drawing/2014/main" id="{C432729C-0E39-2DC4-1FBF-BA311AF8BA9F}"/>
              </a:ext>
            </a:extLst>
          </p:cNvPr>
          <p:cNvSpPr/>
          <p:nvPr/>
        </p:nvSpPr>
        <p:spPr>
          <a:xfrm>
            <a:off x="6940744" y="1423699"/>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609C2C0E-0A32-D02C-7728-AA4FCDCA82AE}"/>
              </a:ext>
            </a:extLst>
          </p:cNvPr>
          <p:cNvSpPr txBox="1"/>
          <p:nvPr/>
        </p:nvSpPr>
        <p:spPr>
          <a:xfrm>
            <a:off x="6745274" y="976720"/>
            <a:ext cx="1011068" cy="369332"/>
          </a:xfrm>
          <a:prstGeom prst="rect">
            <a:avLst/>
          </a:prstGeom>
          <a:noFill/>
        </p:spPr>
        <p:txBody>
          <a:bodyPr wrap="square" rtlCol="0">
            <a:spAutoFit/>
          </a:bodyPr>
          <a:lstStyle/>
          <a:p>
            <a:r>
              <a:rPr lang="zh-CN" altLang="en-US" dirty="0"/>
              <a:t>检偏器</a:t>
            </a:r>
          </a:p>
        </p:txBody>
      </p:sp>
      <p:sp>
        <p:nvSpPr>
          <p:cNvPr id="53" name="文本框 52">
            <a:extLst>
              <a:ext uri="{FF2B5EF4-FFF2-40B4-BE49-F238E27FC236}">
                <a16:creationId xmlns:a16="http://schemas.microsoft.com/office/drawing/2014/main" id="{C6CBE5A0-A641-56DE-1750-64841C2DC6C1}"/>
              </a:ext>
            </a:extLst>
          </p:cNvPr>
          <p:cNvSpPr txBox="1"/>
          <p:nvPr/>
        </p:nvSpPr>
        <p:spPr>
          <a:xfrm>
            <a:off x="7709332" y="976720"/>
            <a:ext cx="1151206" cy="369332"/>
          </a:xfrm>
          <a:prstGeom prst="rect">
            <a:avLst/>
          </a:prstGeom>
          <a:noFill/>
        </p:spPr>
        <p:txBody>
          <a:bodyPr wrap="square" rtlCol="0">
            <a:spAutoFit/>
          </a:bodyPr>
          <a:lstStyle/>
          <a:p>
            <a:r>
              <a:rPr lang="zh-CN" altLang="en-US" dirty="0"/>
              <a:t>聚光透镜</a:t>
            </a:r>
          </a:p>
        </p:txBody>
      </p:sp>
      <p:sp>
        <p:nvSpPr>
          <p:cNvPr id="54" name="椭圆 53">
            <a:extLst>
              <a:ext uri="{FF2B5EF4-FFF2-40B4-BE49-F238E27FC236}">
                <a16:creationId xmlns:a16="http://schemas.microsoft.com/office/drawing/2014/main" id="{00FE4660-8340-8070-50EE-CD673231A9EF}"/>
              </a:ext>
            </a:extLst>
          </p:cNvPr>
          <p:cNvSpPr/>
          <p:nvPr/>
        </p:nvSpPr>
        <p:spPr>
          <a:xfrm>
            <a:off x="9046548" y="1423699"/>
            <a:ext cx="504056" cy="646331"/>
          </a:xfrm>
          <a:prstGeom prst="ellipse">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A42B0075-A76C-E3D8-7315-C66371324683}"/>
              </a:ext>
            </a:extLst>
          </p:cNvPr>
          <p:cNvSpPr txBox="1"/>
          <p:nvPr/>
        </p:nvSpPr>
        <p:spPr>
          <a:xfrm>
            <a:off x="8810276" y="976720"/>
            <a:ext cx="895486" cy="369332"/>
          </a:xfrm>
          <a:prstGeom prst="rect">
            <a:avLst/>
          </a:prstGeom>
          <a:noFill/>
        </p:spPr>
        <p:txBody>
          <a:bodyPr wrap="square" rtlCol="0">
            <a:spAutoFit/>
          </a:bodyPr>
          <a:lstStyle/>
          <a:p>
            <a:r>
              <a:rPr lang="zh-CN" altLang="en-US" dirty="0"/>
              <a:t>探测器</a:t>
            </a:r>
          </a:p>
        </p:txBody>
      </p:sp>
      <p:sp>
        <p:nvSpPr>
          <p:cNvPr id="57" name="矩形: 圆角 56">
            <a:extLst>
              <a:ext uri="{FF2B5EF4-FFF2-40B4-BE49-F238E27FC236}">
                <a16:creationId xmlns:a16="http://schemas.microsoft.com/office/drawing/2014/main" id="{40D4AD2F-B97C-FE29-6936-D3FE33B9D7BC}"/>
              </a:ext>
            </a:extLst>
          </p:cNvPr>
          <p:cNvSpPr/>
          <p:nvPr/>
        </p:nvSpPr>
        <p:spPr>
          <a:xfrm>
            <a:off x="11008197" y="1470783"/>
            <a:ext cx="836342" cy="5852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0C8E6782-35F4-1BEF-6EEE-146B8C038D26}"/>
              </a:ext>
            </a:extLst>
          </p:cNvPr>
          <p:cNvSpPr txBox="1"/>
          <p:nvPr/>
        </p:nvSpPr>
        <p:spPr>
          <a:xfrm>
            <a:off x="11008197" y="951316"/>
            <a:ext cx="895486" cy="369332"/>
          </a:xfrm>
          <a:prstGeom prst="rect">
            <a:avLst/>
          </a:prstGeom>
          <a:noFill/>
        </p:spPr>
        <p:txBody>
          <a:bodyPr wrap="square" rtlCol="0">
            <a:spAutoFit/>
          </a:bodyPr>
          <a:lstStyle/>
          <a:p>
            <a:r>
              <a:rPr lang="en-US" altLang="zh-CN" dirty="0"/>
              <a:t>PC</a:t>
            </a:r>
            <a:r>
              <a:rPr lang="zh-CN" altLang="en-US" dirty="0"/>
              <a:t>端</a:t>
            </a:r>
          </a:p>
        </p:txBody>
      </p:sp>
      <p:sp>
        <p:nvSpPr>
          <p:cNvPr id="59" name="矩形: 圆角 58">
            <a:extLst>
              <a:ext uri="{FF2B5EF4-FFF2-40B4-BE49-F238E27FC236}">
                <a16:creationId xmlns:a16="http://schemas.microsoft.com/office/drawing/2014/main" id="{FEFF7B8B-A8D7-2B09-AFA2-4EC23BCDC174}"/>
              </a:ext>
            </a:extLst>
          </p:cNvPr>
          <p:cNvSpPr/>
          <p:nvPr/>
        </p:nvSpPr>
        <p:spPr>
          <a:xfrm>
            <a:off x="9811098" y="1475229"/>
            <a:ext cx="836342" cy="58524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987297EB-7249-AA9E-5277-BAA14569D982}"/>
              </a:ext>
            </a:extLst>
          </p:cNvPr>
          <p:cNvSpPr txBox="1"/>
          <p:nvPr/>
        </p:nvSpPr>
        <p:spPr>
          <a:xfrm>
            <a:off x="9864148" y="1002029"/>
            <a:ext cx="721668" cy="369332"/>
          </a:xfrm>
          <a:prstGeom prst="rect">
            <a:avLst/>
          </a:prstGeom>
          <a:noFill/>
        </p:spPr>
        <p:txBody>
          <a:bodyPr wrap="square" rtlCol="0">
            <a:spAutoFit/>
          </a:bodyPr>
          <a:lstStyle/>
          <a:p>
            <a:r>
              <a:rPr lang="zh-CN" altLang="en-US" dirty="0"/>
              <a:t>锁相</a:t>
            </a:r>
          </a:p>
        </p:txBody>
      </p:sp>
      <p:cxnSp>
        <p:nvCxnSpPr>
          <p:cNvPr id="62" name="直接连接符 61">
            <a:extLst>
              <a:ext uri="{FF2B5EF4-FFF2-40B4-BE49-F238E27FC236}">
                <a16:creationId xmlns:a16="http://schemas.microsoft.com/office/drawing/2014/main" id="{C82A2E41-8D04-093A-BE04-4F2DA9D7AECB}"/>
              </a:ext>
            </a:extLst>
          </p:cNvPr>
          <p:cNvCxnSpPr>
            <a:stCxn id="29" idx="3"/>
            <a:endCxn id="29" idx="7"/>
          </p:cNvCxnSpPr>
          <p:nvPr/>
        </p:nvCxnSpPr>
        <p:spPr>
          <a:xfrm flipV="1">
            <a:off x="1705321" y="1401860"/>
            <a:ext cx="356422" cy="4570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48" name="直接连接符 2047">
            <a:extLst>
              <a:ext uri="{FF2B5EF4-FFF2-40B4-BE49-F238E27FC236}">
                <a16:creationId xmlns:a16="http://schemas.microsoft.com/office/drawing/2014/main" id="{DF412427-A005-7162-293D-B1424802FAE9}"/>
              </a:ext>
            </a:extLst>
          </p:cNvPr>
          <p:cNvCxnSpPr>
            <a:stCxn id="50" idx="3"/>
            <a:endCxn id="50" idx="7"/>
          </p:cNvCxnSpPr>
          <p:nvPr/>
        </p:nvCxnSpPr>
        <p:spPr>
          <a:xfrm flipV="1">
            <a:off x="7014561" y="1518352"/>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2049" name="椭圆 2048">
            <a:extLst>
              <a:ext uri="{FF2B5EF4-FFF2-40B4-BE49-F238E27FC236}">
                <a16:creationId xmlns:a16="http://schemas.microsoft.com/office/drawing/2014/main" id="{2FDF75FD-A318-2486-1E3D-A941251D381D}"/>
              </a:ext>
            </a:extLst>
          </p:cNvPr>
          <p:cNvSpPr/>
          <p:nvPr/>
        </p:nvSpPr>
        <p:spPr>
          <a:xfrm>
            <a:off x="1064265" y="1401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1" name="椭圆 2050">
            <a:extLst>
              <a:ext uri="{FF2B5EF4-FFF2-40B4-BE49-F238E27FC236}">
                <a16:creationId xmlns:a16="http://schemas.microsoft.com/office/drawing/2014/main" id="{2A162A8E-FD80-DFB4-BD57-24292DF36235}"/>
              </a:ext>
            </a:extLst>
          </p:cNvPr>
          <p:cNvSpPr/>
          <p:nvPr/>
        </p:nvSpPr>
        <p:spPr>
          <a:xfrm>
            <a:off x="3205343" y="1401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2" name="椭圆 2051">
            <a:extLst>
              <a:ext uri="{FF2B5EF4-FFF2-40B4-BE49-F238E27FC236}">
                <a16:creationId xmlns:a16="http://schemas.microsoft.com/office/drawing/2014/main" id="{75F00FFA-199B-E76C-94FC-1DEBDD712A2F}"/>
              </a:ext>
            </a:extLst>
          </p:cNvPr>
          <p:cNvSpPr/>
          <p:nvPr/>
        </p:nvSpPr>
        <p:spPr>
          <a:xfrm>
            <a:off x="5136156" y="1401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F22E8885-B88F-0BED-ACAA-B2F84D488E96}"/>
              </a:ext>
            </a:extLst>
          </p:cNvPr>
          <p:cNvSpPr/>
          <p:nvPr/>
        </p:nvSpPr>
        <p:spPr>
          <a:xfrm>
            <a:off x="8230544" y="1401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箭头连接符 5">
            <a:extLst>
              <a:ext uri="{FF2B5EF4-FFF2-40B4-BE49-F238E27FC236}">
                <a16:creationId xmlns:a16="http://schemas.microsoft.com/office/drawing/2014/main" id="{9DDCF509-476B-4E15-4CF7-7EAA5AB9A511}"/>
              </a:ext>
            </a:extLst>
          </p:cNvPr>
          <p:cNvCxnSpPr>
            <a:cxnSpLocks/>
          </p:cNvCxnSpPr>
          <p:nvPr/>
        </p:nvCxnSpPr>
        <p:spPr>
          <a:xfrm flipH="1">
            <a:off x="983511" y="2132856"/>
            <a:ext cx="4167687" cy="16474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05B6D91-26B0-BD69-E8E0-A5DE78C14D0F}"/>
              </a:ext>
            </a:extLst>
          </p:cNvPr>
          <p:cNvSpPr txBox="1"/>
          <p:nvPr/>
        </p:nvSpPr>
        <p:spPr>
          <a:xfrm>
            <a:off x="-10449" y="3780334"/>
            <a:ext cx="12172917" cy="1200329"/>
          </a:xfrm>
          <a:prstGeom prst="rect">
            <a:avLst/>
          </a:prstGeom>
          <a:noFill/>
        </p:spPr>
        <p:txBody>
          <a:bodyPr wrap="square" rtlCol="0">
            <a:spAutoFit/>
          </a:bodyPr>
          <a:lstStyle/>
          <a:p>
            <a:r>
              <a:rPr lang="en-US" altLang="zh-CN" dirty="0"/>
              <a:t>2.</a:t>
            </a:r>
            <a:r>
              <a:rPr lang="zh-CN" altLang="en-US" dirty="0"/>
              <a:t> </a:t>
            </a:r>
            <a:r>
              <a:rPr lang="en-US" altLang="zh-CN" dirty="0"/>
              <a:t>DMD</a:t>
            </a:r>
            <a:r>
              <a:rPr lang="zh-CN" altLang="en-US" dirty="0"/>
              <a:t>屏幕大小明显小于</a:t>
            </a:r>
            <a:r>
              <a:rPr lang="en-US" altLang="zh-CN" dirty="0"/>
              <a:t>PEM</a:t>
            </a:r>
            <a:r>
              <a:rPr lang="zh-CN" altLang="en-US" dirty="0"/>
              <a:t>，而且本来也是平行光了，这个准直透镜真的需要吗？</a:t>
            </a:r>
            <a:endParaRPr lang="en-US" altLang="zh-CN" dirty="0"/>
          </a:p>
          <a:p>
            <a:r>
              <a:rPr lang="zh-CN" altLang="en-US" dirty="0"/>
              <a:t>如果是理想反射镜器件，出射光确实是平行光，但是</a:t>
            </a:r>
            <a:r>
              <a:rPr lang="en-US" altLang="zh-CN" dirty="0"/>
              <a:t>DMD</a:t>
            </a:r>
            <a:r>
              <a:rPr lang="zh-CN" altLang="en-US" dirty="0"/>
              <a:t>不是理想反射器件，</a:t>
            </a:r>
            <a:r>
              <a:rPr lang="en-US" altLang="zh-CN" dirty="0"/>
              <a:t> </a:t>
            </a:r>
            <a:r>
              <a:rPr lang="zh-CN" altLang="en-US" dirty="0"/>
              <a:t>反射后，这些光还会继续带着一定角度分布传播，如果光束发散角太大，不同光线进入</a:t>
            </a:r>
            <a:r>
              <a:rPr lang="en-US" altLang="zh-CN" dirty="0"/>
              <a:t>PEM</a:t>
            </a:r>
            <a:r>
              <a:rPr lang="zh-CN" altLang="en-US" dirty="0"/>
              <a:t>后，相位延迟会不同，所以初期保留，通过有无 </a:t>
            </a:r>
            <a:r>
              <a:rPr lang="en-US" altLang="zh-CN" dirty="0"/>
              <a:t>L2 </a:t>
            </a:r>
            <a:r>
              <a:rPr lang="zh-CN" altLang="en-US" dirty="0"/>
              <a:t>时的 </a:t>
            </a:r>
            <a:r>
              <a:rPr lang="en-US" altLang="zh-CN" dirty="0"/>
              <a:t>1f/DC</a:t>
            </a:r>
            <a:r>
              <a:rPr lang="zh-CN" altLang="en-US" dirty="0"/>
              <a:t>、</a:t>
            </a:r>
            <a:r>
              <a:rPr lang="en-US" altLang="zh-CN" dirty="0"/>
              <a:t>2f/DC</a:t>
            </a:r>
            <a:r>
              <a:rPr lang="zh-CN" altLang="en-US" dirty="0"/>
              <a:t> 稳定性验证。</a:t>
            </a:r>
            <a:endParaRPr lang="en-US" altLang="zh-CN" dirty="0"/>
          </a:p>
        </p:txBody>
      </p:sp>
      <p:sp>
        <p:nvSpPr>
          <p:cNvPr id="16" name="文本框 15">
            <a:extLst>
              <a:ext uri="{FF2B5EF4-FFF2-40B4-BE49-F238E27FC236}">
                <a16:creationId xmlns:a16="http://schemas.microsoft.com/office/drawing/2014/main" id="{BF927454-0497-A9EA-EB06-9F069EC9D08B}"/>
              </a:ext>
            </a:extLst>
          </p:cNvPr>
          <p:cNvSpPr txBox="1"/>
          <p:nvPr/>
        </p:nvSpPr>
        <p:spPr>
          <a:xfrm>
            <a:off x="-10450" y="4939865"/>
            <a:ext cx="12097345" cy="1754326"/>
          </a:xfrm>
          <a:prstGeom prst="rect">
            <a:avLst/>
          </a:prstGeom>
          <a:noFill/>
        </p:spPr>
        <p:txBody>
          <a:bodyPr wrap="square" rtlCol="0">
            <a:spAutoFit/>
          </a:bodyPr>
          <a:lstStyle/>
          <a:p>
            <a:r>
              <a:rPr lang="en-US" altLang="zh-CN" dirty="0"/>
              <a:t>3.</a:t>
            </a:r>
            <a:r>
              <a:rPr lang="zh-CN" altLang="en-US" dirty="0"/>
              <a:t> </a:t>
            </a:r>
            <a:r>
              <a:rPr lang="zh-CN" altLang="en-US" dirty="0">
                <a:solidFill>
                  <a:srgbClr val="C00000"/>
                </a:solidFill>
              </a:rPr>
              <a:t>锁相放大器和</a:t>
            </a:r>
            <a:r>
              <a:rPr lang="en-US" altLang="zh-CN" dirty="0">
                <a:solidFill>
                  <a:srgbClr val="C00000"/>
                </a:solidFill>
              </a:rPr>
              <a:t>USB</a:t>
            </a:r>
            <a:r>
              <a:rPr lang="zh-CN" altLang="en-US" dirty="0">
                <a:solidFill>
                  <a:srgbClr val="C00000"/>
                </a:solidFill>
              </a:rPr>
              <a:t>示波器是同一个作用？二者有什么区别吗？</a:t>
            </a:r>
            <a:endParaRPr lang="en-US" altLang="zh-CN" dirty="0">
              <a:solidFill>
                <a:srgbClr val="C00000"/>
              </a:solidFill>
            </a:endParaRPr>
          </a:p>
          <a:p>
            <a:r>
              <a:rPr lang="zh-CN" altLang="en-US" dirty="0"/>
              <a:t>桶探测器输出的电压 </a:t>
            </a:r>
            <a:r>
              <a:rPr lang="en-US" altLang="zh-CN" dirty="0"/>
              <a:t>V(t) = DC + 1f </a:t>
            </a:r>
            <a:r>
              <a:rPr lang="zh-CN" altLang="en-US" dirty="0"/>
              <a:t>分量 </a:t>
            </a:r>
            <a:r>
              <a:rPr lang="en-US" altLang="zh-CN" dirty="0"/>
              <a:t>+ 2f </a:t>
            </a:r>
            <a:r>
              <a:rPr lang="zh-CN" altLang="en-US" dirty="0"/>
              <a:t>分量 </a:t>
            </a:r>
            <a:r>
              <a:rPr lang="en-US" altLang="zh-CN" dirty="0"/>
              <a:t>+ </a:t>
            </a:r>
            <a:r>
              <a:rPr lang="zh-CN" altLang="en-US" dirty="0"/>
              <a:t>噪声</a:t>
            </a:r>
            <a:endParaRPr lang="en-US" altLang="zh-CN" dirty="0"/>
          </a:p>
          <a:p>
            <a:r>
              <a:rPr lang="en-US" altLang="zh-CN" dirty="0"/>
              <a:t> </a:t>
            </a:r>
            <a:r>
              <a:rPr lang="en-US" altLang="zh-CN" dirty="0" err="1"/>
              <a:t>PicoScope</a:t>
            </a:r>
            <a:r>
              <a:rPr lang="zh-CN" altLang="en-US" dirty="0"/>
              <a:t>（</a:t>
            </a:r>
            <a:r>
              <a:rPr lang="en-US" altLang="zh-CN" dirty="0"/>
              <a:t>USB</a:t>
            </a:r>
            <a:r>
              <a:rPr lang="zh-CN" altLang="en-US" dirty="0"/>
              <a:t>示波器）：把完整的 </a:t>
            </a:r>
            <a:r>
              <a:rPr lang="en-US" altLang="zh-CN" dirty="0"/>
              <a:t>V(t) </a:t>
            </a:r>
            <a:r>
              <a:rPr lang="zh-CN" altLang="en-US" dirty="0"/>
              <a:t>原始波形采下来，电脑</a:t>
            </a:r>
            <a:r>
              <a:rPr lang="en-US" altLang="zh-CN" dirty="0"/>
              <a:t>python</a:t>
            </a:r>
            <a:r>
              <a:rPr lang="zh-CN" altLang="en-US" dirty="0"/>
              <a:t>代码再做 </a:t>
            </a:r>
            <a:r>
              <a:rPr lang="en-US" altLang="zh-CN" dirty="0"/>
              <a:t>FFT / </a:t>
            </a:r>
            <a:r>
              <a:rPr lang="zh-CN" altLang="en-US" dirty="0"/>
              <a:t>数字锁相，提取 </a:t>
            </a:r>
            <a:r>
              <a:rPr lang="en-US" altLang="zh-CN" dirty="0"/>
              <a:t>DC</a:t>
            </a:r>
            <a:r>
              <a:rPr lang="zh-CN" altLang="en-US" dirty="0"/>
              <a:t>、</a:t>
            </a:r>
            <a:r>
              <a:rPr lang="en-US" altLang="zh-CN" dirty="0"/>
              <a:t>1f</a:t>
            </a:r>
            <a:r>
              <a:rPr lang="zh-CN" altLang="en-US" dirty="0"/>
              <a:t>、</a:t>
            </a:r>
            <a:r>
              <a:rPr lang="en-US" altLang="zh-CN" dirty="0"/>
              <a:t>2f</a:t>
            </a:r>
          </a:p>
          <a:p>
            <a:r>
              <a:rPr lang="zh-CN" altLang="en-US" dirty="0"/>
              <a:t>锁相放大器：接用 </a:t>
            </a:r>
            <a:r>
              <a:rPr lang="en-US" altLang="zh-CN" dirty="0"/>
              <a:t>PEM reference </a:t>
            </a:r>
            <a:r>
              <a:rPr lang="zh-CN" altLang="en-US" dirty="0"/>
              <a:t>对 </a:t>
            </a:r>
            <a:r>
              <a:rPr lang="en-US" altLang="zh-CN" dirty="0"/>
              <a:t>V(t) </a:t>
            </a:r>
            <a:r>
              <a:rPr lang="zh-CN" altLang="en-US" dirty="0"/>
              <a:t>做硬件解调，输出某个频率的幅值</a:t>
            </a:r>
            <a:r>
              <a:rPr lang="en-US" altLang="zh-CN" dirty="0"/>
              <a:t>/</a:t>
            </a:r>
            <a:r>
              <a:rPr lang="zh-CN" altLang="en-US" dirty="0"/>
              <a:t>相位，例如 </a:t>
            </a:r>
            <a:r>
              <a:rPr lang="en-US" altLang="zh-CN" dirty="0"/>
              <a:t>1f </a:t>
            </a:r>
            <a:r>
              <a:rPr lang="zh-CN" altLang="en-US" dirty="0"/>
              <a:t>或 </a:t>
            </a:r>
            <a:r>
              <a:rPr lang="en-US" altLang="zh-CN" dirty="0"/>
              <a:t>2f</a:t>
            </a:r>
            <a:r>
              <a:rPr lang="zh-CN" altLang="en-US" dirty="0"/>
              <a:t>。</a:t>
            </a:r>
            <a:endParaRPr lang="en-US" altLang="zh-CN" dirty="0"/>
          </a:p>
          <a:p>
            <a:pPr indent="457200"/>
            <a:r>
              <a:rPr lang="en-US" altLang="zh-CN" dirty="0"/>
              <a:t> </a:t>
            </a:r>
            <a:r>
              <a:rPr lang="en-US" altLang="zh-CN" dirty="0" err="1"/>
              <a:t>PicoScope</a:t>
            </a:r>
            <a:r>
              <a:rPr lang="en-US" altLang="zh-CN" dirty="0"/>
              <a:t> </a:t>
            </a:r>
            <a:r>
              <a:rPr lang="zh-CN" altLang="en-US" dirty="0"/>
              <a:t>是原始波形采集 </a:t>
            </a:r>
            <a:r>
              <a:rPr lang="en-US" altLang="zh-CN" dirty="0"/>
              <a:t>+ Python </a:t>
            </a:r>
            <a:r>
              <a:rPr lang="zh-CN" altLang="en-US" dirty="0"/>
              <a:t>数字锁相；锁相放大器是硬件解调。</a:t>
            </a:r>
            <a:endParaRPr lang="en-US" altLang="zh-CN" dirty="0"/>
          </a:p>
          <a:p>
            <a:pPr indent="457200"/>
            <a:r>
              <a:rPr lang="zh-CN" altLang="en-US" dirty="0"/>
              <a:t>（采集卡也能原始波形采集，</a:t>
            </a:r>
            <a:r>
              <a:rPr lang="en-US" altLang="zh-CN" dirty="0"/>
              <a:t> </a:t>
            </a:r>
            <a:r>
              <a:rPr lang="en-US" altLang="zh-CN" dirty="0" err="1"/>
              <a:t>PicoScope</a:t>
            </a:r>
            <a:r>
              <a:rPr lang="zh-CN" altLang="en-US" dirty="0"/>
              <a:t>这个</a:t>
            </a:r>
            <a:r>
              <a:rPr lang="en-US" altLang="zh-CN" dirty="0"/>
              <a:t>USB</a:t>
            </a:r>
            <a:r>
              <a:rPr lang="zh-CN" altLang="en-US" dirty="0"/>
              <a:t>示波器真有用吗？）</a:t>
            </a:r>
            <a:endParaRPr lang="en-US" altLang="zh-CN" dirty="0"/>
          </a:p>
        </p:txBody>
      </p:sp>
    </p:spTree>
    <p:extLst>
      <p:ext uri="{BB962C8B-B14F-4D97-AF65-F5344CB8AC3E}">
        <p14:creationId xmlns:p14="http://schemas.microsoft.com/office/powerpoint/2010/main" val="21347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8D654AA-88BC-7BD6-CD2B-03CD413C1AFF}"/>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23484491-EC8D-84CA-A90F-177DFE252EDE}"/>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7E2A9190-5366-9979-49A5-810E21F9D480}"/>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E046ACFD-FC3D-068F-B7FB-F7EDCEEBE1A7}"/>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7B7C2314-D435-E7BC-20F9-C6BD10E289D2}"/>
              </a:ext>
            </a:extLst>
          </p:cNvPr>
          <p:cNvSpPr txBox="1"/>
          <p:nvPr/>
        </p:nvSpPr>
        <p:spPr>
          <a:xfrm>
            <a:off x="2948196" y="221158"/>
            <a:ext cx="8548404"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zh-CN" sz="3200" dirty="0">
                <a:solidFill>
                  <a:srgbClr val="FFFFFF"/>
                </a:solidFill>
              </a:rPr>
              <a:t>准直与口径匹配案例</a:t>
            </a:r>
            <a:r>
              <a:rPr lang="en-US" altLang="zh-CN" sz="3200" dirty="0">
                <a:solidFill>
                  <a:srgbClr val="FFFFFF"/>
                </a:solidFill>
              </a:rPr>
              <a:t> </a:t>
            </a:r>
            <a:r>
              <a:rPr lang="zh-CN" altLang="en-US" sz="3200" dirty="0">
                <a:solidFill>
                  <a:srgbClr val="FFFFFF"/>
                </a:solidFill>
              </a:rPr>
              <a:t>现象</a:t>
            </a:r>
          </a:p>
        </p:txBody>
      </p:sp>
      <p:sp>
        <p:nvSpPr>
          <p:cNvPr id="14" name="文本框 13">
            <a:extLst>
              <a:ext uri="{FF2B5EF4-FFF2-40B4-BE49-F238E27FC236}">
                <a16:creationId xmlns:a16="http://schemas.microsoft.com/office/drawing/2014/main" id="{389063F0-DB6E-2E84-7ADB-75B4C59AB37C}"/>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光路</a:t>
            </a:r>
          </a:p>
        </p:txBody>
      </p:sp>
      <p:sp>
        <p:nvSpPr>
          <p:cNvPr id="18" name="箭头: 右 17">
            <a:extLst>
              <a:ext uri="{FF2B5EF4-FFF2-40B4-BE49-F238E27FC236}">
                <a16:creationId xmlns:a16="http://schemas.microsoft.com/office/drawing/2014/main" id="{3DF367B7-4EF2-4534-7F36-59A2930DF168}"/>
              </a:ext>
            </a:extLst>
          </p:cNvPr>
          <p:cNvSpPr/>
          <p:nvPr/>
        </p:nvSpPr>
        <p:spPr>
          <a:xfrm>
            <a:off x="119336" y="1412776"/>
            <a:ext cx="576064" cy="504056"/>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89085421-B0C0-CDC4-DF5D-CCD8126D09DC}"/>
              </a:ext>
            </a:extLst>
          </p:cNvPr>
          <p:cNvSpPr txBox="1"/>
          <p:nvPr/>
        </p:nvSpPr>
        <p:spPr>
          <a:xfrm>
            <a:off x="47328" y="781792"/>
            <a:ext cx="720080" cy="646331"/>
          </a:xfrm>
          <a:prstGeom prst="rect">
            <a:avLst/>
          </a:prstGeom>
          <a:noFill/>
        </p:spPr>
        <p:txBody>
          <a:bodyPr wrap="square" rtlCol="0">
            <a:spAutoFit/>
          </a:bodyPr>
          <a:lstStyle/>
          <a:p>
            <a:r>
              <a:rPr lang="zh-CN" altLang="en-US" dirty="0"/>
              <a:t>绿光光源</a:t>
            </a:r>
          </a:p>
        </p:txBody>
      </p:sp>
      <p:sp>
        <p:nvSpPr>
          <p:cNvPr id="21" name="文本框 20">
            <a:extLst>
              <a:ext uri="{FF2B5EF4-FFF2-40B4-BE49-F238E27FC236}">
                <a16:creationId xmlns:a16="http://schemas.microsoft.com/office/drawing/2014/main" id="{8F98937B-A5B1-C08F-C1E2-41E70675F242}"/>
              </a:ext>
            </a:extLst>
          </p:cNvPr>
          <p:cNvSpPr txBox="1"/>
          <p:nvPr/>
        </p:nvSpPr>
        <p:spPr>
          <a:xfrm>
            <a:off x="757599" y="949139"/>
            <a:ext cx="796095" cy="369332"/>
          </a:xfrm>
          <a:prstGeom prst="rect">
            <a:avLst/>
          </a:prstGeom>
          <a:noFill/>
        </p:spPr>
        <p:txBody>
          <a:bodyPr wrap="square" rtlCol="0">
            <a:spAutoFit/>
          </a:bodyPr>
          <a:lstStyle/>
          <a:p>
            <a:r>
              <a:rPr lang="zh-CN" altLang="en-US" dirty="0"/>
              <a:t>透镜</a:t>
            </a:r>
            <a:r>
              <a:rPr lang="en-US" altLang="zh-CN" dirty="0"/>
              <a:t>1</a:t>
            </a:r>
            <a:endParaRPr lang="zh-CN" altLang="en-US" dirty="0"/>
          </a:p>
        </p:txBody>
      </p:sp>
      <p:sp>
        <p:nvSpPr>
          <p:cNvPr id="29" name="椭圆 28">
            <a:extLst>
              <a:ext uri="{FF2B5EF4-FFF2-40B4-BE49-F238E27FC236}">
                <a16:creationId xmlns:a16="http://schemas.microsoft.com/office/drawing/2014/main" id="{37E2DA94-EF67-DEB8-B6D8-B78C9716E758}"/>
              </a:ext>
            </a:extLst>
          </p:cNvPr>
          <p:cNvSpPr/>
          <p:nvPr/>
        </p:nvSpPr>
        <p:spPr>
          <a:xfrm>
            <a:off x="1631504" y="1307207"/>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CCC5CDFB-468C-CBEB-4DAA-8871F45989AC}"/>
              </a:ext>
            </a:extLst>
          </p:cNvPr>
          <p:cNvSpPr txBox="1"/>
          <p:nvPr/>
        </p:nvSpPr>
        <p:spPr>
          <a:xfrm>
            <a:off x="735600" y="4433209"/>
            <a:ext cx="874715" cy="369332"/>
          </a:xfrm>
          <a:prstGeom prst="rect">
            <a:avLst/>
          </a:prstGeom>
          <a:noFill/>
        </p:spPr>
        <p:txBody>
          <a:bodyPr wrap="square" rtlCol="0">
            <a:spAutoFit/>
          </a:bodyPr>
          <a:lstStyle/>
          <a:p>
            <a:r>
              <a:rPr lang="zh-CN" altLang="en-US" dirty="0"/>
              <a:t>起偏器</a:t>
            </a:r>
          </a:p>
        </p:txBody>
      </p:sp>
      <p:sp>
        <p:nvSpPr>
          <p:cNvPr id="38" name="矩形 37">
            <a:extLst>
              <a:ext uri="{FF2B5EF4-FFF2-40B4-BE49-F238E27FC236}">
                <a16:creationId xmlns:a16="http://schemas.microsoft.com/office/drawing/2014/main" id="{A00300E0-5540-37E2-94DF-66741188CA91}"/>
              </a:ext>
            </a:extLst>
          </p:cNvPr>
          <p:cNvSpPr/>
          <p:nvPr/>
        </p:nvSpPr>
        <p:spPr>
          <a:xfrm>
            <a:off x="2585259" y="1123223"/>
            <a:ext cx="144016" cy="1152128"/>
          </a:xfrm>
          <a:prstGeom prst="rect">
            <a:avLst/>
          </a:prstGeom>
          <a:solidFill>
            <a:schemeClr val="bg2"/>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ED4920C7-0EDE-7026-69EC-7C987AF7E8D5}"/>
              </a:ext>
            </a:extLst>
          </p:cNvPr>
          <p:cNvSpPr txBox="1"/>
          <p:nvPr/>
        </p:nvSpPr>
        <p:spPr>
          <a:xfrm>
            <a:off x="2352431" y="781792"/>
            <a:ext cx="652585" cy="369332"/>
          </a:xfrm>
          <a:prstGeom prst="rect">
            <a:avLst/>
          </a:prstGeom>
          <a:noFill/>
        </p:spPr>
        <p:txBody>
          <a:bodyPr wrap="square" rtlCol="0">
            <a:spAutoFit/>
          </a:bodyPr>
          <a:lstStyle/>
          <a:p>
            <a:r>
              <a:rPr lang="zh-CN" altLang="en-US" dirty="0"/>
              <a:t>物体</a:t>
            </a:r>
          </a:p>
        </p:txBody>
      </p:sp>
      <p:sp>
        <p:nvSpPr>
          <p:cNvPr id="41" name="文本框 40">
            <a:extLst>
              <a:ext uri="{FF2B5EF4-FFF2-40B4-BE49-F238E27FC236}">
                <a16:creationId xmlns:a16="http://schemas.microsoft.com/office/drawing/2014/main" id="{4767906D-EDAB-5B83-5958-6365A10F3EC8}"/>
              </a:ext>
            </a:extLst>
          </p:cNvPr>
          <p:cNvSpPr txBox="1"/>
          <p:nvPr/>
        </p:nvSpPr>
        <p:spPr>
          <a:xfrm>
            <a:off x="2927350" y="1061987"/>
            <a:ext cx="796095" cy="369332"/>
          </a:xfrm>
          <a:prstGeom prst="rect">
            <a:avLst/>
          </a:prstGeom>
          <a:noFill/>
        </p:spPr>
        <p:txBody>
          <a:bodyPr wrap="square" rtlCol="0">
            <a:spAutoFit/>
          </a:bodyPr>
          <a:lstStyle/>
          <a:p>
            <a:r>
              <a:rPr lang="zh-CN" altLang="en-US" dirty="0"/>
              <a:t>透镜</a:t>
            </a:r>
            <a:r>
              <a:rPr lang="en-US" altLang="zh-CN" dirty="0"/>
              <a:t>2</a:t>
            </a:r>
            <a:endParaRPr lang="zh-CN" altLang="en-US" dirty="0"/>
          </a:p>
        </p:txBody>
      </p:sp>
      <p:sp>
        <p:nvSpPr>
          <p:cNvPr id="42" name="文本框 41">
            <a:extLst>
              <a:ext uri="{FF2B5EF4-FFF2-40B4-BE49-F238E27FC236}">
                <a16:creationId xmlns:a16="http://schemas.microsoft.com/office/drawing/2014/main" id="{6B2533D2-0B0C-6B6C-D1C7-B0F06385956F}"/>
              </a:ext>
            </a:extLst>
          </p:cNvPr>
          <p:cNvSpPr txBox="1"/>
          <p:nvPr/>
        </p:nvSpPr>
        <p:spPr>
          <a:xfrm>
            <a:off x="3735875" y="1061987"/>
            <a:ext cx="796095" cy="369332"/>
          </a:xfrm>
          <a:prstGeom prst="rect">
            <a:avLst/>
          </a:prstGeom>
          <a:noFill/>
        </p:spPr>
        <p:txBody>
          <a:bodyPr wrap="square" rtlCol="0">
            <a:spAutoFit/>
          </a:bodyPr>
          <a:lstStyle/>
          <a:p>
            <a:r>
              <a:rPr lang="en-US" altLang="zh-CN" dirty="0"/>
              <a:t>DMD</a:t>
            </a:r>
            <a:endParaRPr lang="zh-CN" altLang="en-US" dirty="0"/>
          </a:p>
        </p:txBody>
      </p:sp>
      <p:sp>
        <p:nvSpPr>
          <p:cNvPr id="43" name="矩形 42">
            <a:extLst>
              <a:ext uri="{FF2B5EF4-FFF2-40B4-BE49-F238E27FC236}">
                <a16:creationId xmlns:a16="http://schemas.microsoft.com/office/drawing/2014/main" id="{50C4B7CE-3C4F-E5F9-C54C-BD75917E40E9}"/>
              </a:ext>
            </a:extLst>
          </p:cNvPr>
          <p:cNvSpPr/>
          <p:nvPr/>
        </p:nvSpPr>
        <p:spPr>
          <a:xfrm>
            <a:off x="4021171" y="1423699"/>
            <a:ext cx="161667" cy="432048"/>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F123F72E-FCEF-F4DA-B824-1B33673212E1}"/>
              </a:ext>
            </a:extLst>
          </p:cNvPr>
          <p:cNvSpPr txBox="1"/>
          <p:nvPr/>
        </p:nvSpPr>
        <p:spPr>
          <a:xfrm>
            <a:off x="4566437" y="1061987"/>
            <a:ext cx="1097515" cy="369332"/>
          </a:xfrm>
          <a:prstGeom prst="rect">
            <a:avLst/>
          </a:prstGeom>
          <a:noFill/>
        </p:spPr>
        <p:txBody>
          <a:bodyPr wrap="square" rtlCol="0">
            <a:spAutoFit/>
          </a:bodyPr>
          <a:lstStyle/>
          <a:p>
            <a:r>
              <a:rPr lang="zh-CN" altLang="en-US" dirty="0"/>
              <a:t>准直透镜</a:t>
            </a:r>
          </a:p>
        </p:txBody>
      </p:sp>
      <p:sp>
        <p:nvSpPr>
          <p:cNvPr id="48" name="矩形 47">
            <a:extLst>
              <a:ext uri="{FF2B5EF4-FFF2-40B4-BE49-F238E27FC236}">
                <a16:creationId xmlns:a16="http://schemas.microsoft.com/office/drawing/2014/main" id="{A10E9CFC-BE7A-D48D-C03D-4A72F95DBA3A}"/>
              </a:ext>
            </a:extLst>
          </p:cNvPr>
          <p:cNvSpPr/>
          <p:nvPr/>
        </p:nvSpPr>
        <p:spPr>
          <a:xfrm>
            <a:off x="5951984" y="1544398"/>
            <a:ext cx="504056" cy="214153"/>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6516C080-4C12-90F4-1F3C-D10576DD459F}"/>
              </a:ext>
            </a:extLst>
          </p:cNvPr>
          <p:cNvSpPr txBox="1"/>
          <p:nvPr/>
        </p:nvSpPr>
        <p:spPr>
          <a:xfrm>
            <a:off x="5843229" y="1061987"/>
            <a:ext cx="1097515" cy="369332"/>
          </a:xfrm>
          <a:prstGeom prst="rect">
            <a:avLst/>
          </a:prstGeom>
          <a:noFill/>
        </p:spPr>
        <p:txBody>
          <a:bodyPr wrap="square" rtlCol="0">
            <a:spAutoFit/>
          </a:bodyPr>
          <a:lstStyle/>
          <a:p>
            <a:r>
              <a:rPr lang="en-US" altLang="zh-CN" dirty="0"/>
              <a:t>PEM</a:t>
            </a:r>
            <a:endParaRPr lang="zh-CN" altLang="en-US" dirty="0"/>
          </a:p>
        </p:txBody>
      </p:sp>
      <p:sp>
        <p:nvSpPr>
          <p:cNvPr id="50" name="椭圆 49">
            <a:extLst>
              <a:ext uri="{FF2B5EF4-FFF2-40B4-BE49-F238E27FC236}">
                <a16:creationId xmlns:a16="http://schemas.microsoft.com/office/drawing/2014/main" id="{A03EBBF4-01FC-291A-B99B-40A64C4F3FEE}"/>
              </a:ext>
            </a:extLst>
          </p:cNvPr>
          <p:cNvSpPr/>
          <p:nvPr/>
        </p:nvSpPr>
        <p:spPr>
          <a:xfrm>
            <a:off x="6940744" y="1423699"/>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BC7A0408-8BB2-1150-548B-B1D4ABF76034}"/>
              </a:ext>
            </a:extLst>
          </p:cNvPr>
          <p:cNvSpPr txBox="1"/>
          <p:nvPr/>
        </p:nvSpPr>
        <p:spPr>
          <a:xfrm>
            <a:off x="6745274" y="976720"/>
            <a:ext cx="1011068" cy="369332"/>
          </a:xfrm>
          <a:prstGeom prst="rect">
            <a:avLst/>
          </a:prstGeom>
          <a:noFill/>
        </p:spPr>
        <p:txBody>
          <a:bodyPr wrap="square" rtlCol="0">
            <a:spAutoFit/>
          </a:bodyPr>
          <a:lstStyle/>
          <a:p>
            <a:r>
              <a:rPr lang="zh-CN" altLang="en-US" dirty="0"/>
              <a:t>检偏器</a:t>
            </a:r>
          </a:p>
        </p:txBody>
      </p:sp>
      <p:sp>
        <p:nvSpPr>
          <p:cNvPr id="53" name="文本框 52">
            <a:extLst>
              <a:ext uri="{FF2B5EF4-FFF2-40B4-BE49-F238E27FC236}">
                <a16:creationId xmlns:a16="http://schemas.microsoft.com/office/drawing/2014/main" id="{B990E1E0-1065-5D48-DB97-50064806F7CF}"/>
              </a:ext>
            </a:extLst>
          </p:cNvPr>
          <p:cNvSpPr txBox="1"/>
          <p:nvPr/>
        </p:nvSpPr>
        <p:spPr>
          <a:xfrm>
            <a:off x="7709332" y="976720"/>
            <a:ext cx="1151206" cy="369332"/>
          </a:xfrm>
          <a:prstGeom prst="rect">
            <a:avLst/>
          </a:prstGeom>
          <a:noFill/>
        </p:spPr>
        <p:txBody>
          <a:bodyPr wrap="square" rtlCol="0">
            <a:spAutoFit/>
          </a:bodyPr>
          <a:lstStyle/>
          <a:p>
            <a:r>
              <a:rPr lang="zh-CN" altLang="en-US" dirty="0"/>
              <a:t>聚光透镜</a:t>
            </a:r>
          </a:p>
        </p:txBody>
      </p:sp>
      <p:sp>
        <p:nvSpPr>
          <p:cNvPr id="54" name="椭圆 53">
            <a:extLst>
              <a:ext uri="{FF2B5EF4-FFF2-40B4-BE49-F238E27FC236}">
                <a16:creationId xmlns:a16="http://schemas.microsoft.com/office/drawing/2014/main" id="{1ED95488-09B7-116C-9B84-49E0A32C3C28}"/>
              </a:ext>
            </a:extLst>
          </p:cNvPr>
          <p:cNvSpPr/>
          <p:nvPr/>
        </p:nvSpPr>
        <p:spPr>
          <a:xfrm>
            <a:off x="9046548" y="1423699"/>
            <a:ext cx="504056" cy="646331"/>
          </a:xfrm>
          <a:prstGeom prst="ellipse">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C01C3FFA-66CC-1826-30EE-0BA0C43FB975}"/>
              </a:ext>
            </a:extLst>
          </p:cNvPr>
          <p:cNvSpPr txBox="1"/>
          <p:nvPr/>
        </p:nvSpPr>
        <p:spPr>
          <a:xfrm>
            <a:off x="8810276" y="976720"/>
            <a:ext cx="895486" cy="369332"/>
          </a:xfrm>
          <a:prstGeom prst="rect">
            <a:avLst/>
          </a:prstGeom>
          <a:noFill/>
        </p:spPr>
        <p:txBody>
          <a:bodyPr wrap="square" rtlCol="0">
            <a:spAutoFit/>
          </a:bodyPr>
          <a:lstStyle/>
          <a:p>
            <a:r>
              <a:rPr lang="zh-CN" altLang="en-US" dirty="0"/>
              <a:t>探测器</a:t>
            </a:r>
          </a:p>
        </p:txBody>
      </p:sp>
      <p:sp>
        <p:nvSpPr>
          <p:cNvPr id="57" name="矩形: 圆角 56">
            <a:extLst>
              <a:ext uri="{FF2B5EF4-FFF2-40B4-BE49-F238E27FC236}">
                <a16:creationId xmlns:a16="http://schemas.microsoft.com/office/drawing/2014/main" id="{FF21B9F2-955E-23EE-A871-4C70300F78EC}"/>
              </a:ext>
            </a:extLst>
          </p:cNvPr>
          <p:cNvSpPr/>
          <p:nvPr/>
        </p:nvSpPr>
        <p:spPr>
          <a:xfrm>
            <a:off x="11008197" y="1470783"/>
            <a:ext cx="836342" cy="5852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5A410FA1-3164-A041-129D-F1594C8CC815}"/>
              </a:ext>
            </a:extLst>
          </p:cNvPr>
          <p:cNvSpPr txBox="1"/>
          <p:nvPr/>
        </p:nvSpPr>
        <p:spPr>
          <a:xfrm>
            <a:off x="11008197" y="951316"/>
            <a:ext cx="895486" cy="369332"/>
          </a:xfrm>
          <a:prstGeom prst="rect">
            <a:avLst/>
          </a:prstGeom>
          <a:noFill/>
        </p:spPr>
        <p:txBody>
          <a:bodyPr wrap="square" rtlCol="0">
            <a:spAutoFit/>
          </a:bodyPr>
          <a:lstStyle/>
          <a:p>
            <a:r>
              <a:rPr lang="en-US" altLang="zh-CN" dirty="0"/>
              <a:t>PC</a:t>
            </a:r>
            <a:r>
              <a:rPr lang="zh-CN" altLang="en-US" dirty="0"/>
              <a:t>端</a:t>
            </a:r>
          </a:p>
        </p:txBody>
      </p:sp>
      <p:sp>
        <p:nvSpPr>
          <p:cNvPr id="59" name="矩形: 圆角 58">
            <a:extLst>
              <a:ext uri="{FF2B5EF4-FFF2-40B4-BE49-F238E27FC236}">
                <a16:creationId xmlns:a16="http://schemas.microsoft.com/office/drawing/2014/main" id="{B166A309-E6ED-6104-AA9F-17EAE1523AE8}"/>
              </a:ext>
            </a:extLst>
          </p:cNvPr>
          <p:cNvSpPr/>
          <p:nvPr/>
        </p:nvSpPr>
        <p:spPr>
          <a:xfrm>
            <a:off x="9858255" y="4924444"/>
            <a:ext cx="836342" cy="58524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2660C536-7F08-A933-D7CF-B7DF4B422639}"/>
              </a:ext>
            </a:extLst>
          </p:cNvPr>
          <p:cNvSpPr txBox="1"/>
          <p:nvPr/>
        </p:nvSpPr>
        <p:spPr>
          <a:xfrm>
            <a:off x="9959855" y="4451244"/>
            <a:ext cx="721668" cy="369332"/>
          </a:xfrm>
          <a:prstGeom prst="rect">
            <a:avLst/>
          </a:prstGeom>
          <a:noFill/>
        </p:spPr>
        <p:txBody>
          <a:bodyPr wrap="square" rtlCol="0">
            <a:spAutoFit/>
          </a:bodyPr>
          <a:lstStyle/>
          <a:p>
            <a:r>
              <a:rPr lang="zh-CN" altLang="en-US" dirty="0"/>
              <a:t>锁相</a:t>
            </a:r>
          </a:p>
        </p:txBody>
      </p:sp>
      <p:cxnSp>
        <p:nvCxnSpPr>
          <p:cNvPr id="62" name="直接连接符 61">
            <a:extLst>
              <a:ext uri="{FF2B5EF4-FFF2-40B4-BE49-F238E27FC236}">
                <a16:creationId xmlns:a16="http://schemas.microsoft.com/office/drawing/2014/main" id="{D7E26F50-EB36-3976-D31D-314193B4A9BF}"/>
              </a:ext>
            </a:extLst>
          </p:cNvPr>
          <p:cNvCxnSpPr>
            <a:stCxn id="29" idx="3"/>
            <a:endCxn id="29" idx="7"/>
          </p:cNvCxnSpPr>
          <p:nvPr/>
        </p:nvCxnSpPr>
        <p:spPr>
          <a:xfrm flipV="1">
            <a:off x="1705321" y="1401860"/>
            <a:ext cx="356422" cy="4570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48" name="直接连接符 2047">
            <a:extLst>
              <a:ext uri="{FF2B5EF4-FFF2-40B4-BE49-F238E27FC236}">
                <a16:creationId xmlns:a16="http://schemas.microsoft.com/office/drawing/2014/main" id="{5CA25B74-7CB5-D940-A1B5-894A8820BA24}"/>
              </a:ext>
            </a:extLst>
          </p:cNvPr>
          <p:cNvCxnSpPr>
            <a:stCxn id="50" idx="3"/>
            <a:endCxn id="50" idx="7"/>
          </p:cNvCxnSpPr>
          <p:nvPr/>
        </p:nvCxnSpPr>
        <p:spPr>
          <a:xfrm flipV="1">
            <a:off x="7014561" y="1518352"/>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2049" name="椭圆 2048">
            <a:extLst>
              <a:ext uri="{FF2B5EF4-FFF2-40B4-BE49-F238E27FC236}">
                <a16:creationId xmlns:a16="http://schemas.microsoft.com/office/drawing/2014/main" id="{13FBC23E-47AC-2A94-66FB-03AFA0020538}"/>
              </a:ext>
            </a:extLst>
          </p:cNvPr>
          <p:cNvSpPr/>
          <p:nvPr/>
        </p:nvSpPr>
        <p:spPr>
          <a:xfrm>
            <a:off x="1064265" y="1401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1" name="椭圆 2050">
            <a:extLst>
              <a:ext uri="{FF2B5EF4-FFF2-40B4-BE49-F238E27FC236}">
                <a16:creationId xmlns:a16="http://schemas.microsoft.com/office/drawing/2014/main" id="{6FBC926C-8FF4-C296-36E5-5A645F419C20}"/>
              </a:ext>
            </a:extLst>
          </p:cNvPr>
          <p:cNvSpPr/>
          <p:nvPr/>
        </p:nvSpPr>
        <p:spPr>
          <a:xfrm>
            <a:off x="3205343" y="1401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2" name="椭圆 2051">
            <a:extLst>
              <a:ext uri="{FF2B5EF4-FFF2-40B4-BE49-F238E27FC236}">
                <a16:creationId xmlns:a16="http://schemas.microsoft.com/office/drawing/2014/main" id="{7A177F5A-8489-34A7-A30B-88D41EEAC6BB}"/>
              </a:ext>
            </a:extLst>
          </p:cNvPr>
          <p:cNvSpPr/>
          <p:nvPr/>
        </p:nvSpPr>
        <p:spPr>
          <a:xfrm>
            <a:off x="5136156" y="1401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3178A8EB-75A8-1B32-405B-CC45AADB55A7}"/>
              </a:ext>
            </a:extLst>
          </p:cNvPr>
          <p:cNvSpPr/>
          <p:nvPr/>
        </p:nvSpPr>
        <p:spPr>
          <a:xfrm>
            <a:off x="8230544" y="1401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箭头连接符 2">
            <a:extLst>
              <a:ext uri="{FF2B5EF4-FFF2-40B4-BE49-F238E27FC236}">
                <a16:creationId xmlns:a16="http://schemas.microsoft.com/office/drawing/2014/main" id="{9EBD2027-D180-E88F-CC49-3BA1394E0E6E}"/>
              </a:ext>
            </a:extLst>
          </p:cNvPr>
          <p:cNvCxnSpPr>
            <a:cxnSpLocks/>
          </p:cNvCxnSpPr>
          <p:nvPr/>
        </p:nvCxnSpPr>
        <p:spPr>
          <a:xfrm flipH="1">
            <a:off x="2207568" y="2132856"/>
            <a:ext cx="431670" cy="2880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C1AA9F6-121C-458B-395F-A3D10C16D077}"/>
              </a:ext>
            </a:extLst>
          </p:cNvPr>
          <p:cNvSpPr txBox="1"/>
          <p:nvPr/>
        </p:nvSpPr>
        <p:spPr>
          <a:xfrm>
            <a:off x="47328" y="2566285"/>
            <a:ext cx="12144672" cy="1200329"/>
          </a:xfrm>
          <a:prstGeom prst="rect">
            <a:avLst/>
          </a:prstGeom>
          <a:noFill/>
        </p:spPr>
        <p:txBody>
          <a:bodyPr wrap="square" rtlCol="0">
            <a:spAutoFit/>
          </a:bodyPr>
          <a:lstStyle/>
          <a:p>
            <a:pPr marL="342900" indent="-342900">
              <a:buFont typeface="+mj-lt"/>
              <a:buAutoNum type="arabicPeriod"/>
            </a:pPr>
            <a:r>
              <a:rPr lang="zh-CN" altLang="en-US" dirty="0"/>
              <a:t>这个物体得尺寸很小，只有这个偏振片中间的圆形光斑中的正方形区域范围，参考文献中的一个重大缺陷就是使用的图片尺寸是很小的方形（文章并没有提到实际尺寸）。</a:t>
            </a:r>
            <a:endParaRPr lang="en-US" altLang="zh-CN" dirty="0"/>
          </a:p>
          <a:p>
            <a:pPr marL="342900" indent="-342900">
              <a:buFont typeface="+mj-lt"/>
              <a:buAutoNum type="arabicPeriod"/>
            </a:pPr>
            <a:r>
              <a:rPr lang="zh-CN" altLang="en-US" dirty="0"/>
              <a:t>这两个透镜都会引入光束的发散角的变化，光路发散角越大，损失的能量就会越多，最重要的是在</a:t>
            </a:r>
            <a:r>
              <a:rPr lang="en-US" altLang="zh-CN" dirty="0"/>
              <a:t>PEM</a:t>
            </a:r>
            <a:r>
              <a:rPr lang="zh-CN" altLang="en-US" dirty="0"/>
              <a:t>之前的准直就会很麻烦（准直至少需要两个透镜，第一个短焦准直的透镜尺寸还得尽量大一些）</a:t>
            </a:r>
          </a:p>
        </p:txBody>
      </p:sp>
      <p:cxnSp>
        <p:nvCxnSpPr>
          <p:cNvPr id="12" name="直接箭头连接符 11">
            <a:extLst>
              <a:ext uri="{FF2B5EF4-FFF2-40B4-BE49-F238E27FC236}">
                <a16:creationId xmlns:a16="http://schemas.microsoft.com/office/drawing/2014/main" id="{E6F045CC-36E6-C132-8DFC-196C3C5F4536}"/>
              </a:ext>
            </a:extLst>
          </p:cNvPr>
          <p:cNvCxnSpPr>
            <a:cxnSpLocks/>
          </p:cNvCxnSpPr>
          <p:nvPr/>
        </p:nvCxnSpPr>
        <p:spPr>
          <a:xfrm flipH="1">
            <a:off x="258583" y="2085175"/>
            <a:ext cx="907738" cy="11144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3015C31C-D03C-8518-6358-4CB791A92733}"/>
              </a:ext>
            </a:extLst>
          </p:cNvPr>
          <p:cNvCxnSpPr>
            <a:cxnSpLocks/>
          </p:cNvCxnSpPr>
          <p:nvPr/>
        </p:nvCxnSpPr>
        <p:spPr>
          <a:xfrm flipH="1">
            <a:off x="342007" y="2026166"/>
            <a:ext cx="2943752" cy="11868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DED70863-3BB4-FB2E-0C9C-F2BDCED51416}"/>
              </a:ext>
            </a:extLst>
          </p:cNvPr>
          <p:cNvSpPr txBox="1"/>
          <p:nvPr/>
        </p:nvSpPr>
        <p:spPr>
          <a:xfrm>
            <a:off x="47328" y="3781257"/>
            <a:ext cx="12144672"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调整光路，偏振物体可以变得更大，并且可以是反射式的物体，但是</a:t>
            </a:r>
            <a:r>
              <a:rPr lang="zh-CN" altLang="en-US" dirty="0">
                <a:solidFill>
                  <a:srgbClr val="FF0000"/>
                </a:solidFill>
              </a:rPr>
              <a:t>发散角问题</a:t>
            </a:r>
            <a:r>
              <a:rPr lang="zh-CN" altLang="en-US" dirty="0"/>
              <a:t>仍然需要解决</a:t>
            </a:r>
          </a:p>
        </p:txBody>
      </p:sp>
      <p:sp>
        <p:nvSpPr>
          <p:cNvPr id="26" name="箭头: 右 25">
            <a:extLst>
              <a:ext uri="{FF2B5EF4-FFF2-40B4-BE49-F238E27FC236}">
                <a16:creationId xmlns:a16="http://schemas.microsoft.com/office/drawing/2014/main" id="{7B8371A4-A3E6-C32E-AAC6-E8460934A18A}"/>
              </a:ext>
            </a:extLst>
          </p:cNvPr>
          <p:cNvSpPr/>
          <p:nvPr/>
        </p:nvSpPr>
        <p:spPr>
          <a:xfrm rot="12653839">
            <a:off x="443350" y="5520845"/>
            <a:ext cx="857986" cy="504056"/>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椭圆 29">
            <a:extLst>
              <a:ext uri="{FF2B5EF4-FFF2-40B4-BE49-F238E27FC236}">
                <a16:creationId xmlns:a16="http://schemas.microsoft.com/office/drawing/2014/main" id="{1C55B584-BE7A-81D7-E773-2AF0AB4464A2}"/>
              </a:ext>
            </a:extLst>
          </p:cNvPr>
          <p:cNvSpPr/>
          <p:nvPr/>
        </p:nvSpPr>
        <p:spPr>
          <a:xfrm>
            <a:off x="902047" y="4820576"/>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32" name="直接连接符 31">
            <a:extLst>
              <a:ext uri="{FF2B5EF4-FFF2-40B4-BE49-F238E27FC236}">
                <a16:creationId xmlns:a16="http://schemas.microsoft.com/office/drawing/2014/main" id="{C993A782-44FA-0E18-776D-B3CF0A9AB3D8}"/>
              </a:ext>
            </a:extLst>
          </p:cNvPr>
          <p:cNvCxnSpPr>
            <a:cxnSpLocks/>
            <a:stCxn id="30" idx="3"/>
            <a:endCxn id="30" idx="7"/>
          </p:cNvCxnSpPr>
          <p:nvPr/>
        </p:nvCxnSpPr>
        <p:spPr>
          <a:xfrm flipV="1">
            <a:off x="975864" y="4915229"/>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A2E9F8F4-7E23-30EE-FDD3-79925EA084CA}"/>
              </a:ext>
            </a:extLst>
          </p:cNvPr>
          <p:cNvSpPr txBox="1"/>
          <p:nvPr/>
        </p:nvSpPr>
        <p:spPr>
          <a:xfrm>
            <a:off x="-5710" y="4461542"/>
            <a:ext cx="796095" cy="369332"/>
          </a:xfrm>
          <a:prstGeom prst="rect">
            <a:avLst/>
          </a:prstGeom>
          <a:noFill/>
        </p:spPr>
        <p:txBody>
          <a:bodyPr wrap="square" rtlCol="0">
            <a:spAutoFit/>
          </a:bodyPr>
          <a:lstStyle/>
          <a:p>
            <a:r>
              <a:rPr lang="en-US" altLang="zh-CN" dirty="0"/>
              <a:t>DMD</a:t>
            </a:r>
            <a:endParaRPr lang="zh-CN" altLang="en-US" dirty="0"/>
          </a:p>
        </p:txBody>
      </p:sp>
      <p:sp>
        <p:nvSpPr>
          <p:cNvPr id="40" name="矩形 39">
            <a:extLst>
              <a:ext uri="{FF2B5EF4-FFF2-40B4-BE49-F238E27FC236}">
                <a16:creationId xmlns:a16="http://schemas.microsoft.com/office/drawing/2014/main" id="{9BD4883E-CDE2-0FDD-7DB7-3771957293A9}"/>
              </a:ext>
            </a:extLst>
          </p:cNvPr>
          <p:cNvSpPr/>
          <p:nvPr/>
        </p:nvSpPr>
        <p:spPr>
          <a:xfrm>
            <a:off x="245066" y="4912520"/>
            <a:ext cx="161667" cy="432048"/>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B190B53B-3D5A-D8E1-B023-996B65E02E6F}"/>
              </a:ext>
            </a:extLst>
          </p:cNvPr>
          <p:cNvSpPr txBox="1"/>
          <p:nvPr/>
        </p:nvSpPr>
        <p:spPr>
          <a:xfrm>
            <a:off x="554477" y="6209424"/>
            <a:ext cx="720080" cy="369332"/>
          </a:xfrm>
          <a:prstGeom prst="rect">
            <a:avLst/>
          </a:prstGeom>
          <a:noFill/>
        </p:spPr>
        <p:txBody>
          <a:bodyPr wrap="square" rtlCol="0">
            <a:spAutoFit/>
          </a:bodyPr>
          <a:lstStyle/>
          <a:p>
            <a:r>
              <a:rPr lang="zh-CN" altLang="en-US" dirty="0"/>
              <a:t>光源</a:t>
            </a:r>
          </a:p>
        </p:txBody>
      </p:sp>
      <p:sp>
        <p:nvSpPr>
          <p:cNvPr id="56" name="文本框 55">
            <a:extLst>
              <a:ext uri="{FF2B5EF4-FFF2-40B4-BE49-F238E27FC236}">
                <a16:creationId xmlns:a16="http://schemas.microsoft.com/office/drawing/2014/main" id="{4A6C66E4-78BA-9274-1BE8-966B8331876A}"/>
              </a:ext>
            </a:extLst>
          </p:cNvPr>
          <p:cNvSpPr txBox="1"/>
          <p:nvPr/>
        </p:nvSpPr>
        <p:spPr>
          <a:xfrm>
            <a:off x="1615367" y="4446775"/>
            <a:ext cx="796095" cy="369332"/>
          </a:xfrm>
          <a:prstGeom prst="rect">
            <a:avLst/>
          </a:prstGeom>
          <a:noFill/>
        </p:spPr>
        <p:txBody>
          <a:bodyPr wrap="square" rtlCol="0">
            <a:spAutoFit/>
          </a:bodyPr>
          <a:lstStyle/>
          <a:p>
            <a:r>
              <a:rPr lang="zh-CN" altLang="en-US" dirty="0"/>
              <a:t>透镜</a:t>
            </a:r>
            <a:r>
              <a:rPr lang="en-US" altLang="zh-CN" dirty="0"/>
              <a:t>1</a:t>
            </a:r>
            <a:endParaRPr lang="zh-CN" altLang="en-US" dirty="0"/>
          </a:p>
        </p:txBody>
      </p:sp>
      <p:sp>
        <p:nvSpPr>
          <p:cNvPr id="61" name="椭圆 60">
            <a:extLst>
              <a:ext uri="{FF2B5EF4-FFF2-40B4-BE49-F238E27FC236}">
                <a16:creationId xmlns:a16="http://schemas.microsoft.com/office/drawing/2014/main" id="{DA09E0D4-D3BD-F6C4-F955-8CEADFB7CCF1}"/>
              </a:ext>
            </a:extLst>
          </p:cNvPr>
          <p:cNvSpPr/>
          <p:nvPr/>
        </p:nvSpPr>
        <p:spPr>
          <a:xfrm>
            <a:off x="1956592" y="4899156"/>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0" name="矩形 2049">
            <a:extLst>
              <a:ext uri="{FF2B5EF4-FFF2-40B4-BE49-F238E27FC236}">
                <a16:creationId xmlns:a16="http://schemas.microsoft.com/office/drawing/2014/main" id="{21A27FF8-92A6-35DB-E598-4951A5386E8E}"/>
              </a:ext>
            </a:extLst>
          </p:cNvPr>
          <p:cNvSpPr/>
          <p:nvPr/>
        </p:nvSpPr>
        <p:spPr>
          <a:xfrm>
            <a:off x="2639238" y="4543174"/>
            <a:ext cx="144016" cy="1152128"/>
          </a:xfrm>
          <a:prstGeom prst="rect">
            <a:avLst/>
          </a:prstGeom>
          <a:solidFill>
            <a:schemeClr val="bg2"/>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053" name="文本框 2052">
            <a:extLst>
              <a:ext uri="{FF2B5EF4-FFF2-40B4-BE49-F238E27FC236}">
                <a16:creationId xmlns:a16="http://schemas.microsoft.com/office/drawing/2014/main" id="{C9CEE25B-0C7F-1D35-90E1-9EE25F42DFD9}"/>
              </a:ext>
            </a:extLst>
          </p:cNvPr>
          <p:cNvSpPr txBox="1"/>
          <p:nvPr/>
        </p:nvSpPr>
        <p:spPr>
          <a:xfrm>
            <a:off x="2406410" y="4201743"/>
            <a:ext cx="652585" cy="369332"/>
          </a:xfrm>
          <a:prstGeom prst="rect">
            <a:avLst/>
          </a:prstGeom>
          <a:noFill/>
        </p:spPr>
        <p:txBody>
          <a:bodyPr wrap="square" rtlCol="0">
            <a:spAutoFit/>
          </a:bodyPr>
          <a:lstStyle/>
          <a:p>
            <a:r>
              <a:rPr lang="zh-CN" altLang="en-US" dirty="0"/>
              <a:t>物体</a:t>
            </a:r>
          </a:p>
        </p:txBody>
      </p:sp>
      <p:sp>
        <p:nvSpPr>
          <p:cNvPr id="2054" name="文本框 2053">
            <a:extLst>
              <a:ext uri="{FF2B5EF4-FFF2-40B4-BE49-F238E27FC236}">
                <a16:creationId xmlns:a16="http://schemas.microsoft.com/office/drawing/2014/main" id="{F1ADDDF7-6E49-4D57-CE96-1461D1F2B4A1}"/>
              </a:ext>
            </a:extLst>
          </p:cNvPr>
          <p:cNvSpPr txBox="1"/>
          <p:nvPr/>
        </p:nvSpPr>
        <p:spPr>
          <a:xfrm>
            <a:off x="3128004" y="4441634"/>
            <a:ext cx="796095" cy="369332"/>
          </a:xfrm>
          <a:prstGeom prst="rect">
            <a:avLst/>
          </a:prstGeom>
          <a:noFill/>
        </p:spPr>
        <p:txBody>
          <a:bodyPr wrap="square" rtlCol="0">
            <a:spAutoFit/>
          </a:bodyPr>
          <a:lstStyle/>
          <a:p>
            <a:r>
              <a:rPr lang="zh-CN" altLang="en-US" dirty="0"/>
              <a:t>透镜</a:t>
            </a:r>
            <a:r>
              <a:rPr lang="en-US" altLang="zh-CN" dirty="0"/>
              <a:t>2</a:t>
            </a:r>
            <a:endParaRPr lang="zh-CN" altLang="en-US" dirty="0"/>
          </a:p>
        </p:txBody>
      </p:sp>
      <p:sp>
        <p:nvSpPr>
          <p:cNvPr id="2055" name="椭圆 2054">
            <a:extLst>
              <a:ext uri="{FF2B5EF4-FFF2-40B4-BE49-F238E27FC236}">
                <a16:creationId xmlns:a16="http://schemas.microsoft.com/office/drawing/2014/main" id="{BB4002AE-7FDF-7EF2-F5E5-4A5E81845598}"/>
              </a:ext>
            </a:extLst>
          </p:cNvPr>
          <p:cNvSpPr/>
          <p:nvPr/>
        </p:nvSpPr>
        <p:spPr>
          <a:xfrm>
            <a:off x="3405997" y="4903399"/>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6" name="文本框 2055">
            <a:extLst>
              <a:ext uri="{FF2B5EF4-FFF2-40B4-BE49-F238E27FC236}">
                <a16:creationId xmlns:a16="http://schemas.microsoft.com/office/drawing/2014/main" id="{46C90275-951D-A91E-8663-58FF227B4F7E}"/>
              </a:ext>
            </a:extLst>
          </p:cNvPr>
          <p:cNvSpPr txBox="1"/>
          <p:nvPr/>
        </p:nvSpPr>
        <p:spPr>
          <a:xfrm>
            <a:off x="4106525" y="4447236"/>
            <a:ext cx="1097515" cy="369332"/>
          </a:xfrm>
          <a:prstGeom prst="rect">
            <a:avLst/>
          </a:prstGeom>
          <a:noFill/>
        </p:spPr>
        <p:txBody>
          <a:bodyPr wrap="square" rtlCol="0">
            <a:spAutoFit/>
          </a:bodyPr>
          <a:lstStyle/>
          <a:p>
            <a:r>
              <a:rPr lang="zh-CN" altLang="en-US" dirty="0"/>
              <a:t>准直透镜</a:t>
            </a:r>
          </a:p>
        </p:txBody>
      </p:sp>
      <p:sp>
        <p:nvSpPr>
          <p:cNvPr id="2057" name="椭圆 2056">
            <a:extLst>
              <a:ext uri="{FF2B5EF4-FFF2-40B4-BE49-F238E27FC236}">
                <a16:creationId xmlns:a16="http://schemas.microsoft.com/office/drawing/2014/main" id="{C59BA564-8563-DEF9-C030-21F8722E45A1}"/>
              </a:ext>
            </a:extLst>
          </p:cNvPr>
          <p:cNvSpPr/>
          <p:nvPr/>
        </p:nvSpPr>
        <p:spPr>
          <a:xfrm>
            <a:off x="4555252" y="4903398"/>
            <a:ext cx="144016"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8" name="矩形 2057">
            <a:extLst>
              <a:ext uri="{FF2B5EF4-FFF2-40B4-BE49-F238E27FC236}">
                <a16:creationId xmlns:a16="http://schemas.microsoft.com/office/drawing/2014/main" id="{16FD9D81-3867-9954-1392-0809C0ECEACA}"/>
              </a:ext>
            </a:extLst>
          </p:cNvPr>
          <p:cNvSpPr/>
          <p:nvPr/>
        </p:nvSpPr>
        <p:spPr>
          <a:xfrm>
            <a:off x="5558883" y="5051531"/>
            <a:ext cx="504056" cy="214153"/>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059" name="文本框 2058">
            <a:extLst>
              <a:ext uri="{FF2B5EF4-FFF2-40B4-BE49-F238E27FC236}">
                <a16:creationId xmlns:a16="http://schemas.microsoft.com/office/drawing/2014/main" id="{67363CE1-7766-3A98-E2BC-2F0079E51074}"/>
              </a:ext>
            </a:extLst>
          </p:cNvPr>
          <p:cNvSpPr txBox="1"/>
          <p:nvPr/>
        </p:nvSpPr>
        <p:spPr>
          <a:xfrm>
            <a:off x="5450129" y="4445661"/>
            <a:ext cx="723004" cy="369332"/>
          </a:xfrm>
          <a:prstGeom prst="rect">
            <a:avLst/>
          </a:prstGeom>
          <a:noFill/>
        </p:spPr>
        <p:txBody>
          <a:bodyPr wrap="square" rtlCol="0">
            <a:spAutoFit/>
          </a:bodyPr>
          <a:lstStyle/>
          <a:p>
            <a:r>
              <a:rPr lang="en-US" altLang="zh-CN" dirty="0"/>
              <a:t>PEM</a:t>
            </a:r>
            <a:endParaRPr lang="zh-CN" altLang="en-US" dirty="0"/>
          </a:p>
        </p:txBody>
      </p:sp>
      <p:sp>
        <p:nvSpPr>
          <p:cNvPr id="2060" name="椭圆 2059">
            <a:extLst>
              <a:ext uri="{FF2B5EF4-FFF2-40B4-BE49-F238E27FC236}">
                <a16:creationId xmlns:a16="http://schemas.microsoft.com/office/drawing/2014/main" id="{2A4C1ABD-5292-399C-0A59-C605D56A2C7E}"/>
              </a:ext>
            </a:extLst>
          </p:cNvPr>
          <p:cNvSpPr/>
          <p:nvPr/>
        </p:nvSpPr>
        <p:spPr>
          <a:xfrm>
            <a:off x="6687283" y="4829791"/>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061" name="文本框 2060">
            <a:extLst>
              <a:ext uri="{FF2B5EF4-FFF2-40B4-BE49-F238E27FC236}">
                <a16:creationId xmlns:a16="http://schemas.microsoft.com/office/drawing/2014/main" id="{BFE5D543-EBC9-6E60-BE48-A4BF84C8EED4}"/>
              </a:ext>
            </a:extLst>
          </p:cNvPr>
          <p:cNvSpPr txBox="1"/>
          <p:nvPr/>
        </p:nvSpPr>
        <p:spPr>
          <a:xfrm>
            <a:off x="6491813" y="4441634"/>
            <a:ext cx="1011068" cy="369332"/>
          </a:xfrm>
          <a:prstGeom prst="rect">
            <a:avLst/>
          </a:prstGeom>
          <a:noFill/>
        </p:spPr>
        <p:txBody>
          <a:bodyPr wrap="square" rtlCol="0">
            <a:spAutoFit/>
          </a:bodyPr>
          <a:lstStyle/>
          <a:p>
            <a:r>
              <a:rPr lang="zh-CN" altLang="en-US" dirty="0"/>
              <a:t>检偏器</a:t>
            </a:r>
          </a:p>
        </p:txBody>
      </p:sp>
      <p:cxnSp>
        <p:nvCxnSpPr>
          <p:cNvPr id="2062" name="直接连接符 2061">
            <a:extLst>
              <a:ext uri="{FF2B5EF4-FFF2-40B4-BE49-F238E27FC236}">
                <a16:creationId xmlns:a16="http://schemas.microsoft.com/office/drawing/2014/main" id="{6C2330FC-572F-B698-2423-F2853C997BBF}"/>
              </a:ext>
            </a:extLst>
          </p:cNvPr>
          <p:cNvCxnSpPr>
            <a:stCxn id="2060" idx="3"/>
            <a:endCxn id="2060" idx="7"/>
          </p:cNvCxnSpPr>
          <p:nvPr/>
        </p:nvCxnSpPr>
        <p:spPr>
          <a:xfrm flipV="1">
            <a:off x="6761100" y="4924444"/>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2063" name="文本框 2062">
            <a:extLst>
              <a:ext uri="{FF2B5EF4-FFF2-40B4-BE49-F238E27FC236}">
                <a16:creationId xmlns:a16="http://schemas.microsoft.com/office/drawing/2014/main" id="{5E951407-4216-56B7-B897-3FA5076A2C97}"/>
              </a:ext>
            </a:extLst>
          </p:cNvPr>
          <p:cNvSpPr txBox="1"/>
          <p:nvPr/>
        </p:nvSpPr>
        <p:spPr>
          <a:xfrm>
            <a:off x="7547665" y="4464316"/>
            <a:ext cx="1151206" cy="369332"/>
          </a:xfrm>
          <a:prstGeom prst="rect">
            <a:avLst/>
          </a:prstGeom>
          <a:noFill/>
        </p:spPr>
        <p:txBody>
          <a:bodyPr wrap="square" rtlCol="0">
            <a:spAutoFit/>
          </a:bodyPr>
          <a:lstStyle/>
          <a:p>
            <a:r>
              <a:rPr lang="zh-CN" altLang="en-US" dirty="0"/>
              <a:t>聚光透镜</a:t>
            </a:r>
          </a:p>
        </p:txBody>
      </p:sp>
      <p:sp>
        <p:nvSpPr>
          <p:cNvPr id="2064" name="椭圆 2063">
            <a:extLst>
              <a:ext uri="{FF2B5EF4-FFF2-40B4-BE49-F238E27FC236}">
                <a16:creationId xmlns:a16="http://schemas.microsoft.com/office/drawing/2014/main" id="{BD8CA28D-1EA0-675F-9E9E-32F582DEE6A2}"/>
              </a:ext>
            </a:extLst>
          </p:cNvPr>
          <p:cNvSpPr/>
          <p:nvPr/>
        </p:nvSpPr>
        <p:spPr>
          <a:xfrm>
            <a:off x="8068877" y="49125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5" name="椭圆 2064">
            <a:extLst>
              <a:ext uri="{FF2B5EF4-FFF2-40B4-BE49-F238E27FC236}">
                <a16:creationId xmlns:a16="http://schemas.microsoft.com/office/drawing/2014/main" id="{CE0436FC-DB7F-CE5D-EFAF-EA7A4906646B}"/>
              </a:ext>
            </a:extLst>
          </p:cNvPr>
          <p:cNvSpPr/>
          <p:nvPr/>
        </p:nvSpPr>
        <p:spPr>
          <a:xfrm>
            <a:off x="8935861" y="4813542"/>
            <a:ext cx="504056" cy="646331"/>
          </a:xfrm>
          <a:prstGeom prst="ellipse">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2066" name="文本框 2065">
            <a:extLst>
              <a:ext uri="{FF2B5EF4-FFF2-40B4-BE49-F238E27FC236}">
                <a16:creationId xmlns:a16="http://schemas.microsoft.com/office/drawing/2014/main" id="{AB09107A-4E9B-646C-F449-528105570CA3}"/>
              </a:ext>
            </a:extLst>
          </p:cNvPr>
          <p:cNvSpPr txBox="1"/>
          <p:nvPr/>
        </p:nvSpPr>
        <p:spPr>
          <a:xfrm>
            <a:off x="8757486" y="4445169"/>
            <a:ext cx="895486" cy="369332"/>
          </a:xfrm>
          <a:prstGeom prst="rect">
            <a:avLst/>
          </a:prstGeom>
          <a:noFill/>
        </p:spPr>
        <p:txBody>
          <a:bodyPr wrap="square" rtlCol="0">
            <a:spAutoFit/>
          </a:bodyPr>
          <a:lstStyle/>
          <a:p>
            <a:r>
              <a:rPr lang="zh-CN" altLang="en-US" dirty="0"/>
              <a:t>探测器</a:t>
            </a:r>
          </a:p>
        </p:txBody>
      </p:sp>
      <p:sp>
        <p:nvSpPr>
          <p:cNvPr id="2067" name="矩形: 圆角 2066">
            <a:extLst>
              <a:ext uri="{FF2B5EF4-FFF2-40B4-BE49-F238E27FC236}">
                <a16:creationId xmlns:a16="http://schemas.microsoft.com/office/drawing/2014/main" id="{E744FB4C-B270-FD73-6B5A-FE1152A63B3D}"/>
              </a:ext>
            </a:extLst>
          </p:cNvPr>
          <p:cNvSpPr/>
          <p:nvPr/>
        </p:nvSpPr>
        <p:spPr>
          <a:xfrm>
            <a:off x="9861229" y="1503884"/>
            <a:ext cx="836342" cy="58524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8" name="文本框 2067">
            <a:extLst>
              <a:ext uri="{FF2B5EF4-FFF2-40B4-BE49-F238E27FC236}">
                <a16:creationId xmlns:a16="http://schemas.microsoft.com/office/drawing/2014/main" id="{13C35FE9-CCBC-8F43-B85E-6CEA0854A17E}"/>
              </a:ext>
            </a:extLst>
          </p:cNvPr>
          <p:cNvSpPr txBox="1"/>
          <p:nvPr/>
        </p:nvSpPr>
        <p:spPr>
          <a:xfrm>
            <a:off x="9918566" y="1030684"/>
            <a:ext cx="721668" cy="369332"/>
          </a:xfrm>
          <a:prstGeom prst="rect">
            <a:avLst/>
          </a:prstGeom>
          <a:noFill/>
        </p:spPr>
        <p:txBody>
          <a:bodyPr wrap="square" rtlCol="0">
            <a:spAutoFit/>
          </a:bodyPr>
          <a:lstStyle/>
          <a:p>
            <a:r>
              <a:rPr lang="zh-CN" altLang="en-US" dirty="0"/>
              <a:t>锁相</a:t>
            </a:r>
          </a:p>
        </p:txBody>
      </p:sp>
      <p:sp>
        <p:nvSpPr>
          <p:cNvPr id="2069" name="矩形: 圆角 2068">
            <a:extLst>
              <a:ext uri="{FF2B5EF4-FFF2-40B4-BE49-F238E27FC236}">
                <a16:creationId xmlns:a16="http://schemas.microsoft.com/office/drawing/2014/main" id="{73D605EF-E3CE-A5D0-10D4-B53B532479E1}"/>
              </a:ext>
            </a:extLst>
          </p:cNvPr>
          <p:cNvSpPr/>
          <p:nvPr/>
        </p:nvSpPr>
        <p:spPr>
          <a:xfrm>
            <a:off x="11083302" y="4924444"/>
            <a:ext cx="836342" cy="5852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70" name="文本框 2069">
            <a:extLst>
              <a:ext uri="{FF2B5EF4-FFF2-40B4-BE49-F238E27FC236}">
                <a16:creationId xmlns:a16="http://schemas.microsoft.com/office/drawing/2014/main" id="{11DADA70-52AA-DBD7-B1A6-0F257804BF87}"/>
              </a:ext>
            </a:extLst>
          </p:cNvPr>
          <p:cNvSpPr txBox="1"/>
          <p:nvPr/>
        </p:nvSpPr>
        <p:spPr>
          <a:xfrm>
            <a:off x="11083119" y="4458136"/>
            <a:ext cx="798368" cy="369332"/>
          </a:xfrm>
          <a:prstGeom prst="rect">
            <a:avLst/>
          </a:prstGeom>
          <a:noFill/>
        </p:spPr>
        <p:txBody>
          <a:bodyPr wrap="square" rtlCol="0">
            <a:spAutoFit/>
          </a:bodyPr>
          <a:lstStyle/>
          <a:p>
            <a:r>
              <a:rPr lang="en-US" altLang="zh-CN" dirty="0"/>
              <a:t>PC</a:t>
            </a:r>
            <a:r>
              <a:rPr lang="zh-CN" altLang="en-US" dirty="0"/>
              <a:t>端</a:t>
            </a:r>
          </a:p>
        </p:txBody>
      </p:sp>
    </p:spTree>
    <p:extLst>
      <p:ext uri="{BB962C8B-B14F-4D97-AF65-F5344CB8AC3E}">
        <p14:creationId xmlns:p14="http://schemas.microsoft.com/office/powerpoint/2010/main" val="161489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81329AC-893A-D8CA-E361-38387D936AC4}"/>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48471009-EA39-5CD0-FAC3-E69A95DD895C}"/>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6BDAC139-8B5F-F68A-B499-EE491C21CBF3}"/>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DA1B2DC6-19C1-B242-3AEC-2A9E15BD81AB}"/>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C829F550-4121-7852-F97C-B4693C558739}"/>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zh-CN" sz="3200" dirty="0">
                <a:solidFill>
                  <a:srgbClr val="FFFFFF"/>
                </a:solidFill>
              </a:rPr>
              <a:t>准直与口径匹配案例</a:t>
            </a:r>
            <a:r>
              <a:rPr lang="en-US" altLang="zh-CN" sz="3200" dirty="0">
                <a:solidFill>
                  <a:srgbClr val="FFFFFF"/>
                </a:solidFill>
              </a:rPr>
              <a:t> </a:t>
            </a:r>
            <a:r>
              <a:rPr lang="zh-CN" altLang="en-US" sz="3200" dirty="0">
                <a:solidFill>
                  <a:srgbClr val="FFFFFF"/>
                </a:solidFill>
              </a:rPr>
              <a:t>调整</a:t>
            </a:r>
          </a:p>
        </p:txBody>
      </p:sp>
      <p:sp>
        <p:nvSpPr>
          <p:cNvPr id="14" name="文本框 13">
            <a:extLst>
              <a:ext uri="{FF2B5EF4-FFF2-40B4-BE49-F238E27FC236}">
                <a16:creationId xmlns:a16="http://schemas.microsoft.com/office/drawing/2014/main" id="{1A9526CC-8CB9-F528-A114-512BAA118AE1}"/>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光路</a:t>
            </a:r>
            <a:endParaRPr lang="en-US" altLang="zh-CN" sz="3600" b="1" dirty="0">
              <a:solidFill>
                <a:srgbClr val="3467AB"/>
              </a:solidFill>
            </a:endParaRPr>
          </a:p>
        </p:txBody>
      </p:sp>
      <p:sp>
        <p:nvSpPr>
          <p:cNvPr id="2" name="文本框 1">
            <a:extLst>
              <a:ext uri="{FF2B5EF4-FFF2-40B4-BE49-F238E27FC236}">
                <a16:creationId xmlns:a16="http://schemas.microsoft.com/office/drawing/2014/main" id="{CC8E6DD2-1E94-C0B0-F89F-AC42AAA1284F}"/>
              </a:ext>
            </a:extLst>
          </p:cNvPr>
          <p:cNvSpPr txBox="1"/>
          <p:nvPr/>
        </p:nvSpPr>
        <p:spPr>
          <a:xfrm>
            <a:off x="735600" y="1061284"/>
            <a:ext cx="874715" cy="369332"/>
          </a:xfrm>
          <a:prstGeom prst="rect">
            <a:avLst/>
          </a:prstGeom>
          <a:noFill/>
        </p:spPr>
        <p:txBody>
          <a:bodyPr wrap="square" rtlCol="0">
            <a:spAutoFit/>
          </a:bodyPr>
          <a:lstStyle/>
          <a:p>
            <a:r>
              <a:rPr lang="zh-CN" altLang="en-US" dirty="0"/>
              <a:t>起偏器</a:t>
            </a:r>
          </a:p>
        </p:txBody>
      </p:sp>
      <p:sp>
        <p:nvSpPr>
          <p:cNvPr id="3" name="矩形: 圆角 2">
            <a:extLst>
              <a:ext uri="{FF2B5EF4-FFF2-40B4-BE49-F238E27FC236}">
                <a16:creationId xmlns:a16="http://schemas.microsoft.com/office/drawing/2014/main" id="{7080BB21-BE8A-F860-1DF4-497BF6AC3229}"/>
              </a:ext>
            </a:extLst>
          </p:cNvPr>
          <p:cNvSpPr/>
          <p:nvPr/>
        </p:nvSpPr>
        <p:spPr>
          <a:xfrm>
            <a:off x="9858255" y="1552519"/>
            <a:ext cx="836342" cy="58524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4A847D6-9955-1BCD-5BB1-D3AF284F9308}"/>
              </a:ext>
            </a:extLst>
          </p:cNvPr>
          <p:cNvSpPr txBox="1"/>
          <p:nvPr/>
        </p:nvSpPr>
        <p:spPr>
          <a:xfrm>
            <a:off x="9959855" y="1079319"/>
            <a:ext cx="721668" cy="369332"/>
          </a:xfrm>
          <a:prstGeom prst="rect">
            <a:avLst/>
          </a:prstGeom>
          <a:noFill/>
        </p:spPr>
        <p:txBody>
          <a:bodyPr wrap="square" rtlCol="0">
            <a:spAutoFit/>
          </a:bodyPr>
          <a:lstStyle/>
          <a:p>
            <a:r>
              <a:rPr lang="zh-CN" altLang="en-US" dirty="0"/>
              <a:t>锁相</a:t>
            </a:r>
          </a:p>
        </p:txBody>
      </p:sp>
      <p:sp>
        <p:nvSpPr>
          <p:cNvPr id="7" name="箭头: 右 6">
            <a:extLst>
              <a:ext uri="{FF2B5EF4-FFF2-40B4-BE49-F238E27FC236}">
                <a16:creationId xmlns:a16="http://schemas.microsoft.com/office/drawing/2014/main" id="{D03EBE1C-D024-1076-C485-C3534119AE61}"/>
              </a:ext>
            </a:extLst>
          </p:cNvPr>
          <p:cNvSpPr/>
          <p:nvPr/>
        </p:nvSpPr>
        <p:spPr>
          <a:xfrm rot="12653839">
            <a:off x="443350" y="2148920"/>
            <a:ext cx="857986" cy="504056"/>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55AF7173-B321-88B7-B593-DCE2E499B3E3}"/>
              </a:ext>
            </a:extLst>
          </p:cNvPr>
          <p:cNvSpPr/>
          <p:nvPr/>
        </p:nvSpPr>
        <p:spPr>
          <a:xfrm>
            <a:off x="902047" y="1448651"/>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12" name="直接连接符 11">
            <a:extLst>
              <a:ext uri="{FF2B5EF4-FFF2-40B4-BE49-F238E27FC236}">
                <a16:creationId xmlns:a16="http://schemas.microsoft.com/office/drawing/2014/main" id="{60BD183B-321E-80C3-F1FE-B0F031B06D64}"/>
              </a:ext>
            </a:extLst>
          </p:cNvPr>
          <p:cNvCxnSpPr>
            <a:cxnSpLocks/>
            <a:stCxn id="10" idx="3"/>
            <a:endCxn id="10" idx="7"/>
          </p:cNvCxnSpPr>
          <p:nvPr/>
        </p:nvCxnSpPr>
        <p:spPr>
          <a:xfrm flipV="1">
            <a:off x="975864" y="1543304"/>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3B1FE5AB-D70A-2289-FC92-DE08667896F4}"/>
              </a:ext>
            </a:extLst>
          </p:cNvPr>
          <p:cNvSpPr txBox="1"/>
          <p:nvPr/>
        </p:nvSpPr>
        <p:spPr>
          <a:xfrm>
            <a:off x="-5710" y="1089617"/>
            <a:ext cx="796095" cy="369332"/>
          </a:xfrm>
          <a:prstGeom prst="rect">
            <a:avLst/>
          </a:prstGeom>
          <a:noFill/>
        </p:spPr>
        <p:txBody>
          <a:bodyPr wrap="square" rtlCol="0">
            <a:spAutoFit/>
          </a:bodyPr>
          <a:lstStyle/>
          <a:p>
            <a:r>
              <a:rPr lang="en-US" altLang="zh-CN" dirty="0"/>
              <a:t>DMD</a:t>
            </a:r>
            <a:endParaRPr lang="zh-CN" altLang="en-US" dirty="0"/>
          </a:p>
        </p:txBody>
      </p:sp>
      <p:sp>
        <p:nvSpPr>
          <p:cNvPr id="16" name="矩形 15">
            <a:extLst>
              <a:ext uri="{FF2B5EF4-FFF2-40B4-BE49-F238E27FC236}">
                <a16:creationId xmlns:a16="http://schemas.microsoft.com/office/drawing/2014/main" id="{08E3C14D-4DBB-1E9A-E02A-D9303F94BA71}"/>
              </a:ext>
            </a:extLst>
          </p:cNvPr>
          <p:cNvSpPr/>
          <p:nvPr/>
        </p:nvSpPr>
        <p:spPr>
          <a:xfrm>
            <a:off x="245066" y="1540595"/>
            <a:ext cx="161667" cy="432048"/>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2A1BCD52-1256-20D8-4C3D-A22D3888F4E5}"/>
              </a:ext>
            </a:extLst>
          </p:cNvPr>
          <p:cNvSpPr txBox="1"/>
          <p:nvPr/>
        </p:nvSpPr>
        <p:spPr>
          <a:xfrm>
            <a:off x="1163568" y="2138711"/>
            <a:ext cx="720080" cy="369332"/>
          </a:xfrm>
          <a:prstGeom prst="rect">
            <a:avLst/>
          </a:prstGeom>
          <a:noFill/>
        </p:spPr>
        <p:txBody>
          <a:bodyPr wrap="square" rtlCol="0">
            <a:spAutoFit/>
          </a:bodyPr>
          <a:lstStyle/>
          <a:p>
            <a:r>
              <a:rPr lang="zh-CN" altLang="en-US" dirty="0"/>
              <a:t>光源</a:t>
            </a:r>
          </a:p>
        </p:txBody>
      </p:sp>
      <p:sp>
        <p:nvSpPr>
          <p:cNvPr id="18" name="文本框 17">
            <a:extLst>
              <a:ext uri="{FF2B5EF4-FFF2-40B4-BE49-F238E27FC236}">
                <a16:creationId xmlns:a16="http://schemas.microsoft.com/office/drawing/2014/main" id="{4707856A-16EC-6F49-7431-3B246BEE9032}"/>
              </a:ext>
            </a:extLst>
          </p:cNvPr>
          <p:cNvSpPr txBox="1"/>
          <p:nvPr/>
        </p:nvSpPr>
        <p:spPr>
          <a:xfrm>
            <a:off x="1615367" y="1074850"/>
            <a:ext cx="796095" cy="369332"/>
          </a:xfrm>
          <a:prstGeom prst="rect">
            <a:avLst/>
          </a:prstGeom>
          <a:noFill/>
        </p:spPr>
        <p:txBody>
          <a:bodyPr wrap="square" rtlCol="0">
            <a:spAutoFit/>
          </a:bodyPr>
          <a:lstStyle/>
          <a:p>
            <a:r>
              <a:rPr lang="zh-CN" altLang="en-US" dirty="0"/>
              <a:t>透镜</a:t>
            </a:r>
            <a:r>
              <a:rPr lang="en-US" altLang="zh-CN" dirty="0"/>
              <a:t>1</a:t>
            </a:r>
            <a:endParaRPr lang="zh-CN" altLang="en-US" dirty="0"/>
          </a:p>
        </p:txBody>
      </p:sp>
      <p:sp>
        <p:nvSpPr>
          <p:cNvPr id="19" name="椭圆 18">
            <a:extLst>
              <a:ext uri="{FF2B5EF4-FFF2-40B4-BE49-F238E27FC236}">
                <a16:creationId xmlns:a16="http://schemas.microsoft.com/office/drawing/2014/main" id="{2D7BF69F-922E-CD85-2B81-2A27E166D925}"/>
              </a:ext>
            </a:extLst>
          </p:cNvPr>
          <p:cNvSpPr/>
          <p:nvPr/>
        </p:nvSpPr>
        <p:spPr>
          <a:xfrm>
            <a:off x="1956592" y="1527231"/>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D72E07D9-FC88-29B9-3189-439C7177FB5C}"/>
              </a:ext>
            </a:extLst>
          </p:cNvPr>
          <p:cNvSpPr/>
          <p:nvPr/>
        </p:nvSpPr>
        <p:spPr>
          <a:xfrm>
            <a:off x="2639238" y="1171249"/>
            <a:ext cx="144016" cy="1152128"/>
          </a:xfrm>
          <a:prstGeom prst="rect">
            <a:avLst/>
          </a:prstGeom>
          <a:solidFill>
            <a:schemeClr val="bg2"/>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EBE80A5B-217B-F385-005E-DF143BAEE525}"/>
              </a:ext>
            </a:extLst>
          </p:cNvPr>
          <p:cNvSpPr txBox="1"/>
          <p:nvPr/>
        </p:nvSpPr>
        <p:spPr>
          <a:xfrm>
            <a:off x="2406410" y="829818"/>
            <a:ext cx="652585" cy="369332"/>
          </a:xfrm>
          <a:prstGeom prst="rect">
            <a:avLst/>
          </a:prstGeom>
          <a:noFill/>
        </p:spPr>
        <p:txBody>
          <a:bodyPr wrap="square" rtlCol="0">
            <a:spAutoFit/>
          </a:bodyPr>
          <a:lstStyle/>
          <a:p>
            <a:r>
              <a:rPr lang="zh-CN" altLang="en-US" dirty="0"/>
              <a:t>物体</a:t>
            </a:r>
          </a:p>
        </p:txBody>
      </p:sp>
      <p:sp>
        <p:nvSpPr>
          <p:cNvPr id="22" name="文本框 21">
            <a:extLst>
              <a:ext uri="{FF2B5EF4-FFF2-40B4-BE49-F238E27FC236}">
                <a16:creationId xmlns:a16="http://schemas.microsoft.com/office/drawing/2014/main" id="{0C543CE8-ED0C-90FC-C8EE-0252ABB030B2}"/>
              </a:ext>
            </a:extLst>
          </p:cNvPr>
          <p:cNvSpPr txBox="1"/>
          <p:nvPr/>
        </p:nvSpPr>
        <p:spPr>
          <a:xfrm>
            <a:off x="2954526" y="1069709"/>
            <a:ext cx="796095" cy="369332"/>
          </a:xfrm>
          <a:prstGeom prst="rect">
            <a:avLst/>
          </a:prstGeom>
          <a:noFill/>
        </p:spPr>
        <p:txBody>
          <a:bodyPr wrap="square" rtlCol="0">
            <a:spAutoFit/>
          </a:bodyPr>
          <a:lstStyle/>
          <a:p>
            <a:r>
              <a:rPr lang="zh-CN" altLang="en-US" dirty="0"/>
              <a:t>透镜</a:t>
            </a:r>
            <a:r>
              <a:rPr lang="en-US" altLang="zh-CN" dirty="0"/>
              <a:t>2</a:t>
            </a:r>
            <a:endParaRPr lang="zh-CN" altLang="en-US" dirty="0"/>
          </a:p>
        </p:txBody>
      </p:sp>
      <p:sp>
        <p:nvSpPr>
          <p:cNvPr id="23" name="椭圆 22">
            <a:extLst>
              <a:ext uri="{FF2B5EF4-FFF2-40B4-BE49-F238E27FC236}">
                <a16:creationId xmlns:a16="http://schemas.microsoft.com/office/drawing/2014/main" id="{D939EADD-EE84-9C89-1EA9-97CB31F69429}"/>
              </a:ext>
            </a:extLst>
          </p:cNvPr>
          <p:cNvSpPr/>
          <p:nvPr/>
        </p:nvSpPr>
        <p:spPr>
          <a:xfrm>
            <a:off x="3232519" y="1531474"/>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0A060F6A-2F93-77B0-60B7-58503336AE17}"/>
              </a:ext>
            </a:extLst>
          </p:cNvPr>
          <p:cNvSpPr txBox="1"/>
          <p:nvPr/>
        </p:nvSpPr>
        <p:spPr>
          <a:xfrm>
            <a:off x="4364369" y="1075311"/>
            <a:ext cx="1097515" cy="369332"/>
          </a:xfrm>
          <a:prstGeom prst="rect">
            <a:avLst/>
          </a:prstGeom>
          <a:noFill/>
        </p:spPr>
        <p:txBody>
          <a:bodyPr wrap="square" rtlCol="0">
            <a:spAutoFit/>
          </a:bodyPr>
          <a:lstStyle/>
          <a:p>
            <a:r>
              <a:rPr lang="zh-CN" altLang="en-US" dirty="0"/>
              <a:t>准直透镜</a:t>
            </a:r>
          </a:p>
        </p:txBody>
      </p:sp>
      <p:sp>
        <p:nvSpPr>
          <p:cNvPr id="25" name="椭圆 24">
            <a:extLst>
              <a:ext uri="{FF2B5EF4-FFF2-40B4-BE49-F238E27FC236}">
                <a16:creationId xmlns:a16="http://schemas.microsoft.com/office/drawing/2014/main" id="{6457606A-4287-7344-2894-E8E9EEA8D61E}"/>
              </a:ext>
            </a:extLst>
          </p:cNvPr>
          <p:cNvSpPr/>
          <p:nvPr/>
        </p:nvSpPr>
        <p:spPr>
          <a:xfrm>
            <a:off x="4813096" y="1531473"/>
            <a:ext cx="144016"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BB282EEC-4684-DCB7-99FA-333604C4C868}"/>
              </a:ext>
            </a:extLst>
          </p:cNvPr>
          <p:cNvSpPr/>
          <p:nvPr/>
        </p:nvSpPr>
        <p:spPr>
          <a:xfrm>
            <a:off x="5651532" y="1679606"/>
            <a:ext cx="504056" cy="214153"/>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E93E2C0B-806B-99BB-1F3C-CE8499D1191D}"/>
              </a:ext>
            </a:extLst>
          </p:cNvPr>
          <p:cNvSpPr txBox="1"/>
          <p:nvPr/>
        </p:nvSpPr>
        <p:spPr>
          <a:xfrm>
            <a:off x="5542778" y="1073736"/>
            <a:ext cx="723004" cy="369332"/>
          </a:xfrm>
          <a:prstGeom prst="rect">
            <a:avLst/>
          </a:prstGeom>
          <a:noFill/>
        </p:spPr>
        <p:txBody>
          <a:bodyPr wrap="square" rtlCol="0">
            <a:spAutoFit/>
          </a:bodyPr>
          <a:lstStyle/>
          <a:p>
            <a:r>
              <a:rPr lang="en-US" altLang="zh-CN" dirty="0"/>
              <a:t>PEM</a:t>
            </a:r>
            <a:endParaRPr lang="zh-CN" altLang="en-US" dirty="0"/>
          </a:p>
        </p:txBody>
      </p:sp>
      <p:sp>
        <p:nvSpPr>
          <p:cNvPr id="28" name="椭圆 27">
            <a:extLst>
              <a:ext uri="{FF2B5EF4-FFF2-40B4-BE49-F238E27FC236}">
                <a16:creationId xmlns:a16="http://schemas.microsoft.com/office/drawing/2014/main" id="{41F0E835-B2C6-10A9-FDE5-6432A04F4951}"/>
              </a:ext>
            </a:extLst>
          </p:cNvPr>
          <p:cNvSpPr/>
          <p:nvPr/>
        </p:nvSpPr>
        <p:spPr>
          <a:xfrm>
            <a:off x="6687283" y="1457866"/>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EA84802E-8F8B-8A7D-E4EC-47E31B1F8432}"/>
              </a:ext>
            </a:extLst>
          </p:cNvPr>
          <p:cNvSpPr txBox="1"/>
          <p:nvPr/>
        </p:nvSpPr>
        <p:spPr>
          <a:xfrm>
            <a:off x="6491813" y="1069709"/>
            <a:ext cx="1011068" cy="369332"/>
          </a:xfrm>
          <a:prstGeom prst="rect">
            <a:avLst/>
          </a:prstGeom>
          <a:noFill/>
        </p:spPr>
        <p:txBody>
          <a:bodyPr wrap="square" rtlCol="0">
            <a:spAutoFit/>
          </a:bodyPr>
          <a:lstStyle/>
          <a:p>
            <a:r>
              <a:rPr lang="zh-CN" altLang="en-US" dirty="0"/>
              <a:t>检偏器</a:t>
            </a:r>
          </a:p>
        </p:txBody>
      </p:sp>
      <p:cxnSp>
        <p:nvCxnSpPr>
          <p:cNvPr id="30" name="直接连接符 29">
            <a:extLst>
              <a:ext uri="{FF2B5EF4-FFF2-40B4-BE49-F238E27FC236}">
                <a16:creationId xmlns:a16="http://schemas.microsoft.com/office/drawing/2014/main" id="{8ADDB188-B51D-9453-D314-D2F0F5287D09}"/>
              </a:ext>
            </a:extLst>
          </p:cNvPr>
          <p:cNvCxnSpPr>
            <a:stCxn id="28" idx="3"/>
            <a:endCxn id="28" idx="7"/>
          </p:cNvCxnSpPr>
          <p:nvPr/>
        </p:nvCxnSpPr>
        <p:spPr>
          <a:xfrm flipV="1">
            <a:off x="6761100" y="1552519"/>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A3FAB825-4BE2-BC89-5DB8-C2840AE6C3E3}"/>
              </a:ext>
            </a:extLst>
          </p:cNvPr>
          <p:cNvSpPr txBox="1"/>
          <p:nvPr/>
        </p:nvSpPr>
        <p:spPr>
          <a:xfrm>
            <a:off x="7547665" y="1092391"/>
            <a:ext cx="1151206" cy="369332"/>
          </a:xfrm>
          <a:prstGeom prst="rect">
            <a:avLst/>
          </a:prstGeom>
          <a:noFill/>
        </p:spPr>
        <p:txBody>
          <a:bodyPr wrap="square" rtlCol="0">
            <a:spAutoFit/>
          </a:bodyPr>
          <a:lstStyle/>
          <a:p>
            <a:r>
              <a:rPr lang="zh-CN" altLang="en-US" dirty="0"/>
              <a:t>聚光透镜</a:t>
            </a:r>
          </a:p>
        </p:txBody>
      </p:sp>
      <p:sp>
        <p:nvSpPr>
          <p:cNvPr id="32" name="椭圆 31">
            <a:extLst>
              <a:ext uri="{FF2B5EF4-FFF2-40B4-BE49-F238E27FC236}">
                <a16:creationId xmlns:a16="http://schemas.microsoft.com/office/drawing/2014/main" id="{465FE8E0-E7AE-8234-70B7-E7935910FDED}"/>
              </a:ext>
            </a:extLst>
          </p:cNvPr>
          <p:cNvSpPr/>
          <p:nvPr/>
        </p:nvSpPr>
        <p:spPr>
          <a:xfrm>
            <a:off x="8068877" y="1540595"/>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7D1382C5-17C3-9690-9BFC-41CAA0580A51}"/>
              </a:ext>
            </a:extLst>
          </p:cNvPr>
          <p:cNvSpPr/>
          <p:nvPr/>
        </p:nvSpPr>
        <p:spPr>
          <a:xfrm>
            <a:off x="8935861" y="1441617"/>
            <a:ext cx="504056" cy="646331"/>
          </a:xfrm>
          <a:prstGeom prst="ellipse">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A511EA1A-06B4-A837-7A0F-A7E21EEDCCD8}"/>
              </a:ext>
            </a:extLst>
          </p:cNvPr>
          <p:cNvSpPr txBox="1"/>
          <p:nvPr/>
        </p:nvSpPr>
        <p:spPr>
          <a:xfrm>
            <a:off x="8757486" y="1073244"/>
            <a:ext cx="895486" cy="369332"/>
          </a:xfrm>
          <a:prstGeom prst="rect">
            <a:avLst/>
          </a:prstGeom>
          <a:noFill/>
        </p:spPr>
        <p:txBody>
          <a:bodyPr wrap="square" rtlCol="0">
            <a:spAutoFit/>
          </a:bodyPr>
          <a:lstStyle/>
          <a:p>
            <a:r>
              <a:rPr lang="zh-CN" altLang="en-US" dirty="0"/>
              <a:t>探测器</a:t>
            </a:r>
          </a:p>
        </p:txBody>
      </p:sp>
      <p:sp>
        <p:nvSpPr>
          <p:cNvPr id="35" name="矩形: 圆角 34">
            <a:extLst>
              <a:ext uri="{FF2B5EF4-FFF2-40B4-BE49-F238E27FC236}">
                <a16:creationId xmlns:a16="http://schemas.microsoft.com/office/drawing/2014/main" id="{7B65E97D-F5E1-E267-3920-7569831BFB07}"/>
              </a:ext>
            </a:extLst>
          </p:cNvPr>
          <p:cNvSpPr/>
          <p:nvPr/>
        </p:nvSpPr>
        <p:spPr>
          <a:xfrm>
            <a:off x="11083302" y="1552519"/>
            <a:ext cx="836342" cy="5852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文本框 35">
            <a:extLst>
              <a:ext uri="{FF2B5EF4-FFF2-40B4-BE49-F238E27FC236}">
                <a16:creationId xmlns:a16="http://schemas.microsoft.com/office/drawing/2014/main" id="{A575365D-8810-8AC6-4CF2-4FB693D8037C}"/>
              </a:ext>
            </a:extLst>
          </p:cNvPr>
          <p:cNvSpPr txBox="1"/>
          <p:nvPr/>
        </p:nvSpPr>
        <p:spPr>
          <a:xfrm>
            <a:off x="11083119" y="1086211"/>
            <a:ext cx="798368" cy="369332"/>
          </a:xfrm>
          <a:prstGeom prst="rect">
            <a:avLst/>
          </a:prstGeom>
          <a:noFill/>
        </p:spPr>
        <p:txBody>
          <a:bodyPr wrap="square" rtlCol="0">
            <a:spAutoFit/>
          </a:bodyPr>
          <a:lstStyle/>
          <a:p>
            <a:r>
              <a:rPr lang="en-US" altLang="zh-CN" dirty="0"/>
              <a:t>PC</a:t>
            </a:r>
            <a:r>
              <a:rPr lang="zh-CN" altLang="en-US" dirty="0"/>
              <a:t>端</a:t>
            </a:r>
          </a:p>
        </p:txBody>
      </p:sp>
      <p:sp>
        <p:nvSpPr>
          <p:cNvPr id="37" name="任意多边形: 形状 36">
            <a:extLst>
              <a:ext uri="{FF2B5EF4-FFF2-40B4-BE49-F238E27FC236}">
                <a16:creationId xmlns:a16="http://schemas.microsoft.com/office/drawing/2014/main" id="{E6101D9F-54E5-6844-424A-5092834F24C7}"/>
              </a:ext>
            </a:extLst>
          </p:cNvPr>
          <p:cNvSpPr/>
          <p:nvPr/>
        </p:nvSpPr>
        <p:spPr>
          <a:xfrm>
            <a:off x="3825941" y="1433453"/>
            <a:ext cx="504056" cy="646332"/>
          </a:xfrm>
          <a:custGeom>
            <a:avLst/>
            <a:gdLst>
              <a:gd name="csX0" fmla="*/ 241423 w 504056"/>
              <a:gd name="csY0" fmla="*/ 93860 h 646332"/>
              <a:gd name="csX1" fmla="*/ 69824 w 504056"/>
              <a:gd name="csY1" fmla="*/ 317765 h 646332"/>
              <a:gd name="csX2" fmla="*/ 241423 w 504056"/>
              <a:gd name="csY2" fmla="*/ 541670 h 646332"/>
              <a:gd name="csX3" fmla="*/ 413022 w 504056"/>
              <a:gd name="csY3" fmla="*/ 317765 h 646332"/>
              <a:gd name="csX4" fmla="*/ 241423 w 504056"/>
              <a:gd name="csY4" fmla="*/ 93860 h 646332"/>
              <a:gd name="csX5" fmla="*/ 252028 w 504056"/>
              <a:gd name="csY5" fmla="*/ 0 h 646332"/>
              <a:gd name="csX6" fmla="*/ 504056 w 504056"/>
              <a:gd name="csY6" fmla="*/ 323166 h 646332"/>
              <a:gd name="csX7" fmla="*/ 252028 w 504056"/>
              <a:gd name="csY7" fmla="*/ 646332 h 646332"/>
              <a:gd name="csX8" fmla="*/ 0 w 504056"/>
              <a:gd name="csY8" fmla="*/ 323166 h 646332"/>
              <a:gd name="csX9" fmla="*/ 252028 w 504056"/>
              <a:gd name="csY9" fmla="*/ 0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04056" h="646332">
                <a:moveTo>
                  <a:pt x="241423" y="93860"/>
                </a:moveTo>
                <a:cubicBezTo>
                  <a:pt x="146651" y="93860"/>
                  <a:pt x="69824" y="194106"/>
                  <a:pt x="69824" y="317765"/>
                </a:cubicBezTo>
                <a:cubicBezTo>
                  <a:pt x="69824" y="441424"/>
                  <a:pt x="146651" y="541670"/>
                  <a:pt x="241423" y="541670"/>
                </a:cubicBezTo>
                <a:cubicBezTo>
                  <a:pt x="336195" y="541670"/>
                  <a:pt x="413022" y="441424"/>
                  <a:pt x="413022" y="317765"/>
                </a:cubicBezTo>
                <a:cubicBezTo>
                  <a:pt x="413022" y="194106"/>
                  <a:pt x="336195" y="93860"/>
                  <a:pt x="241423" y="93860"/>
                </a:cubicBezTo>
                <a:close/>
                <a:moveTo>
                  <a:pt x="252028" y="0"/>
                </a:moveTo>
                <a:cubicBezTo>
                  <a:pt x="391219" y="0"/>
                  <a:pt x="504056" y="144686"/>
                  <a:pt x="504056" y="323166"/>
                </a:cubicBezTo>
                <a:cubicBezTo>
                  <a:pt x="504056" y="501646"/>
                  <a:pt x="391219" y="646332"/>
                  <a:pt x="252028" y="646332"/>
                </a:cubicBezTo>
                <a:cubicBezTo>
                  <a:pt x="112837" y="646332"/>
                  <a:pt x="0" y="501646"/>
                  <a:pt x="0" y="323166"/>
                </a:cubicBezTo>
                <a:cubicBezTo>
                  <a:pt x="0" y="144686"/>
                  <a:pt x="112837" y="0"/>
                  <a:pt x="252028" y="0"/>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8" name="文本框 37">
            <a:extLst>
              <a:ext uri="{FF2B5EF4-FFF2-40B4-BE49-F238E27FC236}">
                <a16:creationId xmlns:a16="http://schemas.microsoft.com/office/drawing/2014/main" id="{F95922B7-42ED-0F36-824F-45DF8EA06949}"/>
              </a:ext>
            </a:extLst>
          </p:cNvPr>
          <p:cNvSpPr txBox="1"/>
          <p:nvPr/>
        </p:nvSpPr>
        <p:spPr>
          <a:xfrm>
            <a:off x="3757936" y="802320"/>
            <a:ext cx="796095" cy="646331"/>
          </a:xfrm>
          <a:prstGeom prst="rect">
            <a:avLst/>
          </a:prstGeom>
          <a:noFill/>
        </p:spPr>
        <p:txBody>
          <a:bodyPr wrap="square" rtlCol="0">
            <a:spAutoFit/>
          </a:bodyPr>
          <a:lstStyle/>
          <a:p>
            <a:r>
              <a:rPr lang="zh-CN" altLang="en-US" dirty="0"/>
              <a:t>孔径光阑</a:t>
            </a:r>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25B271DA-799D-D954-BC96-863FCA353C75}"/>
                  </a:ext>
                </a:extLst>
              </p:cNvPr>
              <p:cNvSpPr txBox="1"/>
              <p:nvPr/>
            </p:nvSpPr>
            <p:spPr>
              <a:xfrm>
                <a:off x="47328" y="2640645"/>
                <a:ext cx="12144672" cy="2829621"/>
              </a:xfrm>
              <a:prstGeom prst="rect">
                <a:avLst/>
              </a:prstGeom>
              <a:noFill/>
            </p:spPr>
            <p:txBody>
              <a:bodyPr wrap="square" rtlCol="0">
                <a:spAutoFit/>
              </a:bodyPr>
              <a:lstStyle/>
              <a:p>
                <a:pPr marL="285750" indent="-285750">
                  <a:buFont typeface="Arial" panose="020B0604020202020204" pitchFamily="34" charset="0"/>
                  <a:buChar char="•"/>
                </a:pPr>
                <a:r>
                  <a:rPr lang="zh-CN" altLang="en-US" b="1" dirty="0"/>
                  <a:t>发散角问题：</a:t>
                </a:r>
                <a:endParaRPr lang="en-US" altLang="zh-CN" b="1" dirty="0"/>
              </a:p>
              <a:p>
                <a:pPr marL="342900" indent="342900">
                  <a:buFont typeface="+mj-lt"/>
                  <a:buAutoNum type="arabicPeriod"/>
                </a:pPr>
                <a:r>
                  <a:rPr lang="zh-CN" altLang="en-US" dirty="0">
                    <a:solidFill>
                      <a:srgbClr val="FF0000"/>
                    </a:solidFill>
                  </a:rPr>
                  <a:t>孔径光阑</a:t>
                </a:r>
                <a:r>
                  <a:rPr lang="en-US" altLang="zh-CN" dirty="0">
                    <a:solidFill>
                      <a:srgbClr val="FF0000"/>
                    </a:solidFill>
                  </a:rPr>
                  <a:t>+4f</a:t>
                </a:r>
                <a:r>
                  <a:rPr lang="zh-CN" altLang="en-US" dirty="0">
                    <a:solidFill>
                      <a:srgbClr val="FF0000"/>
                    </a:solidFill>
                  </a:rPr>
                  <a:t>系统</a:t>
                </a:r>
                <a:r>
                  <a:rPr lang="zh-CN" altLang="en-US" dirty="0"/>
                  <a:t>（长焦聚焦短焦准直，同时将物体透射光斑大小缩小）透射物体的放大倍率为</a:t>
                </a:r>
                <a:r>
                  <a:rPr lang="en-US" altLang="zh-CN" dirty="0"/>
                  <a:t>M=</a:t>
                </a:r>
                <a14:m>
                  <m:oMath xmlns:m="http://schemas.openxmlformats.org/officeDocument/2006/math">
                    <m:f>
                      <m:fPr>
                        <m:ctrlPr>
                          <a:rPr lang="en-US" altLang="zh-CN" i="1">
                            <a:latin typeface="Cambria Math" panose="02040503050406030204" pitchFamily="18" charset="0"/>
                          </a:rPr>
                        </m:ctrlPr>
                      </m:fPr>
                      <m:num>
                        <m:r>
                          <m:rPr>
                            <m:sty m:val="p"/>
                          </m:rPr>
                          <a:rPr lang="en-US" altLang="zh-CN" i="1">
                            <a:latin typeface="Cambria Math" panose="02040503050406030204" pitchFamily="18" charset="0"/>
                          </a:rPr>
                          <m:t>f</m:t>
                        </m:r>
                        <m:r>
                          <a:rPr lang="en-US" altLang="zh-CN" i="1" smtClean="0">
                            <a:latin typeface="Cambria Math" panose="02040503050406030204" pitchFamily="18" charset="0"/>
                          </a:rPr>
                          <m:t>2</m:t>
                        </m:r>
                      </m:num>
                      <m:den>
                        <m:r>
                          <m:rPr>
                            <m:sty m:val="p"/>
                          </m:rPr>
                          <a:rPr lang="en-US" altLang="zh-CN" i="1">
                            <a:latin typeface="Cambria Math" panose="02040503050406030204" pitchFamily="18" charset="0"/>
                          </a:rPr>
                          <m:t>f</m:t>
                        </m:r>
                        <m:r>
                          <a:rPr lang="en-US" altLang="zh-CN" i="1" smtClean="0">
                            <a:latin typeface="Cambria Math" panose="02040503050406030204" pitchFamily="18" charset="0"/>
                          </a:rPr>
                          <m:t>3</m:t>
                        </m:r>
                      </m:den>
                    </m:f>
                  </m:oMath>
                </a14:m>
                <a:r>
                  <a:rPr lang="zh-CN" altLang="en-US" dirty="0"/>
                  <a:t>，</a:t>
                </a:r>
                <a:r>
                  <a:rPr lang="en-US" altLang="zh-CN" dirty="0"/>
                  <a:t>f2=50.8mm,f3=100mm</a:t>
                </a:r>
                <a:r>
                  <a:rPr lang="zh-CN" altLang="en-US" dirty="0"/>
                  <a:t>，此时可以将物体长宽各自缩小</a:t>
                </a:r>
                <a:r>
                  <a:rPr lang="en-US" altLang="zh-CN" dirty="0"/>
                  <a:t>2</a:t>
                </a:r>
                <a:r>
                  <a:rPr lang="zh-CN" altLang="en-US" dirty="0"/>
                  <a:t>倍，面积变为原来的</a:t>
                </a: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4</m:t>
                        </m:r>
                      </m:den>
                    </m:f>
                  </m:oMath>
                </a14:m>
                <a:endParaRPr lang="en-US" altLang="zh-CN" dirty="0"/>
              </a:p>
              <a:p>
                <a:pPr marL="342900" indent="342900">
                  <a:buFont typeface="+mj-lt"/>
                  <a:buAutoNum type="arabicPeriod"/>
                </a:pPr>
                <a:r>
                  <a:rPr lang="zh-CN" altLang="en-US" dirty="0"/>
                  <a:t>在透镜</a:t>
                </a:r>
                <a:r>
                  <a:rPr lang="en-US" altLang="zh-CN" dirty="0"/>
                  <a:t>2</a:t>
                </a:r>
                <a:r>
                  <a:rPr lang="zh-CN" altLang="en-US" dirty="0"/>
                  <a:t>和准直透镜的共焦平面上放置孔径光阑，孔径光阑可以缩小光线汇聚而成的点，进一步提高光线的准直效果，</a:t>
                </a:r>
                <a:r>
                  <a:rPr lang="en-US" altLang="zh-CN" dirty="0"/>
                  <a:t>PEM</a:t>
                </a:r>
                <a:r>
                  <a:rPr lang="zh-CN" altLang="en-US" dirty="0"/>
                  <a:t>在其后几乎紧贴放置</a:t>
                </a:r>
                <a:endParaRPr lang="en-US" altLang="zh-CN" dirty="0"/>
              </a:p>
              <a:p>
                <a:pPr marL="285750" indent="-285750">
                  <a:buFont typeface="Arial" panose="020B0604020202020204" pitchFamily="34" charset="0"/>
                  <a:buChar char="•"/>
                </a:pPr>
                <a:r>
                  <a:rPr lang="zh-CN" altLang="en-US" b="1" dirty="0"/>
                  <a:t>偏振物体的选择</a:t>
                </a:r>
                <a:r>
                  <a:rPr lang="en-US" altLang="zh-CN" b="1" dirty="0"/>
                  <a:t>:</a:t>
                </a:r>
              </a:p>
              <a:p>
                <a:pPr indent="457200"/>
                <a:r>
                  <a:rPr lang="zh-CN" altLang="en-US" dirty="0"/>
                  <a:t>尺子：缺点是没有图案，后续成像的中间过程难以判断，尺子不同地方的偏振信息差别较大，一旦取下尺子过后难以重复实验</a:t>
                </a:r>
                <a:endParaRPr lang="en-US" altLang="zh-CN" dirty="0"/>
              </a:p>
              <a:p>
                <a:pPr indent="457200"/>
                <a:r>
                  <a:rPr lang="zh-CN" altLang="en-US" dirty="0"/>
                  <a:t>玻璃纸＋赛璐芬：定制</a:t>
                </a:r>
                <a:r>
                  <a:rPr lang="en-US" altLang="zh-CN" dirty="0"/>
                  <a:t>UESTC</a:t>
                </a:r>
                <a:r>
                  <a:rPr lang="zh-CN" altLang="en-US" dirty="0"/>
                  <a:t>图案</a:t>
                </a:r>
                <a:r>
                  <a:rPr lang="en-US" altLang="zh-CN" dirty="0"/>
                  <a:t>+</a:t>
                </a:r>
                <a:r>
                  <a:rPr lang="zh-CN" altLang="en-US" dirty="0"/>
                  <a:t>玻璃纸改变局部偏振。结果偏振强度比较一般，勉强够用，后续有待优化</a:t>
                </a:r>
                <a:endParaRPr lang="en-US" altLang="zh-CN" dirty="0"/>
              </a:p>
            </p:txBody>
          </p:sp>
        </mc:Choice>
        <mc:Fallback xmlns="">
          <p:sp>
            <p:nvSpPr>
              <p:cNvPr id="39" name="文本框 38">
                <a:extLst>
                  <a:ext uri="{FF2B5EF4-FFF2-40B4-BE49-F238E27FC236}">
                    <a16:creationId xmlns:a16="http://schemas.microsoft.com/office/drawing/2014/main" id="{25B271DA-799D-D954-BC96-863FCA353C75}"/>
                  </a:ext>
                </a:extLst>
              </p:cNvPr>
              <p:cNvSpPr txBox="1">
                <a:spLocks noRot="1" noChangeAspect="1" noMove="1" noResize="1" noEditPoints="1" noAdjustHandles="1" noChangeArrowheads="1" noChangeShapeType="1" noTextEdit="1"/>
              </p:cNvSpPr>
              <p:nvPr/>
            </p:nvSpPr>
            <p:spPr>
              <a:xfrm>
                <a:off x="47328" y="2640645"/>
                <a:ext cx="12144672" cy="2829621"/>
              </a:xfrm>
              <a:prstGeom prst="rect">
                <a:avLst/>
              </a:prstGeom>
              <a:blipFill>
                <a:blip r:embed="rId3"/>
                <a:stretch>
                  <a:fillRect l="-452" t="-1078" b="-2586"/>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F919DDDD-34FE-3E0D-B7E0-33BA2ED9887E}"/>
              </a:ext>
            </a:extLst>
          </p:cNvPr>
          <p:cNvSpPr txBox="1"/>
          <p:nvPr/>
        </p:nvSpPr>
        <p:spPr>
          <a:xfrm>
            <a:off x="3143672" y="2204864"/>
            <a:ext cx="432048" cy="369332"/>
          </a:xfrm>
          <a:prstGeom prst="rect">
            <a:avLst/>
          </a:prstGeom>
          <a:noFill/>
        </p:spPr>
        <p:txBody>
          <a:bodyPr wrap="square" rtlCol="0">
            <a:spAutoFit/>
          </a:bodyPr>
          <a:lstStyle/>
          <a:p>
            <a:r>
              <a:rPr lang="en-US" altLang="zh-CN" dirty="0"/>
              <a:t>f2</a:t>
            </a:r>
            <a:endParaRPr lang="zh-CN" altLang="en-US" dirty="0"/>
          </a:p>
        </p:txBody>
      </p:sp>
      <p:sp>
        <p:nvSpPr>
          <p:cNvPr id="6" name="文本框 5">
            <a:extLst>
              <a:ext uri="{FF2B5EF4-FFF2-40B4-BE49-F238E27FC236}">
                <a16:creationId xmlns:a16="http://schemas.microsoft.com/office/drawing/2014/main" id="{D7B4ADCE-ECEA-BDBB-9E16-C10E8AEC8B2B}"/>
              </a:ext>
            </a:extLst>
          </p:cNvPr>
          <p:cNvSpPr txBox="1"/>
          <p:nvPr/>
        </p:nvSpPr>
        <p:spPr>
          <a:xfrm>
            <a:off x="4691350" y="2204864"/>
            <a:ext cx="432048" cy="369332"/>
          </a:xfrm>
          <a:prstGeom prst="rect">
            <a:avLst/>
          </a:prstGeom>
          <a:noFill/>
        </p:spPr>
        <p:txBody>
          <a:bodyPr wrap="square" rtlCol="0">
            <a:spAutoFit/>
          </a:bodyPr>
          <a:lstStyle/>
          <a:p>
            <a:r>
              <a:rPr lang="en-US" altLang="zh-CN" dirty="0"/>
              <a:t>f3</a:t>
            </a:r>
            <a:endParaRPr lang="zh-CN" altLang="en-US" dirty="0"/>
          </a:p>
        </p:txBody>
      </p:sp>
      <p:pic>
        <p:nvPicPr>
          <p:cNvPr id="41" name="图片 40">
            <a:extLst>
              <a:ext uri="{FF2B5EF4-FFF2-40B4-BE49-F238E27FC236}">
                <a16:creationId xmlns:a16="http://schemas.microsoft.com/office/drawing/2014/main" id="{68CA3727-72BC-D32E-9AE1-D74170B8B1FD}"/>
              </a:ext>
            </a:extLst>
          </p:cNvPr>
          <p:cNvPicPr>
            <a:picLocks noChangeAspect="1"/>
          </p:cNvPicPr>
          <p:nvPr/>
        </p:nvPicPr>
        <p:blipFill>
          <a:blip r:embed="rId4" cstate="print">
            <a:extLst>
              <a:ext uri="{28A0092B-C50C-407E-A947-70E740481C1C}">
                <a14:useLocalDpi xmlns:a14="http://schemas.microsoft.com/office/drawing/2010/main" val="0"/>
              </a:ext>
            </a:extLst>
          </a:blip>
          <a:srcRect l="40284" t="22133" r="30755" b="38450"/>
          <a:stretch>
            <a:fillRect/>
          </a:stretch>
        </p:blipFill>
        <p:spPr>
          <a:xfrm>
            <a:off x="1817552" y="5464048"/>
            <a:ext cx="1326120" cy="1353627"/>
          </a:xfrm>
          <a:prstGeom prst="rect">
            <a:avLst/>
          </a:prstGeom>
        </p:spPr>
      </p:pic>
      <p:sp>
        <p:nvSpPr>
          <p:cNvPr id="43" name="文本框 42">
            <a:extLst>
              <a:ext uri="{FF2B5EF4-FFF2-40B4-BE49-F238E27FC236}">
                <a16:creationId xmlns:a16="http://schemas.microsoft.com/office/drawing/2014/main" id="{F5F770F7-C11D-7E28-10FD-1BC54CBBBEB9}"/>
              </a:ext>
            </a:extLst>
          </p:cNvPr>
          <p:cNvSpPr txBox="1"/>
          <p:nvPr/>
        </p:nvSpPr>
        <p:spPr>
          <a:xfrm>
            <a:off x="47328" y="5783150"/>
            <a:ext cx="1872208" cy="646331"/>
          </a:xfrm>
          <a:prstGeom prst="rect">
            <a:avLst/>
          </a:prstGeom>
          <a:noFill/>
        </p:spPr>
        <p:txBody>
          <a:bodyPr wrap="square" rtlCol="0">
            <a:spAutoFit/>
          </a:bodyPr>
          <a:lstStyle/>
          <a:p>
            <a:pPr algn="ctr"/>
            <a:r>
              <a:rPr lang="zh-CN" altLang="en-US" dirty="0"/>
              <a:t>初始情况</a:t>
            </a:r>
            <a:endParaRPr lang="en-US" altLang="zh-CN" dirty="0"/>
          </a:p>
          <a:p>
            <a:r>
              <a:rPr lang="zh-CN" altLang="en-US" dirty="0"/>
              <a:t>（两偏振片垂直）</a:t>
            </a:r>
          </a:p>
        </p:txBody>
      </p:sp>
      <p:pic>
        <p:nvPicPr>
          <p:cNvPr id="45" name="图片 44">
            <a:extLst>
              <a:ext uri="{FF2B5EF4-FFF2-40B4-BE49-F238E27FC236}">
                <a16:creationId xmlns:a16="http://schemas.microsoft.com/office/drawing/2014/main" id="{2ED95FA6-AE36-72CB-E9B8-E8AA7BBDDCA4}"/>
              </a:ext>
            </a:extLst>
          </p:cNvPr>
          <p:cNvPicPr>
            <a:picLocks noChangeAspect="1"/>
          </p:cNvPicPr>
          <p:nvPr/>
        </p:nvPicPr>
        <p:blipFill>
          <a:blip r:embed="rId5" cstate="print">
            <a:extLst>
              <a:ext uri="{28A0092B-C50C-407E-A947-70E740481C1C}">
                <a14:useLocalDpi xmlns:a14="http://schemas.microsoft.com/office/drawing/2010/main" val="0"/>
              </a:ext>
            </a:extLst>
          </a:blip>
          <a:srcRect l="38036" t="22106" r="12604" b="33276"/>
          <a:stretch>
            <a:fillRect/>
          </a:stretch>
        </p:blipFill>
        <p:spPr>
          <a:xfrm>
            <a:off x="4668467" y="5412730"/>
            <a:ext cx="2300477" cy="1415065"/>
          </a:xfrm>
          <a:prstGeom prst="rect">
            <a:avLst/>
          </a:prstGeom>
        </p:spPr>
      </p:pic>
      <p:sp>
        <p:nvSpPr>
          <p:cNvPr id="46" name="文本框 45">
            <a:extLst>
              <a:ext uri="{FF2B5EF4-FFF2-40B4-BE49-F238E27FC236}">
                <a16:creationId xmlns:a16="http://schemas.microsoft.com/office/drawing/2014/main" id="{6C89C2B4-F1AD-B3E4-F8B4-58D9B8D5DC32}"/>
              </a:ext>
            </a:extLst>
          </p:cNvPr>
          <p:cNvSpPr txBox="1"/>
          <p:nvPr/>
        </p:nvSpPr>
        <p:spPr>
          <a:xfrm>
            <a:off x="3283858" y="5961848"/>
            <a:ext cx="1371982" cy="369332"/>
          </a:xfrm>
          <a:prstGeom prst="rect">
            <a:avLst/>
          </a:prstGeom>
          <a:noFill/>
        </p:spPr>
        <p:txBody>
          <a:bodyPr wrap="square" rtlCol="0">
            <a:spAutoFit/>
          </a:bodyPr>
          <a:lstStyle/>
          <a:p>
            <a:pPr algn="ctr"/>
            <a:r>
              <a:rPr lang="zh-CN" altLang="en-US" dirty="0"/>
              <a:t>待成像物体</a:t>
            </a:r>
          </a:p>
        </p:txBody>
      </p:sp>
      <p:sp>
        <p:nvSpPr>
          <p:cNvPr id="48" name="文本框 47">
            <a:extLst>
              <a:ext uri="{FF2B5EF4-FFF2-40B4-BE49-F238E27FC236}">
                <a16:creationId xmlns:a16="http://schemas.microsoft.com/office/drawing/2014/main" id="{475D0BCE-F89A-4214-4182-2F1D520276DF}"/>
              </a:ext>
            </a:extLst>
          </p:cNvPr>
          <p:cNvSpPr txBox="1"/>
          <p:nvPr/>
        </p:nvSpPr>
        <p:spPr>
          <a:xfrm>
            <a:off x="7630483" y="5930535"/>
            <a:ext cx="1371982" cy="369332"/>
          </a:xfrm>
          <a:prstGeom prst="rect">
            <a:avLst/>
          </a:prstGeom>
          <a:noFill/>
        </p:spPr>
        <p:txBody>
          <a:bodyPr wrap="square" rtlCol="0">
            <a:spAutoFit/>
          </a:bodyPr>
          <a:lstStyle/>
          <a:p>
            <a:pPr algn="ctr"/>
            <a:r>
              <a:rPr lang="zh-CN" altLang="en-US" dirty="0"/>
              <a:t>测试结果</a:t>
            </a:r>
          </a:p>
        </p:txBody>
      </p:sp>
      <p:pic>
        <p:nvPicPr>
          <p:cNvPr id="52" name="图片 51">
            <a:extLst>
              <a:ext uri="{FF2B5EF4-FFF2-40B4-BE49-F238E27FC236}">
                <a16:creationId xmlns:a16="http://schemas.microsoft.com/office/drawing/2014/main" id="{B5F1E127-D2E4-680C-A155-AB5600FF91DB}"/>
              </a:ext>
            </a:extLst>
          </p:cNvPr>
          <p:cNvPicPr>
            <a:picLocks noChangeAspect="1"/>
          </p:cNvPicPr>
          <p:nvPr/>
        </p:nvPicPr>
        <p:blipFill>
          <a:blip r:embed="rId6" cstate="print">
            <a:extLst>
              <a:ext uri="{28A0092B-C50C-407E-A947-70E740481C1C}">
                <a14:useLocalDpi xmlns:a14="http://schemas.microsoft.com/office/drawing/2010/main" val="0"/>
              </a:ext>
            </a:extLst>
          </a:blip>
          <a:srcRect l="28154" t="18854" r="30977" b="21086"/>
          <a:stretch>
            <a:fillRect/>
          </a:stretch>
        </p:blipFill>
        <p:spPr>
          <a:xfrm>
            <a:off x="9002465" y="5412729"/>
            <a:ext cx="1404945" cy="1404945"/>
          </a:xfrm>
          <a:prstGeom prst="rect">
            <a:avLst/>
          </a:prstGeom>
        </p:spPr>
      </p:pic>
    </p:spTree>
    <p:extLst>
      <p:ext uri="{BB962C8B-B14F-4D97-AF65-F5344CB8AC3E}">
        <p14:creationId xmlns:p14="http://schemas.microsoft.com/office/powerpoint/2010/main" val="2418007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465F11C-345D-0858-5632-3A85B98F710A}"/>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9BB7073B-6DA4-9DA1-BBC9-640E46CB70F8}"/>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87177F5A-0FCC-D6F9-C4BF-EB7B670F0151}"/>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1315130D-1628-39D5-6BDE-A67415408B6A}"/>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773A1228-DB7D-11E6-6F67-8A794F9EFBD7}"/>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zh-CN" sz="3200" dirty="0">
                <a:solidFill>
                  <a:srgbClr val="FFFFFF"/>
                </a:solidFill>
              </a:rPr>
              <a:t>准直与口径匹配案例</a:t>
            </a:r>
            <a:r>
              <a:rPr lang="en-US" altLang="zh-CN" sz="3200" dirty="0">
                <a:solidFill>
                  <a:srgbClr val="FFFFFF"/>
                </a:solidFill>
              </a:rPr>
              <a:t> </a:t>
            </a:r>
            <a:r>
              <a:rPr lang="zh-CN" altLang="en-US" sz="3200" dirty="0">
                <a:solidFill>
                  <a:srgbClr val="FFFFFF"/>
                </a:solidFill>
              </a:rPr>
              <a:t>结果</a:t>
            </a:r>
          </a:p>
        </p:txBody>
      </p:sp>
      <p:sp>
        <p:nvSpPr>
          <p:cNvPr id="14" name="文本框 13">
            <a:extLst>
              <a:ext uri="{FF2B5EF4-FFF2-40B4-BE49-F238E27FC236}">
                <a16:creationId xmlns:a16="http://schemas.microsoft.com/office/drawing/2014/main" id="{69214C71-D1B7-B1FF-20C0-5C82AA25CCA9}"/>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光路</a:t>
            </a:r>
            <a:endParaRPr lang="en-US" altLang="zh-CN" sz="3600" b="1" dirty="0">
              <a:solidFill>
                <a:srgbClr val="3467AB"/>
              </a:solidFill>
            </a:endParaRPr>
          </a:p>
        </p:txBody>
      </p:sp>
      <p:sp>
        <p:nvSpPr>
          <p:cNvPr id="2" name="文本框 1">
            <a:extLst>
              <a:ext uri="{FF2B5EF4-FFF2-40B4-BE49-F238E27FC236}">
                <a16:creationId xmlns:a16="http://schemas.microsoft.com/office/drawing/2014/main" id="{4B8E6405-E9A4-DD3F-9DF3-1C71D32AE9B2}"/>
              </a:ext>
            </a:extLst>
          </p:cNvPr>
          <p:cNvSpPr txBox="1"/>
          <p:nvPr/>
        </p:nvSpPr>
        <p:spPr>
          <a:xfrm>
            <a:off x="735600" y="779810"/>
            <a:ext cx="874715" cy="369332"/>
          </a:xfrm>
          <a:prstGeom prst="rect">
            <a:avLst/>
          </a:prstGeom>
          <a:noFill/>
        </p:spPr>
        <p:txBody>
          <a:bodyPr wrap="square" rtlCol="0">
            <a:spAutoFit/>
          </a:bodyPr>
          <a:lstStyle/>
          <a:p>
            <a:r>
              <a:rPr lang="zh-CN" altLang="en-US" dirty="0"/>
              <a:t>起偏器</a:t>
            </a:r>
          </a:p>
        </p:txBody>
      </p:sp>
      <p:sp>
        <p:nvSpPr>
          <p:cNvPr id="3" name="矩形: 圆角 2">
            <a:extLst>
              <a:ext uri="{FF2B5EF4-FFF2-40B4-BE49-F238E27FC236}">
                <a16:creationId xmlns:a16="http://schemas.microsoft.com/office/drawing/2014/main" id="{B6403F09-9000-A280-B5F1-FB07DD815C96}"/>
              </a:ext>
            </a:extLst>
          </p:cNvPr>
          <p:cNvSpPr/>
          <p:nvPr/>
        </p:nvSpPr>
        <p:spPr>
          <a:xfrm>
            <a:off x="9858255" y="1271045"/>
            <a:ext cx="836342" cy="58524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D23942C6-3723-30E1-92F3-2F53B85A143F}"/>
              </a:ext>
            </a:extLst>
          </p:cNvPr>
          <p:cNvSpPr txBox="1"/>
          <p:nvPr/>
        </p:nvSpPr>
        <p:spPr>
          <a:xfrm>
            <a:off x="9959855" y="797845"/>
            <a:ext cx="721668" cy="369332"/>
          </a:xfrm>
          <a:prstGeom prst="rect">
            <a:avLst/>
          </a:prstGeom>
          <a:noFill/>
        </p:spPr>
        <p:txBody>
          <a:bodyPr wrap="square" rtlCol="0">
            <a:spAutoFit/>
          </a:bodyPr>
          <a:lstStyle/>
          <a:p>
            <a:r>
              <a:rPr lang="zh-CN" altLang="en-US" dirty="0"/>
              <a:t>锁相</a:t>
            </a:r>
          </a:p>
        </p:txBody>
      </p:sp>
      <p:sp>
        <p:nvSpPr>
          <p:cNvPr id="7" name="箭头: 右 6">
            <a:extLst>
              <a:ext uri="{FF2B5EF4-FFF2-40B4-BE49-F238E27FC236}">
                <a16:creationId xmlns:a16="http://schemas.microsoft.com/office/drawing/2014/main" id="{B2F48095-594A-A656-01A3-D0CAA30FCC78}"/>
              </a:ext>
            </a:extLst>
          </p:cNvPr>
          <p:cNvSpPr/>
          <p:nvPr/>
        </p:nvSpPr>
        <p:spPr>
          <a:xfrm rot="12653839">
            <a:off x="443350" y="1867446"/>
            <a:ext cx="857986" cy="504056"/>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98A3A6C5-510A-EDC2-A1CA-4FA74545417D}"/>
              </a:ext>
            </a:extLst>
          </p:cNvPr>
          <p:cNvSpPr/>
          <p:nvPr/>
        </p:nvSpPr>
        <p:spPr>
          <a:xfrm>
            <a:off x="902047" y="1167177"/>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12" name="直接连接符 11">
            <a:extLst>
              <a:ext uri="{FF2B5EF4-FFF2-40B4-BE49-F238E27FC236}">
                <a16:creationId xmlns:a16="http://schemas.microsoft.com/office/drawing/2014/main" id="{252DF996-B85A-7AD4-7AE3-AE634A913D6E}"/>
              </a:ext>
            </a:extLst>
          </p:cNvPr>
          <p:cNvCxnSpPr>
            <a:cxnSpLocks/>
            <a:stCxn id="10" idx="3"/>
            <a:endCxn id="10" idx="7"/>
          </p:cNvCxnSpPr>
          <p:nvPr/>
        </p:nvCxnSpPr>
        <p:spPr>
          <a:xfrm flipV="1">
            <a:off x="975864" y="1261830"/>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A620E4C7-DDFB-0C14-CBB9-DE1882FDA89F}"/>
              </a:ext>
            </a:extLst>
          </p:cNvPr>
          <p:cNvSpPr txBox="1"/>
          <p:nvPr/>
        </p:nvSpPr>
        <p:spPr>
          <a:xfrm>
            <a:off x="-5710" y="808143"/>
            <a:ext cx="796095" cy="369332"/>
          </a:xfrm>
          <a:prstGeom prst="rect">
            <a:avLst/>
          </a:prstGeom>
          <a:noFill/>
        </p:spPr>
        <p:txBody>
          <a:bodyPr wrap="square" rtlCol="0">
            <a:spAutoFit/>
          </a:bodyPr>
          <a:lstStyle/>
          <a:p>
            <a:r>
              <a:rPr lang="en-US" altLang="zh-CN" dirty="0"/>
              <a:t>DMD</a:t>
            </a:r>
            <a:endParaRPr lang="zh-CN" altLang="en-US" dirty="0"/>
          </a:p>
        </p:txBody>
      </p:sp>
      <p:sp>
        <p:nvSpPr>
          <p:cNvPr id="16" name="矩形 15">
            <a:extLst>
              <a:ext uri="{FF2B5EF4-FFF2-40B4-BE49-F238E27FC236}">
                <a16:creationId xmlns:a16="http://schemas.microsoft.com/office/drawing/2014/main" id="{2D531470-F5F7-82BF-5669-5813CC78CA67}"/>
              </a:ext>
            </a:extLst>
          </p:cNvPr>
          <p:cNvSpPr/>
          <p:nvPr/>
        </p:nvSpPr>
        <p:spPr>
          <a:xfrm>
            <a:off x="245066" y="1259121"/>
            <a:ext cx="161667" cy="432048"/>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5AF820D7-BDD9-1174-7CA8-A3BA2BF69A44}"/>
              </a:ext>
            </a:extLst>
          </p:cNvPr>
          <p:cNvSpPr txBox="1"/>
          <p:nvPr/>
        </p:nvSpPr>
        <p:spPr>
          <a:xfrm>
            <a:off x="1163568" y="1857237"/>
            <a:ext cx="720080" cy="369332"/>
          </a:xfrm>
          <a:prstGeom prst="rect">
            <a:avLst/>
          </a:prstGeom>
          <a:noFill/>
        </p:spPr>
        <p:txBody>
          <a:bodyPr wrap="square" rtlCol="0">
            <a:spAutoFit/>
          </a:bodyPr>
          <a:lstStyle/>
          <a:p>
            <a:r>
              <a:rPr lang="zh-CN" altLang="en-US" dirty="0"/>
              <a:t>光源</a:t>
            </a:r>
          </a:p>
        </p:txBody>
      </p:sp>
      <p:sp>
        <p:nvSpPr>
          <p:cNvPr id="18" name="文本框 17">
            <a:extLst>
              <a:ext uri="{FF2B5EF4-FFF2-40B4-BE49-F238E27FC236}">
                <a16:creationId xmlns:a16="http://schemas.microsoft.com/office/drawing/2014/main" id="{24C36E32-90F1-6D9C-CF51-75B72339A398}"/>
              </a:ext>
            </a:extLst>
          </p:cNvPr>
          <p:cNvSpPr txBox="1"/>
          <p:nvPr/>
        </p:nvSpPr>
        <p:spPr>
          <a:xfrm>
            <a:off x="1615367" y="793376"/>
            <a:ext cx="796095" cy="369332"/>
          </a:xfrm>
          <a:prstGeom prst="rect">
            <a:avLst/>
          </a:prstGeom>
          <a:noFill/>
        </p:spPr>
        <p:txBody>
          <a:bodyPr wrap="square" rtlCol="0">
            <a:spAutoFit/>
          </a:bodyPr>
          <a:lstStyle/>
          <a:p>
            <a:r>
              <a:rPr lang="zh-CN" altLang="en-US" dirty="0"/>
              <a:t>透镜</a:t>
            </a:r>
            <a:r>
              <a:rPr lang="en-US" altLang="zh-CN" dirty="0"/>
              <a:t>1</a:t>
            </a:r>
            <a:endParaRPr lang="zh-CN" altLang="en-US" dirty="0"/>
          </a:p>
        </p:txBody>
      </p:sp>
      <p:sp>
        <p:nvSpPr>
          <p:cNvPr id="19" name="椭圆 18">
            <a:extLst>
              <a:ext uri="{FF2B5EF4-FFF2-40B4-BE49-F238E27FC236}">
                <a16:creationId xmlns:a16="http://schemas.microsoft.com/office/drawing/2014/main" id="{4FF3EC9C-B221-291B-601C-A80F536F46A6}"/>
              </a:ext>
            </a:extLst>
          </p:cNvPr>
          <p:cNvSpPr/>
          <p:nvPr/>
        </p:nvSpPr>
        <p:spPr>
          <a:xfrm>
            <a:off x="1956592" y="1245757"/>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13C9E0EE-B212-8735-3FFD-EE35D0CBF341}"/>
              </a:ext>
            </a:extLst>
          </p:cNvPr>
          <p:cNvSpPr/>
          <p:nvPr/>
        </p:nvSpPr>
        <p:spPr>
          <a:xfrm>
            <a:off x="2639238" y="889775"/>
            <a:ext cx="144016" cy="1152128"/>
          </a:xfrm>
          <a:prstGeom prst="rect">
            <a:avLst/>
          </a:prstGeom>
          <a:solidFill>
            <a:schemeClr val="bg2"/>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7C7A717E-9B27-06B2-88F1-55E01E64D181}"/>
              </a:ext>
            </a:extLst>
          </p:cNvPr>
          <p:cNvSpPr txBox="1"/>
          <p:nvPr/>
        </p:nvSpPr>
        <p:spPr>
          <a:xfrm>
            <a:off x="2406410" y="2011941"/>
            <a:ext cx="652585" cy="369332"/>
          </a:xfrm>
          <a:prstGeom prst="rect">
            <a:avLst/>
          </a:prstGeom>
          <a:noFill/>
        </p:spPr>
        <p:txBody>
          <a:bodyPr wrap="square" rtlCol="0">
            <a:spAutoFit/>
          </a:bodyPr>
          <a:lstStyle/>
          <a:p>
            <a:r>
              <a:rPr lang="zh-CN" altLang="en-US" dirty="0"/>
              <a:t>物体</a:t>
            </a:r>
          </a:p>
        </p:txBody>
      </p:sp>
      <p:sp>
        <p:nvSpPr>
          <p:cNvPr id="22" name="文本框 21">
            <a:extLst>
              <a:ext uri="{FF2B5EF4-FFF2-40B4-BE49-F238E27FC236}">
                <a16:creationId xmlns:a16="http://schemas.microsoft.com/office/drawing/2014/main" id="{BD02B20E-3F9B-C20F-F548-6DFB33295952}"/>
              </a:ext>
            </a:extLst>
          </p:cNvPr>
          <p:cNvSpPr txBox="1"/>
          <p:nvPr/>
        </p:nvSpPr>
        <p:spPr>
          <a:xfrm>
            <a:off x="2954526" y="788235"/>
            <a:ext cx="796095" cy="369332"/>
          </a:xfrm>
          <a:prstGeom prst="rect">
            <a:avLst/>
          </a:prstGeom>
          <a:noFill/>
        </p:spPr>
        <p:txBody>
          <a:bodyPr wrap="square" rtlCol="0">
            <a:spAutoFit/>
          </a:bodyPr>
          <a:lstStyle/>
          <a:p>
            <a:r>
              <a:rPr lang="zh-CN" altLang="en-US" dirty="0"/>
              <a:t>透镜</a:t>
            </a:r>
            <a:r>
              <a:rPr lang="en-US" altLang="zh-CN" dirty="0"/>
              <a:t>2</a:t>
            </a:r>
            <a:endParaRPr lang="zh-CN" altLang="en-US" dirty="0"/>
          </a:p>
        </p:txBody>
      </p:sp>
      <p:sp>
        <p:nvSpPr>
          <p:cNvPr id="23" name="椭圆 22">
            <a:extLst>
              <a:ext uri="{FF2B5EF4-FFF2-40B4-BE49-F238E27FC236}">
                <a16:creationId xmlns:a16="http://schemas.microsoft.com/office/drawing/2014/main" id="{4FAD8980-DE88-C08D-1501-AA830C4769B7}"/>
              </a:ext>
            </a:extLst>
          </p:cNvPr>
          <p:cNvSpPr/>
          <p:nvPr/>
        </p:nvSpPr>
        <p:spPr>
          <a:xfrm>
            <a:off x="3232519" y="125000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C05F22FC-4A05-AFFB-6082-B1229C6AF81E}"/>
              </a:ext>
            </a:extLst>
          </p:cNvPr>
          <p:cNvSpPr txBox="1"/>
          <p:nvPr/>
        </p:nvSpPr>
        <p:spPr>
          <a:xfrm>
            <a:off x="4364369" y="793837"/>
            <a:ext cx="1097515" cy="369332"/>
          </a:xfrm>
          <a:prstGeom prst="rect">
            <a:avLst/>
          </a:prstGeom>
          <a:noFill/>
        </p:spPr>
        <p:txBody>
          <a:bodyPr wrap="square" rtlCol="0">
            <a:spAutoFit/>
          </a:bodyPr>
          <a:lstStyle/>
          <a:p>
            <a:r>
              <a:rPr lang="zh-CN" altLang="en-US" dirty="0"/>
              <a:t>准直透镜</a:t>
            </a:r>
          </a:p>
        </p:txBody>
      </p:sp>
      <p:sp>
        <p:nvSpPr>
          <p:cNvPr id="25" name="椭圆 24">
            <a:extLst>
              <a:ext uri="{FF2B5EF4-FFF2-40B4-BE49-F238E27FC236}">
                <a16:creationId xmlns:a16="http://schemas.microsoft.com/office/drawing/2014/main" id="{67C274BE-4EFB-F51B-7738-2C6424F47523}"/>
              </a:ext>
            </a:extLst>
          </p:cNvPr>
          <p:cNvSpPr/>
          <p:nvPr/>
        </p:nvSpPr>
        <p:spPr>
          <a:xfrm>
            <a:off x="4813096" y="1249999"/>
            <a:ext cx="144016"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EE02AFCA-1769-BFBD-1B24-D920F8FB3C11}"/>
              </a:ext>
            </a:extLst>
          </p:cNvPr>
          <p:cNvSpPr/>
          <p:nvPr/>
        </p:nvSpPr>
        <p:spPr>
          <a:xfrm>
            <a:off x="5651532" y="1398132"/>
            <a:ext cx="504056" cy="214153"/>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6F2804AC-D8F3-DD03-D9FA-DE2ABE311A2C}"/>
              </a:ext>
            </a:extLst>
          </p:cNvPr>
          <p:cNvSpPr txBox="1"/>
          <p:nvPr/>
        </p:nvSpPr>
        <p:spPr>
          <a:xfrm>
            <a:off x="5542778" y="792262"/>
            <a:ext cx="723004" cy="369332"/>
          </a:xfrm>
          <a:prstGeom prst="rect">
            <a:avLst/>
          </a:prstGeom>
          <a:noFill/>
        </p:spPr>
        <p:txBody>
          <a:bodyPr wrap="square" rtlCol="0">
            <a:spAutoFit/>
          </a:bodyPr>
          <a:lstStyle/>
          <a:p>
            <a:r>
              <a:rPr lang="en-US" altLang="zh-CN" dirty="0"/>
              <a:t>PEM</a:t>
            </a:r>
            <a:endParaRPr lang="zh-CN" altLang="en-US" dirty="0"/>
          </a:p>
        </p:txBody>
      </p:sp>
      <p:sp>
        <p:nvSpPr>
          <p:cNvPr id="28" name="椭圆 27">
            <a:extLst>
              <a:ext uri="{FF2B5EF4-FFF2-40B4-BE49-F238E27FC236}">
                <a16:creationId xmlns:a16="http://schemas.microsoft.com/office/drawing/2014/main" id="{E77B59C6-F320-3193-C68C-B241B39720FA}"/>
              </a:ext>
            </a:extLst>
          </p:cNvPr>
          <p:cNvSpPr/>
          <p:nvPr/>
        </p:nvSpPr>
        <p:spPr>
          <a:xfrm>
            <a:off x="6687283" y="1176392"/>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3E16F706-B0A8-2194-93B3-B117BCEC1ED8}"/>
              </a:ext>
            </a:extLst>
          </p:cNvPr>
          <p:cNvSpPr txBox="1"/>
          <p:nvPr/>
        </p:nvSpPr>
        <p:spPr>
          <a:xfrm>
            <a:off x="6491813" y="788235"/>
            <a:ext cx="1011068" cy="369332"/>
          </a:xfrm>
          <a:prstGeom prst="rect">
            <a:avLst/>
          </a:prstGeom>
          <a:noFill/>
        </p:spPr>
        <p:txBody>
          <a:bodyPr wrap="square" rtlCol="0">
            <a:spAutoFit/>
          </a:bodyPr>
          <a:lstStyle/>
          <a:p>
            <a:r>
              <a:rPr lang="zh-CN" altLang="en-US" dirty="0"/>
              <a:t>检偏器</a:t>
            </a:r>
          </a:p>
        </p:txBody>
      </p:sp>
      <p:cxnSp>
        <p:nvCxnSpPr>
          <p:cNvPr id="30" name="直接连接符 29">
            <a:extLst>
              <a:ext uri="{FF2B5EF4-FFF2-40B4-BE49-F238E27FC236}">
                <a16:creationId xmlns:a16="http://schemas.microsoft.com/office/drawing/2014/main" id="{5D52040E-763C-EDB9-2094-A7A823EF8CE8}"/>
              </a:ext>
            </a:extLst>
          </p:cNvPr>
          <p:cNvCxnSpPr>
            <a:stCxn id="28" idx="3"/>
            <a:endCxn id="28" idx="7"/>
          </p:cNvCxnSpPr>
          <p:nvPr/>
        </p:nvCxnSpPr>
        <p:spPr>
          <a:xfrm flipV="1">
            <a:off x="6761100" y="1271045"/>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FED330D9-8462-C1CD-EC73-F8AA23B907F6}"/>
              </a:ext>
            </a:extLst>
          </p:cNvPr>
          <p:cNvSpPr txBox="1"/>
          <p:nvPr/>
        </p:nvSpPr>
        <p:spPr>
          <a:xfrm>
            <a:off x="7547665" y="810917"/>
            <a:ext cx="1151206" cy="369332"/>
          </a:xfrm>
          <a:prstGeom prst="rect">
            <a:avLst/>
          </a:prstGeom>
          <a:noFill/>
        </p:spPr>
        <p:txBody>
          <a:bodyPr wrap="square" rtlCol="0">
            <a:spAutoFit/>
          </a:bodyPr>
          <a:lstStyle/>
          <a:p>
            <a:r>
              <a:rPr lang="zh-CN" altLang="en-US" dirty="0"/>
              <a:t>聚光透镜</a:t>
            </a:r>
          </a:p>
        </p:txBody>
      </p:sp>
      <p:sp>
        <p:nvSpPr>
          <p:cNvPr id="32" name="椭圆 31">
            <a:extLst>
              <a:ext uri="{FF2B5EF4-FFF2-40B4-BE49-F238E27FC236}">
                <a16:creationId xmlns:a16="http://schemas.microsoft.com/office/drawing/2014/main" id="{321423DA-7FFF-9BC2-17A3-420D05238A93}"/>
              </a:ext>
            </a:extLst>
          </p:cNvPr>
          <p:cNvSpPr/>
          <p:nvPr/>
        </p:nvSpPr>
        <p:spPr>
          <a:xfrm>
            <a:off x="8068877" y="1259121"/>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9CB778D9-9CCA-3DC1-1149-6E8608599C7C}"/>
              </a:ext>
            </a:extLst>
          </p:cNvPr>
          <p:cNvSpPr/>
          <p:nvPr/>
        </p:nvSpPr>
        <p:spPr>
          <a:xfrm>
            <a:off x="8935861" y="1160143"/>
            <a:ext cx="504056" cy="646331"/>
          </a:xfrm>
          <a:prstGeom prst="ellipse">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E1E5CF7D-1241-7C5D-1F4F-BAFD99BBFC26}"/>
              </a:ext>
            </a:extLst>
          </p:cNvPr>
          <p:cNvSpPr txBox="1"/>
          <p:nvPr/>
        </p:nvSpPr>
        <p:spPr>
          <a:xfrm>
            <a:off x="8757486" y="791770"/>
            <a:ext cx="895486" cy="369332"/>
          </a:xfrm>
          <a:prstGeom prst="rect">
            <a:avLst/>
          </a:prstGeom>
          <a:noFill/>
        </p:spPr>
        <p:txBody>
          <a:bodyPr wrap="square" rtlCol="0">
            <a:spAutoFit/>
          </a:bodyPr>
          <a:lstStyle/>
          <a:p>
            <a:r>
              <a:rPr lang="zh-CN" altLang="en-US" dirty="0"/>
              <a:t>探测器</a:t>
            </a:r>
          </a:p>
        </p:txBody>
      </p:sp>
      <p:sp>
        <p:nvSpPr>
          <p:cNvPr id="35" name="矩形: 圆角 34">
            <a:extLst>
              <a:ext uri="{FF2B5EF4-FFF2-40B4-BE49-F238E27FC236}">
                <a16:creationId xmlns:a16="http://schemas.microsoft.com/office/drawing/2014/main" id="{A43911F7-B27F-B5EC-B8C0-1279713FE1BB}"/>
              </a:ext>
            </a:extLst>
          </p:cNvPr>
          <p:cNvSpPr/>
          <p:nvPr/>
        </p:nvSpPr>
        <p:spPr>
          <a:xfrm>
            <a:off x="11083302" y="1271045"/>
            <a:ext cx="836342" cy="5852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文本框 35">
            <a:extLst>
              <a:ext uri="{FF2B5EF4-FFF2-40B4-BE49-F238E27FC236}">
                <a16:creationId xmlns:a16="http://schemas.microsoft.com/office/drawing/2014/main" id="{FB3BD579-9313-C84C-E736-C725A47C749D}"/>
              </a:ext>
            </a:extLst>
          </p:cNvPr>
          <p:cNvSpPr txBox="1"/>
          <p:nvPr/>
        </p:nvSpPr>
        <p:spPr>
          <a:xfrm>
            <a:off x="11083119" y="804737"/>
            <a:ext cx="798368" cy="369332"/>
          </a:xfrm>
          <a:prstGeom prst="rect">
            <a:avLst/>
          </a:prstGeom>
          <a:noFill/>
        </p:spPr>
        <p:txBody>
          <a:bodyPr wrap="square" rtlCol="0">
            <a:spAutoFit/>
          </a:bodyPr>
          <a:lstStyle/>
          <a:p>
            <a:r>
              <a:rPr lang="en-US" altLang="zh-CN" dirty="0"/>
              <a:t>PC</a:t>
            </a:r>
            <a:r>
              <a:rPr lang="zh-CN" altLang="en-US" dirty="0"/>
              <a:t>端</a:t>
            </a:r>
          </a:p>
        </p:txBody>
      </p:sp>
      <p:sp>
        <p:nvSpPr>
          <p:cNvPr id="37" name="任意多边形: 形状 36">
            <a:extLst>
              <a:ext uri="{FF2B5EF4-FFF2-40B4-BE49-F238E27FC236}">
                <a16:creationId xmlns:a16="http://schemas.microsoft.com/office/drawing/2014/main" id="{7006ADC3-A2E5-F0D6-F85A-4ADFBEEC8A39}"/>
              </a:ext>
            </a:extLst>
          </p:cNvPr>
          <p:cNvSpPr/>
          <p:nvPr/>
        </p:nvSpPr>
        <p:spPr>
          <a:xfrm>
            <a:off x="3825941" y="1151979"/>
            <a:ext cx="504056" cy="646332"/>
          </a:xfrm>
          <a:custGeom>
            <a:avLst/>
            <a:gdLst>
              <a:gd name="csX0" fmla="*/ 241423 w 504056"/>
              <a:gd name="csY0" fmla="*/ 93860 h 646332"/>
              <a:gd name="csX1" fmla="*/ 69824 w 504056"/>
              <a:gd name="csY1" fmla="*/ 317765 h 646332"/>
              <a:gd name="csX2" fmla="*/ 241423 w 504056"/>
              <a:gd name="csY2" fmla="*/ 541670 h 646332"/>
              <a:gd name="csX3" fmla="*/ 413022 w 504056"/>
              <a:gd name="csY3" fmla="*/ 317765 h 646332"/>
              <a:gd name="csX4" fmla="*/ 241423 w 504056"/>
              <a:gd name="csY4" fmla="*/ 93860 h 646332"/>
              <a:gd name="csX5" fmla="*/ 252028 w 504056"/>
              <a:gd name="csY5" fmla="*/ 0 h 646332"/>
              <a:gd name="csX6" fmla="*/ 504056 w 504056"/>
              <a:gd name="csY6" fmla="*/ 323166 h 646332"/>
              <a:gd name="csX7" fmla="*/ 252028 w 504056"/>
              <a:gd name="csY7" fmla="*/ 646332 h 646332"/>
              <a:gd name="csX8" fmla="*/ 0 w 504056"/>
              <a:gd name="csY8" fmla="*/ 323166 h 646332"/>
              <a:gd name="csX9" fmla="*/ 252028 w 504056"/>
              <a:gd name="csY9" fmla="*/ 0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04056" h="646332">
                <a:moveTo>
                  <a:pt x="241423" y="93860"/>
                </a:moveTo>
                <a:cubicBezTo>
                  <a:pt x="146651" y="93860"/>
                  <a:pt x="69824" y="194106"/>
                  <a:pt x="69824" y="317765"/>
                </a:cubicBezTo>
                <a:cubicBezTo>
                  <a:pt x="69824" y="441424"/>
                  <a:pt x="146651" y="541670"/>
                  <a:pt x="241423" y="541670"/>
                </a:cubicBezTo>
                <a:cubicBezTo>
                  <a:pt x="336195" y="541670"/>
                  <a:pt x="413022" y="441424"/>
                  <a:pt x="413022" y="317765"/>
                </a:cubicBezTo>
                <a:cubicBezTo>
                  <a:pt x="413022" y="194106"/>
                  <a:pt x="336195" y="93860"/>
                  <a:pt x="241423" y="93860"/>
                </a:cubicBezTo>
                <a:close/>
                <a:moveTo>
                  <a:pt x="252028" y="0"/>
                </a:moveTo>
                <a:cubicBezTo>
                  <a:pt x="391219" y="0"/>
                  <a:pt x="504056" y="144686"/>
                  <a:pt x="504056" y="323166"/>
                </a:cubicBezTo>
                <a:cubicBezTo>
                  <a:pt x="504056" y="501646"/>
                  <a:pt x="391219" y="646332"/>
                  <a:pt x="252028" y="646332"/>
                </a:cubicBezTo>
                <a:cubicBezTo>
                  <a:pt x="112837" y="646332"/>
                  <a:pt x="0" y="501646"/>
                  <a:pt x="0" y="323166"/>
                </a:cubicBezTo>
                <a:cubicBezTo>
                  <a:pt x="0" y="144686"/>
                  <a:pt x="112837" y="0"/>
                  <a:pt x="252028" y="0"/>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8" name="文本框 37">
            <a:extLst>
              <a:ext uri="{FF2B5EF4-FFF2-40B4-BE49-F238E27FC236}">
                <a16:creationId xmlns:a16="http://schemas.microsoft.com/office/drawing/2014/main" id="{388AA547-F3BD-D0E7-02B7-70BF739B92AA}"/>
              </a:ext>
            </a:extLst>
          </p:cNvPr>
          <p:cNvSpPr txBox="1"/>
          <p:nvPr/>
        </p:nvSpPr>
        <p:spPr>
          <a:xfrm>
            <a:off x="3757936" y="1792283"/>
            <a:ext cx="796095" cy="646331"/>
          </a:xfrm>
          <a:prstGeom prst="rect">
            <a:avLst/>
          </a:prstGeom>
          <a:noFill/>
        </p:spPr>
        <p:txBody>
          <a:bodyPr wrap="square" rtlCol="0">
            <a:spAutoFit/>
          </a:bodyPr>
          <a:lstStyle/>
          <a:p>
            <a:r>
              <a:rPr lang="zh-CN" altLang="en-US" dirty="0"/>
              <a:t>孔径光阑</a:t>
            </a:r>
          </a:p>
        </p:txBody>
      </p:sp>
      <p:sp>
        <p:nvSpPr>
          <p:cNvPr id="39" name="文本框 38">
            <a:extLst>
              <a:ext uri="{FF2B5EF4-FFF2-40B4-BE49-F238E27FC236}">
                <a16:creationId xmlns:a16="http://schemas.microsoft.com/office/drawing/2014/main" id="{DAF0BE0E-2AB8-8846-1F9E-39E923506589}"/>
              </a:ext>
            </a:extLst>
          </p:cNvPr>
          <p:cNvSpPr txBox="1"/>
          <p:nvPr/>
        </p:nvSpPr>
        <p:spPr>
          <a:xfrm>
            <a:off x="23664" y="2486136"/>
            <a:ext cx="12144672" cy="3970318"/>
          </a:xfrm>
          <a:prstGeom prst="rect">
            <a:avLst/>
          </a:prstGeom>
          <a:noFill/>
        </p:spPr>
        <p:txBody>
          <a:bodyPr wrap="square" rtlCol="0">
            <a:spAutoFit/>
          </a:bodyPr>
          <a:lstStyle/>
          <a:p>
            <a:pPr marL="285750" indent="-285750">
              <a:buFont typeface="Arial" panose="020B0604020202020204" pitchFamily="34" charset="0"/>
              <a:buChar char="•"/>
            </a:pPr>
            <a:r>
              <a:rPr lang="zh-CN" altLang="en-US" sz="2400" b="1" dirty="0"/>
              <a:t>结果</a:t>
            </a:r>
            <a:endParaRPr lang="en-US" altLang="zh-CN" sz="2400" b="1" dirty="0"/>
          </a:p>
          <a:p>
            <a:pPr marL="342900" indent="-342900">
              <a:buFont typeface="+mj-lt"/>
              <a:buAutoNum type="arabicPeriod"/>
            </a:pPr>
            <a:r>
              <a:rPr lang="zh-CN" altLang="en-US" dirty="0"/>
              <a:t>准直失败，成像大小会随着像距增大而增大，无法满足</a:t>
            </a:r>
            <a:r>
              <a:rPr lang="en-US" altLang="zh-CN" dirty="0"/>
              <a:t>PEM</a:t>
            </a:r>
            <a:r>
              <a:rPr lang="zh-CN" altLang="en-US" dirty="0"/>
              <a:t>对平行光的要求</a:t>
            </a:r>
            <a:endParaRPr lang="en-US" altLang="zh-CN" dirty="0"/>
          </a:p>
          <a:p>
            <a:pPr marL="342900" indent="-342900">
              <a:buFont typeface="+mj-lt"/>
              <a:buAutoNum type="arabicPeriod"/>
            </a:pPr>
            <a:r>
              <a:rPr lang="zh-CN" altLang="en-US" dirty="0"/>
              <a:t>大尺寸透镜</a:t>
            </a:r>
            <a:r>
              <a:rPr lang="en-US" altLang="zh-CN" dirty="0"/>
              <a:t>f3</a:t>
            </a:r>
            <a:r>
              <a:rPr lang="zh-CN" altLang="en-US" dirty="0"/>
              <a:t>（</a:t>
            </a:r>
            <a:r>
              <a:rPr lang="en-US" altLang="zh-CN" dirty="0"/>
              <a:t>50.8mm</a:t>
            </a:r>
            <a:r>
              <a:rPr lang="zh-CN" altLang="en-US" dirty="0"/>
              <a:t>口径透镜）得到的的效果很差，边缘引入了很大的相差，成像图案几乎扭曲。</a:t>
            </a:r>
            <a:endParaRPr lang="en-US" altLang="zh-CN" dirty="0"/>
          </a:p>
          <a:p>
            <a:pPr marL="342900" indent="-342900">
              <a:buFont typeface="+mj-lt"/>
              <a:buAutoNum type="arabicPeriod"/>
            </a:pPr>
            <a:r>
              <a:rPr lang="zh-CN" altLang="en-US" dirty="0"/>
              <a:t>经过测试（见</a:t>
            </a:r>
            <a:r>
              <a:rPr lang="zh-CN" altLang="en-US" dirty="0">
                <a:hlinkClick r:id="rId3" action="ppaction://hlinksldjump"/>
              </a:rPr>
              <a:t>附录</a:t>
            </a:r>
            <a:r>
              <a:rPr lang="zh-CN" altLang="en-US" dirty="0"/>
              <a:t>），是对焦没对上的问题经过调整后有明显改善，如下图</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2400" b="1" dirty="0"/>
          </a:p>
          <a:p>
            <a:endParaRPr lang="en-US" altLang="zh-CN" sz="2400" b="1" dirty="0"/>
          </a:p>
          <a:p>
            <a:pPr marL="342900" indent="-342900">
              <a:buFont typeface="+mj-lt"/>
              <a:buAutoNum type="arabicPeriod"/>
            </a:pPr>
            <a:r>
              <a:rPr lang="zh-CN" altLang="en-US" dirty="0"/>
              <a:t>考虑尝试使用激光光源，不再使用白光光源</a:t>
            </a:r>
            <a:r>
              <a:rPr lang="en-US" altLang="zh-CN" dirty="0"/>
              <a:t>+</a:t>
            </a:r>
            <a:r>
              <a:rPr lang="zh-CN" altLang="en-US" dirty="0"/>
              <a:t>滤光片，师兄说激光准直效果很好，准直比较方便。</a:t>
            </a:r>
            <a:endParaRPr lang="en-US" altLang="zh-CN" dirty="0"/>
          </a:p>
          <a:p>
            <a:r>
              <a:rPr lang="zh-CN" altLang="en-US" dirty="0"/>
              <a:t>汪老师课题组研二师兄梁启航（项目为物理驱动深度学习框架下</a:t>
            </a:r>
            <a:r>
              <a:rPr lang="zh-CN" altLang="en-US" dirty="0">
                <a:solidFill>
                  <a:srgbClr val="EF8004"/>
                </a:solidFill>
              </a:rPr>
              <a:t>单像素成像</a:t>
            </a:r>
            <a:r>
              <a:rPr lang="zh-CN" altLang="en-US" dirty="0"/>
              <a:t>采集与重构分辨率解耦方法）</a:t>
            </a:r>
            <a:endParaRPr lang="en-US" altLang="zh-CN" dirty="0"/>
          </a:p>
        </p:txBody>
      </p:sp>
      <p:sp>
        <p:nvSpPr>
          <p:cNvPr id="4" name="文本框 3">
            <a:extLst>
              <a:ext uri="{FF2B5EF4-FFF2-40B4-BE49-F238E27FC236}">
                <a16:creationId xmlns:a16="http://schemas.microsoft.com/office/drawing/2014/main" id="{106D6C02-F181-C407-3BC2-E8F0EBD6D6AD}"/>
              </a:ext>
            </a:extLst>
          </p:cNvPr>
          <p:cNvSpPr txBox="1"/>
          <p:nvPr/>
        </p:nvSpPr>
        <p:spPr>
          <a:xfrm>
            <a:off x="3143672" y="1923390"/>
            <a:ext cx="432048" cy="369332"/>
          </a:xfrm>
          <a:prstGeom prst="rect">
            <a:avLst/>
          </a:prstGeom>
          <a:noFill/>
        </p:spPr>
        <p:txBody>
          <a:bodyPr wrap="square" rtlCol="0">
            <a:spAutoFit/>
          </a:bodyPr>
          <a:lstStyle/>
          <a:p>
            <a:r>
              <a:rPr lang="en-US" altLang="zh-CN" dirty="0"/>
              <a:t>f2</a:t>
            </a:r>
            <a:endParaRPr lang="zh-CN" altLang="en-US" dirty="0"/>
          </a:p>
        </p:txBody>
      </p:sp>
      <p:sp>
        <p:nvSpPr>
          <p:cNvPr id="6" name="文本框 5">
            <a:extLst>
              <a:ext uri="{FF2B5EF4-FFF2-40B4-BE49-F238E27FC236}">
                <a16:creationId xmlns:a16="http://schemas.microsoft.com/office/drawing/2014/main" id="{F4ED87D0-C78E-7D14-7261-BF143E8A2240}"/>
              </a:ext>
            </a:extLst>
          </p:cNvPr>
          <p:cNvSpPr txBox="1"/>
          <p:nvPr/>
        </p:nvSpPr>
        <p:spPr>
          <a:xfrm>
            <a:off x="4691350" y="1923390"/>
            <a:ext cx="432048" cy="369332"/>
          </a:xfrm>
          <a:prstGeom prst="rect">
            <a:avLst/>
          </a:prstGeom>
          <a:noFill/>
        </p:spPr>
        <p:txBody>
          <a:bodyPr wrap="square" rtlCol="0">
            <a:spAutoFit/>
          </a:bodyPr>
          <a:lstStyle/>
          <a:p>
            <a:r>
              <a:rPr lang="en-US" altLang="zh-CN" dirty="0"/>
              <a:t>f3</a:t>
            </a:r>
            <a:endParaRPr lang="zh-CN" altLang="en-US" dirty="0"/>
          </a:p>
        </p:txBody>
      </p:sp>
      <p:pic>
        <p:nvPicPr>
          <p:cNvPr id="47" name="图片 46">
            <a:extLst>
              <a:ext uri="{FF2B5EF4-FFF2-40B4-BE49-F238E27FC236}">
                <a16:creationId xmlns:a16="http://schemas.microsoft.com/office/drawing/2014/main" id="{28AF070B-1009-D4F0-7B00-10DD183AF428}"/>
              </a:ext>
            </a:extLst>
          </p:cNvPr>
          <p:cNvPicPr>
            <a:picLocks noChangeAspect="1"/>
          </p:cNvPicPr>
          <p:nvPr/>
        </p:nvPicPr>
        <p:blipFill>
          <a:blip r:embed="rId4"/>
          <a:stretch>
            <a:fillRect/>
          </a:stretch>
        </p:blipFill>
        <p:spPr>
          <a:xfrm>
            <a:off x="2855640" y="6381914"/>
            <a:ext cx="4438526" cy="410390"/>
          </a:xfrm>
          <a:prstGeom prst="rect">
            <a:avLst/>
          </a:prstGeom>
        </p:spPr>
      </p:pic>
      <p:pic>
        <p:nvPicPr>
          <p:cNvPr id="49" name="图片 48">
            <a:extLst>
              <a:ext uri="{FF2B5EF4-FFF2-40B4-BE49-F238E27FC236}">
                <a16:creationId xmlns:a16="http://schemas.microsoft.com/office/drawing/2014/main" id="{40C818AE-3E5F-8281-E806-C9A86D0CC4F3}"/>
              </a:ext>
            </a:extLst>
          </p:cNvPr>
          <p:cNvPicPr>
            <a:picLocks noChangeAspect="1"/>
          </p:cNvPicPr>
          <p:nvPr/>
        </p:nvPicPr>
        <p:blipFill>
          <a:blip r:embed="rId5"/>
          <a:srcRect l="34004" t="35299" r="39199" b="44010"/>
          <a:stretch>
            <a:fillRect/>
          </a:stretch>
        </p:blipFill>
        <p:spPr>
          <a:xfrm>
            <a:off x="2999656" y="3780822"/>
            <a:ext cx="1440160" cy="1634117"/>
          </a:xfrm>
          <a:prstGeom prst="rect">
            <a:avLst/>
          </a:prstGeom>
        </p:spPr>
      </p:pic>
      <p:pic>
        <p:nvPicPr>
          <p:cNvPr id="51" name="图片 50">
            <a:extLst>
              <a:ext uri="{FF2B5EF4-FFF2-40B4-BE49-F238E27FC236}">
                <a16:creationId xmlns:a16="http://schemas.microsoft.com/office/drawing/2014/main" id="{6F04F8E1-B3E6-7DED-547B-E9BB0EE3154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1769" y="3780822"/>
            <a:ext cx="2705775" cy="2029332"/>
          </a:xfrm>
          <a:prstGeom prst="rect">
            <a:avLst/>
          </a:prstGeom>
        </p:spPr>
      </p:pic>
      <p:sp>
        <p:nvSpPr>
          <p:cNvPr id="53" name="文本框 52">
            <a:extLst>
              <a:ext uri="{FF2B5EF4-FFF2-40B4-BE49-F238E27FC236}">
                <a16:creationId xmlns:a16="http://schemas.microsoft.com/office/drawing/2014/main" id="{BC36896A-AD70-36B2-AEC9-FF5602B2AD46}"/>
              </a:ext>
            </a:extLst>
          </p:cNvPr>
          <p:cNvSpPr txBox="1"/>
          <p:nvPr/>
        </p:nvSpPr>
        <p:spPr>
          <a:xfrm>
            <a:off x="3351168" y="5433263"/>
            <a:ext cx="682269" cy="369332"/>
          </a:xfrm>
          <a:prstGeom prst="rect">
            <a:avLst/>
          </a:prstGeom>
          <a:noFill/>
        </p:spPr>
        <p:txBody>
          <a:bodyPr wrap="square" rtlCol="0">
            <a:spAutoFit/>
          </a:bodyPr>
          <a:lstStyle/>
          <a:p>
            <a:r>
              <a:rPr lang="zh-CN" altLang="en-US" dirty="0"/>
              <a:t>像面</a:t>
            </a:r>
          </a:p>
        </p:txBody>
      </p:sp>
      <p:pic>
        <p:nvPicPr>
          <p:cNvPr id="54" name="图片 53">
            <a:extLst>
              <a:ext uri="{FF2B5EF4-FFF2-40B4-BE49-F238E27FC236}">
                <a16:creationId xmlns:a16="http://schemas.microsoft.com/office/drawing/2014/main" id="{CA66323D-F938-1301-F698-0DD6AECB8699}"/>
              </a:ext>
            </a:extLst>
          </p:cNvPr>
          <p:cNvPicPr>
            <a:picLocks noChangeAspect="1"/>
          </p:cNvPicPr>
          <p:nvPr/>
        </p:nvPicPr>
        <p:blipFill>
          <a:blip r:embed="rId7"/>
          <a:srcRect l="28397" t="41016" r="43828" b="39500"/>
          <a:stretch>
            <a:fillRect/>
          </a:stretch>
        </p:blipFill>
        <p:spPr>
          <a:xfrm>
            <a:off x="4610920" y="3773263"/>
            <a:ext cx="1585140" cy="1634116"/>
          </a:xfrm>
          <a:prstGeom prst="rect">
            <a:avLst/>
          </a:prstGeom>
        </p:spPr>
      </p:pic>
      <p:sp>
        <p:nvSpPr>
          <p:cNvPr id="55" name="文本框 54">
            <a:extLst>
              <a:ext uri="{FF2B5EF4-FFF2-40B4-BE49-F238E27FC236}">
                <a16:creationId xmlns:a16="http://schemas.microsoft.com/office/drawing/2014/main" id="{7AB8C9CD-77DE-7AD6-2759-AB4093EBDD99}"/>
              </a:ext>
            </a:extLst>
          </p:cNvPr>
          <p:cNvSpPr txBox="1"/>
          <p:nvPr/>
        </p:nvSpPr>
        <p:spPr>
          <a:xfrm>
            <a:off x="4885820" y="5433263"/>
            <a:ext cx="1152127" cy="369332"/>
          </a:xfrm>
          <a:prstGeom prst="rect">
            <a:avLst/>
          </a:prstGeom>
          <a:noFill/>
        </p:spPr>
        <p:txBody>
          <a:bodyPr wrap="square" rtlCol="0">
            <a:spAutoFit/>
          </a:bodyPr>
          <a:lstStyle/>
          <a:p>
            <a:r>
              <a:rPr lang="zh-CN" altLang="en-US" dirty="0"/>
              <a:t>像距增加</a:t>
            </a:r>
          </a:p>
        </p:txBody>
      </p:sp>
      <p:pic>
        <p:nvPicPr>
          <p:cNvPr id="56" name="图片 55">
            <a:extLst>
              <a:ext uri="{FF2B5EF4-FFF2-40B4-BE49-F238E27FC236}">
                <a16:creationId xmlns:a16="http://schemas.microsoft.com/office/drawing/2014/main" id="{893E5D16-8AE9-C293-037B-D7B7E572F0FB}"/>
              </a:ext>
            </a:extLst>
          </p:cNvPr>
          <p:cNvPicPr>
            <a:picLocks noChangeAspect="1"/>
          </p:cNvPicPr>
          <p:nvPr/>
        </p:nvPicPr>
        <p:blipFill>
          <a:blip r:embed="rId8"/>
          <a:stretch>
            <a:fillRect/>
          </a:stretch>
        </p:blipFill>
        <p:spPr>
          <a:xfrm rot="16200000">
            <a:off x="6662265" y="3461007"/>
            <a:ext cx="1674799" cy="2233066"/>
          </a:xfrm>
          <a:prstGeom prst="rect">
            <a:avLst/>
          </a:prstGeom>
        </p:spPr>
      </p:pic>
      <p:pic>
        <p:nvPicPr>
          <p:cNvPr id="57" name="图片 56">
            <a:extLst>
              <a:ext uri="{FF2B5EF4-FFF2-40B4-BE49-F238E27FC236}">
                <a16:creationId xmlns:a16="http://schemas.microsoft.com/office/drawing/2014/main" id="{6A32A09A-D8C8-FD96-586A-E287B262BDF4}"/>
              </a:ext>
            </a:extLst>
          </p:cNvPr>
          <p:cNvPicPr>
            <a:picLocks noChangeAspect="1"/>
          </p:cNvPicPr>
          <p:nvPr/>
        </p:nvPicPr>
        <p:blipFill>
          <a:blip r:embed="rId9"/>
          <a:srcRect l="41490" t="35222" r="31484" b="46850"/>
          <a:stretch>
            <a:fillRect/>
          </a:stretch>
        </p:blipFill>
        <p:spPr>
          <a:xfrm>
            <a:off x="8776941" y="3780822"/>
            <a:ext cx="1391733" cy="1356756"/>
          </a:xfrm>
          <a:prstGeom prst="rect">
            <a:avLst/>
          </a:prstGeom>
        </p:spPr>
      </p:pic>
      <p:sp>
        <p:nvSpPr>
          <p:cNvPr id="58" name="文本框 57">
            <a:extLst>
              <a:ext uri="{FF2B5EF4-FFF2-40B4-BE49-F238E27FC236}">
                <a16:creationId xmlns:a16="http://schemas.microsoft.com/office/drawing/2014/main" id="{70B59A66-60C1-E7B5-D332-8492912C5585}"/>
              </a:ext>
            </a:extLst>
          </p:cNvPr>
          <p:cNvSpPr txBox="1"/>
          <p:nvPr/>
        </p:nvSpPr>
        <p:spPr>
          <a:xfrm>
            <a:off x="8935861" y="5248597"/>
            <a:ext cx="1152127" cy="369332"/>
          </a:xfrm>
          <a:prstGeom prst="rect">
            <a:avLst/>
          </a:prstGeom>
          <a:noFill/>
        </p:spPr>
        <p:txBody>
          <a:bodyPr wrap="square" rtlCol="0">
            <a:spAutoFit/>
          </a:bodyPr>
          <a:lstStyle/>
          <a:p>
            <a:r>
              <a:rPr lang="zh-CN" altLang="en-US" dirty="0"/>
              <a:t>像面效果</a:t>
            </a:r>
          </a:p>
        </p:txBody>
      </p:sp>
      <p:sp>
        <p:nvSpPr>
          <p:cNvPr id="59" name="文本框 58">
            <a:extLst>
              <a:ext uri="{FF2B5EF4-FFF2-40B4-BE49-F238E27FC236}">
                <a16:creationId xmlns:a16="http://schemas.microsoft.com/office/drawing/2014/main" id="{88DE79B5-1C75-2930-F152-C9A39374089A}"/>
              </a:ext>
            </a:extLst>
          </p:cNvPr>
          <p:cNvSpPr txBox="1"/>
          <p:nvPr/>
        </p:nvSpPr>
        <p:spPr>
          <a:xfrm>
            <a:off x="6872645" y="5433263"/>
            <a:ext cx="1573131" cy="369332"/>
          </a:xfrm>
          <a:prstGeom prst="rect">
            <a:avLst/>
          </a:prstGeom>
          <a:noFill/>
        </p:spPr>
        <p:txBody>
          <a:bodyPr wrap="square" rtlCol="0">
            <a:spAutoFit/>
          </a:bodyPr>
          <a:lstStyle/>
          <a:p>
            <a:r>
              <a:rPr lang="zh-CN" altLang="en-US" dirty="0"/>
              <a:t>光路加入</a:t>
            </a:r>
            <a:r>
              <a:rPr lang="en-US" altLang="zh-CN" dirty="0"/>
              <a:t>f4</a:t>
            </a:r>
            <a:endParaRPr lang="zh-CN" altLang="en-US" dirty="0"/>
          </a:p>
        </p:txBody>
      </p:sp>
      <p:sp>
        <p:nvSpPr>
          <p:cNvPr id="60" name="文本框 59">
            <a:extLst>
              <a:ext uri="{FF2B5EF4-FFF2-40B4-BE49-F238E27FC236}">
                <a16:creationId xmlns:a16="http://schemas.microsoft.com/office/drawing/2014/main" id="{1CA43208-5219-4771-F3EF-38EAAF300B8F}"/>
              </a:ext>
            </a:extLst>
          </p:cNvPr>
          <p:cNvSpPr txBox="1"/>
          <p:nvPr/>
        </p:nvSpPr>
        <p:spPr>
          <a:xfrm>
            <a:off x="7933686" y="1923390"/>
            <a:ext cx="432048" cy="369332"/>
          </a:xfrm>
          <a:prstGeom prst="rect">
            <a:avLst/>
          </a:prstGeom>
          <a:noFill/>
        </p:spPr>
        <p:txBody>
          <a:bodyPr wrap="square" rtlCol="0">
            <a:spAutoFit/>
          </a:bodyPr>
          <a:lstStyle/>
          <a:p>
            <a:r>
              <a:rPr lang="en-US" altLang="zh-CN" dirty="0"/>
              <a:t>f4</a:t>
            </a:r>
            <a:endParaRPr lang="zh-CN" altLang="en-US" dirty="0"/>
          </a:p>
        </p:txBody>
      </p:sp>
      <p:pic>
        <p:nvPicPr>
          <p:cNvPr id="63" name="图片 62">
            <a:extLst>
              <a:ext uri="{FF2B5EF4-FFF2-40B4-BE49-F238E27FC236}">
                <a16:creationId xmlns:a16="http://schemas.microsoft.com/office/drawing/2014/main" id="{D02E657E-4DEB-9F71-08ED-BF5CDDA3B5B8}"/>
              </a:ext>
            </a:extLst>
          </p:cNvPr>
          <p:cNvPicPr>
            <a:picLocks noChangeAspect="1"/>
          </p:cNvPicPr>
          <p:nvPr/>
        </p:nvPicPr>
        <p:blipFill>
          <a:blip r:embed="rId10" cstate="print">
            <a:extLst>
              <a:ext uri="{28A0092B-C50C-407E-A947-70E740481C1C}">
                <a14:useLocalDpi xmlns:a14="http://schemas.microsoft.com/office/drawing/2010/main" val="0"/>
              </a:ext>
            </a:extLst>
          </a:blip>
          <a:srcRect l="43847" t="42552" r="37330" b="42649"/>
          <a:stretch>
            <a:fillRect/>
          </a:stretch>
        </p:blipFill>
        <p:spPr>
          <a:xfrm>
            <a:off x="10694597" y="3791993"/>
            <a:ext cx="1175911" cy="1358603"/>
          </a:xfrm>
          <a:prstGeom prst="rect">
            <a:avLst/>
          </a:prstGeom>
        </p:spPr>
      </p:pic>
      <p:sp>
        <p:nvSpPr>
          <p:cNvPr id="64" name="文本框 63">
            <a:extLst>
              <a:ext uri="{FF2B5EF4-FFF2-40B4-BE49-F238E27FC236}">
                <a16:creationId xmlns:a16="http://schemas.microsoft.com/office/drawing/2014/main" id="{A30CEBB3-9E43-90D6-60A1-C97FCE4175F3}"/>
              </a:ext>
            </a:extLst>
          </p:cNvPr>
          <p:cNvSpPr txBox="1"/>
          <p:nvPr/>
        </p:nvSpPr>
        <p:spPr>
          <a:xfrm>
            <a:off x="10488489" y="5256575"/>
            <a:ext cx="1632776" cy="646331"/>
          </a:xfrm>
          <a:prstGeom prst="rect">
            <a:avLst/>
          </a:prstGeom>
          <a:noFill/>
        </p:spPr>
        <p:txBody>
          <a:bodyPr wrap="square" rtlCol="0">
            <a:spAutoFit/>
          </a:bodyPr>
          <a:lstStyle/>
          <a:p>
            <a:r>
              <a:rPr lang="zh-CN" altLang="en-US" dirty="0"/>
              <a:t>光路再加入检偏器像面效果</a:t>
            </a:r>
          </a:p>
        </p:txBody>
      </p:sp>
    </p:spTree>
    <p:extLst>
      <p:ext uri="{BB962C8B-B14F-4D97-AF65-F5344CB8AC3E}">
        <p14:creationId xmlns:p14="http://schemas.microsoft.com/office/powerpoint/2010/main" val="2406943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7A09F8-160B-8B86-7604-42E3D2B2ECB2}"/>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1557D375-A6B3-67FF-FCD2-90F6376F8AA6}"/>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CCDAF90A-BAD4-139A-22FE-9BFD41054471}"/>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3A1BB969-707D-2754-601A-7C6FC69ABE48}"/>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CF2C198B-C084-91E0-BAA9-E3F8255F8933}"/>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仿真思路</a:t>
            </a:r>
          </a:p>
        </p:txBody>
      </p:sp>
      <p:sp>
        <p:nvSpPr>
          <p:cNvPr id="14" name="文本框 13">
            <a:extLst>
              <a:ext uri="{FF2B5EF4-FFF2-40B4-BE49-F238E27FC236}">
                <a16:creationId xmlns:a16="http://schemas.microsoft.com/office/drawing/2014/main" id="{7091926A-CAEA-9957-5734-B4C90713461B}"/>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仿真</a:t>
            </a:r>
            <a:endParaRPr lang="en-US" altLang="zh-CN" sz="3600" b="1" dirty="0">
              <a:solidFill>
                <a:srgbClr val="3467AB"/>
              </a:solidFill>
            </a:endParaRPr>
          </a:p>
        </p:txBody>
      </p:sp>
      <p:sp>
        <p:nvSpPr>
          <p:cNvPr id="3" name="矩形: 圆角 2">
            <a:extLst>
              <a:ext uri="{FF2B5EF4-FFF2-40B4-BE49-F238E27FC236}">
                <a16:creationId xmlns:a16="http://schemas.microsoft.com/office/drawing/2014/main" id="{301D1A5F-83E8-2F66-F328-02B42427F10A}"/>
              </a:ext>
            </a:extLst>
          </p:cNvPr>
          <p:cNvSpPr/>
          <p:nvPr/>
        </p:nvSpPr>
        <p:spPr>
          <a:xfrm>
            <a:off x="113263" y="1303402"/>
            <a:ext cx="576015" cy="360040"/>
          </a:xfrm>
          <a:prstGeom prst="roundRect">
            <a:avLst/>
          </a:prstGeom>
          <a:solidFill>
            <a:schemeClr val="accent2"/>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sz="1400" dirty="0"/>
              <a:t>光源</a:t>
            </a:r>
          </a:p>
        </p:txBody>
      </p:sp>
      <p:sp>
        <p:nvSpPr>
          <p:cNvPr id="5" name="矩形: 圆角 4">
            <a:extLst>
              <a:ext uri="{FF2B5EF4-FFF2-40B4-BE49-F238E27FC236}">
                <a16:creationId xmlns:a16="http://schemas.microsoft.com/office/drawing/2014/main" id="{B046763F-BD53-EB32-3361-C579A5CD07D2}"/>
              </a:ext>
            </a:extLst>
          </p:cNvPr>
          <p:cNvSpPr/>
          <p:nvPr/>
        </p:nvSpPr>
        <p:spPr>
          <a:xfrm>
            <a:off x="1154025" y="1303402"/>
            <a:ext cx="576015" cy="360040"/>
          </a:xfrm>
          <a:prstGeom prst="roundRect">
            <a:avLst/>
          </a:prstGeom>
          <a:solidFill>
            <a:schemeClr val="accent2"/>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CN" sz="1200" dirty="0"/>
              <a:t>DMD</a:t>
            </a:r>
            <a:endParaRPr lang="zh-CN" altLang="en-US" sz="1200" dirty="0"/>
          </a:p>
        </p:txBody>
      </p:sp>
      <p:sp>
        <p:nvSpPr>
          <p:cNvPr id="7" name="矩形: 圆角 6">
            <a:extLst>
              <a:ext uri="{FF2B5EF4-FFF2-40B4-BE49-F238E27FC236}">
                <a16:creationId xmlns:a16="http://schemas.microsoft.com/office/drawing/2014/main" id="{F32F3D74-9C17-333B-008A-83FB5958603F}"/>
              </a:ext>
            </a:extLst>
          </p:cNvPr>
          <p:cNvSpPr/>
          <p:nvPr/>
        </p:nvSpPr>
        <p:spPr>
          <a:xfrm>
            <a:off x="2260824" y="1303402"/>
            <a:ext cx="576015" cy="360040"/>
          </a:xfrm>
          <a:prstGeom prst="roundRect">
            <a:avLst/>
          </a:prstGeom>
          <a:solidFill>
            <a:schemeClr val="accent2"/>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sz="1400" dirty="0"/>
              <a:t>起偏</a:t>
            </a:r>
          </a:p>
        </p:txBody>
      </p:sp>
      <p:sp>
        <p:nvSpPr>
          <p:cNvPr id="10" name="矩形: 圆角 9">
            <a:extLst>
              <a:ext uri="{FF2B5EF4-FFF2-40B4-BE49-F238E27FC236}">
                <a16:creationId xmlns:a16="http://schemas.microsoft.com/office/drawing/2014/main" id="{8EDB82E8-25C9-9522-2D3D-BD74D9826FA4}"/>
              </a:ext>
            </a:extLst>
          </p:cNvPr>
          <p:cNvSpPr/>
          <p:nvPr/>
        </p:nvSpPr>
        <p:spPr>
          <a:xfrm>
            <a:off x="3139120" y="1303402"/>
            <a:ext cx="576015" cy="360040"/>
          </a:xfrm>
          <a:prstGeom prst="roundRect">
            <a:avLst/>
          </a:prstGeom>
          <a:solidFill>
            <a:schemeClr val="accent2"/>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sz="1100" dirty="0"/>
              <a:t>透镜</a:t>
            </a:r>
            <a:r>
              <a:rPr lang="en-US" altLang="zh-CN" sz="1100" dirty="0"/>
              <a:t>1</a:t>
            </a:r>
            <a:endParaRPr lang="zh-CN" altLang="en-US" sz="1100" dirty="0"/>
          </a:p>
        </p:txBody>
      </p:sp>
      <p:sp>
        <p:nvSpPr>
          <p:cNvPr id="12" name="矩形: 圆角 11">
            <a:extLst>
              <a:ext uri="{FF2B5EF4-FFF2-40B4-BE49-F238E27FC236}">
                <a16:creationId xmlns:a16="http://schemas.microsoft.com/office/drawing/2014/main" id="{93668939-A548-8D83-88C1-863804678688}"/>
              </a:ext>
            </a:extLst>
          </p:cNvPr>
          <p:cNvSpPr/>
          <p:nvPr/>
        </p:nvSpPr>
        <p:spPr>
          <a:xfrm>
            <a:off x="4604458" y="1303402"/>
            <a:ext cx="576015" cy="360040"/>
          </a:xfrm>
          <a:prstGeom prst="roundRect">
            <a:avLst/>
          </a:prstGeom>
          <a:solidFill>
            <a:schemeClr val="accent2"/>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sz="1400" dirty="0"/>
              <a:t>样品</a:t>
            </a:r>
          </a:p>
        </p:txBody>
      </p:sp>
      <p:sp>
        <p:nvSpPr>
          <p:cNvPr id="15" name="矩形: 圆角 14">
            <a:extLst>
              <a:ext uri="{FF2B5EF4-FFF2-40B4-BE49-F238E27FC236}">
                <a16:creationId xmlns:a16="http://schemas.microsoft.com/office/drawing/2014/main" id="{3EF26535-A62F-B5A0-CF4D-0E9531B107CC}"/>
              </a:ext>
            </a:extLst>
          </p:cNvPr>
          <p:cNvSpPr/>
          <p:nvPr/>
        </p:nvSpPr>
        <p:spPr>
          <a:xfrm>
            <a:off x="5883919" y="1303402"/>
            <a:ext cx="576015" cy="360040"/>
          </a:xfrm>
          <a:prstGeom prst="roundRect">
            <a:avLst/>
          </a:prstGeom>
          <a:solidFill>
            <a:schemeClr val="accent2"/>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sz="1100" dirty="0"/>
              <a:t>透镜</a:t>
            </a:r>
            <a:r>
              <a:rPr lang="en-US" altLang="zh-CN" sz="1100" dirty="0"/>
              <a:t>2</a:t>
            </a:r>
            <a:endParaRPr lang="zh-CN" altLang="en-US" sz="1100" dirty="0"/>
          </a:p>
        </p:txBody>
      </p:sp>
      <p:sp>
        <p:nvSpPr>
          <p:cNvPr id="16" name="矩形: 圆角 15">
            <a:extLst>
              <a:ext uri="{FF2B5EF4-FFF2-40B4-BE49-F238E27FC236}">
                <a16:creationId xmlns:a16="http://schemas.microsoft.com/office/drawing/2014/main" id="{11B48CE0-936F-3E9D-7C3D-0C0C40BA1E70}"/>
              </a:ext>
            </a:extLst>
          </p:cNvPr>
          <p:cNvSpPr/>
          <p:nvPr/>
        </p:nvSpPr>
        <p:spPr>
          <a:xfrm>
            <a:off x="6855744" y="1303402"/>
            <a:ext cx="576015" cy="360040"/>
          </a:xfrm>
          <a:prstGeom prst="roundRect">
            <a:avLst/>
          </a:prstGeom>
          <a:solidFill>
            <a:schemeClr val="accent2"/>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sz="1100" dirty="0"/>
              <a:t>透镜</a:t>
            </a:r>
            <a:r>
              <a:rPr lang="en-US" altLang="zh-CN" sz="1100" dirty="0"/>
              <a:t>3</a:t>
            </a:r>
            <a:endParaRPr lang="zh-CN" altLang="en-US" sz="1100" dirty="0"/>
          </a:p>
        </p:txBody>
      </p:sp>
      <p:sp>
        <p:nvSpPr>
          <p:cNvPr id="17" name="矩形: 圆角 16">
            <a:extLst>
              <a:ext uri="{FF2B5EF4-FFF2-40B4-BE49-F238E27FC236}">
                <a16:creationId xmlns:a16="http://schemas.microsoft.com/office/drawing/2014/main" id="{A785D9D5-5035-B894-E1D2-5722500F292D}"/>
              </a:ext>
            </a:extLst>
          </p:cNvPr>
          <p:cNvSpPr/>
          <p:nvPr/>
        </p:nvSpPr>
        <p:spPr>
          <a:xfrm>
            <a:off x="7962543" y="1303402"/>
            <a:ext cx="576015" cy="360040"/>
          </a:xfrm>
          <a:prstGeom prst="roundRect">
            <a:avLst/>
          </a:prstGeom>
          <a:solidFill>
            <a:schemeClr val="accent2"/>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CN" sz="1200" dirty="0"/>
              <a:t>PEM</a:t>
            </a:r>
            <a:endParaRPr lang="zh-CN" altLang="en-US" sz="1200" dirty="0"/>
          </a:p>
        </p:txBody>
      </p:sp>
      <p:sp>
        <p:nvSpPr>
          <p:cNvPr id="18" name="矩形: 圆角 17">
            <a:extLst>
              <a:ext uri="{FF2B5EF4-FFF2-40B4-BE49-F238E27FC236}">
                <a16:creationId xmlns:a16="http://schemas.microsoft.com/office/drawing/2014/main" id="{1FB73839-4F57-AF7B-B4C9-79D826F2CF7D}"/>
              </a:ext>
            </a:extLst>
          </p:cNvPr>
          <p:cNvSpPr/>
          <p:nvPr/>
        </p:nvSpPr>
        <p:spPr>
          <a:xfrm>
            <a:off x="8992679" y="1303402"/>
            <a:ext cx="576015" cy="360040"/>
          </a:xfrm>
          <a:prstGeom prst="roundRect">
            <a:avLst/>
          </a:prstGeom>
          <a:solidFill>
            <a:schemeClr val="accent2"/>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sz="1100" dirty="0"/>
              <a:t>检偏</a:t>
            </a:r>
          </a:p>
        </p:txBody>
      </p:sp>
      <p:sp>
        <p:nvSpPr>
          <p:cNvPr id="19" name="矩形: 圆角 18">
            <a:extLst>
              <a:ext uri="{FF2B5EF4-FFF2-40B4-BE49-F238E27FC236}">
                <a16:creationId xmlns:a16="http://schemas.microsoft.com/office/drawing/2014/main" id="{259607F4-03E1-516D-4112-D8D82B682DF4}"/>
              </a:ext>
            </a:extLst>
          </p:cNvPr>
          <p:cNvSpPr/>
          <p:nvPr/>
        </p:nvSpPr>
        <p:spPr>
          <a:xfrm>
            <a:off x="10425226" y="1303402"/>
            <a:ext cx="576015" cy="360040"/>
          </a:xfrm>
          <a:prstGeom prst="roundRect">
            <a:avLst/>
          </a:prstGeom>
          <a:solidFill>
            <a:schemeClr val="accent2"/>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sz="900" dirty="0"/>
              <a:t>探测器</a:t>
            </a:r>
          </a:p>
        </p:txBody>
      </p:sp>
      <p:sp>
        <p:nvSpPr>
          <p:cNvPr id="20" name="矩形: 圆角 19">
            <a:extLst>
              <a:ext uri="{FF2B5EF4-FFF2-40B4-BE49-F238E27FC236}">
                <a16:creationId xmlns:a16="http://schemas.microsoft.com/office/drawing/2014/main" id="{389E1D75-9B5F-CA33-361D-2465B019D3DD}"/>
              </a:ext>
            </a:extLst>
          </p:cNvPr>
          <p:cNvSpPr/>
          <p:nvPr/>
        </p:nvSpPr>
        <p:spPr>
          <a:xfrm>
            <a:off x="11441992" y="1303402"/>
            <a:ext cx="576015" cy="360040"/>
          </a:xfrm>
          <a:prstGeom prst="roundRect">
            <a:avLst/>
          </a:prstGeom>
          <a:solidFill>
            <a:schemeClr val="accent2"/>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sz="1100" dirty="0"/>
              <a:t>锁相</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1C08B97-221B-BFC2-B484-14D8EAB6797B}"/>
                  </a:ext>
                </a:extLst>
              </p:cNvPr>
              <p:cNvSpPr txBox="1"/>
              <p:nvPr/>
            </p:nvSpPr>
            <p:spPr>
              <a:xfrm>
                <a:off x="23272" y="2537525"/>
                <a:ext cx="6877845" cy="474425"/>
              </a:xfrm>
              <a:prstGeom prst="rect">
                <a:avLst/>
              </a:prstGeom>
              <a:noFill/>
            </p:spPr>
            <p:txBody>
              <a:bodyPr wrap="none" lIns="0" tIns="0" rIns="0" bIns="0" rtlCol="0">
                <a:spAutoFit/>
              </a:bodyPr>
              <a:lstStyle/>
              <a:p>
                <a:pPr/>
                <a14:m>
                  <m:oMathPara xmlns:m="http://schemas.openxmlformats.org/officeDocument/2006/math">
                    <m:oMath>
                      <m:r>
                        <a:rPr lang="zh-CN" altLang="en-US" i="1">
                          <a:latin typeface="Cambria Math" panose="02040503050406030204" pitchFamily="18" charset="0"/>
                        </a:rPr>
                        <m:t>透射率</m:t>
                      </m:r>
                      <m:r>
                        <a:rPr lang="zh-CN" altLang="en-US"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𝑖</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𝑖</m:t>
                              </m:r>
                            </m:sub>
                          </m:sSub>
                        </m:num>
                        <m:den>
                          <m:r>
                            <a:rPr lang="en-US" altLang="zh-CN" i="1">
                              <a:latin typeface="Cambria Math" panose="02040503050406030204" pitchFamily="18" charset="0"/>
                            </a:rPr>
                            <m:t>255</m:t>
                          </m:r>
                        </m:den>
                      </m:f>
                      <m:r>
                        <a:rPr lang="en-US" altLang="zh-CN" i="1">
                          <a:latin typeface="Cambria Math" panose="02040503050406030204" pitchFamily="18" charset="0"/>
                        </a:rPr>
                        <m:t>,  </m:t>
                      </m:r>
                      <m:r>
                        <a:rPr lang="zh-CN" altLang="en-US" i="1" smtClean="0">
                          <a:latin typeface="Cambria Math" panose="02040503050406030204" pitchFamily="18" charset="0"/>
                        </a:rPr>
                        <m:t>图像</m:t>
                      </m:r>
                      <m:r>
                        <a:rPr lang="zh-CN" altLang="en-US" i="1">
                          <a:latin typeface="Cambria Math" panose="02040503050406030204" pitchFamily="18" charset="0"/>
                        </a:rPr>
                        <m:t>总像素数目</m:t>
                      </m:r>
                      <m:r>
                        <a:rPr lang="zh-CN" altLang="en-US" i="1" smtClean="0">
                          <a:latin typeface="Cambria Math" panose="02040503050406030204" pitchFamily="18" charset="0"/>
                        </a:rPr>
                        <m:t>：</m:t>
                      </m:r>
                      <m:r>
                        <a:rPr lang="en-US" altLang="zh-CN" i="1">
                          <a:latin typeface="Cambria Math" panose="02040503050406030204" pitchFamily="18" charset="0"/>
                        </a:rPr>
                        <m:t>𝑁</m:t>
                      </m:r>
                      <m:r>
                        <a:rPr lang="en-US" altLang="zh-CN" i="1">
                          <a:latin typeface="Cambria Math" panose="02040503050406030204" pitchFamily="18" charset="0"/>
                        </a:rPr>
                        <m:t>=600×600=360000</m:t>
                      </m:r>
                    </m:oMath>
                  </m:oMathPara>
                </a14:m>
                <a:endParaRPr lang="zh-CN" altLang="en-US" dirty="0"/>
              </a:p>
            </p:txBody>
          </p:sp>
        </mc:Choice>
        <mc:Fallback xmlns="">
          <p:sp>
            <p:nvSpPr>
              <p:cNvPr id="4" name="文本框 3">
                <a:extLst>
                  <a:ext uri="{FF2B5EF4-FFF2-40B4-BE49-F238E27FC236}">
                    <a16:creationId xmlns:a16="http://schemas.microsoft.com/office/drawing/2014/main" id="{81C08B97-221B-BFC2-B484-14D8EAB6797B}"/>
                  </a:ext>
                </a:extLst>
              </p:cNvPr>
              <p:cNvSpPr txBox="1">
                <a:spLocks noRot="1" noChangeAspect="1" noMove="1" noResize="1" noEditPoints="1" noAdjustHandles="1" noChangeArrowheads="1" noChangeShapeType="1" noTextEdit="1"/>
              </p:cNvSpPr>
              <p:nvPr/>
            </p:nvSpPr>
            <p:spPr>
              <a:xfrm>
                <a:off x="23272" y="2537525"/>
                <a:ext cx="6877845" cy="47442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11EBF00-9F66-ADBF-A3C6-35D19B7D3E33}"/>
                  </a:ext>
                </a:extLst>
              </p:cNvPr>
              <p:cNvSpPr txBox="1"/>
              <p:nvPr/>
            </p:nvSpPr>
            <p:spPr>
              <a:xfrm>
                <a:off x="4602" y="3172314"/>
                <a:ext cx="4864217" cy="516295"/>
              </a:xfrm>
              <a:prstGeom prst="rect">
                <a:avLst/>
              </a:prstGeom>
              <a:noFill/>
            </p:spPr>
            <p:txBody>
              <a:bodyPr wrap="none" lIns="0" tIns="0" rIns="0" bIns="0" rtlCol="0">
                <a:spAutoFit/>
              </a:bodyPr>
              <a:lstStyle/>
              <a:p>
                <a:r>
                  <a:rPr lang="zh-CN" altLang="en-US" dirty="0"/>
                  <a:t>样品前</a:t>
                </a:r>
                <a14:m>
                  <m:oMath xmlns:m="http://schemas.openxmlformats.org/officeDocument/2006/math">
                    <m:r>
                      <a:rPr lang="zh-CN" altLang="en-US" i="1" dirty="0" smtClean="0">
                        <a:latin typeface="Cambria Math" panose="02040503050406030204" pitchFamily="18" charset="0"/>
                      </a:rPr>
                      <m:t>单个像素</m:t>
                    </m:r>
                    <m:r>
                      <a:rPr lang="zh-CN" altLang="en-US" i="1" dirty="0">
                        <a:latin typeface="Cambria Math" panose="02040503050406030204" pitchFamily="18" charset="0"/>
                      </a:rPr>
                      <m:t>的</m:t>
                    </m:r>
                    <m:r>
                      <a:rPr lang="zh-CN" altLang="en-US" i="1" dirty="0" smtClean="0">
                        <a:latin typeface="Cambria Math" panose="02040503050406030204" pitchFamily="18" charset="0"/>
                      </a:rPr>
                      <m:t>光强</m:t>
                    </m:r>
                    <m:r>
                      <a:rPr lang="en-US" altLang="zh-CN" b="0" i="1" dirty="0" smtClean="0">
                        <a:latin typeface="Cambria Math" panose="02040503050406030204" pitchFamily="18" charset="0"/>
                      </a:rPr>
                      <m:t>  </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𝑃</m:t>
                        </m:r>
                      </m:e>
                      <m:sub>
                        <m:r>
                          <m:rPr>
                            <m:sty m:val="p"/>
                          </m:rPr>
                          <a:rPr lang="en-US" altLang="zh-CN" i="1" smtClean="0">
                            <a:latin typeface="Cambria Math" panose="02040503050406030204" pitchFamily="18" charset="0"/>
                          </a:rPr>
                          <m:t>pix</m:t>
                        </m:r>
                      </m:sub>
                    </m:sSub>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𝑃</m:t>
                            </m:r>
                          </m:e>
                          <m:sub>
                            <m:r>
                              <m:rPr>
                                <m:sty m:val="p"/>
                              </m:rPr>
                              <a:rPr lang="en-US" altLang="zh-CN" i="1" smtClean="0">
                                <a:latin typeface="Cambria Math" panose="02040503050406030204" pitchFamily="18" charset="0"/>
                              </a:rPr>
                              <m:t>source</m:t>
                            </m:r>
                          </m:sub>
                        </m:sSub>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𝜂</m:t>
                            </m:r>
                          </m:e>
                          <m:sub>
                            <m:r>
                              <m:rPr>
                                <m:sty m:val="p"/>
                              </m:rPr>
                              <a:rPr lang="en-US" altLang="zh-CN" i="1" smtClean="0">
                                <a:latin typeface="Cambria Math" panose="02040503050406030204" pitchFamily="18" charset="0"/>
                              </a:rPr>
                              <m:t>DMD</m:t>
                            </m:r>
                          </m:sub>
                        </m:sSub>
                        <m:d>
                          <m:dPr>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1</m:t>
                                </m:r>
                              </m:num>
                              <m:den>
                                <m:r>
                                  <a:rPr lang="en-US" altLang="zh-CN" i="1" smtClean="0">
                                    <a:latin typeface="Cambria Math" panose="02040503050406030204" pitchFamily="18" charset="0"/>
                                  </a:rPr>
                                  <m:t>2</m:t>
                                </m:r>
                              </m:den>
                            </m:f>
                          </m:e>
                        </m:d>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𝜂</m:t>
                            </m:r>
                          </m:e>
                          <m:sub>
                            <m:r>
                              <a:rPr lang="en-US" altLang="zh-CN" i="1" smtClean="0">
                                <a:latin typeface="Cambria Math" panose="02040503050406030204" pitchFamily="18" charset="0"/>
                              </a:rPr>
                              <m:t>𝑃</m:t>
                            </m:r>
                          </m:sub>
                        </m:sSub>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𝜂</m:t>
                            </m:r>
                          </m:e>
                          <m:sub>
                            <m:r>
                              <a:rPr lang="en-US" altLang="zh-CN" i="1" smtClean="0">
                                <a:latin typeface="Cambria Math" panose="02040503050406030204" pitchFamily="18" charset="0"/>
                              </a:rPr>
                              <m:t>𝐿</m:t>
                            </m:r>
                            <m:r>
                              <a:rPr lang="en-US" altLang="zh-CN" i="1" smtClean="0">
                                <a:latin typeface="Cambria Math" panose="02040503050406030204" pitchFamily="18" charset="0"/>
                              </a:rPr>
                              <m:t>1</m:t>
                            </m:r>
                          </m:sub>
                        </m:sSub>
                      </m:num>
                      <m:den>
                        <m:r>
                          <a:rPr lang="en-US" altLang="zh-CN" i="1" smtClean="0">
                            <a:latin typeface="Cambria Math" panose="02040503050406030204" pitchFamily="18" charset="0"/>
                          </a:rPr>
                          <m:t>𝑁</m:t>
                        </m:r>
                      </m:den>
                    </m:f>
                  </m:oMath>
                </a14:m>
                <a:endParaRPr lang="zh-CN" altLang="en-US" dirty="0"/>
              </a:p>
            </p:txBody>
          </p:sp>
        </mc:Choice>
        <mc:Fallback xmlns="">
          <p:sp>
            <p:nvSpPr>
              <p:cNvPr id="6" name="文本框 5">
                <a:extLst>
                  <a:ext uri="{FF2B5EF4-FFF2-40B4-BE49-F238E27FC236}">
                    <a16:creationId xmlns:a16="http://schemas.microsoft.com/office/drawing/2014/main" id="{611EBF00-9F66-ADBF-A3C6-35D19B7D3E33}"/>
                  </a:ext>
                </a:extLst>
              </p:cNvPr>
              <p:cNvSpPr txBox="1">
                <a:spLocks noRot="1" noChangeAspect="1" noMove="1" noResize="1" noEditPoints="1" noAdjustHandles="1" noChangeArrowheads="1" noChangeShapeType="1" noTextEdit="1"/>
              </p:cNvSpPr>
              <p:nvPr/>
            </p:nvSpPr>
            <p:spPr>
              <a:xfrm>
                <a:off x="4602" y="3172314"/>
                <a:ext cx="4864217" cy="516295"/>
              </a:xfrm>
              <a:prstGeom prst="rect">
                <a:avLst/>
              </a:prstGeom>
              <a:blipFill>
                <a:blip r:embed="rId4"/>
                <a:stretch>
                  <a:fillRect l="-3008" b="-152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760B426-911A-B8DC-4138-CBFB52818685}"/>
                  </a:ext>
                </a:extLst>
              </p:cNvPr>
              <p:cNvSpPr txBox="1"/>
              <p:nvPr/>
            </p:nvSpPr>
            <p:spPr>
              <a:xfrm>
                <a:off x="29135" y="1796192"/>
                <a:ext cx="744269" cy="369332"/>
              </a:xfrm>
              <a:prstGeom prst="rect">
                <a:avLst/>
              </a:prstGeom>
              <a:noFill/>
            </p:spPr>
            <p:txBody>
              <a:bodyPr wrap="square">
                <a:spAutoFit/>
              </a:bodyPr>
              <a:lstStyle/>
              <a:p>
                <a:pPr/>
                <a14:m>
                  <m:oMathPara xmlns:m="http://schemas.openxmlformats.org/officeDocument/2006/math">
                    <m:o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𝑃</m:t>
                          </m:r>
                        </m:e>
                        <m:sub>
                          <m:r>
                            <m:rPr>
                              <m:sty m:val="p"/>
                            </m:rPr>
                            <a:rPr lang="en-US" altLang="zh-CN" sz="1800" i="1">
                              <a:latin typeface="Cambria Math" panose="02040503050406030204" pitchFamily="18" charset="0"/>
                            </a:rPr>
                            <m:t>source</m:t>
                          </m:r>
                        </m:sub>
                      </m:sSub>
                    </m:oMath>
                  </m:oMathPara>
                </a14:m>
                <a:endParaRPr lang="zh-CN" altLang="en-US" dirty="0"/>
              </a:p>
            </p:txBody>
          </p:sp>
        </mc:Choice>
        <mc:Fallback xmlns="">
          <p:sp>
            <p:nvSpPr>
              <p:cNvPr id="22" name="文本框 21">
                <a:extLst>
                  <a:ext uri="{FF2B5EF4-FFF2-40B4-BE49-F238E27FC236}">
                    <a16:creationId xmlns:a16="http://schemas.microsoft.com/office/drawing/2014/main" id="{B760B426-911A-B8DC-4138-CBFB52818685}"/>
                  </a:ext>
                </a:extLst>
              </p:cNvPr>
              <p:cNvSpPr txBox="1">
                <a:spLocks noRot="1" noChangeAspect="1" noMove="1" noResize="1" noEditPoints="1" noAdjustHandles="1" noChangeArrowheads="1" noChangeShapeType="1" noTextEdit="1"/>
              </p:cNvSpPr>
              <p:nvPr/>
            </p:nvSpPr>
            <p:spPr>
              <a:xfrm>
                <a:off x="29135" y="1796192"/>
                <a:ext cx="744269" cy="369332"/>
              </a:xfrm>
              <a:prstGeom prst="rect">
                <a:avLst/>
              </a:prstGeom>
              <a:blipFill>
                <a:blip r:embed="rId5"/>
                <a:stretch>
                  <a:fillRect r="-40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C8B9DDD5-A70E-0051-37C8-8CAA0D02700E}"/>
                  </a:ext>
                </a:extLst>
              </p:cNvPr>
              <p:cNvSpPr txBox="1"/>
              <p:nvPr/>
            </p:nvSpPr>
            <p:spPr>
              <a:xfrm>
                <a:off x="1085280" y="1793467"/>
                <a:ext cx="576015" cy="369332"/>
              </a:xfrm>
              <a:prstGeom prst="rect">
                <a:avLst/>
              </a:prstGeom>
              <a:noFill/>
            </p:spPr>
            <p:txBody>
              <a:bodyPr wrap="square">
                <a:spAutoFit/>
              </a:bodyPr>
              <a:lstStyle/>
              <a:p>
                <a:pPr/>
                <a14:m>
                  <m:oMathPara xmlns:m="http://schemas.openxmlformats.org/officeDocument/2006/math">
                    <m:o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𝜂</m:t>
                          </m:r>
                        </m:e>
                        <m:sub>
                          <m:r>
                            <m:rPr>
                              <m:sty m:val="p"/>
                            </m:rPr>
                            <a:rPr lang="en-US" altLang="zh-CN" sz="1800" i="1">
                              <a:latin typeface="Cambria Math" panose="02040503050406030204" pitchFamily="18" charset="0"/>
                            </a:rPr>
                            <m:t>DMD</m:t>
                          </m:r>
                        </m:sub>
                      </m:sSub>
                    </m:oMath>
                  </m:oMathPara>
                </a14:m>
                <a:endParaRPr lang="zh-CN" altLang="en-US" dirty="0"/>
              </a:p>
            </p:txBody>
          </p:sp>
        </mc:Choice>
        <mc:Fallback xmlns="">
          <p:sp>
            <p:nvSpPr>
              <p:cNvPr id="24" name="文本框 23">
                <a:extLst>
                  <a:ext uri="{FF2B5EF4-FFF2-40B4-BE49-F238E27FC236}">
                    <a16:creationId xmlns:a16="http://schemas.microsoft.com/office/drawing/2014/main" id="{C8B9DDD5-A70E-0051-37C8-8CAA0D02700E}"/>
                  </a:ext>
                </a:extLst>
              </p:cNvPr>
              <p:cNvSpPr txBox="1">
                <a:spLocks noRot="1" noChangeAspect="1" noMove="1" noResize="1" noEditPoints="1" noAdjustHandles="1" noChangeArrowheads="1" noChangeShapeType="1" noTextEdit="1"/>
              </p:cNvSpPr>
              <p:nvPr/>
            </p:nvSpPr>
            <p:spPr>
              <a:xfrm>
                <a:off x="1085280" y="1793467"/>
                <a:ext cx="576015" cy="369332"/>
              </a:xfrm>
              <a:prstGeom prst="rect">
                <a:avLst/>
              </a:prstGeom>
              <a:blipFill>
                <a:blip r:embed="rId6"/>
                <a:stretch>
                  <a:fillRect r="-14737"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19F1180C-3397-35DD-9307-815F35A1B765}"/>
                  </a:ext>
                </a:extLst>
              </p:cNvPr>
              <p:cNvSpPr txBox="1"/>
              <p:nvPr/>
            </p:nvSpPr>
            <p:spPr>
              <a:xfrm>
                <a:off x="2284329" y="1663442"/>
                <a:ext cx="576015" cy="634789"/>
              </a:xfrm>
              <a:prstGeom prst="rect">
                <a:avLst/>
              </a:prstGeom>
              <a:noFill/>
            </p:spPr>
            <p:txBody>
              <a:bodyPr wrap="square">
                <a:spAutoFit/>
              </a:bodyPr>
              <a:lstStyle/>
              <a:p>
                <a:pPr/>
                <a14:m>
                  <m:oMathPara xmlns:m="http://schemas.openxmlformats.org/officeDocument/2006/math">
                    <m:oMath>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1</m:t>
                          </m:r>
                        </m:num>
                        <m:den>
                          <m:r>
                            <a:rPr lang="en-US" altLang="zh-CN" sz="1800" b="0" i="1" smtClean="0">
                              <a:latin typeface="Cambria Math" panose="02040503050406030204" pitchFamily="18" charset="0"/>
                            </a:rPr>
                            <m:t>2</m:t>
                          </m:r>
                        </m:den>
                      </m:f>
                      <m:sSub>
                        <m:sSubPr>
                          <m:ctrlPr>
                            <a:rPr lang="en-US" altLang="zh-CN" sz="1800" i="1" smtClean="0">
                              <a:latin typeface="Cambria Math" panose="02040503050406030204" pitchFamily="18" charset="0"/>
                            </a:rPr>
                          </m:ctrlPr>
                        </m:sSubPr>
                        <m:e>
                          <m:r>
                            <a:rPr lang="en-US" altLang="zh-CN" sz="1800" i="1" smtClean="0">
                              <a:latin typeface="Cambria Math" panose="02040503050406030204" pitchFamily="18" charset="0"/>
                            </a:rPr>
                            <m:t>𝜂</m:t>
                          </m:r>
                        </m:e>
                        <m:sub>
                          <m:r>
                            <a:rPr lang="en-US" altLang="zh-CN" sz="1800" i="1" smtClean="0">
                              <a:latin typeface="Cambria Math" panose="02040503050406030204" pitchFamily="18" charset="0"/>
                            </a:rPr>
                            <m:t>𝑃</m:t>
                          </m:r>
                        </m:sub>
                      </m:sSub>
                    </m:oMath>
                  </m:oMathPara>
                </a14:m>
                <a:endParaRPr lang="zh-CN" altLang="en-US" dirty="0"/>
              </a:p>
            </p:txBody>
          </p:sp>
        </mc:Choice>
        <mc:Fallback xmlns="">
          <p:sp>
            <p:nvSpPr>
              <p:cNvPr id="26" name="文本框 25">
                <a:extLst>
                  <a:ext uri="{FF2B5EF4-FFF2-40B4-BE49-F238E27FC236}">
                    <a16:creationId xmlns:a16="http://schemas.microsoft.com/office/drawing/2014/main" id="{19F1180C-3397-35DD-9307-815F35A1B765}"/>
                  </a:ext>
                </a:extLst>
              </p:cNvPr>
              <p:cNvSpPr txBox="1">
                <a:spLocks noRot="1" noChangeAspect="1" noMove="1" noResize="1" noEditPoints="1" noAdjustHandles="1" noChangeArrowheads="1" noChangeShapeType="1" noTextEdit="1"/>
              </p:cNvSpPr>
              <p:nvPr/>
            </p:nvSpPr>
            <p:spPr>
              <a:xfrm>
                <a:off x="2284329" y="1663442"/>
                <a:ext cx="576015" cy="63478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DD60F3E-2465-916C-7C10-F88C3AFAE178}"/>
                  </a:ext>
                </a:extLst>
              </p:cNvPr>
              <p:cNvSpPr txBox="1"/>
              <p:nvPr/>
            </p:nvSpPr>
            <p:spPr>
              <a:xfrm>
                <a:off x="3173367" y="1758487"/>
                <a:ext cx="484615" cy="369332"/>
              </a:xfrm>
              <a:prstGeom prst="rect">
                <a:avLst/>
              </a:prstGeom>
              <a:noFill/>
            </p:spPr>
            <p:txBody>
              <a:bodyPr wrap="square">
                <a:spAutoFit/>
              </a:bodyPr>
              <a:lstStyle/>
              <a:p>
                <a:pPr/>
                <a14:m>
                  <m:oMathPara xmlns:m="http://schemas.openxmlformats.org/officeDocument/2006/math">
                    <m:oMath>
                      <m:sSub>
                        <m:sSubPr>
                          <m:ctrlPr>
                            <a:rPr lang="en-US" altLang="zh-CN" sz="1800" i="1" smtClean="0">
                              <a:latin typeface="Cambria Math" panose="02040503050406030204" pitchFamily="18" charset="0"/>
                            </a:rPr>
                          </m:ctrlPr>
                        </m:sSubPr>
                        <m:e>
                          <m:r>
                            <a:rPr lang="en-US" altLang="zh-CN" sz="1800" i="1" smtClean="0">
                              <a:latin typeface="Cambria Math" panose="02040503050406030204" pitchFamily="18" charset="0"/>
                            </a:rPr>
                            <m:t>𝜂</m:t>
                          </m:r>
                        </m:e>
                        <m:sub>
                          <m:r>
                            <a:rPr lang="en-US" altLang="zh-CN" sz="1800" i="1" smtClean="0">
                              <a:latin typeface="Cambria Math" panose="02040503050406030204" pitchFamily="18" charset="0"/>
                            </a:rPr>
                            <m:t>𝐿</m:t>
                          </m:r>
                          <m:r>
                            <a:rPr lang="en-US" altLang="zh-CN" sz="1800" i="1" smtClean="0">
                              <a:latin typeface="Cambria Math" panose="02040503050406030204" pitchFamily="18" charset="0"/>
                            </a:rPr>
                            <m:t>1</m:t>
                          </m:r>
                        </m:sub>
                      </m:sSub>
                    </m:oMath>
                  </m:oMathPara>
                </a14:m>
                <a:endParaRPr lang="zh-CN" altLang="en-US" dirty="0"/>
              </a:p>
            </p:txBody>
          </p:sp>
        </mc:Choice>
        <mc:Fallback xmlns="">
          <p:sp>
            <p:nvSpPr>
              <p:cNvPr id="28" name="文本框 27">
                <a:extLst>
                  <a:ext uri="{FF2B5EF4-FFF2-40B4-BE49-F238E27FC236}">
                    <a16:creationId xmlns:a16="http://schemas.microsoft.com/office/drawing/2014/main" id="{5DD60F3E-2465-916C-7C10-F88C3AFAE178}"/>
                  </a:ext>
                </a:extLst>
              </p:cNvPr>
              <p:cNvSpPr txBox="1">
                <a:spLocks noRot="1" noChangeAspect="1" noMove="1" noResize="1" noEditPoints="1" noAdjustHandles="1" noChangeArrowheads="1" noChangeShapeType="1" noTextEdit="1"/>
              </p:cNvSpPr>
              <p:nvPr/>
            </p:nvSpPr>
            <p:spPr>
              <a:xfrm>
                <a:off x="3173367" y="1758487"/>
                <a:ext cx="484615" cy="369332"/>
              </a:xfrm>
              <a:prstGeom prst="rect">
                <a:avLst/>
              </a:prstGeom>
              <a:blipFill>
                <a:blip r:embed="rId8"/>
                <a:stretch>
                  <a:fillRect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F11F671-8584-53DF-B912-10169C08CE09}"/>
                  </a:ext>
                </a:extLst>
              </p:cNvPr>
              <p:cNvSpPr txBox="1"/>
              <p:nvPr/>
            </p:nvSpPr>
            <p:spPr>
              <a:xfrm>
                <a:off x="2543" y="3884298"/>
                <a:ext cx="4980018" cy="310470"/>
              </a:xfrm>
              <a:prstGeom prst="rect">
                <a:avLst/>
              </a:prstGeom>
              <a:noFill/>
            </p:spPr>
            <p:txBody>
              <a:bodyPr wrap="none" lIns="0" tIns="0" rIns="0" bIns="0" rtlCol="0">
                <a:spAutoFit/>
              </a:bodyPr>
              <a:lstStyle/>
              <a:p>
                <a:r>
                  <a:rPr lang="zh-CN" altLang="en-US" dirty="0"/>
                  <a:t>经过</a:t>
                </a:r>
                <a14:m>
                  <m:oMath xmlns:m="http://schemas.openxmlformats.org/officeDocument/2006/math">
                    <m:r>
                      <a:rPr lang="zh-CN" altLang="en-US" i="1">
                        <a:latin typeface="Cambria Math" panose="02040503050406030204" pitchFamily="18" charset="0"/>
                      </a:rPr>
                      <m:t>样品后</m:t>
                    </m:r>
                    <m:r>
                      <a:rPr lang="zh-CN" altLang="en-US" i="1" smtClean="0">
                        <a:latin typeface="Cambria Math" panose="02040503050406030204" pitchFamily="18" charset="0"/>
                      </a:rPr>
                      <m:t>到</m:t>
                    </m:r>
                    <m:r>
                      <m:rPr>
                        <m:sty m:val="p"/>
                      </m:rPr>
                      <a:rPr lang="en-US" altLang="zh-CN" b="0" i="1" smtClean="0">
                        <a:latin typeface="Cambria Math" panose="02040503050406030204" pitchFamily="18" charset="0"/>
                      </a:rPr>
                      <m:t>PEM</m:t>
                    </m:r>
                    <m:r>
                      <a:rPr lang="zh-CN" altLang="en-US" i="1">
                        <a:latin typeface="Cambria Math" panose="02040503050406030204" pitchFamily="18" charset="0"/>
                      </a:rPr>
                      <m:t>前的</m:t>
                    </m:r>
                    <m:r>
                      <a:rPr lang="zh-CN" altLang="en-US" i="1" smtClean="0">
                        <a:latin typeface="Cambria Math" panose="02040503050406030204" pitchFamily="18" charset="0"/>
                      </a:rPr>
                      <m:t>光强</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0,</m:t>
                        </m:r>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m:rPr>
                            <m:sty m:val="p"/>
                          </m:rPr>
                          <a:rPr lang="en-US" altLang="zh-CN" i="1">
                            <a:latin typeface="Cambria Math" panose="02040503050406030204" pitchFamily="18" charset="0"/>
                          </a:rPr>
                          <m:t>pix</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𝑖</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obj</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a:rPr lang="en-US" altLang="zh-CN" i="1">
                            <a:latin typeface="Cambria Math" panose="02040503050406030204" pitchFamily="18" charset="0"/>
                          </a:rPr>
                          <m:t>𝐿</m:t>
                        </m:r>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a:rPr lang="en-US" altLang="zh-CN" i="1">
                            <a:latin typeface="Cambria Math" panose="02040503050406030204" pitchFamily="18" charset="0"/>
                          </a:rPr>
                          <m:t>𝐿</m:t>
                        </m:r>
                        <m:r>
                          <a:rPr lang="en-US" altLang="zh-CN" i="1">
                            <a:latin typeface="Cambria Math" panose="02040503050406030204" pitchFamily="18" charset="0"/>
                          </a:rPr>
                          <m:t>3</m:t>
                        </m:r>
                      </m:sub>
                    </m:sSub>
                  </m:oMath>
                </a14:m>
                <a:endParaRPr lang="zh-CN" altLang="en-US" dirty="0"/>
              </a:p>
            </p:txBody>
          </p:sp>
        </mc:Choice>
        <mc:Fallback xmlns="">
          <p:sp>
            <p:nvSpPr>
              <p:cNvPr id="31" name="文本框 30">
                <a:extLst>
                  <a:ext uri="{FF2B5EF4-FFF2-40B4-BE49-F238E27FC236}">
                    <a16:creationId xmlns:a16="http://schemas.microsoft.com/office/drawing/2014/main" id="{DF11F671-8584-53DF-B912-10169C08CE09}"/>
                  </a:ext>
                </a:extLst>
              </p:cNvPr>
              <p:cNvSpPr txBox="1">
                <a:spLocks noRot="1" noChangeAspect="1" noMove="1" noResize="1" noEditPoints="1" noAdjustHandles="1" noChangeArrowheads="1" noChangeShapeType="1" noTextEdit="1"/>
              </p:cNvSpPr>
              <p:nvPr/>
            </p:nvSpPr>
            <p:spPr>
              <a:xfrm>
                <a:off x="2543" y="3884298"/>
                <a:ext cx="4980018" cy="310470"/>
              </a:xfrm>
              <a:prstGeom prst="rect">
                <a:avLst/>
              </a:prstGeom>
              <a:blipFill>
                <a:blip r:embed="rId9"/>
                <a:stretch>
                  <a:fillRect l="-2815" t="-23529" r="-122" b="-37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987AEE10-294B-5421-527A-D162309F6B2C}"/>
                  </a:ext>
                </a:extLst>
              </p:cNvPr>
              <p:cNvSpPr txBox="1"/>
              <p:nvPr/>
            </p:nvSpPr>
            <p:spPr>
              <a:xfrm>
                <a:off x="4108205" y="2053675"/>
                <a:ext cx="388914" cy="369332"/>
              </a:xfrm>
              <a:prstGeom prst="rect">
                <a:avLst/>
              </a:prstGeom>
              <a:noFill/>
            </p:spPr>
            <p:txBody>
              <a:bodyPr wrap="square">
                <a:spAutoFit/>
              </a:bodyPr>
              <a:lstStyle/>
              <a:p>
                <a:pPr/>
                <a14:m>
                  <m:oMathPara xmlns:m="http://schemas.openxmlformats.org/officeDocument/2006/math">
                    <m:o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𝑇</m:t>
                          </m:r>
                        </m:e>
                        <m:sub>
                          <m:r>
                            <a:rPr lang="en-US" altLang="zh-CN" sz="1800" i="1">
                              <a:latin typeface="Cambria Math" panose="02040503050406030204" pitchFamily="18" charset="0"/>
                            </a:rPr>
                            <m:t>𝑖</m:t>
                          </m:r>
                        </m:sub>
                      </m:sSub>
                    </m:oMath>
                  </m:oMathPara>
                </a14:m>
                <a:endParaRPr lang="zh-CN" altLang="en-US" dirty="0"/>
              </a:p>
            </p:txBody>
          </p:sp>
        </mc:Choice>
        <mc:Fallback xmlns="">
          <p:sp>
            <p:nvSpPr>
              <p:cNvPr id="33" name="文本框 32">
                <a:extLst>
                  <a:ext uri="{FF2B5EF4-FFF2-40B4-BE49-F238E27FC236}">
                    <a16:creationId xmlns:a16="http://schemas.microsoft.com/office/drawing/2014/main" id="{987AEE10-294B-5421-527A-D162309F6B2C}"/>
                  </a:ext>
                </a:extLst>
              </p:cNvPr>
              <p:cNvSpPr txBox="1">
                <a:spLocks noRot="1" noChangeAspect="1" noMove="1" noResize="1" noEditPoints="1" noAdjustHandles="1" noChangeArrowheads="1" noChangeShapeType="1" noTextEdit="1"/>
              </p:cNvSpPr>
              <p:nvPr/>
            </p:nvSpPr>
            <p:spPr>
              <a:xfrm>
                <a:off x="4108205" y="2053675"/>
                <a:ext cx="388914" cy="369332"/>
              </a:xfrm>
              <a:prstGeom prst="rect">
                <a:avLst/>
              </a:prstGeom>
              <a:blipFill>
                <a:blip r:embed="rId10"/>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6800F5B4-6693-4391-1BB0-E3B911F6D299}"/>
                  </a:ext>
                </a:extLst>
              </p:cNvPr>
              <p:cNvSpPr txBox="1"/>
              <p:nvPr/>
            </p:nvSpPr>
            <p:spPr>
              <a:xfrm>
                <a:off x="4066042" y="1749344"/>
                <a:ext cx="464596" cy="395045"/>
              </a:xfrm>
              <a:prstGeom prst="rect">
                <a:avLst/>
              </a:prstGeom>
              <a:noFill/>
            </p:spPr>
            <p:txBody>
              <a:bodyPr wrap="square">
                <a:spAutoFit/>
              </a:bodyPr>
              <a:lstStyle/>
              <a:p>
                <a:pPr/>
                <a14:m>
                  <m:oMathPara xmlns:m="http://schemas.openxmlformats.org/officeDocument/2006/math">
                    <m:o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𝜂</m:t>
                          </m:r>
                        </m:e>
                        <m:sub>
                          <m:r>
                            <m:rPr>
                              <m:sty m:val="p"/>
                            </m:rPr>
                            <a:rPr lang="en-US" altLang="zh-CN" sz="1800" i="1">
                              <a:latin typeface="Cambria Math" panose="02040503050406030204" pitchFamily="18" charset="0"/>
                            </a:rPr>
                            <m:t>obj</m:t>
                          </m:r>
                        </m:sub>
                      </m:sSub>
                    </m:oMath>
                  </m:oMathPara>
                </a14:m>
                <a:endParaRPr lang="zh-CN" altLang="en-US" dirty="0"/>
              </a:p>
            </p:txBody>
          </p:sp>
        </mc:Choice>
        <mc:Fallback xmlns="">
          <p:sp>
            <p:nvSpPr>
              <p:cNvPr id="37" name="文本框 36">
                <a:extLst>
                  <a:ext uri="{FF2B5EF4-FFF2-40B4-BE49-F238E27FC236}">
                    <a16:creationId xmlns:a16="http://schemas.microsoft.com/office/drawing/2014/main" id="{6800F5B4-6693-4391-1BB0-E3B911F6D299}"/>
                  </a:ext>
                </a:extLst>
              </p:cNvPr>
              <p:cNvSpPr txBox="1">
                <a:spLocks noRot="1" noChangeAspect="1" noMove="1" noResize="1" noEditPoints="1" noAdjustHandles="1" noChangeArrowheads="1" noChangeShapeType="1" noTextEdit="1"/>
              </p:cNvSpPr>
              <p:nvPr/>
            </p:nvSpPr>
            <p:spPr>
              <a:xfrm>
                <a:off x="4066042" y="1749344"/>
                <a:ext cx="464596" cy="395045"/>
              </a:xfrm>
              <a:prstGeom prst="rect">
                <a:avLst/>
              </a:prstGeom>
              <a:blipFill>
                <a:blip r:embed="rId11"/>
                <a:stretch>
                  <a:fillRect r="-17105"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A2A64DF0-F4E0-1CCC-6E83-56A7E7E67AE7}"/>
                  </a:ext>
                </a:extLst>
              </p:cNvPr>
              <p:cNvSpPr txBox="1"/>
              <p:nvPr/>
            </p:nvSpPr>
            <p:spPr>
              <a:xfrm>
                <a:off x="5963108" y="1697404"/>
                <a:ext cx="497291" cy="369332"/>
              </a:xfrm>
              <a:prstGeom prst="rect">
                <a:avLst/>
              </a:prstGeom>
              <a:noFill/>
            </p:spPr>
            <p:txBody>
              <a:bodyPr wrap="square">
                <a:spAutoFit/>
              </a:bodyPr>
              <a:lstStyle/>
              <a:p>
                <a:pPr/>
                <a14:m>
                  <m:oMathPara xmlns:m="http://schemas.openxmlformats.org/officeDocument/2006/math">
                    <m:o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𝜂</m:t>
                          </m:r>
                        </m:e>
                        <m:sub>
                          <m:r>
                            <a:rPr lang="en-US" altLang="zh-CN" sz="1800" i="1">
                              <a:latin typeface="Cambria Math" panose="02040503050406030204" pitchFamily="18" charset="0"/>
                            </a:rPr>
                            <m:t>𝐿</m:t>
                          </m:r>
                          <m:r>
                            <a:rPr lang="en-US" altLang="zh-CN" sz="1800" i="1">
                              <a:latin typeface="Cambria Math" panose="02040503050406030204" pitchFamily="18" charset="0"/>
                            </a:rPr>
                            <m:t>2</m:t>
                          </m:r>
                        </m:sub>
                      </m:sSub>
                    </m:oMath>
                  </m:oMathPara>
                </a14:m>
                <a:endParaRPr lang="zh-CN" altLang="en-US" dirty="0"/>
              </a:p>
            </p:txBody>
          </p:sp>
        </mc:Choice>
        <mc:Fallback xmlns="">
          <p:sp>
            <p:nvSpPr>
              <p:cNvPr id="39" name="文本框 38">
                <a:extLst>
                  <a:ext uri="{FF2B5EF4-FFF2-40B4-BE49-F238E27FC236}">
                    <a16:creationId xmlns:a16="http://schemas.microsoft.com/office/drawing/2014/main" id="{A2A64DF0-F4E0-1CCC-6E83-56A7E7E67AE7}"/>
                  </a:ext>
                </a:extLst>
              </p:cNvPr>
              <p:cNvSpPr txBox="1">
                <a:spLocks noRot="1" noChangeAspect="1" noMove="1" noResize="1" noEditPoints="1" noAdjustHandles="1" noChangeArrowheads="1" noChangeShapeType="1" noTextEdit="1"/>
              </p:cNvSpPr>
              <p:nvPr/>
            </p:nvSpPr>
            <p:spPr>
              <a:xfrm>
                <a:off x="5963108" y="1697404"/>
                <a:ext cx="497291" cy="369332"/>
              </a:xfrm>
              <a:prstGeom prst="rect">
                <a:avLst/>
              </a:prstGeom>
              <a:blipFill>
                <a:blip r:embed="rId12"/>
                <a:stretch>
                  <a:fillRect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B0252A01-4720-F472-A4DF-080069F1F69E}"/>
                  </a:ext>
                </a:extLst>
              </p:cNvPr>
              <p:cNvSpPr txBox="1"/>
              <p:nvPr/>
            </p:nvSpPr>
            <p:spPr>
              <a:xfrm>
                <a:off x="6938767" y="1762688"/>
                <a:ext cx="555932" cy="369332"/>
              </a:xfrm>
              <a:prstGeom prst="rect">
                <a:avLst/>
              </a:prstGeom>
              <a:noFill/>
            </p:spPr>
            <p:txBody>
              <a:bodyPr wrap="square">
                <a:spAutoFit/>
              </a:bodyPr>
              <a:lstStyle/>
              <a:p>
                <a:pPr/>
                <a14:m>
                  <m:oMathPara xmlns:m="http://schemas.openxmlformats.org/officeDocument/2006/math">
                    <m:o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𝜂</m:t>
                          </m:r>
                        </m:e>
                        <m:sub>
                          <m:r>
                            <a:rPr lang="en-US" altLang="zh-CN" sz="1800" i="1">
                              <a:latin typeface="Cambria Math" panose="02040503050406030204" pitchFamily="18" charset="0"/>
                            </a:rPr>
                            <m:t>𝐿</m:t>
                          </m:r>
                          <m:r>
                            <a:rPr lang="en-US" altLang="zh-CN" sz="1800" i="1">
                              <a:latin typeface="Cambria Math" panose="02040503050406030204" pitchFamily="18" charset="0"/>
                            </a:rPr>
                            <m:t>3</m:t>
                          </m:r>
                        </m:sub>
                      </m:sSub>
                    </m:oMath>
                  </m:oMathPara>
                </a14:m>
                <a:endParaRPr lang="zh-CN" altLang="en-US" dirty="0"/>
              </a:p>
            </p:txBody>
          </p:sp>
        </mc:Choice>
        <mc:Fallback xmlns="">
          <p:sp>
            <p:nvSpPr>
              <p:cNvPr id="41" name="文本框 40">
                <a:extLst>
                  <a:ext uri="{FF2B5EF4-FFF2-40B4-BE49-F238E27FC236}">
                    <a16:creationId xmlns:a16="http://schemas.microsoft.com/office/drawing/2014/main" id="{B0252A01-4720-F472-A4DF-080069F1F69E}"/>
                  </a:ext>
                </a:extLst>
              </p:cNvPr>
              <p:cNvSpPr txBox="1">
                <a:spLocks noRot="1" noChangeAspect="1" noMove="1" noResize="1" noEditPoints="1" noAdjustHandles="1" noChangeArrowheads="1" noChangeShapeType="1" noTextEdit="1"/>
              </p:cNvSpPr>
              <p:nvPr/>
            </p:nvSpPr>
            <p:spPr>
              <a:xfrm>
                <a:off x="6938767" y="1762688"/>
                <a:ext cx="555932" cy="369332"/>
              </a:xfrm>
              <a:prstGeom prst="rect">
                <a:avLst/>
              </a:prstGeom>
              <a:blipFill>
                <a:blip r:embed="rId13"/>
                <a:stretch>
                  <a:fillRect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F5278DD6-DCEF-6760-B6A6-59343F0A297A}"/>
                  </a:ext>
                </a:extLst>
              </p:cNvPr>
              <p:cNvSpPr txBox="1"/>
              <p:nvPr/>
            </p:nvSpPr>
            <p:spPr>
              <a:xfrm>
                <a:off x="4583370" y="1827650"/>
                <a:ext cx="1165575" cy="553998"/>
              </a:xfrm>
              <a:prstGeom prst="rect">
                <a:avLst/>
              </a:prstGeom>
              <a:noFill/>
            </p:spPr>
            <p:txBody>
              <a:bodyPr wrap="none" lIns="0" tIns="0" rIns="0" bIns="0" rtlCol="0">
                <a:spAutoFit/>
              </a:bodyPr>
              <a:lstStyle/>
              <a:p>
                <a:pPr/>
                <a14:m>
                  <m:oMathPara xmlns:m="http://schemas.openxmlformats.org/officeDocument/2006/math">
                    <m:oMath>
                      <m:sSub>
                        <m:sSubPr>
                          <m:ctrlPr>
                            <a:rPr lang="sv-SE" altLang="zh-CN" i="1">
                              <a:latin typeface="Cambria Math" panose="02040503050406030204" pitchFamily="18" charset="0"/>
                            </a:rPr>
                          </m:ctrlPr>
                        </m:sSubPr>
                        <m:e>
                          <m:r>
                            <m:rPr>
                              <m:sty m:val="p"/>
                            </m:rPr>
                            <a:rPr lang="sv-SE" altLang="zh-CN" i="1">
                              <a:latin typeface="Cambria Math" panose="02040503050406030204" pitchFamily="18" charset="0"/>
                            </a:rPr>
                            <m:t>Γ</m:t>
                          </m:r>
                        </m:e>
                        <m:sub>
                          <m:r>
                            <a:rPr lang="sv-SE" altLang="zh-CN" i="1">
                              <a:latin typeface="Cambria Math" panose="02040503050406030204" pitchFamily="18" charset="0"/>
                            </a:rPr>
                            <m:t>𝑖</m:t>
                          </m:r>
                        </m:sub>
                      </m:sSub>
                      <m:r>
                        <a:rPr lang="sv-SE" altLang="zh-CN" i="1">
                          <a:latin typeface="Cambria Math" panose="02040503050406030204" pitchFamily="18" charset="0"/>
                        </a:rPr>
                        <m:t>=</m:t>
                      </m:r>
                      <m:sSub>
                        <m:sSubPr>
                          <m:ctrlPr>
                            <a:rPr lang="sv-SE" altLang="zh-CN" i="1">
                              <a:latin typeface="Cambria Math" panose="02040503050406030204" pitchFamily="18" charset="0"/>
                            </a:rPr>
                          </m:ctrlPr>
                        </m:sSubPr>
                        <m:e>
                          <m:r>
                            <m:rPr>
                              <m:sty m:val="p"/>
                            </m:rPr>
                            <a:rPr lang="sv-SE" altLang="zh-CN" i="1">
                              <a:latin typeface="Cambria Math" panose="02040503050406030204" pitchFamily="18" charset="0"/>
                            </a:rPr>
                            <m:t>Γ</m:t>
                          </m:r>
                        </m:e>
                        <m:sub>
                          <m:r>
                            <m:rPr>
                              <m:sty m:val="p"/>
                            </m:rPr>
                            <a:rPr lang="sv-SE" altLang="zh-CN" i="1">
                              <a:latin typeface="Cambria Math" panose="02040503050406030204" pitchFamily="18" charset="0"/>
                            </a:rPr>
                            <m:t>max</m:t>
                          </m:r>
                        </m:sub>
                      </m:sSub>
                      <m:sSub>
                        <m:sSubPr>
                          <m:ctrlPr>
                            <a:rPr lang="sv-SE" altLang="zh-CN" i="1">
                              <a:latin typeface="Cambria Math" panose="02040503050406030204" pitchFamily="18" charset="0"/>
                            </a:rPr>
                          </m:ctrlPr>
                        </m:sSubPr>
                        <m:e>
                          <m:r>
                            <a:rPr lang="sv-SE" altLang="zh-CN" i="1">
                              <a:latin typeface="Cambria Math" panose="02040503050406030204" pitchFamily="18" charset="0"/>
                            </a:rPr>
                            <m:t>𝑇</m:t>
                          </m:r>
                        </m:e>
                        <m:sub>
                          <m:r>
                            <a:rPr lang="sv-SE" altLang="zh-CN" i="1">
                              <a:latin typeface="Cambria Math" panose="02040503050406030204" pitchFamily="18" charset="0"/>
                            </a:rPr>
                            <m:t>𝑖</m:t>
                          </m:r>
                        </m:sub>
                      </m:sSub>
                    </m:oMath>
                  </m:oMathPara>
                </a14:m>
                <a:endParaRPr lang="en-US" altLang="zh-CN" i="1" dirty="0">
                  <a:latin typeface="Cambria Math" panose="02040503050406030204" pitchFamily="18" charset="0"/>
                </a:endParaRPr>
              </a:p>
              <a:p>
                <a:pPr/>
                <a14:m>
                  <m:oMathPara xmlns:m="http://schemas.openxmlformats.org/officeDocument/2006/math">
                    <m:oMath>
                      <m:sSub>
                        <m:sSubPr>
                          <m:ctrlPr>
                            <a:rPr lang="sv-SE" altLang="zh-CN" i="1">
                              <a:latin typeface="Cambria Math" panose="02040503050406030204" pitchFamily="18" charset="0"/>
                            </a:rPr>
                          </m:ctrlPr>
                        </m:sSubPr>
                        <m:e>
                          <m:r>
                            <m:rPr>
                              <m:sty m:val="p"/>
                            </m:rPr>
                            <a:rPr lang="sv-SE" altLang="zh-CN" i="1">
                              <a:latin typeface="Cambria Math" panose="02040503050406030204" pitchFamily="18" charset="0"/>
                            </a:rPr>
                            <m:t>Γ</m:t>
                          </m:r>
                        </m:e>
                        <m:sub>
                          <m:r>
                            <m:rPr>
                              <m:sty m:val="p"/>
                            </m:rPr>
                            <a:rPr lang="sv-SE" altLang="zh-CN" i="1">
                              <a:latin typeface="Cambria Math" panose="02040503050406030204" pitchFamily="18" charset="0"/>
                            </a:rPr>
                            <m:t>max</m:t>
                          </m:r>
                        </m:sub>
                      </m:sSub>
                      <m:r>
                        <a:rPr lang="sv-SE" altLang="zh-CN" i="1">
                          <a:latin typeface="Cambria Math" panose="02040503050406030204" pitchFamily="18" charset="0"/>
                        </a:rPr>
                        <m:t>=</m:t>
                      </m:r>
                      <m:sSup>
                        <m:sSupPr>
                          <m:ctrlPr>
                            <a:rPr lang="sv-SE" altLang="zh-CN" i="1">
                              <a:latin typeface="Cambria Math" panose="02040503050406030204" pitchFamily="18" charset="0"/>
                            </a:rPr>
                          </m:ctrlPr>
                        </m:sSupPr>
                        <m:e>
                          <m:r>
                            <a:rPr lang="sv-SE" altLang="zh-CN" i="1">
                              <a:latin typeface="Cambria Math" panose="02040503050406030204" pitchFamily="18" charset="0"/>
                            </a:rPr>
                            <m:t>60</m:t>
                          </m:r>
                        </m:e>
                        <m:sup>
                          <m:r>
                            <a:rPr lang="sv-SE" altLang="zh-CN" i="1">
                              <a:latin typeface="Cambria Math" panose="02040503050406030204" pitchFamily="18" charset="0"/>
                            </a:rPr>
                            <m:t>∘</m:t>
                          </m:r>
                        </m:sup>
                      </m:sSup>
                    </m:oMath>
                  </m:oMathPara>
                </a14:m>
                <a:endParaRPr lang="zh-CN" altLang="en-US" dirty="0"/>
              </a:p>
            </p:txBody>
          </p:sp>
        </mc:Choice>
        <mc:Fallback xmlns="">
          <p:sp>
            <p:nvSpPr>
              <p:cNvPr id="42" name="文本框 41">
                <a:extLst>
                  <a:ext uri="{FF2B5EF4-FFF2-40B4-BE49-F238E27FC236}">
                    <a16:creationId xmlns:a16="http://schemas.microsoft.com/office/drawing/2014/main" id="{F5278DD6-DCEF-6760-B6A6-59343F0A297A}"/>
                  </a:ext>
                </a:extLst>
              </p:cNvPr>
              <p:cNvSpPr txBox="1">
                <a:spLocks noRot="1" noChangeAspect="1" noMove="1" noResize="1" noEditPoints="1" noAdjustHandles="1" noChangeArrowheads="1" noChangeShapeType="1" noTextEdit="1"/>
              </p:cNvSpPr>
              <p:nvPr/>
            </p:nvSpPr>
            <p:spPr>
              <a:xfrm>
                <a:off x="4583370" y="1827650"/>
                <a:ext cx="1165575" cy="553998"/>
              </a:xfrm>
              <a:prstGeom prst="rect">
                <a:avLst/>
              </a:prstGeom>
              <a:blipFill>
                <a:blip r:embed="rId14"/>
                <a:stretch>
                  <a:fillRect l="-4712" r="-524" b="-54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6BB510E7-080B-6E72-6589-44D39E2234E4}"/>
                  </a:ext>
                </a:extLst>
              </p:cNvPr>
              <p:cNvSpPr txBox="1"/>
              <p:nvPr/>
            </p:nvSpPr>
            <p:spPr>
              <a:xfrm>
                <a:off x="5241023" y="3177687"/>
                <a:ext cx="1822550" cy="1183466"/>
              </a:xfrm>
              <a:prstGeom prst="rect">
                <a:avLst/>
              </a:prstGeom>
              <a:noFill/>
            </p:spPr>
            <p:txBody>
              <a:bodyPr wrap="none" lIns="0" tIns="0" rIns="0" bIns="0" rtlCol="0">
                <a:spAutoFit/>
              </a:bodyPr>
              <a:lstStyle/>
              <a:p>
                <a:pPr/>
                <a14:m>
                  <m:oMathPara xmlns:m="http://schemas.openxmlformats.org/officeDocument/2006/math">
                    <m:oMath>
                      <m:r>
                        <a:rPr lang="zh-CN" altLang="en-US" i="1">
                          <a:latin typeface="Cambria Math" panose="02040503050406030204" pitchFamily="18" charset="0"/>
                        </a:rPr>
                        <m:t>斯托克斯参数</m:t>
                      </m:r>
                      <m:r>
                        <a:rPr lang="zh-CN" altLang="en-US" i="1" smtClean="0">
                          <a:latin typeface="Cambria Math" panose="02040503050406030204" pitchFamily="18" charset="0"/>
                        </a:rPr>
                        <m:t>：</m:t>
                      </m:r>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0,</m:t>
                          </m:r>
                          <m:r>
                            <a:rPr lang="en-US" altLang="zh-CN" i="1">
                              <a:latin typeface="Cambria Math" panose="02040503050406030204" pitchFamily="18" charset="0"/>
                            </a:rPr>
                            <m:t>𝑖</m:t>
                          </m:r>
                        </m:sub>
                      </m:sSub>
                      <m:sSub>
                        <m:sSubPr>
                          <m:ctrlPr>
                            <a:rPr lang="en-US" altLang="zh-CN" i="1">
                              <a:latin typeface="Cambria Math" panose="02040503050406030204" pitchFamily="18" charset="0"/>
                            </a:rPr>
                          </m:ctrlPr>
                        </m:sSubPr>
                        <m:e>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r>
                                <m:rPr>
                                  <m:sty m:val="p"/>
                                </m:rPr>
                                <a:rPr lang="en-US" altLang="zh-CN" i="1">
                                  <a:latin typeface="Cambria Math" panose="02040503050406030204" pitchFamily="18" charset="0"/>
                                </a:rPr>
                                <m:t>Γ</m:t>
                              </m:r>
                            </m:e>
                          </m:func>
                        </m:e>
                        <m:sub>
                          <m:r>
                            <a:rPr lang="en-US" altLang="zh-CN" i="1">
                              <a:latin typeface="Cambria Math" panose="02040503050406030204" pitchFamily="18" charset="0"/>
                            </a:rPr>
                            <m:t>𝑖</m:t>
                          </m:r>
                        </m:sub>
                      </m:sSub>
                      <m:r>
                        <a:rPr lang="en-US" altLang="zh-CN" i="1">
                          <a:latin typeface="Cambria Math" panose="02040503050406030204" pitchFamily="18" charset="0"/>
                        </a:rPr>
                        <m:t> </m:t>
                      </m:r>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2,</m:t>
                          </m:r>
                          <m:r>
                            <a:rPr lang="en-US" altLang="zh-CN" i="1">
                              <a:latin typeface="Cambria Math" panose="02040503050406030204" pitchFamily="18" charset="0"/>
                            </a:rPr>
                            <m:t>𝑖</m:t>
                          </m:r>
                        </m:sub>
                      </m:sSub>
                      <m:r>
                        <a:rPr lang="en-US" altLang="zh-CN" i="1">
                          <a:latin typeface="Cambria Math" panose="02040503050406030204" pitchFamily="18" charset="0"/>
                        </a:rPr>
                        <m:t>=0</m:t>
                      </m:r>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0,</m:t>
                          </m:r>
                          <m:r>
                            <a:rPr lang="en-US" altLang="zh-CN" i="1">
                              <a:latin typeface="Cambria Math" panose="02040503050406030204" pitchFamily="18" charset="0"/>
                            </a:rPr>
                            <m:t>𝑖</m:t>
                          </m:r>
                        </m:sub>
                      </m:sSub>
                      <m:sSub>
                        <m:sSubPr>
                          <m:ctrlPr>
                            <a:rPr lang="en-US" altLang="zh-CN" i="1">
                              <a:latin typeface="Cambria Math" panose="02040503050406030204" pitchFamily="18" charset="0"/>
                            </a:rPr>
                          </m:ctrlPr>
                        </m:sSubPr>
                        <m:e>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r>
                                <m:rPr>
                                  <m:sty m:val="p"/>
                                </m:rPr>
                                <a:rPr lang="en-US" altLang="zh-CN" i="1">
                                  <a:latin typeface="Cambria Math" panose="02040503050406030204" pitchFamily="18" charset="0"/>
                                </a:rPr>
                                <m:t>Γ</m:t>
                              </m:r>
                            </m:e>
                          </m:func>
                        </m:e>
                        <m:sub>
                          <m:r>
                            <a:rPr lang="en-US" altLang="zh-CN" i="1">
                              <a:latin typeface="Cambria Math" panose="02040503050406030204" pitchFamily="18" charset="0"/>
                            </a:rPr>
                            <m:t>𝑖</m:t>
                          </m:r>
                        </m:sub>
                      </m:sSub>
                    </m:oMath>
                  </m:oMathPara>
                </a14:m>
                <a:endParaRPr lang="zh-CN" altLang="en-US" dirty="0"/>
              </a:p>
            </p:txBody>
          </p:sp>
        </mc:Choice>
        <mc:Fallback xmlns="">
          <p:sp>
            <p:nvSpPr>
              <p:cNvPr id="44" name="文本框 43">
                <a:extLst>
                  <a:ext uri="{FF2B5EF4-FFF2-40B4-BE49-F238E27FC236}">
                    <a16:creationId xmlns:a16="http://schemas.microsoft.com/office/drawing/2014/main" id="{6BB510E7-080B-6E72-6589-44D39E2234E4}"/>
                  </a:ext>
                </a:extLst>
              </p:cNvPr>
              <p:cNvSpPr txBox="1">
                <a:spLocks noRot="1" noChangeAspect="1" noMove="1" noResize="1" noEditPoints="1" noAdjustHandles="1" noChangeArrowheads="1" noChangeShapeType="1" noTextEdit="1"/>
              </p:cNvSpPr>
              <p:nvPr/>
            </p:nvSpPr>
            <p:spPr>
              <a:xfrm>
                <a:off x="5241023" y="3177687"/>
                <a:ext cx="1822550" cy="1183466"/>
              </a:xfrm>
              <a:prstGeom prst="rect">
                <a:avLst/>
              </a:prstGeom>
              <a:blipFill>
                <a:blip r:embed="rId15"/>
                <a:stretch>
                  <a:fillRect l="-2007" t="-1546" r="-5017" b="-2577"/>
                </a:stretch>
              </a:blipFill>
            </p:spPr>
            <p:txBody>
              <a:bodyPr/>
              <a:lstStyle/>
              <a:p>
                <a:r>
                  <a:rPr lang="zh-CN" altLang="en-US">
                    <a:noFill/>
                  </a:rPr>
                  <a:t> </a:t>
                </a:r>
              </a:p>
            </p:txBody>
          </p:sp>
        </mc:Fallback>
      </mc:AlternateContent>
      <p:cxnSp>
        <p:nvCxnSpPr>
          <p:cNvPr id="46" name="直接箭头连接符 45">
            <a:extLst>
              <a:ext uri="{FF2B5EF4-FFF2-40B4-BE49-F238E27FC236}">
                <a16:creationId xmlns:a16="http://schemas.microsoft.com/office/drawing/2014/main" id="{8AB263F0-4E99-1BE2-056B-0EF1B9758CAD}"/>
              </a:ext>
            </a:extLst>
          </p:cNvPr>
          <p:cNvCxnSpPr>
            <a:cxnSpLocks/>
            <a:stCxn id="12" idx="3"/>
            <a:endCxn id="44" idx="0"/>
          </p:cNvCxnSpPr>
          <p:nvPr/>
        </p:nvCxnSpPr>
        <p:spPr>
          <a:xfrm>
            <a:off x="5180473" y="1483422"/>
            <a:ext cx="971825" cy="1694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3904466A-45B5-AB84-7817-A17115CC0AB3}"/>
              </a:ext>
            </a:extLst>
          </p:cNvPr>
          <p:cNvSpPr txBox="1"/>
          <p:nvPr/>
        </p:nvSpPr>
        <p:spPr>
          <a:xfrm>
            <a:off x="7054445" y="3762534"/>
            <a:ext cx="2295500" cy="276999"/>
          </a:xfrm>
          <a:prstGeom prst="rect">
            <a:avLst/>
          </a:prstGeom>
          <a:noFill/>
        </p:spPr>
        <p:txBody>
          <a:bodyPr wrap="none" lIns="0" tIns="0" rIns="0" bIns="0" rtlCol="0">
            <a:spAutoFit/>
          </a:bodyPr>
          <a:lstStyle/>
          <a:p>
            <a:r>
              <a:rPr lang="zh-CN" altLang="en-US" dirty="0"/>
              <a:t>由</a:t>
            </a:r>
            <a:r>
              <a:rPr lang="en-US" altLang="zh-CN" dirty="0"/>
              <a:t>Jones</a:t>
            </a:r>
            <a:r>
              <a:rPr lang="zh-CN" altLang="en-US" dirty="0"/>
              <a:t>矩阵推导而来</a:t>
            </a:r>
            <a:endParaRPr lang="en-US" altLang="zh-CN" dirty="0"/>
          </a:p>
        </p:txBody>
      </p: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1761EE56-2004-E03E-D930-280524C1B064}"/>
                  </a:ext>
                </a:extLst>
              </p:cNvPr>
              <p:cNvSpPr txBox="1"/>
              <p:nvPr/>
            </p:nvSpPr>
            <p:spPr>
              <a:xfrm>
                <a:off x="-1" y="4483168"/>
                <a:ext cx="12018007" cy="278153"/>
              </a:xfrm>
              <a:prstGeom prst="rect">
                <a:avLst/>
              </a:prstGeom>
              <a:noFill/>
            </p:spPr>
            <p:txBody>
              <a:bodyPr wrap="square" lIns="0" tIns="0" rIns="0" bIns="0" rtlCol="0">
                <a:spAutoFit/>
              </a:bodyPr>
              <a:lstStyle/>
              <a:p>
                <a14:m>
                  <m:oMath xmlns:m="http://schemas.openxmlformats.org/officeDocument/2006/math">
                    <m:r>
                      <m:rPr>
                        <m:sty m:val="p"/>
                      </m:rPr>
                      <a:rPr lang="en-US" altLang="zh-CN" b="0" i="1" smtClean="0">
                        <a:latin typeface="Cambria Math" panose="02040503050406030204" pitchFamily="18" charset="0"/>
                      </a:rPr>
                      <m:t>PEM</m:t>
                    </m:r>
                    <m:r>
                      <a:rPr lang="zh-CN" altLang="en-US" i="1">
                        <a:latin typeface="Cambria Math" panose="02040503050406030204" pitchFamily="18" charset="0"/>
                      </a:rPr>
                      <m:t>引入的</m:t>
                    </m:r>
                    <m:r>
                      <a:rPr lang="zh-CN" altLang="en-US" i="1" smtClean="0">
                        <a:latin typeface="Cambria Math" panose="02040503050406030204" pitchFamily="18" charset="0"/>
                      </a:rPr>
                      <m:t>相位延迟</m:t>
                    </m:r>
                    <m:r>
                      <a:rPr lang="en-US" altLang="zh-CN" i="1" smtClean="0">
                        <a:latin typeface="Cambria Math" panose="02040503050406030204" pitchFamily="18" charset="0"/>
                      </a:rPr>
                      <m:t>𝛿</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𝜋</m:t>
                            </m:r>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m:rPr>
                                    <m:sty m:val="p"/>
                                  </m:rPr>
                                  <a:rPr lang="en-US" altLang="zh-CN" i="1">
                                    <a:latin typeface="Cambria Math" panose="02040503050406030204" pitchFamily="18" charset="0"/>
                                  </a:rPr>
                                  <m:t>PEM</m:t>
                                </m:r>
                              </m:sub>
                            </m:sSub>
                            <m:r>
                              <a:rPr lang="en-US" altLang="zh-CN" i="1">
                                <a:latin typeface="Cambria Math" panose="02040503050406030204" pitchFamily="18" charset="0"/>
                              </a:rPr>
                              <m:t>𝑡</m:t>
                            </m:r>
                          </m:e>
                        </m:d>
                        <m:r>
                          <a:rPr lang="en-US" altLang="zh-CN" b="0" i="1" smtClean="0">
                            <a:latin typeface="Cambria Math" panose="02040503050406030204" pitchFamily="18" charset="0"/>
                          </a:rPr>
                          <m:t> </m:t>
                        </m:r>
                        <m:r>
                          <a:rPr lang="zh-CN" altLang="en-US" i="1">
                            <a:latin typeface="Cambria Math" panose="02040503050406030204" pitchFamily="18" charset="0"/>
                          </a:rPr>
                          <m:t>，</m:t>
                        </m:r>
                        <m:r>
                          <a:rPr lang="zh-CN" altLang="en-US" i="1" smtClean="0">
                            <a:latin typeface="Cambria Math" panose="02040503050406030204" pitchFamily="18" charset="0"/>
                          </a:rPr>
                          <m:t>仿真</m:t>
                        </m:r>
                        <m:r>
                          <a:rPr lang="zh-CN" altLang="en-US" i="1">
                            <a:latin typeface="Cambria Math" panose="02040503050406030204" pitchFamily="18" charset="0"/>
                          </a:rPr>
                          <m:t>中</m:t>
                        </m:r>
                        <m:r>
                          <a:rPr lang="zh-CN" altLang="en-US" i="1" smtClean="0">
                            <a:latin typeface="Cambria Math" panose="02040503050406030204" pitchFamily="18" charset="0"/>
                          </a:rPr>
                          <m:t>认为</m:t>
                        </m:r>
                        <m:r>
                          <m:rPr>
                            <m:sty m:val="p"/>
                          </m:rPr>
                          <a:rPr lang="en-US" altLang="zh-CN" b="0" i="1" smtClean="0">
                            <a:latin typeface="Cambria Math" panose="02040503050406030204" pitchFamily="18" charset="0"/>
                          </a:rPr>
                          <m:t>PEM</m:t>
                        </m:r>
                        <m:r>
                          <a:rPr lang="zh-CN" altLang="en-US" i="1">
                            <a:latin typeface="Cambria Math" panose="02040503050406030204" pitchFamily="18" charset="0"/>
                          </a:rPr>
                          <m:t>快</m:t>
                        </m:r>
                        <m:r>
                          <a:rPr lang="zh-CN" altLang="en-US" i="1" smtClean="0">
                            <a:latin typeface="Cambria Math" panose="02040503050406030204" pitchFamily="18" charset="0"/>
                          </a:rPr>
                          <m:t>轴</m:t>
                        </m:r>
                        <m:r>
                          <a:rPr lang="en-US" altLang="zh-CN" b="0" i="1" smtClean="0">
                            <a:latin typeface="Cambria Math" panose="02040503050406030204" pitchFamily="18" charset="0"/>
                          </a:rPr>
                          <m:t>45</m:t>
                        </m:r>
                        <m:r>
                          <a:rPr lang="en-US" altLang="zh-CN" i="1">
                            <a:latin typeface="Cambria Math" panose="02040503050406030204" pitchFamily="18" charset="0"/>
                          </a:rPr>
                          <m:t>°</m:t>
                        </m:r>
                      </m:e>
                    </m:func>
                    <m:r>
                      <a:rPr lang="zh-CN" altLang="en-US" i="1">
                        <a:latin typeface="Cambria Math" panose="02040503050406030204" pitchFamily="18" charset="0"/>
                      </a:rPr>
                      <m:t>，</m:t>
                    </m:r>
                  </m:oMath>
                </a14:m>
                <a:r>
                  <a:rPr lang="zh-CN" altLang="en-US" dirty="0"/>
                  <a:t>频率为</a:t>
                </a:r>
                <a:r>
                  <a:rPr lang="en-US" altLang="zh-CN" dirty="0"/>
                  <a:t>50KHz</a:t>
                </a:r>
                <a:endParaRPr lang="zh-CN" altLang="en-US" dirty="0"/>
              </a:p>
            </p:txBody>
          </p:sp>
        </mc:Choice>
        <mc:Fallback xmlns="">
          <p:sp>
            <p:nvSpPr>
              <p:cNvPr id="52" name="文本框 51">
                <a:extLst>
                  <a:ext uri="{FF2B5EF4-FFF2-40B4-BE49-F238E27FC236}">
                    <a16:creationId xmlns:a16="http://schemas.microsoft.com/office/drawing/2014/main" id="{1761EE56-2004-E03E-D930-280524C1B064}"/>
                  </a:ext>
                </a:extLst>
              </p:cNvPr>
              <p:cNvSpPr txBox="1">
                <a:spLocks noRot="1" noChangeAspect="1" noMove="1" noResize="1" noEditPoints="1" noAdjustHandles="1" noChangeArrowheads="1" noChangeShapeType="1" noTextEdit="1"/>
              </p:cNvSpPr>
              <p:nvPr/>
            </p:nvSpPr>
            <p:spPr>
              <a:xfrm>
                <a:off x="-1" y="4483168"/>
                <a:ext cx="12018007" cy="278153"/>
              </a:xfrm>
              <a:prstGeom prst="rect">
                <a:avLst/>
              </a:prstGeom>
              <a:blipFill>
                <a:blip r:embed="rId16"/>
                <a:stretch>
                  <a:fillRect l="-660" t="-28261"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AE3914C0-FCC2-00CC-9708-16D3FF7EEC16}"/>
                  </a:ext>
                </a:extLst>
              </p:cNvPr>
              <p:cNvSpPr txBox="1"/>
              <p:nvPr/>
            </p:nvSpPr>
            <p:spPr>
              <a:xfrm>
                <a:off x="7996721" y="1801883"/>
                <a:ext cx="507658" cy="369332"/>
              </a:xfrm>
              <a:prstGeom prst="rect">
                <a:avLst/>
              </a:prstGeom>
              <a:noFill/>
            </p:spPr>
            <p:txBody>
              <a:bodyPr wrap="square">
                <a:spAutoFit/>
              </a:bodyPr>
              <a:lstStyle/>
              <a:p>
                <a:pPr/>
                <a14:m>
                  <m:oMathPara xmlns:m="http://schemas.openxmlformats.org/officeDocument/2006/math">
                    <m:oMath>
                      <m:r>
                        <a:rPr lang="en-US" altLang="zh-CN" sz="1800" i="1" smtClean="0">
                          <a:latin typeface="Cambria Math" panose="02040503050406030204" pitchFamily="18" charset="0"/>
                        </a:rPr>
                        <m:t>𝛿</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𝑡</m:t>
                          </m:r>
                        </m:e>
                      </m:d>
                    </m:oMath>
                  </m:oMathPara>
                </a14:m>
                <a:endParaRPr lang="zh-CN" altLang="en-US" dirty="0"/>
              </a:p>
            </p:txBody>
          </p:sp>
        </mc:Choice>
        <mc:Fallback xmlns="">
          <p:sp>
            <p:nvSpPr>
              <p:cNvPr id="54" name="文本框 53">
                <a:extLst>
                  <a:ext uri="{FF2B5EF4-FFF2-40B4-BE49-F238E27FC236}">
                    <a16:creationId xmlns:a16="http://schemas.microsoft.com/office/drawing/2014/main" id="{AE3914C0-FCC2-00CC-9708-16D3FF7EEC16}"/>
                  </a:ext>
                </a:extLst>
              </p:cNvPr>
              <p:cNvSpPr txBox="1">
                <a:spLocks noRot="1" noChangeAspect="1" noMove="1" noResize="1" noEditPoints="1" noAdjustHandles="1" noChangeArrowheads="1" noChangeShapeType="1" noTextEdit="1"/>
              </p:cNvSpPr>
              <p:nvPr/>
            </p:nvSpPr>
            <p:spPr>
              <a:xfrm>
                <a:off x="7996721" y="1801883"/>
                <a:ext cx="507658" cy="369332"/>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0C1EA735-70F7-9548-6A47-3F193014A1AD}"/>
                  </a:ext>
                </a:extLst>
              </p:cNvPr>
              <p:cNvSpPr txBox="1"/>
              <p:nvPr/>
            </p:nvSpPr>
            <p:spPr>
              <a:xfrm>
                <a:off x="46920" y="4921360"/>
                <a:ext cx="12018007" cy="412485"/>
              </a:xfrm>
              <a:prstGeom prst="rect">
                <a:avLst/>
              </a:prstGeom>
              <a:noFill/>
            </p:spPr>
            <p:txBody>
              <a:bodyPr wrap="square" lIns="0" tIns="0" rIns="0" bIns="0" rtlCol="0">
                <a:spAutoFit/>
              </a:bodyPr>
              <a:lstStyle/>
              <a:p>
                <a:r>
                  <a:rPr lang="zh-CN" altLang="en-US" dirty="0"/>
                  <a:t>检偏器</a:t>
                </a:r>
                <a14:m>
                  <m:oMath xmlns:m="http://schemas.openxmlformats.org/officeDocument/2006/math">
                    <m:r>
                      <a:rPr lang="zh-CN" altLang="en-US" i="1" dirty="0">
                        <a:latin typeface="Cambria Math" panose="02040503050406030204" pitchFamily="18" charset="0"/>
                      </a:rPr>
                      <m:t>最终</m:t>
                    </m:r>
                    <m:r>
                      <a:rPr lang="zh-CN" altLang="en-US" i="1" dirty="0" smtClean="0">
                        <a:latin typeface="Cambria Math" panose="02040503050406030204" pitchFamily="18" charset="0"/>
                      </a:rPr>
                      <m:t>输出的</m:t>
                    </m:r>
                    <m:r>
                      <a:rPr lang="zh-CN" altLang="en-US" i="1" dirty="0">
                        <a:latin typeface="Cambria Math" panose="02040503050406030204" pitchFamily="18" charset="0"/>
                      </a:rPr>
                      <m:t>单个</m:t>
                    </m:r>
                    <m:r>
                      <a:rPr lang="zh-CN" altLang="en-US" i="1" dirty="0" smtClean="0">
                        <a:latin typeface="Cambria Math" panose="02040503050406030204" pitchFamily="18" charset="0"/>
                      </a:rPr>
                      <m:t>像素</m:t>
                    </m:r>
                    <m:r>
                      <a:rPr lang="zh-CN" altLang="en-US" i="1" dirty="0">
                        <a:latin typeface="Cambria Math" panose="02040503050406030204" pitchFamily="18" charset="0"/>
                      </a:rPr>
                      <m:t>的</m:t>
                    </m:r>
                    <m:r>
                      <a:rPr lang="zh-CN" altLang="en-US" i="1" dirty="0" smtClean="0">
                        <a:latin typeface="Cambria Math" panose="02040503050406030204" pitchFamily="18" charset="0"/>
                      </a:rPr>
                      <m:t>光</m:t>
                    </m:r>
                    <m:r>
                      <a:rPr lang="zh-CN" altLang="en-US" i="1" dirty="0">
                        <a:latin typeface="Cambria Math" panose="02040503050406030204" pitchFamily="18" charset="0"/>
                      </a:rPr>
                      <m:t>强：</m:t>
                    </m:r>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𝑘</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num>
                      <m:den>
                        <m:r>
                          <a:rPr lang="en-US" altLang="zh-CN" i="1">
                            <a:latin typeface="Cambria Math" panose="02040503050406030204" pitchFamily="18" charset="0"/>
                          </a:rPr>
                          <m:t>2</m:t>
                        </m:r>
                      </m:den>
                    </m:f>
                    <m:d>
                      <m:dPr>
                        <m:begChr m:val="["/>
                        <m:endChr m:val="]"/>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𝑆</m:t>
                            </m:r>
                          </m:e>
                          <m:sub>
                            <m:r>
                              <a:rPr lang="en-US" altLang="zh-CN" i="1">
                                <a:latin typeface="Cambria Math" panose="02040503050406030204" pitchFamily="18" charset="0"/>
                              </a:rPr>
                              <m:t>0</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𝑆</m:t>
                            </m:r>
                          </m:e>
                          <m:sub>
                            <m:r>
                              <a:rPr lang="en-US" altLang="zh-CN" i="1">
                                <a:latin typeface="Cambria Math" panose="02040503050406030204" pitchFamily="18" charset="0"/>
                              </a:rPr>
                              <m:t>1</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r>
                              <a:rPr lang="en-US" altLang="zh-CN" i="1">
                                <a:latin typeface="Cambria Math" panose="02040503050406030204" pitchFamily="18" charset="0"/>
                              </a:rPr>
                              <m:t>𝛿</m:t>
                            </m:r>
                          </m:e>
                        </m:func>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𝑆</m:t>
                            </m:r>
                          </m:e>
                          <m:sub>
                            <m:r>
                              <a:rPr lang="en-US" altLang="zh-CN" i="1">
                                <a:latin typeface="Cambria Math" panose="02040503050406030204" pitchFamily="18" charset="0"/>
                              </a:rPr>
                              <m:t>3</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r>
                              <a:rPr lang="en-US" altLang="zh-CN" i="1">
                                <a:latin typeface="Cambria Math" panose="02040503050406030204" pitchFamily="18" charset="0"/>
                              </a:rPr>
                              <m:t>𝛿</m:t>
                            </m:r>
                          </m:e>
                        </m:func>
                        <m:d>
                          <m:dPr>
                            <m:ctrlPr>
                              <a:rPr lang="en-US" altLang="zh-CN" i="1">
                                <a:latin typeface="Cambria Math" panose="02040503050406030204" pitchFamily="18" charset="0"/>
                              </a:rPr>
                            </m:ctrlPr>
                          </m:dPr>
                          <m:e>
                            <m:r>
                              <a:rPr lang="en-US" altLang="zh-CN" i="1">
                                <a:latin typeface="Cambria Math" panose="02040503050406030204" pitchFamily="18" charset="0"/>
                              </a:rPr>
                              <m:t>𝑡</m:t>
                            </m:r>
                          </m:e>
                        </m:d>
                      </m:e>
                    </m:d>
                  </m:oMath>
                </a14:m>
                <a:r>
                  <a:rPr lang="zh-CN" altLang="en-US" dirty="0"/>
                  <a:t>，检偏器与起偏器正交</a:t>
                </a:r>
                <a:r>
                  <a:rPr lang="en-US" altLang="zh-CN" dirty="0"/>
                  <a:t>,</a:t>
                </a:r>
                <a:r>
                  <a:rPr lang="sv-SE" altLang="zh-CN" dirty="0"/>
                  <a:t> </a:t>
                </a:r>
                <a14:m>
                  <m:oMath xmlns:m="http://schemas.openxmlformats.org/officeDocument/2006/math">
                    <m:sSub>
                      <m:sSubPr>
                        <m:ctrlPr>
                          <a:rPr lang="sv-SE" altLang="zh-CN" i="1">
                            <a:latin typeface="Cambria Math" panose="02040503050406030204" pitchFamily="18" charset="0"/>
                          </a:rPr>
                        </m:ctrlPr>
                      </m:sSubPr>
                      <m:e>
                        <m:r>
                          <a:rPr lang="sv-SE" altLang="zh-CN" i="1">
                            <a:latin typeface="Cambria Math" panose="02040503050406030204" pitchFamily="18" charset="0"/>
                          </a:rPr>
                          <m:t>𝛿</m:t>
                        </m:r>
                      </m:e>
                      <m:sub>
                        <m:r>
                          <a:rPr lang="sv-SE" altLang="zh-CN" i="1">
                            <a:latin typeface="Cambria Math" panose="02040503050406030204" pitchFamily="18" charset="0"/>
                          </a:rPr>
                          <m:t>0</m:t>
                        </m:r>
                      </m:sub>
                    </m:sSub>
                    <m:r>
                      <a:rPr lang="en-US" altLang="zh-CN" b="0" i="1" smtClean="0">
                        <a:latin typeface="Cambria Math" panose="02040503050406030204" pitchFamily="18" charset="0"/>
                      </a:rPr>
                      <m:t>=2.404</m:t>
                    </m:r>
                  </m:oMath>
                </a14:m>
                <a:endParaRPr lang="zh-CN" altLang="en-US" dirty="0"/>
              </a:p>
            </p:txBody>
          </p:sp>
        </mc:Choice>
        <mc:Fallback xmlns="">
          <p:sp>
            <p:nvSpPr>
              <p:cNvPr id="56" name="文本框 55">
                <a:extLst>
                  <a:ext uri="{FF2B5EF4-FFF2-40B4-BE49-F238E27FC236}">
                    <a16:creationId xmlns:a16="http://schemas.microsoft.com/office/drawing/2014/main" id="{0C1EA735-70F7-9548-6A47-3F193014A1AD}"/>
                  </a:ext>
                </a:extLst>
              </p:cNvPr>
              <p:cNvSpPr txBox="1">
                <a:spLocks noRot="1" noChangeAspect="1" noMove="1" noResize="1" noEditPoints="1" noAdjustHandles="1" noChangeArrowheads="1" noChangeShapeType="1" noTextEdit="1"/>
              </p:cNvSpPr>
              <p:nvPr/>
            </p:nvSpPr>
            <p:spPr>
              <a:xfrm>
                <a:off x="46920" y="4921360"/>
                <a:ext cx="12018007" cy="412485"/>
              </a:xfrm>
              <a:prstGeom prst="rect">
                <a:avLst/>
              </a:prstGeom>
              <a:blipFill>
                <a:blip r:embed="rId18"/>
                <a:stretch>
                  <a:fillRect l="-1218" t="-2941" r="-254" b="-176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8D68B32F-D5B0-9752-FA69-170F4A1FF8CF}"/>
                  </a:ext>
                </a:extLst>
              </p:cNvPr>
              <p:cNvSpPr txBox="1"/>
              <p:nvPr/>
            </p:nvSpPr>
            <p:spPr>
              <a:xfrm>
                <a:off x="8992679" y="1733800"/>
                <a:ext cx="729443" cy="394019"/>
              </a:xfrm>
              <a:prstGeom prst="rect">
                <a:avLst/>
              </a:prstGeom>
              <a:noFill/>
            </p:spPr>
            <p:txBody>
              <a:bodyPr wrap="square">
                <a:spAutoFit/>
              </a:bodyPr>
              <a:lstStyle/>
              <a:p>
                <a:pPr/>
                <a14:m>
                  <m:oMathPara xmlns:m="http://schemas.openxmlformats.org/officeDocument/2006/math">
                    <m:o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𝜂</m:t>
                          </m:r>
                        </m:e>
                        <m:sub>
                          <m:r>
                            <m:rPr>
                              <m:sty m:val="p"/>
                            </m:rPr>
                            <a:rPr lang="en-US" altLang="zh-CN" sz="1800" i="1">
                              <a:latin typeface="Cambria Math" panose="02040503050406030204" pitchFamily="18" charset="0"/>
                            </a:rPr>
                            <m:t>post</m:t>
                          </m:r>
                        </m:sub>
                      </m:sSub>
                    </m:oMath>
                  </m:oMathPara>
                </a14:m>
                <a:endParaRPr lang="zh-CN" altLang="en-US" dirty="0"/>
              </a:p>
            </p:txBody>
          </p:sp>
        </mc:Choice>
        <mc:Fallback xmlns="">
          <p:sp>
            <p:nvSpPr>
              <p:cNvPr id="58" name="文本框 57">
                <a:extLst>
                  <a:ext uri="{FF2B5EF4-FFF2-40B4-BE49-F238E27FC236}">
                    <a16:creationId xmlns:a16="http://schemas.microsoft.com/office/drawing/2014/main" id="{8D68B32F-D5B0-9752-FA69-170F4A1FF8CF}"/>
                  </a:ext>
                </a:extLst>
              </p:cNvPr>
              <p:cNvSpPr txBox="1">
                <a:spLocks noRot="1" noChangeAspect="1" noMove="1" noResize="1" noEditPoints="1" noAdjustHandles="1" noChangeArrowheads="1" noChangeShapeType="1" noTextEdit="1"/>
              </p:cNvSpPr>
              <p:nvPr/>
            </p:nvSpPr>
            <p:spPr>
              <a:xfrm>
                <a:off x="8992679" y="1733800"/>
                <a:ext cx="729443" cy="394019"/>
              </a:xfrm>
              <a:prstGeom prst="rect">
                <a:avLst/>
              </a:prstGeom>
              <a:blipFill>
                <a:blip r:embed="rId19"/>
                <a:stretch>
                  <a:fillRect b="-61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83C4895-6E13-DBDD-02EC-B4ED58B6B9EB}"/>
                  </a:ext>
                </a:extLst>
              </p:cNvPr>
              <p:cNvSpPr txBox="1"/>
              <p:nvPr/>
            </p:nvSpPr>
            <p:spPr>
              <a:xfrm>
                <a:off x="3881422" y="1280943"/>
                <a:ext cx="480722" cy="394019"/>
              </a:xfrm>
              <a:prstGeom prst="rect">
                <a:avLst/>
              </a:prstGeom>
              <a:noFill/>
            </p:spPr>
            <p:txBody>
              <a:bodyPr wrap="square">
                <a:spAutoFit/>
              </a:bodyPr>
              <a:lstStyle/>
              <a:p>
                <a:pPr/>
                <a14:m>
                  <m:oMathPara xmlns:m="http://schemas.openxmlformats.org/officeDocument/2006/math">
                    <m:oMath>
                      <m:sSub>
                        <m:sSubPr>
                          <m:ctrlPr>
                            <a:rPr lang="en-US" altLang="zh-CN" sz="1800" i="1" smtClean="0">
                              <a:latin typeface="Cambria Math" panose="02040503050406030204" pitchFamily="18" charset="0"/>
                            </a:rPr>
                          </m:ctrlPr>
                        </m:sSubPr>
                        <m:e>
                          <m:r>
                            <a:rPr lang="en-US" altLang="zh-CN" sz="1800" i="1" smtClean="0">
                              <a:latin typeface="Cambria Math" panose="02040503050406030204" pitchFamily="18" charset="0"/>
                            </a:rPr>
                            <m:t>𝑃</m:t>
                          </m:r>
                        </m:e>
                        <m:sub>
                          <m:r>
                            <m:rPr>
                              <m:sty m:val="p"/>
                            </m:rPr>
                            <a:rPr lang="en-US" altLang="zh-CN" sz="1800" i="1" smtClean="0">
                              <a:latin typeface="Cambria Math" panose="02040503050406030204" pitchFamily="18" charset="0"/>
                            </a:rPr>
                            <m:t>pix</m:t>
                          </m:r>
                        </m:sub>
                      </m:sSub>
                    </m:oMath>
                  </m:oMathPara>
                </a14:m>
                <a:endParaRPr lang="zh-CN" altLang="en-US" dirty="0"/>
              </a:p>
            </p:txBody>
          </p:sp>
        </mc:Choice>
        <mc:Fallback xmlns="">
          <p:sp>
            <p:nvSpPr>
              <p:cNvPr id="23" name="文本框 22">
                <a:extLst>
                  <a:ext uri="{FF2B5EF4-FFF2-40B4-BE49-F238E27FC236}">
                    <a16:creationId xmlns:a16="http://schemas.microsoft.com/office/drawing/2014/main" id="{283C4895-6E13-DBDD-02EC-B4ED58B6B9EB}"/>
                  </a:ext>
                </a:extLst>
              </p:cNvPr>
              <p:cNvSpPr txBox="1">
                <a:spLocks noRot="1" noChangeAspect="1" noMove="1" noResize="1" noEditPoints="1" noAdjustHandles="1" noChangeArrowheads="1" noChangeShapeType="1" noTextEdit="1"/>
              </p:cNvSpPr>
              <p:nvPr/>
            </p:nvSpPr>
            <p:spPr>
              <a:xfrm>
                <a:off x="3881422" y="1280943"/>
                <a:ext cx="480722" cy="394019"/>
              </a:xfrm>
              <a:prstGeom prst="rect">
                <a:avLst/>
              </a:prstGeom>
              <a:blipFill>
                <a:blip r:embed="rId20"/>
                <a:stretch>
                  <a:fillRect r="-11392"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9FA52862-7A26-1373-D58F-85EA631F2E2D}"/>
                  </a:ext>
                </a:extLst>
              </p:cNvPr>
              <p:cNvSpPr txBox="1"/>
              <p:nvPr/>
            </p:nvSpPr>
            <p:spPr>
              <a:xfrm>
                <a:off x="7484862" y="1287194"/>
                <a:ext cx="484615" cy="381515"/>
              </a:xfrm>
              <a:prstGeom prst="rect">
                <a:avLst/>
              </a:prstGeom>
              <a:noFill/>
            </p:spPr>
            <p:txBody>
              <a:bodyPr wrap="square">
                <a:spAutoFit/>
              </a:bodyPr>
              <a:lstStyle/>
              <a:p>
                <a:pPr/>
                <a14:m>
                  <m:oMathPara xmlns:m="http://schemas.openxmlformats.org/officeDocument/2006/math">
                    <m:o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𝑆</m:t>
                          </m:r>
                        </m:e>
                        <m:sub>
                          <m:r>
                            <a:rPr lang="en-US" altLang="zh-CN" sz="1800" i="1">
                              <a:latin typeface="Cambria Math" panose="02040503050406030204" pitchFamily="18" charset="0"/>
                            </a:rPr>
                            <m:t>0,</m:t>
                          </m:r>
                          <m:r>
                            <a:rPr lang="en-US" altLang="zh-CN" sz="1800" i="1">
                              <a:latin typeface="Cambria Math" panose="02040503050406030204" pitchFamily="18" charset="0"/>
                            </a:rPr>
                            <m:t>𝑖</m:t>
                          </m:r>
                        </m:sub>
                      </m:sSub>
                    </m:oMath>
                  </m:oMathPara>
                </a14:m>
                <a:endParaRPr lang="zh-CN" altLang="en-US" dirty="0"/>
              </a:p>
            </p:txBody>
          </p:sp>
        </mc:Choice>
        <mc:Fallback xmlns="">
          <p:sp>
            <p:nvSpPr>
              <p:cNvPr id="27" name="文本框 26">
                <a:extLst>
                  <a:ext uri="{FF2B5EF4-FFF2-40B4-BE49-F238E27FC236}">
                    <a16:creationId xmlns:a16="http://schemas.microsoft.com/office/drawing/2014/main" id="{9FA52862-7A26-1373-D58F-85EA631F2E2D}"/>
                  </a:ext>
                </a:extLst>
              </p:cNvPr>
              <p:cNvSpPr txBox="1">
                <a:spLocks noRot="1" noChangeAspect="1" noMove="1" noResize="1" noEditPoints="1" noAdjustHandles="1" noChangeArrowheads="1" noChangeShapeType="1" noTextEdit="1"/>
              </p:cNvSpPr>
              <p:nvPr/>
            </p:nvSpPr>
            <p:spPr>
              <a:xfrm>
                <a:off x="7484862" y="1287194"/>
                <a:ext cx="484615" cy="381515"/>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0A81F4EF-7F4C-6024-4DF9-8518ED7C7B59}"/>
                  </a:ext>
                </a:extLst>
              </p:cNvPr>
              <p:cNvSpPr txBox="1"/>
              <p:nvPr/>
            </p:nvSpPr>
            <p:spPr>
              <a:xfrm>
                <a:off x="9680864" y="1303212"/>
                <a:ext cx="648217" cy="369332"/>
              </a:xfrm>
              <a:prstGeom prst="rect">
                <a:avLst/>
              </a:prstGeom>
              <a:noFill/>
            </p:spPr>
            <p:txBody>
              <a:bodyPr wrap="square">
                <a:spAutoFit/>
              </a:bodyPr>
              <a:lstStyle/>
              <a:p>
                <a:pPr/>
                <a14:m>
                  <m:oMathPara xmlns:m="http://schemas.openxmlformats.org/officeDocument/2006/math">
                    <m:o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𝑃</m:t>
                          </m:r>
                        </m:e>
                        <m:sub>
                          <m:r>
                            <a:rPr lang="en-US" altLang="zh-CN" sz="1800" i="1">
                              <a:latin typeface="Cambria Math" panose="02040503050406030204" pitchFamily="18" charset="0"/>
                            </a:rPr>
                            <m:t>𝑘</m:t>
                          </m:r>
                        </m:sub>
                      </m:sSub>
                      <m:d>
                        <m:dPr>
                          <m:ctrlPr>
                            <a:rPr lang="en-US" altLang="zh-CN" sz="1800" i="1">
                              <a:latin typeface="Cambria Math" panose="02040503050406030204" pitchFamily="18" charset="0"/>
                            </a:rPr>
                          </m:ctrlPr>
                        </m:dPr>
                        <m:e>
                          <m:r>
                            <a:rPr lang="en-US" altLang="zh-CN" sz="1800" i="1">
                              <a:latin typeface="Cambria Math" panose="02040503050406030204" pitchFamily="18" charset="0"/>
                            </a:rPr>
                            <m:t>𝑡</m:t>
                          </m:r>
                        </m:e>
                      </m:d>
                    </m:oMath>
                  </m:oMathPara>
                </a14:m>
                <a:endParaRPr lang="zh-CN" altLang="en-US" dirty="0"/>
              </a:p>
            </p:txBody>
          </p:sp>
        </mc:Choice>
        <mc:Fallback xmlns="">
          <p:sp>
            <p:nvSpPr>
              <p:cNvPr id="30" name="文本框 29">
                <a:extLst>
                  <a:ext uri="{FF2B5EF4-FFF2-40B4-BE49-F238E27FC236}">
                    <a16:creationId xmlns:a16="http://schemas.microsoft.com/office/drawing/2014/main" id="{0A81F4EF-7F4C-6024-4DF9-8518ED7C7B59}"/>
                  </a:ext>
                </a:extLst>
              </p:cNvPr>
              <p:cNvSpPr txBox="1">
                <a:spLocks noRot="1" noChangeAspect="1" noMove="1" noResize="1" noEditPoints="1" noAdjustHandles="1" noChangeArrowheads="1" noChangeShapeType="1" noTextEdit="1"/>
              </p:cNvSpPr>
              <p:nvPr/>
            </p:nvSpPr>
            <p:spPr>
              <a:xfrm>
                <a:off x="9680864" y="1303212"/>
                <a:ext cx="648217" cy="369332"/>
              </a:xfrm>
              <a:prstGeom prst="rect">
                <a:avLst/>
              </a:prstGeom>
              <a:blipFill>
                <a:blip r:embed="rId22"/>
                <a:stretch>
                  <a:fillRect b="-1667"/>
                </a:stretch>
              </a:blipFill>
            </p:spPr>
            <p:txBody>
              <a:bodyPr/>
              <a:lstStyle/>
              <a:p>
                <a:r>
                  <a:rPr lang="zh-CN" altLang="en-US">
                    <a:noFill/>
                  </a:rPr>
                  <a:t> </a:t>
                </a:r>
              </a:p>
            </p:txBody>
          </p:sp>
        </mc:Fallback>
      </mc:AlternateContent>
      <p:cxnSp>
        <p:nvCxnSpPr>
          <p:cNvPr id="34" name="直接箭头连接符 33">
            <a:extLst>
              <a:ext uri="{FF2B5EF4-FFF2-40B4-BE49-F238E27FC236}">
                <a16:creationId xmlns:a16="http://schemas.microsoft.com/office/drawing/2014/main" id="{6F4C5B84-955F-A17F-7031-2920122C4FF5}"/>
              </a:ext>
            </a:extLst>
          </p:cNvPr>
          <p:cNvCxnSpPr>
            <a:cxnSpLocks/>
          </p:cNvCxnSpPr>
          <p:nvPr/>
        </p:nvCxnSpPr>
        <p:spPr>
          <a:xfrm flipH="1">
            <a:off x="2539816" y="1654266"/>
            <a:ext cx="1559864" cy="1701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2D3A0122-9EB9-6C89-CB30-6E86DDD62A19}"/>
              </a:ext>
            </a:extLst>
          </p:cNvPr>
          <p:cNvCxnSpPr>
            <a:cxnSpLocks/>
          </p:cNvCxnSpPr>
          <p:nvPr/>
        </p:nvCxnSpPr>
        <p:spPr>
          <a:xfrm flipH="1">
            <a:off x="2944433" y="1601758"/>
            <a:ext cx="4812318" cy="2282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A7AB0EC0-499F-BC3C-5E9B-1D9B3D9585C3}"/>
                  </a:ext>
                </a:extLst>
              </p:cNvPr>
              <p:cNvSpPr txBox="1"/>
              <p:nvPr/>
            </p:nvSpPr>
            <p:spPr>
              <a:xfrm>
                <a:off x="34017" y="6055734"/>
                <a:ext cx="6820906" cy="276999"/>
              </a:xfrm>
              <a:prstGeom prst="rect">
                <a:avLst/>
              </a:prstGeom>
              <a:noFill/>
            </p:spPr>
            <p:txBody>
              <a:bodyPr wrap="square" lIns="0" tIns="0" rIns="0" bIns="0" rtlCol="0">
                <a:spAutoFit/>
              </a:bodyPr>
              <a:lstStyle/>
              <a:p>
                <a:pPr/>
                <a14:m>
                  <m:oMathPara xmlns:m="http://schemas.openxmlformats.org/officeDocument/2006/math">
                    <m:oMath>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𝜔</m:t>
                                      </m:r>
                                      <m:r>
                                        <a:rPr lang="en-US" altLang="zh-CN" i="1">
                                          <a:latin typeface="Cambria Math" panose="02040503050406030204" pitchFamily="18" charset="0"/>
                                        </a:rPr>
                                        <m:t>𝑡</m:t>
                                      </m:r>
                                    </m:e>
                                  </m:d>
                                </m:e>
                              </m:func>
                            </m:e>
                          </m:d>
                        </m:e>
                      </m:fun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0</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r>
                        <a:rPr lang="en-US" altLang="zh-CN" i="1">
                          <a:latin typeface="Cambria Math" panose="02040503050406030204" pitchFamily="18" charset="0"/>
                        </a:rPr>
                        <m:t>+2</m:t>
                      </m:r>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𝜔</m:t>
                              </m:r>
                              <m:r>
                                <a:rPr lang="en-US" altLang="zh-CN" i="1">
                                  <a:latin typeface="Cambria Math" panose="02040503050406030204" pitchFamily="18" charset="0"/>
                                </a:rPr>
                                <m:t>𝑡</m:t>
                              </m:r>
                            </m:e>
                          </m:d>
                        </m:e>
                      </m:func>
                      <m:r>
                        <a:rPr lang="en-US" altLang="zh-CN" i="1">
                          <a:latin typeface="Cambria Math" panose="02040503050406030204" pitchFamily="18" charset="0"/>
                        </a:rPr>
                        <m:t>+2</m:t>
                      </m:r>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4</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ctrlPr>
                                <a:rPr lang="en-US" altLang="zh-CN" i="1">
                                  <a:latin typeface="Cambria Math" panose="02040503050406030204" pitchFamily="18" charset="0"/>
                                </a:rPr>
                              </m:ctrlPr>
                            </m:dPr>
                            <m:e>
                              <m:r>
                                <a:rPr lang="en-US" altLang="zh-CN" i="1">
                                  <a:latin typeface="Cambria Math" panose="02040503050406030204" pitchFamily="18" charset="0"/>
                                </a:rPr>
                                <m:t>4</m:t>
                              </m:r>
                              <m:r>
                                <a:rPr lang="en-US" altLang="zh-CN" i="1">
                                  <a:latin typeface="Cambria Math" panose="02040503050406030204" pitchFamily="18" charset="0"/>
                                </a:rPr>
                                <m:t>𝜔</m:t>
                              </m:r>
                              <m:r>
                                <a:rPr lang="en-US" altLang="zh-CN" i="1">
                                  <a:latin typeface="Cambria Math" panose="02040503050406030204" pitchFamily="18" charset="0"/>
                                </a:rPr>
                                <m:t>𝑡</m:t>
                              </m:r>
                            </m:e>
                          </m:d>
                        </m:e>
                      </m:func>
                      <m:r>
                        <a:rPr lang="en-US" altLang="zh-CN" i="1">
                          <a:latin typeface="Cambria Math" panose="02040503050406030204" pitchFamily="18" charset="0"/>
                        </a:rPr>
                        <m:t>+⋯</m:t>
                      </m:r>
                    </m:oMath>
                  </m:oMathPara>
                </a14:m>
                <a:endParaRPr lang="zh-CN" altLang="en-US" dirty="0"/>
              </a:p>
            </p:txBody>
          </p:sp>
        </mc:Choice>
        <mc:Fallback xmlns="">
          <p:sp>
            <p:nvSpPr>
              <p:cNvPr id="40" name="文本框 39">
                <a:extLst>
                  <a:ext uri="{FF2B5EF4-FFF2-40B4-BE49-F238E27FC236}">
                    <a16:creationId xmlns:a16="http://schemas.microsoft.com/office/drawing/2014/main" id="{A7AB0EC0-499F-BC3C-5E9B-1D9B3D9585C3}"/>
                  </a:ext>
                </a:extLst>
              </p:cNvPr>
              <p:cNvSpPr txBox="1">
                <a:spLocks noRot="1" noChangeAspect="1" noMove="1" noResize="1" noEditPoints="1" noAdjustHandles="1" noChangeArrowheads="1" noChangeShapeType="1" noTextEdit="1"/>
              </p:cNvSpPr>
              <p:nvPr/>
            </p:nvSpPr>
            <p:spPr>
              <a:xfrm>
                <a:off x="34017" y="6055734"/>
                <a:ext cx="6820906" cy="276999"/>
              </a:xfrm>
              <a:prstGeom prst="rect">
                <a:avLst/>
              </a:prstGeom>
              <a:blipFill>
                <a:blip r:embed="rId23"/>
                <a:stretch>
                  <a:fillRect b="-304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8BF0108E-23F3-A2D7-7734-C3F20C61AE70}"/>
                  </a:ext>
                </a:extLst>
              </p:cNvPr>
              <p:cNvSpPr txBox="1"/>
              <p:nvPr/>
            </p:nvSpPr>
            <p:spPr>
              <a:xfrm>
                <a:off x="11965" y="5686958"/>
                <a:ext cx="5722657" cy="276999"/>
              </a:xfrm>
              <a:prstGeom prst="rect">
                <a:avLst/>
              </a:prstGeom>
              <a:noFill/>
            </p:spPr>
            <p:txBody>
              <a:bodyPr wrap="square" lIns="0" tIns="0" rIns="0" bIns="0" rtlCol="0">
                <a:spAutoFit/>
              </a:bodyPr>
              <a:lstStyle/>
              <a:p>
                <a:pPr/>
                <a14:m>
                  <m:oMathPara xmlns:m="http://schemas.openxmlformats.org/officeDocument/2006/math">
                    <m:oMath>
                      <m:func>
                        <m:funcPr>
                          <m:ctrlPr>
                            <a:rPr lang="sv-SE" altLang="zh-CN" i="1">
                              <a:latin typeface="Cambria Math" panose="02040503050406030204" pitchFamily="18" charset="0"/>
                            </a:rPr>
                          </m:ctrlPr>
                        </m:funcPr>
                        <m:fName>
                          <m:r>
                            <m:rPr>
                              <m:sty m:val="p"/>
                            </m:rPr>
                            <a:rPr lang="sv-SE" altLang="zh-CN" i="1">
                              <a:latin typeface="Cambria Math" panose="02040503050406030204" pitchFamily="18" charset="0"/>
                            </a:rPr>
                            <m:t>sin</m:t>
                          </m:r>
                        </m:fName>
                        <m:e>
                          <m:d>
                            <m:dPr>
                              <m:begChr m:val="["/>
                              <m:endChr m:val="]"/>
                              <m:ctrlPr>
                                <a:rPr lang="sv-SE" altLang="zh-CN" i="1">
                                  <a:latin typeface="Cambria Math" panose="02040503050406030204" pitchFamily="18" charset="0"/>
                                </a:rPr>
                              </m:ctrlPr>
                            </m:dPr>
                            <m:e>
                              <m:sSub>
                                <m:sSubPr>
                                  <m:ctrlPr>
                                    <a:rPr lang="sv-SE" altLang="zh-CN" i="1">
                                      <a:latin typeface="Cambria Math" panose="02040503050406030204" pitchFamily="18" charset="0"/>
                                    </a:rPr>
                                  </m:ctrlPr>
                                </m:sSubPr>
                                <m:e>
                                  <m:r>
                                    <a:rPr lang="sv-SE" altLang="zh-CN" i="1">
                                      <a:latin typeface="Cambria Math" panose="02040503050406030204" pitchFamily="18" charset="0"/>
                                    </a:rPr>
                                    <m:t>𝛿</m:t>
                                  </m:r>
                                </m:e>
                                <m:sub>
                                  <m:r>
                                    <a:rPr lang="sv-SE" altLang="zh-CN" i="1">
                                      <a:latin typeface="Cambria Math" panose="02040503050406030204" pitchFamily="18" charset="0"/>
                                    </a:rPr>
                                    <m:t>0</m:t>
                                  </m:r>
                                </m:sub>
                              </m:sSub>
                              <m:func>
                                <m:funcPr>
                                  <m:ctrlPr>
                                    <a:rPr lang="sv-SE" altLang="zh-CN" i="1">
                                      <a:latin typeface="Cambria Math" panose="02040503050406030204" pitchFamily="18" charset="0"/>
                                    </a:rPr>
                                  </m:ctrlPr>
                                </m:funcPr>
                                <m:fName>
                                  <m:r>
                                    <m:rPr>
                                      <m:sty m:val="p"/>
                                    </m:rPr>
                                    <a:rPr lang="sv-SE" altLang="zh-CN" i="1">
                                      <a:latin typeface="Cambria Math" panose="02040503050406030204" pitchFamily="18" charset="0"/>
                                    </a:rPr>
                                    <m:t>sin</m:t>
                                  </m:r>
                                </m:fName>
                                <m:e>
                                  <m:d>
                                    <m:dPr>
                                      <m:ctrlPr>
                                        <a:rPr lang="sv-SE" altLang="zh-CN" i="1">
                                          <a:latin typeface="Cambria Math" panose="02040503050406030204" pitchFamily="18" charset="0"/>
                                        </a:rPr>
                                      </m:ctrlPr>
                                    </m:dPr>
                                    <m:e>
                                      <m:r>
                                        <a:rPr lang="sv-SE" altLang="zh-CN" i="1">
                                          <a:latin typeface="Cambria Math" panose="02040503050406030204" pitchFamily="18" charset="0"/>
                                        </a:rPr>
                                        <m:t>𝜔</m:t>
                                      </m:r>
                                      <m:r>
                                        <a:rPr lang="sv-SE" altLang="zh-CN" i="1">
                                          <a:latin typeface="Cambria Math" panose="02040503050406030204" pitchFamily="18" charset="0"/>
                                        </a:rPr>
                                        <m:t>𝑡</m:t>
                                      </m:r>
                                    </m:e>
                                  </m:d>
                                </m:e>
                              </m:func>
                            </m:e>
                          </m:d>
                        </m:e>
                      </m:func>
                      <m:r>
                        <a:rPr lang="sv-SE" altLang="zh-CN" i="1">
                          <a:latin typeface="Cambria Math" panose="02040503050406030204" pitchFamily="18" charset="0"/>
                        </a:rPr>
                        <m:t>=2</m:t>
                      </m:r>
                      <m:sSub>
                        <m:sSubPr>
                          <m:ctrlPr>
                            <a:rPr lang="sv-SE" altLang="zh-CN" i="1">
                              <a:latin typeface="Cambria Math" panose="02040503050406030204" pitchFamily="18" charset="0"/>
                            </a:rPr>
                          </m:ctrlPr>
                        </m:sSubPr>
                        <m:e>
                          <m:r>
                            <a:rPr lang="sv-SE" altLang="zh-CN" i="1">
                              <a:latin typeface="Cambria Math" panose="02040503050406030204" pitchFamily="18" charset="0"/>
                            </a:rPr>
                            <m:t>𝐽</m:t>
                          </m:r>
                        </m:e>
                        <m:sub>
                          <m:r>
                            <a:rPr lang="sv-SE" altLang="zh-CN" i="1">
                              <a:latin typeface="Cambria Math" panose="02040503050406030204" pitchFamily="18" charset="0"/>
                            </a:rPr>
                            <m:t>1</m:t>
                          </m:r>
                        </m:sub>
                      </m:sSub>
                      <m:d>
                        <m:dPr>
                          <m:ctrlPr>
                            <a:rPr lang="sv-SE" altLang="zh-CN" i="1">
                              <a:latin typeface="Cambria Math" panose="02040503050406030204" pitchFamily="18" charset="0"/>
                            </a:rPr>
                          </m:ctrlPr>
                        </m:dPr>
                        <m:e>
                          <m:sSub>
                            <m:sSubPr>
                              <m:ctrlPr>
                                <a:rPr lang="sv-SE" altLang="zh-CN" i="1">
                                  <a:latin typeface="Cambria Math" panose="02040503050406030204" pitchFamily="18" charset="0"/>
                                </a:rPr>
                              </m:ctrlPr>
                            </m:sSubPr>
                            <m:e>
                              <m:r>
                                <a:rPr lang="sv-SE" altLang="zh-CN" i="1">
                                  <a:latin typeface="Cambria Math" panose="02040503050406030204" pitchFamily="18" charset="0"/>
                                </a:rPr>
                                <m:t>𝛿</m:t>
                              </m:r>
                            </m:e>
                            <m:sub>
                              <m:r>
                                <a:rPr lang="sv-SE" altLang="zh-CN" i="1">
                                  <a:latin typeface="Cambria Math" panose="02040503050406030204" pitchFamily="18" charset="0"/>
                                </a:rPr>
                                <m:t>0</m:t>
                              </m:r>
                            </m:sub>
                          </m:sSub>
                        </m:e>
                      </m:d>
                      <m:func>
                        <m:funcPr>
                          <m:ctrlPr>
                            <a:rPr lang="sv-SE" altLang="zh-CN" i="1">
                              <a:latin typeface="Cambria Math" panose="02040503050406030204" pitchFamily="18" charset="0"/>
                            </a:rPr>
                          </m:ctrlPr>
                        </m:funcPr>
                        <m:fName>
                          <m:r>
                            <m:rPr>
                              <m:sty m:val="p"/>
                            </m:rPr>
                            <a:rPr lang="sv-SE" altLang="zh-CN" i="1">
                              <a:latin typeface="Cambria Math" panose="02040503050406030204" pitchFamily="18" charset="0"/>
                            </a:rPr>
                            <m:t>sin</m:t>
                          </m:r>
                        </m:fName>
                        <m:e>
                          <m:d>
                            <m:dPr>
                              <m:ctrlPr>
                                <a:rPr lang="sv-SE" altLang="zh-CN" i="1">
                                  <a:latin typeface="Cambria Math" panose="02040503050406030204" pitchFamily="18" charset="0"/>
                                </a:rPr>
                              </m:ctrlPr>
                            </m:dPr>
                            <m:e>
                              <m:r>
                                <a:rPr lang="sv-SE" altLang="zh-CN" i="1">
                                  <a:latin typeface="Cambria Math" panose="02040503050406030204" pitchFamily="18" charset="0"/>
                                </a:rPr>
                                <m:t>𝜔</m:t>
                              </m:r>
                              <m:r>
                                <a:rPr lang="sv-SE" altLang="zh-CN" i="1">
                                  <a:latin typeface="Cambria Math" panose="02040503050406030204" pitchFamily="18" charset="0"/>
                                </a:rPr>
                                <m:t>𝑡</m:t>
                              </m:r>
                            </m:e>
                          </m:d>
                        </m:e>
                      </m:func>
                      <m:r>
                        <a:rPr lang="sv-SE" altLang="zh-CN" i="1">
                          <a:latin typeface="Cambria Math" panose="02040503050406030204" pitchFamily="18" charset="0"/>
                        </a:rPr>
                        <m:t>+2</m:t>
                      </m:r>
                      <m:sSub>
                        <m:sSubPr>
                          <m:ctrlPr>
                            <a:rPr lang="sv-SE" altLang="zh-CN" i="1">
                              <a:latin typeface="Cambria Math" panose="02040503050406030204" pitchFamily="18" charset="0"/>
                            </a:rPr>
                          </m:ctrlPr>
                        </m:sSubPr>
                        <m:e>
                          <m:r>
                            <a:rPr lang="sv-SE" altLang="zh-CN" i="1">
                              <a:latin typeface="Cambria Math" panose="02040503050406030204" pitchFamily="18" charset="0"/>
                            </a:rPr>
                            <m:t>𝐽</m:t>
                          </m:r>
                        </m:e>
                        <m:sub>
                          <m:r>
                            <a:rPr lang="sv-SE" altLang="zh-CN" i="1">
                              <a:latin typeface="Cambria Math" panose="02040503050406030204" pitchFamily="18" charset="0"/>
                            </a:rPr>
                            <m:t>3</m:t>
                          </m:r>
                        </m:sub>
                      </m:sSub>
                      <m:d>
                        <m:dPr>
                          <m:ctrlPr>
                            <a:rPr lang="sv-SE" altLang="zh-CN" i="1">
                              <a:latin typeface="Cambria Math" panose="02040503050406030204" pitchFamily="18" charset="0"/>
                            </a:rPr>
                          </m:ctrlPr>
                        </m:dPr>
                        <m:e>
                          <m:sSub>
                            <m:sSubPr>
                              <m:ctrlPr>
                                <a:rPr lang="sv-SE" altLang="zh-CN" i="1">
                                  <a:latin typeface="Cambria Math" panose="02040503050406030204" pitchFamily="18" charset="0"/>
                                </a:rPr>
                              </m:ctrlPr>
                            </m:sSubPr>
                            <m:e>
                              <m:r>
                                <a:rPr lang="sv-SE" altLang="zh-CN" i="1">
                                  <a:latin typeface="Cambria Math" panose="02040503050406030204" pitchFamily="18" charset="0"/>
                                </a:rPr>
                                <m:t>𝛿</m:t>
                              </m:r>
                            </m:e>
                            <m:sub>
                              <m:r>
                                <a:rPr lang="sv-SE" altLang="zh-CN" i="1">
                                  <a:latin typeface="Cambria Math" panose="02040503050406030204" pitchFamily="18" charset="0"/>
                                </a:rPr>
                                <m:t>0</m:t>
                              </m:r>
                            </m:sub>
                          </m:sSub>
                        </m:e>
                      </m:d>
                      <m:func>
                        <m:funcPr>
                          <m:ctrlPr>
                            <a:rPr lang="sv-SE" altLang="zh-CN" i="1">
                              <a:latin typeface="Cambria Math" panose="02040503050406030204" pitchFamily="18" charset="0"/>
                            </a:rPr>
                          </m:ctrlPr>
                        </m:funcPr>
                        <m:fName>
                          <m:r>
                            <m:rPr>
                              <m:sty m:val="p"/>
                            </m:rPr>
                            <a:rPr lang="sv-SE" altLang="zh-CN" i="1">
                              <a:latin typeface="Cambria Math" panose="02040503050406030204" pitchFamily="18" charset="0"/>
                            </a:rPr>
                            <m:t>sin</m:t>
                          </m:r>
                        </m:fName>
                        <m:e>
                          <m:d>
                            <m:dPr>
                              <m:ctrlPr>
                                <a:rPr lang="sv-SE" altLang="zh-CN" i="1">
                                  <a:latin typeface="Cambria Math" panose="02040503050406030204" pitchFamily="18" charset="0"/>
                                </a:rPr>
                              </m:ctrlPr>
                            </m:dPr>
                            <m:e>
                              <m:r>
                                <a:rPr lang="sv-SE" altLang="zh-CN" i="1">
                                  <a:latin typeface="Cambria Math" panose="02040503050406030204" pitchFamily="18" charset="0"/>
                                </a:rPr>
                                <m:t>3</m:t>
                              </m:r>
                              <m:r>
                                <a:rPr lang="sv-SE" altLang="zh-CN" i="1">
                                  <a:latin typeface="Cambria Math" panose="02040503050406030204" pitchFamily="18" charset="0"/>
                                </a:rPr>
                                <m:t>𝜔</m:t>
                              </m:r>
                              <m:r>
                                <a:rPr lang="sv-SE" altLang="zh-CN" i="1">
                                  <a:latin typeface="Cambria Math" panose="02040503050406030204" pitchFamily="18" charset="0"/>
                                </a:rPr>
                                <m:t>𝑡</m:t>
                              </m:r>
                            </m:e>
                          </m:d>
                        </m:e>
                      </m:func>
                      <m:r>
                        <a:rPr lang="sv-SE" altLang="zh-CN" i="1">
                          <a:latin typeface="Cambria Math" panose="02040503050406030204" pitchFamily="18" charset="0"/>
                        </a:rPr>
                        <m:t>+⋯</m:t>
                      </m:r>
                    </m:oMath>
                  </m:oMathPara>
                </a14:m>
                <a:endParaRPr lang="zh-CN" altLang="en-US" dirty="0"/>
              </a:p>
            </p:txBody>
          </p:sp>
        </mc:Choice>
        <mc:Fallback xmlns="">
          <p:sp>
            <p:nvSpPr>
              <p:cNvPr id="43" name="文本框 42">
                <a:extLst>
                  <a:ext uri="{FF2B5EF4-FFF2-40B4-BE49-F238E27FC236}">
                    <a16:creationId xmlns:a16="http://schemas.microsoft.com/office/drawing/2014/main" id="{8BF0108E-23F3-A2D7-7734-C3F20C61AE70}"/>
                  </a:ext>
                </a:extLst>
              </p:cNvPr>
              <p:cNvSpPr txBox="1">
                <a:spLocks noRot="1" noChangeAspect="1" noMove="1" noResize="1" noEditPoints="1" noAdjustHandles="1" noChangeArrowheads="1" noChangeShapeType="1" noTextEdit="1"/>
              </p:cNvSpPr>
              <p:nvPr/>
            </p:nvSpPr>
            <p:spPr>
              <a:xfrm>
                <a:off x="11965" y="5686958"/>
                <a:ext cx="5722657" cy="276999"/>
              </a:xfrm>
              <a:prstGeom prst="rect">
                <a:avLst/>
              </a:prstGeom>
              <a:blipFill>
                <a:blip r:embed="rId24"/>
                <a:stretch>
                  <a:fillRect l="-426" b="-33333"/>
                </a:stretch>
              </a:blipFill>
            </p:spPr>
            <p:txBody>
              <a:bodyPr/>
              <a:lstStyle/>
              <a:p>
                <a:r>
                  <a:rPr lang="zh-CN" altLang="en-US">
                    <a:noFill/>
                  </a:rPr>
                  <a:t> </a:t>
                </a:r>
              </a:p>
            </p:txBody>
          </p:sp>
        </mc:Fallback>
      </mc:AlternateContent>
      <p:cxnSp>
        <p:nvCxnSpPr>
          <p:cNvPr id="47" name="直接箭头连接符 46">
            <a:extLst>
              <a:ext uri="{FF2B5EF4-FFF2-40B4-BE49-F238E27FC236}">
                <a16:creationId xmlns:a16="http://schemas.microsoft.com/office/drawing/2014/main" id="{9BED842C-9938-CA00-9FAC-7A17C59F766D}"/>
              </a:ext>
            </a:extLst>
          </p:cNvPr>
          <p:cNvCxnSpPr>
            <a:cxnSpLocks/>
          </p:cNvCxnSpPr>
          <p:nvPr/>
        </p:nvCxnSpPr>
        <p:spPr>
          <a:xfrm flipH="1">
            <a:off x="5375920" y="5349423"/>
            <a:ext cx="1368152" cy="725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F7889E90-ECAA-8F5B-E55A-F8C9A72E5FAB}"/>
              </a:ext>
            </a:extLst>
          </p:cNvPr>
          <p:cNvSpPr txBox="1"/>
          <p:nvPr/>
        </p:nvSpPr>
        <p:spPr>
          <a:xfrm>
            <a:off x="5934897" y="5533036"/>
            <a:ext cx="1384511" cy="369332"/>
          </a:xfrm>
          <a:prstGeom prst="rect">
            <a:avLst/>
          </a:prstGeom>
          <a:noFill/>
        </p:spPr>
        <p:txBody>
          <a:bodyPr wrap="square" rtlCol="0">
            <a:spAutoFit/>
          </a:bodyPr>
          <a:lstStyle/>
          <a:p>
            <a:r>
              <a:rPr lang="zh-CN" altLang="en-US" dirty="0"/>
              <a:t>贝塞尔展开</a:t>
            </a:r>
          </a:p>
        </p:txBody>
      </p:sp>
      <p:pic>
        <p:nvPicPr>
          <p:cNvPr id="55" name="图片 54">
            <a:extLst>
              <a:ext uri="{FF2B5EF4-FFF2-40B4-BE49-F238E27FC236}">
                <a16:creationId xmlns:a16="http://schemas.microsoft.com/office/drawing/2014/main" id="{AD206B8F-628F-835C-5EB8-6B3B41A4219A}"/>
              </a:ext>
            </a:extLst>
          </p:cNvPr>
          <p:cNvPicPr>
            <a:picLocks noChangeAspect="1"/>
          </p:cNvPicPr>
          <p:nvPr/>
        </p:nvPicPr>
        <p:blipFill>
          <a:blip r:embed="rId25"/>
          <a:stretch>
            <a:fillRect/>
          </a:stretch>
        </p:blipFill>
        <p:spPr>
          <a:xfrm>
            <a:off x="9280686" y="5342747"/>
            <a:ext cx="2244743" cy="1430404"/>
          </a:xfrm>
          <a:prstGeom prst="rect">
            <a:avLst/>
          </a:prstGeom>
        </p:spPr>
      </p:pic>
      <p:sp>
        <p:nvSpPr>
          <p:cNvPr id="57" name="箭头: 右 56">
            <a:extLst>
              <a:ext uri="{FF2B5EF4-FFF2-40B4-BE49-F238E27FC236}">
                <a16:creationId xmlns:a16="http://schemas.microsoft.com/office/drawing/2014/main" id="{5479928C-3273-828B-AE3E-E8CCC9260DD9}"/>
              </a:ext>
            </a:extLst>
          </p:cNvPr>
          <p:cNvSpPr/>
          <p:nvPr/>
        </p:nvSpPr>
        <p:spPr>
          <a:xfrm>
            <a:off x="7514788" y="5955422"/>
            <a:ext cx="1512896" cy="36218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D7118FA5-5C94-937F-4204-AADAE85410FF}"/>
              </a:ext>
            </a:extLst>
          </p:cNvPr>
          <p:cNvSpPr txBox="1"/>
          <p:nvPr/>
        </p:nvSpPr>
        <p:spPr>
          <a:xfrm>
            <a:off x="7710554" y="5647521"/>
            <a:ext cx="912440" cy="369332"/>
          </a:xfrm>
          <a:prstGeom prst="rect">
            <a:avLst/>
          </a:prstGeom>
          <a:noFill/>
        </p:spPr>
        <p:txBody>
          <a:bodyPr wrap="square" rtlCol="0">
            <a:spAutoFit/>
          </a:bodyPr>
          <a:lstStyle/>
          <a:p>
            <a:r>
              <a:rPr lang="zh-CN" altLang="en-US" dirty="0"/>
              <a:t>推导出</a:t>
            </a:r>
          </a:p>
        </p:txBody>
      </p:sp>
      <p:sp>
        <p:nvSpPr>
          <p:cNvPr id="61" name="文本框 60">
            <a:extLst>
              <a:ext uri="{FF2B5EF4-FFF2-40B4-BE49-F238E27FC236}">
                <a16:creationId xmlns:a16="http://schemas.microsoft.com/office/drawing/2014/main" id="{A144E65B-B189-F9CD-4158-47ECBAE26623}"/>
              </a:ext>
            </a:extLst>
          </p:cNvPr>
          <p:cNvSpPr txBox="1"/>
          <p:nvPr/>
        </p:nvSpPr>
        <p:spPr>
          <a:xfrm>
            <a:off x="7601297" y="3160178"/>
            <a:ext cx="1201795" cy="369332"/>
          </a:xfrm>
          <a:prstGeom prst="rect">
            <a:avLst/>
          </a:prstGeom>
          <a:noFill/>
        </p:spPr>
        <p:txBody>
          <a:bodyPr wrap="square" rtlCol="0">
            <a:spAutoFit/>
          </a:bodyPr>
          <a:lstStyle/>
          <a:p>
            <a:pPr algn="ctr"/>
            <a:r>
              <a:rPr lang="zh-CN" altLang="en-US" dirty="0">
                <a:solidFill>
                  <a:srgbClr val="0070C0"/>
                </a:solidFill>
                <a:hlinkClick r:id="rId26" action="ppaction://hlinksldjump">
                  <a:extLst>
                    <a:ext uri="{A12FA001-AC4F-418D-AE19-62706E023703}">
                      <ahyp:hlinkClr xmlns:ahyp="http://schemas.microsoft.com/office/drawing/2018/hyperlinkcolor" val="tx"/>
                    </a:ext>
                  </a:extLst>
                </a:hlinkClick>
              </a:rPr>
              <a:t>图像链接</a:t>
            </a:r>
            <a:endParaRPr lang="zh-CN" altLang="en-US" dirty="0">
              <a:solidFill>
                <a:srgbClr val="0070C0"/>
              </a:solidFill>
            </a:endParaRPr>
          </a:p>
        </p:txBody>
      </p:sp>
      <p:sp>
        <p:nvSpPr>
          <p:cNvPr id="62" name="文本框 61">
            <a:extLst>
              <a:ext uri="{FF2B5EF4-FFF2-40B4-BE49-F238E27FC236}">
                <a16:creationId xmlns:a16="http://schemas.microsoft.com/office/drawing/2014/main" id="{CBFAF875-9CF8-8411-B1E0-52182AA41DE8}"/>
              </a:ext>
            </a:extLst>
          </p:cNvPr>
          <p:cNvSpPr txBox="1"/>
          <p:nvPr/>
        </p:nvSpPr>
        <p:spPr>
          <a:xfrm>
            <a:off x="8973096" y="4437578"/>
            <a:ext cx="2668061" cy="369332"/>
          </a:xfrm>
          <a:prstGeom prst="rect">
            <a:avLst/>
          </a:prstGeom>
          <a:noFill/>
        </p:spPr>
        <p:txBody>
          <a:bodyPr wrap="square" rtlCol="0">
            <a:spAutoFit/>
          </a:bodyPr>
          <a:lstStyle/>
          <a:p>
            <a:r>
              <a:rPr lang="zh-CN" altLang="en-US" dirty="0">
                <a:solidFill>
                  <a:srgbClr val="0070C0"/>
                </a:solidFill>
                <a:hlinkClick r:id="rId26" action="ppaction://hlinksldjump">
                  <a:extLst>
                    <a:ext uri="{A12FA001-AC4F-418D-AE19-62706E023703}">
                      <ahyp:hlinkClr xmlns:ahyp="http://schemas.microsoft.com/office/drawing/2018/hyperlinkcolor" val="tx"/>
                    </a:ext>
                  </a:extLst>
                </a:hlinkClick>
              </a:rPr>
              <a:t>采集到的信号大致形状</a:t>
            </a:r>
            <a:endParaRPr lang="zh-CN" altLang="en-US" dirty="0">
              <a:solidFill>
                <a:srgbClr val="0070C0"/>
              </a:solidFill>
            </a:endParaRPr>
          </a:p>
        </p:txBody>
      </p:sp>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A88F7CB3-537D-B345-7AEC-0E135B16FE07}"/>
                  </a:ext>
                </a:extLst>
              </p:cNvPr>
              <p:cNvSpPr txBox="1"/>
              <p:nvPr/>
            </p:nvSpPr>
            <p:spPr>
              <a:xfrm>
                <a:off x="-13831" y="6415209"/>
                <a:ext cx="9469452" cy="429220"/>
              </a:xfrm>
              <a:prstGeom prst="rect">
                <a:avLst/>
              </a:prstGeom>
              <a:noFill/>
            </p:spPr>
            <p:txBody>
              <a:bodyPr wrap="none" lIns="0" tIns="0" rIns="0" bIns="0" rtlCol="0">
                <a:spAutoFit/>
              </a:bodyPr>
              <a:lstStyle/>
              <a:p>
                <a:pPr/>
                <a14:m>
                  <m:oMathPara xmlns:m="http://schemas.openxmlformats.org/officeDocument/2006/math">
                    <m:oMath>
                      <m:r>
                        <a:rPr lang="en-US" altLang="zh-CN" sz="1600" i="1" smtClean="0">
                          <a:solidFill>
                            <a:srgbClr val="FF0000"/>
                          </a:solidFill>
                          <a:latin typeface="Cambria Math" panose="02040503050406030204" pitchFamily="18" charset="0"/>
                        </a:rPr>
                        <m:t>𝑃</m:t>
                      </m:r>
                      <m:d>
                        <m:dPr>
                          <m:ctrlPr>
                            <a:rPr lang="en-US" altLang="zh-CN" sz="1600" i="1">
                              <a:solidFill>
                                <a:srgbClr val="FF0000"/>
                              </a:solidFill>
                              <a:latin typeface="Cambria Math" panose="02040503050406030204" pitchFamily="18" charset="0"/>
                            </a:rPr>
                          </m:ctrlPr>
                        </m:dPr>
                        <m:e>
                          <m:r>
                            <a:rPr lang="en-US" altLang="zh-CN" sz="1600" i="1">
                              <a:solidFill>
                                <a:srgbClr val="FF0000"/>
                              </a:solidFill>
                              <a:latin typeface="Cambria Math" panose="02040503050406030204" pitchFamily="18" charset="0"/>
                            </a:rPr>
                            <m:t>𝑡</m:t>
                          </m:r>
                        </m:e>
                      </m:d>
                      <m:r>
                        <a:rPr lang="en-US" altLang="zh-CN" sz="1600" i="1">
                          <a:solidFill>
                            <a:srgbClr val="FF0000"/>
                          </a:solidFill>
                          <a:latin typeface="Cambria Math" panose="02040503050406030204" pitchFamily="18" charset="0"/>
                        </a:rPr>
                        <m:t>=</m:t>
                      </m:r>
                      <m:f>
                        <m:fPr>
                          <m:ctrlPr>
                            <a:rPr lang="en-US" altLang="zh-CN" sz="1600" i="1">
                              <a:solidFill>
                                <a:srgbClr val="FF0000"/>
                              </a:solidFill>
                              <a:latin typeface="Cambria Math" panose="02040503050406030204" pitchFamily="18" charset="0"/>
                            </a:rPr>
                          </m:ctrlPr>
                        </m:fPr>
                        <m:num>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𝜂</m:t>
                              </m:r>
                            </m:e>
                            <m:sub>
                              <m:r>
                                <m:rPr>
                                  <m:sty m:val="p"/>
                                </m:rPr>
                                <a:rPr lang="en-US" altLang="zh-CN" sz="1600" i="1">
                                  <a:solidFill>
                                    <a:srgbClr val="FF0000"/>
                                  </a:solidFill>
                                  <a:latin typeface="Cambria Math" panose="02040503050406030204" pitchFamily="18" charset="0"/>
                                </a:rPr>
                                <m:t>post</m:t>
                              </m:r>
                            </m:sub>
                          </m:sSub>
                        </m:num>
                        <m:den>
                          <m:r>
                            <a:rPr lang="en-US" altLang="zh-CN" sz="1600" i="1">
                              <a:solidFill>
                                <a:srgbClr val="FF0000"/>
                              </a:solidFill>
                              <a:latin typeface="Cambria Math" panose="02040503050406030204" pitchFamily="18" charset="0"/>
                            </a:rPr>
                            <m:t>2</m:t>
                          </m:r>
                        </m:den>
                      </m:f>
                      <m:d>
                        <m:dPr>
                          <m:begChr m:val="["/>
                          <m:endChr m:val="]"/>
                          <m:ctrlPr>
                            <a:rPr lang="en-US" altLang="zh-CN" sz="1600" i="1">
                              <a:solidFill>
                                <a:srgbClr val="FF0000"/>
                              </a:solidFill>
                              <a:latin typeface="Cambria Math" panose="02040503050406030204" pitchFamily="18" charset="0"/>
                            </a:rPr>
                          </m:ctrlPr>
                        </m:dPr>
                        <m:e>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𝑆</m:t>
                              </m:r>
                            </m:e>
                            <m:sub>
                              <m:r>
                                <a:rPr lang="en-US" altLang="zh-CN" sz="1600" i="1">
                                  <a:solidFill>
                                    <a:srgbClr val="FF0000"/>
                                  </a:solidFill>
                                  <a:latin typeface="Cambria Math" panose="02040503050406030204" pitchFamily="18" charset="0"/>
                                </a:rPr>
                                <m:t>0</m:t>
                              </m:r>
                            </m:sub>
                          </m:sSub>
                          <m:r>
                            <a:rPr lang="en-US" altLang="zh-CN" sz="1600" i="1">
                              <a:solidFill>
                                <a:srgbClr val="FF0000"/>
                              </a:solidFill>
                              <a:latin typeface="Cambria Math" panose="02040503050406030204" pitchFamily="18" charset="0"/>
                            </a:rPr>
                            <m:t>−</m:t>
                          </m:r>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𝐽</m:t>
                              </m:r>
                            </m:e>
                            <m:sub>
                              <m:r>
                                <a:rPr lang="en-US" altLang="zh-CN" sz="1600" i="1">
                                  <a:solidFill>
                                    <a:srgbClr val="FF0000"/>
                                  </a:solidFill>
                                  <a:latin typeface="Cambria Math" panose="02040503050406030204" pitchFamily="18" charset="0"/>
                                </a:rPr>
                                <m:t>0</m:t>
                              </m:r>
                            </m:sub>
                          </m:sSub>
                          <m:d>
                            <m:dPr>
                              <m:ctrlPr>
                                <a:rPr lang="en-US" altLang="zh-CN" sz="1600" i="1">
                                  <a:solidFill>
                                    <a:srgbClr val="FF0000"/>
                                  </a:solidFill>
                                  <a:latin typeface="Cambria Math" panose="02040503050406030204" pitchFamily="18" charset="0"/>
                                </a:rPr>
                              </m:ctrlPr>
                            </m:dPr>
                            <m:e>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𝛿</m:t>
                                  </m:r>
                                </m:e>
                                <m:sub>
                                  <m:r>
                                    <a:rPr lang="en-US" altLang="zh-CN" sz="1600" i="1">
                                      <a:solidFill>
                                        <a:srgbClr val="FF0000"/>
                                      </a:solidFill>
                                      <a:latin typeface="Cambria Math" panose="02040503050406030204" pitchFamily="18" charset="0"/>
                                    </a:rPr>
                                    <m:t>0</m:t>
                                  </m:r>
                                </m:sub>
                              </m:sSub>
                            </m:e>
                          </m:d>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𝑆</m:t>
                              </m:r>
                            </m:e>
                            <m:sub>
                              <m:r>
                                <a:rPr lang="en-US" altLang="zh-CN" sz="1600" i="1">
                                  <a:solidFill>
                                    <a:srgbClr val="FF0000"/>
                                  </a:solidFill>
                                  <a:latin typeface="Cambria Math" panose="02040503050406030204" pitchFamily="18" charset="0"/>
                                </a:rPr>
                                <m:t>1</m:t>
                              </m:r>
                            </m:sub>
                          </m:sSub>
                        </m:e>
                      </m:d>
                      <m:r>
                        <a:rPr lang="en-US" altLang="zh-CN" sz="1600" i="1">
                          <a:solidFill>
                            <a:srgbClr val="FF0000"/>
                          </a:solidFill>
                          <a:latin typeface="Cambria Math" panose="02040503050406030204" pitchFamily="18" charset="0"/>
                        </a:rPr>
                        <m:t>+</m:t>
                      </m:r>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𝜂</m:t>
                          </m:r>
                        </m:e>
                        <m:sub>
                          <m:r>
                            <m:rPr>
                              <m:sty m:val="p"/>
                            </m:rPr>
                            <a:rPr lang="en-US" altLang="zh-CN" sz="1600" i="1">
                              <a:solidFill>
                                <a:srgbClr val="FF0000"/>
                              </a:solidFill>
                              <a:latin typeface="Cambria Math" panose="02040503050406030204" pitchFamily="18" charset="0"/>
                            </a:rPr>
                            <m:t>post</m:t>
                          </m:r>
                        </m:sub>
                      </m:sSub>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𝐽</m:t>
                          </m:r>
                        </m:e>
                        <m:sub>
                          <m:r>
                            <a:rPr lang="en-US" altLang="zh-CN" sz="1600" i="1">
                              <a:solidFill>
                                <a:srgbClr val="FF0000"/>
                              </a:solidFill>
                              <a:latin typeface="Cambria Math" panose="02040503050406030204" pitchFamily="18" charset="0"/>
                            </a:rPr>
                            <m:t>1</m:t>
                          </m:r>
                        </m:sub>
                      </m:sSub>
                      <m:d>
                        <m:dPr>
                          <m:ctrlPr>
                            <a:rPr lang="en-US" altLang="zh-CN" sz="1600" i="1">
                              <a:solidFill>
                                <a:srgbClr val="FF0000"/>
                              </a:solidFill>
                              <a:latin typeface="Cambria Math" panose="02040503050406030204" pitchFamily="18" charset="0"/>
                            </a:rPr>
                          </m:ctrlPr>
                        </m:dPr>
                        <m:e>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𝛿</m:t>
                              </m:r>
                            </m:e>
                            <m:sub>
                              <m:r>
                                <a:rPr lang="en-US" altLang="zh-CN" sz="1600" i="1">
                                  <a:solidFill>
                                    <a:srgbClr val="FF0000"/>
                                  </a:solidFill>
                                  <a:latin typeface="Cambria Math" panose="02040503050406030204" pitchFamily="18" charset="0"/>
                                </a:rPr>
                                <m:t>0</m:t>
                              </m:r>
                            </m:sub>
                          </m:sSub>
                        </m:e>
                      </m:d>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𝑆</m:t>
                          </m:r>
                        </m:e>
                        <m:sub>
                          <m:r>
                            <a:rPr lang="en-US" altLang="zh-CN" sz="1600" i="1">
                              <a:solidFill>
                                <a:srgbClr val="FF0000"/>
                              </a:solidFill>
                              <a:latin typeface="Cambria Math" panose="02040503050406030204" pitchFamily="18" charset="0"/>
                            </a:rPr>
                            <m:t>3</m:t>
                          </m:r>
                        </m:sub>
                      </m:sSub>
                      <m:func>
                        <m:funcPr>
                          <m:ctrlPr>
                            <a:rPr lang="en-US" altLang="zh-CN" sz="1600" i="1">
                              <a:solidFill>
                                <a:srgbClr val="FF0000"/>
                              </a:solidFill>
                              <a:latin typeface="Cambria Math" panose="02040503050406030204" pitchFamily="18" charset="0"/>
                            </a:rPr>
                          </m:ctrlPr>
                        </m:funcPr>
                        <m:fName>
                          <m:r>
                            <m:rPr>
                              <m:sty m:val="p"/>
                            </m:rPr>
                            <a:rPr lang="en-US" altLang="zh-CN" sz="1600" i="1">
                              <a:solidFill>
                                <a:srgbClr val="FF0000"/>
                              </a:solidFill>
                              <a:latin typeface="Cambria Math" panose="02040503050406030204" pitchFamily="18" charset="0"/>
                            </a:rPr>
                            <m:t>sin</m:t>
                          </m:r>
                        </m:fName>
                        <m:e>
                          <m:d>
                            <m:dPr>
                              <m:ctrlPr>
                                <a:rPr lang="en-US" altLang="zh-CN" sz="1600" i="1">
                                  <a:solidFill>
                                    <a:srgbClr val="FF0000"/>
                                  </a:solidFill>
                                  <a:latin typeface="Cambria Math" panose="02040503050406030204" pitchFamily="18" charset="0"/>
                                </a:rPr>
                              </m:ctrlPr>
                            </m:dPr>
                            <m:e>
                              <m:r>
                                <a:rPr lang="en-US" altLang="zh-CN" sz="1600" i="1">
                                  <a:solidFill>
                                    <a:srgbClr val="FF0000"/>
                                  </a:solidFill>
                                  <a:latin typeface="Cambria Math" panose="02040503050406030204" pitchFamily="18" charset="0"/>
                                </a:rPr>
                                <m:t>𝜔</m:t>
                              </m:r>
                              <m:r>
                                <a:rPr lang="en-US" altLang="zh-CN" sz="1600" i="1">
                                  <a:solidFill>
                                    <a:srgbClr val="FF0000"/>
                                  </a:solidFill>
                                  <a:latin typeface="Cambria Math" panose="02040503050406030204" pitchFamily="18" charset="0"/>
                                </a:rPr>
                                <m:t>𝑡</m:t>
                              </m:r>
                            </m:e>
                          </m:d>
                        </m:e>
                      </m:func>
                      <m:r>
                        <a:rPr lang="en-US" altLang="zh-CN" sz="1600" i="1">
                          <a:solidFill>
                            <a:srgbClr val="FF0000"/>
                          </a:solidFill>
                          <a:latin typeface="Cambria Math" panose="02040503050406030204" pitchFamily="18" charset="0"/>
                        </a:rPr>
                        <m:t>−</m:t>
                      </m:r>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𝜂</m:t>
                          </m:r>
                        </m:e>
                        <m:sub>
                          <m:r>
                            <m:rPr>
                              <m:sty m:val="p"/>
                            </m:rPr>
                            <a:rPr lang="en-US" altLang="zh-CN" sz="1600" i="1">
                              <a:solidFill>
                                <a:srgbClr val="FF0000"/>
                              </a:solidFill>
                              <a:latin typeface="Cambria Math" panose="02040503050406030204" pitchFamily="18" charset="0"/>
                            </a:rPr>
                            <m:t>post</m:t>
                          </m:r>
                        </m:sub>
                      </m:sSub>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𝐽</m:t>
                          </m:r>
                        </m:e>
                        <m:sub>
                          <m:r>
                            <a:rPr lang="en-US" altLang="zh-CN" sz="1600" i="1">
                              <a:solidFill>
                                <a:srgbClr val="FF0000"/>
                              </a:solidFill>
                              <a:latin typeface="Cambria Math" panose="02040503050406030204" pitchFamily="18" charset="0"/>
                            </a:rPr>
                            <m:t>2</m:t>
                          </m:r>
                        </m:sub>
                      </m:sSub>
                      <m:d>
                        <m:dPr>
                          <m:ctrlPr>
                            <a:rPr lang="en-US" altLang="zh-CN" sz="1600" i="1">
                              <a:solidFill>
                                <a:srgbClr val="FF0000"/>
                              </a:solidFill>
                              <a:latin typeface="Cambria Math" panose="02040503050406030204" pitchFamily="18" charset="0"/>
                            </a:rPr>
                          </m:ctrlPr>
                        </m:dPr>
                        <m:e>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𝛿</m:t>
                              </m:r>
                            </m:e>
                            <m:sub>
                              <m:r>
                                <a:rPr lang="en-US" altLang="zh-CN" sz="1600" i="1">
                                  <a:solidFill>
                                    <a:srgbClr val="FF0000"/>
                                  </a:solidFill>
                                  <a:latin typeface="Cambria Math" panose="02040503050406030204" pitchFamily="18" charset="0"/>
                                </a:rPr>
                                <m:t>0</m:t>
                              </m:r>
                            </m:sub>
                          </m:sSub>
                        </m:e>
                      </m:d>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𝑆</m:t>
                          </m:r>
                        </m:e>
                        <m:sub>
                          <m:r>
                            <a:rPr lang="en-US" altLang="zh-CN" sz="1600" i="1">
                              <a:solidFill>
                                <a:srgbClr val="FF0000"/>
                              </a:solidFill>
                              <a:latin typeface="Cambria Math" panose="02040503050406030204" pitchFamily="18" charset="0"/>
                            </a:rPr>
                            <m:t>1</m:t>
                          </m:r>
                        </m:sub>
                      </m:sSub>
                      <m:func>
                        <m:funcPr>
                          <m:ctrlPr>
                            <a:rPr lang="en-US" altLang="zh-CN" sz="1600" i="1">
                              <a:solidFill>
                                <a:srgbClr val="FF0000"/>
                              </a:solidFill>
                              <a:latin typeface="Cambria Math" panose="02040503050406030204" pitchFamily="18" charset="0"/>
                            </a:rPr>
                          </m:ctrlPr>
                        </m:funcPr>
                        <m:fName>
                          <m:r>
                            <m:rPr>
                              <m:sty m:val="p"/>
                            </m:rPr>
                            <a:rPr lang="en-US" altLang="zh-CN" sz="1600" i="1">
                              <a:solidFill>
                                <a:srgbClr val="FF0000"/>
                              </a:solidFill>
                              <a:latin typeface="Cambria Math" panose="02040503050406030204" pitchFamily="18" charset="0"/>
                            </a:rPr>
                            <m:t>cos</m:t>
                          </m:r>
                        </m:fName>
                        <m:e>
                          <m:d>
                            <m:dPr>
                              <m:ctrlPr>
                                <a:rPr lang="en-US" altLang="zh-CN" sz="1600" i="1">
                                  <a:solidFill>
                                    <a:srgbClr val="FF0000"/>
                                  </a:solidFill>
                                  <a:latin typeface="Cambria Math" panose="02040503050406030204" pitchFamily="18" charset="0"/>
                                </a:rPr>
                              </m:ctrlPr>
                            </m:dPr>
                            <m:e>
                              <m:r>
                                <a:rPr lang="en-US" altLang="zh-CN" sz="1600" i="1">
                                  <a:solidFill>
                                    <a:srgbClr val="FF0000"/>
                                  </a:solidFill>
                                  <a:latin typeface="Cambria Math" panose="02040503050406030204" pitchFamily="18" charset="0"/>
                                </a:rPr>
                                <m:t>2</m:t>
                              </m:r>
                              <m:r>
                                <a:rPr lang="en-US" altLang="zh-CN" sz="1600" i="1">
                                  <a:solidFill>
                                    <a:srgbClr val="FF0000"/>
                                  </a:solidFill>
                                  <a:latin typeface="Cambria Math" panose="02040503050406030204" pitchFamily="18" charset="0"/>
                                </a:rPr>
                                <m:t>𝜔</m:t>
                              </m:r>
                              <m:r>
                                <a:rPr lang="en-US" altLang="zh-CN" sz="1600" i="1">
                                  <a:solidFill>
                                    <a:srgbClr val="FF0000"/>
                                  </a:solidFill>
                                  <a:latin typeface="Cambria Math" panose="02040503050406030204" pitchFamily="18" charset="0"/>
                                </a:rPr>
                                <m:t>𝑡</m:t>
                              </m:r>
                            </m:e>
                          </m:d>
                        </m:e>
                      </m:func>
                      <m:r>
                        <a:rPr lang="en-US" altLang="zh-CN" sz="1600" i="1">
                          <a:solidFill>
                            <a:srgbClr val="FF0000"/>
                          </a:solidFill>
                          <a:latin typeface="Cambria Math" panose="02040503050406030204" pitchFamily="18" charset="0"/>
                        </a:rPr>
                        <m:t>+</m:t>
                      </m:r>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𝜂</m:t>
                          </m:r>
                        </m:e>
                        <m:sub>
                          <m:r>
                            <m:rPr>
                              <m:sty m:val="p"/>
                            </m:rPr>
                            <a:rPr lang="en-US" altLang="zh-CN" sz="1600" i="1">
                              <a:solidFill>
                                <a:srgbClr val="FF0000"/>
                              </a:solidFill>
                              <a:latin typeface="Cambria Math" panose="02040503050406030204" pitchFamily="18" charset="0"/>
                            </a:rPr>
                            <m:t>post</m:t>
                          </m:r>
                        </m:sub>
                      </m:sSub>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𝐽</m:t>
                          </m:r>
                        </m:e>
                        <m:sub>
                          <m:r>
                            <a:rPr lang="en-US" altLang="zh-CN" sz="1600" i="1">
                              <a:solidFill>
                                <a:srgbClr val="FF0000"/>
                              </a:solidFill>
                              <a:latin typeface="Cambria Math" panose="02040503050406030204" pitchFamily="18" charset="0"/>
                            </a:rPr>
                            <m:t>3</m:t>
                          </m:r>
                        </m:sub>
                      </m:sSub>
                      <m:d>
                        <m:dPr>
                          <m:ctrlPr>
                            <a:rPr lang="en-US" altLang="zh-CN" sz="1600" i="1">
                              <a:solidFill>
                                <a:srgbClr val="FF0000"/>
                              </a:solidFill>
                              <a:latin typeface="Cambria Math" panose="02040503050406030204" pitchFamily="18" charset="0"/>
                            </a:rPr>
                          </m:ctrlPr>
                        </m:dPr>
                        <m:e>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𝛿</m:t>
                              </m:r>
                            </m:e>
                            <m:sub>
                              <m:r>
                                <a:rPr lang="en-US" altLang="zh-CN" sz="1600" i="1">
                                  <a:solidFill>
                                    <a:srgbClr val="FF0000"/>
                                  </a:solidFill>
                                  <a:latin typeface="Cambria Math" panose="02040503050406030204" pitchFamily="18" charset="0"/>
                                </a:rPr>
                                <m:t>0</m:t>
                              </m:r>
                            </m:sub>
                          </m:sSub>
                        </m:e>
                      </m:d>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𝑆</m:t>
                          </m:r>
                        </m:e>
                        <m:sub>
                          <m:r>
                            <a:rPr lang="en-US" altLang="zh-CN" sz="1600" i="1">
                              <a:solidFill>
                                <a:srgbClr val="FF0000"/>
                              </a:solidFill>
                              <a:latin typeface="Cambria Math" panose="02040503050406030204" pitchFamily="18" charset="0"/>
                            </a:rPr>
                            <m:t>3</m:t>
                          </m:r>
                        </m:sub>
                      </m:sSub>
                      <m:func>
                        <m:funcPr>
                          <m:ctrlPr>
                            <a:rPr lang="en-US" altLang="zh-CN" sz="1600" i="1">
                              <a:solidFill>
                                <a:srgbClr val="FF0000"/>
                              </a:solidFill>
                              <a:latin typeface="Cambria Math" panose="02040503050406030204" pitchFamily="18" charset="0"/>
                            </a:rPr>
                          </m:ctrlPr>
                        </m:funcPr>
                        <m:fName>
                          <m:r>
                            <m:rPr>
                              <m:sty m:val="p"/>
                            </m:rPr>
                            <a:rPr lang="en-US" altLang="zh-CN" sz="1600" i="1">
                              <a:solidFill>
                                <a:srgbClr val="FF0000"/>
                              </a:solidFill>
                              <a:latin typeface="Cambria Math" panose="02040503050406030204" pitchFamily="18" charset="0"/>
                            </a:rPr>
                            <m:t>sin</m:t>
                          </m:r>
                        </m:fName>
                        <m:e>
                          <m:d>
                            <m:dPr>
                              <m:ctrlPr>
                                <a:rPr lang="en-US" altLang="zh-CN" sz="1600" i="1">
                                  <a:solidFill>
                                    <a:srgbClr val="FF0000"/>
                                  </a:solidFill>
                                  <a:latin typeface="Cambria Math" panose="02040503050406030204" pitchFamily="18" charset="0"/>
                                </a:rPr>
                              </m:ctrlPr>
                            </m:dPr>
                            <m:e>
                              <m:r>
                                <a:rPr lang="en-US" altLang="zh-CN" sz="1600" i="1">
                                  <a:solidFill>
                                    <a:srgbClr val="FF0000"/>
                                  </a:solidFill>
                                  <a:latin typeface="Cambria Math" panose="02040503050406030204" pitchFamily="18" charset="0"/>
                                </a:rPr>
                                <m:t>3</m:t>
                              </m:r>
                              <m:r>
                                <a:rPr lang="en-US" altLang="zh-CN" sz="1600" i="1">
                                  <a:solidFill>
                                    <a:srgbClr val="FF0000"/>
                                  </a:solidFill>
                                  <a:latin typeface="Cambria Math" panose="02040503050406030204" pitchFamily="18" charset="0"/>
                                </a:rPr>
                                <m:t>𝜔</m:t>
                              </m:r>
                              <m:r>
                                <a:rPr lang="en-US" altLang="zh-CN" sz="1600" i="1">
                                  <a:solidFill>
                                    <a:srgbClr val="FF0000"/>
                                  </a:solidFill>
                                  <a:latin typeface="Cambria Math" panose="02040503050406030204" pitchFamily="18" charset="0"/>
                                </a:rPr>
                                <m:t>𝑡</m:t>
                              </m:r>
                            </m:e>
                          </m:d>
                        </m:e>
                      </m:func>
                      <m:r>
                        <a:rPr lang="en-US" altLang="zh-CN" sz="1600" i="1">
                          <a:solidFill>
                            <a:srgbClr val="FF0000"/>
                          </a:solidFill>
                          <a:latin typeface="Cambria Math" panose="02040503050406030204" pitchFamily="18" charset="0"/>
                        </a:rPr>
                        <m:t>−⋯</m:t>
                      </m:r>
                    </m:oMath>
                  </m:oMathPara>
                </a14:m>
                <a:endParaRPr lang="zh-CN" altLang="en-US" sz="1600" dirty="0">
                  <a:solidFill>
                    <a:srgbClr val="FF0000"/>
                  </a:solidFill>
                </a:endParaRPr>
              </a:p>
            </p:txBody>
          </p:sp>
        </mc:Choice>
        <mc:Fallback xmlns="">
          <p:sp>
            <p:nvSpPr>
              <p:cNvPr id="67" name="文本框 66">
                <a:extLst>
                  <a:ext uri="{FF2B5EF4-FFF2-40B4-BE49-F238E27FC236}">
                    <a16:creationId xmlns:a16="http://schemas.microsoft.com/office/drawing/2014/main" id="{A88F7CB3-537D-B345-7AEC-0E135B16FE07}"/>
                  </a:ext>
                </a:extLst>
              </p:cNvPr>
              <p:cNvSpPr txBox="1">
                <a:spLocks noRot="1" noChangeAspect="1" noMove="1" noResize="1" noEditPoints="1" noAdjustHandles="1" noChangeArrowheads="1" noChangeShapeType="1" noTextEdit="1"/>
              </p:cNvSpPr>
              <p:nvPr/>
            </p:nvSpPr>
            <p:spPr>
              <a:xfrm>
                <a:off x="-13831" y="6415209"/>
                <a:ext cx="9469452" cy="429220"/>
              </a:xfrm>
              <a:prstGeom prst="rect">
                <a:avLst/>
              </a:prstGeom>
              <a:blipFill>
                <a:blip r:embed="rId27"/>
                <a:stretch>
                  <a:fillRect t="-1408" b="-140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9375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01ABDE4-2C1E-1EBE-94CE-DF72F91D8F5C}"/>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108DBD75-00D4-CFE8-4BB7-D4FDAE1B93A3}"/>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3C623591-1B92-F8E1-E5CD-EEC404738116}"/>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0EA625CC-2D2A-E6AE-665D-A5D88571926C}"/>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7952C8E0-B018-02E2-394E-9BD5AAB5067D}"/>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仿真思路</a:t>
            </a:r>
          </a:p>
        </p:txBody>
      </p:sp>
      <p:sp>
        <p:nvSpPr>
          <p:cNvPr id="14" name="文本框 13">
            <a:extLst>
              <a:ext uri="{FF2B5EF4-FFF2-40B4-BE49-F238E27FC236}">
                <a16:creationId xmlns:a16="http://schemas.microsoft.com/office/drawing/2014/main" id="{F6877852-D2B8-8404-E86C-A962ECFB9861}"/>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仿真</a:t>
            </a:r>
            <a:endParaRPr lang="en-US" altLang="zh-CN" sz="3600" b="1" dirty="0">
              <a:solidFill>
                <a:srgbClr val="3467AB"/>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B05AF79-6E12-174A-62E4-D65AE2F66F2C}"/>
                  </a:ext>
                </a:extLst>
              </p:cNvPr>
              <p:cNvSpPr txBox="1"/>
              <p:nvPr/>
            </p:nvSpPr>
            <p:spPr>
              <a:xfrm>
                <a:off x="767408" y="1048401"/>
                <a:ext cx="9264352" cy="412485"/>
              </a:xfrm>
              <a:prstGeom prst="rect">
                <a:avLst/>
              </a:prstGeom>
              <a:noFill/>
            </p:spPr>
            <p:txBody>
              <a:bodyPr wrap="square" lIns="0" tIns="0" rIns="0" bIns="0" rtlCol="0">
                <a:spAutoFit/>
              </a:bodyPr>
              <a:lstStyle/>
              <a:p>
                <a:pPr marL="285750" indent="-285750">
                  <a:buFont typeface="Arial" panose="020B0604020202020204" pitchFamily="34" charset="0"/>
                  <a:buChar char="•"/>
                </a:pPr>
                <a:r>
                  <a:rPr lang="zh-CN" altLang="en-US" dirty="0"/>
                  <a:t>检偏器</a:t>
                </a:r>
                <a14:m>
                  <m:oMath xmlns:m="http://schemas.openxmlformats.org/officeDocument/2006/math">
                    <m:r>
                      <a:rPr lang="zh-CN" altLang="en-US" i="1" dirty="0">
                        <a:latin typeface="Cambria Math" panose="02040503050406030204" pitchFamily="18" charset="0"/>
                      </a:rPr>
                      <m:t>最终</m:t>
                    </m:r>
                    <m:r>
                      <a:rPr lang="zh-CN" altLang="en-US" i="1" dirty="0" smtClean="0">
                        <a:latin typeface="Cambria Math" panose="02040503050406030204" pitchFamily="18" charset="0"/>
                      </a:rPr>
                      <m:t>输出的</m:t>
                    </m:r>
                    <m:r>
                      <a:rPr lang="zh-CN" altLang="en-US" i="1" dirty="0">
                        <a:latin typeface="Cambria Math" panose="02040503050406030204" pitchFamily="18" charset="0"/>
                      </a:rPr>
                      <m:t>单个</m:t>
                    </m:r>
                    <m:r>
                      <a:rPr lang="zh-CN" altLang="en-US" i="1" dirty="0" smtClean="0">
                        <a:latin typeface="Cambria Math" panose="02040503050406030204" pitchFamily="18" charset="0"/>
                      </a:rPr>
                      <m:t>像素</m:t>
                    </m:r>
                    <m:r>
                      <a:rPr lang="zh-CN" altLang="en-US" i="1" dirty="0">
                        <a:latin typeface="Cambria Math" panose="02040503050406030204" pitchFamily="18" charset="0"/>
                      </a:rPr>
                      <m:t>的</m:t>
                    </m:r>
                    <m:r>
                      <a:rPr lang="zh-CN" altLang="en-US" i="1" dirty="0" smtClean="0">
                        <a:latin typeface="Cambria Math" panose="02040503050406030204" pitchFamily="18" charset="0"/>
                      </a:rPr>
                      <m:t>光</m:t>
                    </m:r>
                    <m:r>
                      <a:rPr lang="zh-CN" altLang="en-US" i="1" dirty="0">
                        <a:latin typeface="Cambria Math" panose="02040503050406030204" pitchFamily="18" charset="0"/>
                      </a:rPr>
                      <m:t>强：</m:t>
                    </m:r>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𝑘</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num>
                      <m:den>
                        <m:r>
                          <a:rPr lang="en-US" altLang="zh-CN" i="1">
                            <a:latin typeface="Cambria Math" panose="02040503050406030204" pitchFamily="18" charset="0"/>
                          </a:rPr>
                          <m:t>2</m:t>
                        </m:r>
                      </m:den>
                    </m:f>
                    <m:d>
                      <m:dPr>
                        <m:begChr m:val="["/>
                        <m:endChr m:val="]"/>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𝑆</m:t>
                            </m:r>
                          </m:e>
                          <m:sub>
                            <m:r>
                              <a:rPr lang="en-US" altLang="zh-CN" i="1">
                                <a:latin typeface="Cambria Math" panose="02040503050406030204" pitchFamily="18" charset="0"/>
                              </a:rPr>
                              <m:t>0</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𝑆</m:t>
                            </m:r>
                          </m:e>
                          <m:sub>
                            <m:r>
                              <a:rPr lang="en-US" altLang="zh-CN" i="1">
                                <a:latin typeface="Cambria Math" panose="02040503050406030204" pitchFamily="18" charset="0"/>
                              </a:rPr>
                              <m:t>1</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r>
                              <a:rPr lang="en-US" altLang="zh-CN" i="1">
                                <a:latin typeface="Cambria Math" panose="02040503050406030204" pitchFamily="18" charset="0"/>
                              </a:rPr>
                              <m:t>𝛿</m:t>
                            </m:r>
                          </m:e>
                        </m:func>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𝑆</m:t>
                            </m:r>
                          </m:e>
                          <m:sub>
                            <m:r>
                              <a:rPr lang="en-US" altLang="zh-CN" i="1">
                                <a:latin typeface="Cambria Math" panose="02040503050406030204" pitchFamily="18" charset="0"/>
                              </a:rPr>
                              <m:t>3</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r>
                              <a:rPr lang="en-US" altLang="zh-CN" i="1">
                                <a:latin typeface="Cambria Math" panose="02040503050406030204" pitchFamily="18" charset="0"/>
                              </a:rPr>
                              <m:t>𝛿</m:t>
                            </m:r>
                          </m:e>
                        </m:func>
                        <m:d>
                          <m:dPr>
                            <m:ctrlPr>
                              <a:rPr lang="en-US" altLang="zh-CN" i="1">
                                <a:latin typeface="Cambria Math" panose="02040503050406030204" pitchFamily="18" charset="0"/>
                              </a:rPr>
                            </m:ctrlPr>
                          </m:dPr>
                          <m:e>
                            <m:r>
                              <a:rPr lang="en-US" altLang="zh-CN" i="1">
                                <a:latin typeface="Cambria Math" panose="02040503050406030204" pitchFamily="18" charset="0"/>
                              </a:rPr>
                              <m:t>𝑡</m:t>
                            </m:r>
                          </m:e>
                        </m:d>
                      </m:e>
                    </m:d>
                  </m:oMath>
                </a14:m>
                <a:endParaRPr lang="zh-CN" altLang="en-US" dirty="0"/>
              </a:p>
            </p:txBody>
          </p:sp>
        </mc:Choice>
        <mc:Fallback xmlns="">
          <p:sp>
            <p:nvSpPr>
              <p:cNvPr id="3" name="文本框 2">
                <a:extLst>
                  <a:ext uri="{FF2B5EF4-FFF2-40B4-BE49-F238E27FC236}">
                    <a16:creationId xmlns:a16="http://schemas.microsoft.com/office/drawing/2014/main" id="{6B05AF79-6E12-174A-62E4-D65AE2F66F2C}"/>
                  </a:ext>
                </a:extLst>
              </p:cNvPr>
              <p:cNvSpPr txBox="1">
                <a:spLocks noRot="1" noChangeAspect="1" noMove="1" noResize="1" noEditPoints="1" noAdjustHandles="1" noChangeArrowheads="1" noChangeShapeType="1" noTextEdit="1"/>
              </p:cNvSpPr>
              <p:nvPr/>
            </p:nvSpPr>
            <p:spPr>
              <a:xfrm>
                <a:off x="767408" y="1048401"/>
                <a:ext cx="9264352" cy="412485"/>
              </a:xfrm>
              <a:prstGeom prst="rect">
                <a:avLst/>
              </a:prstGeom>
              <a:blipFill>
                <a:blip r:embed="rId3"/>
                <a:stretch>
                  <a:fillRect l="-1447" t="-2941" b="-161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9C9251B-8A4B-60E0-4FB7-14415D88F193}"/>
                  </a:ext>
                </a:extLst>
              </p:cNvPr>
              <p:cNvSpPr txBox="1"/>
              <p:nvPr/>
            </p:nvSpPr>
            <p:spPr>
              <a:xfrm>
                <a:off x="767408" y="1552457"/>
                <a:ext cx="9433048" cy="289182"/>
              </a:xfrm>
              <a:prstGeom prst="rect">
                <a:avLst/>
              </a:prstGeom>
              <a:noFill/>
            </p:spPr>
            <p:txBody>
              <a:bodyPr wrap="square" lIns="0" tIns="0" rIns="0" bIns="0" rtlCol="0">
                <a:spAutoFit/>
              </a:bodyPr>
              <a:lstStyle/>
              <a:p>
                <a:pPr marL="285750" indent="-285750">
                  <a:buFont typeface="Arial" panose="020B0604020202020204" pitchFamily="34" charset="0"/>
                  <a:buChar char="•"/>
                </a:pPr>
                <a:r>
                  <a:rPr lang="zh-CN" altLang="en-US" dirty="0"/>
                  <a:t>规定采样周期为</a:t>
                </a:r>
                <a:r>
                  <a:rPr lang="en-US" altLang="zh-CN" dirty="0"/>
                  <a:t>240us</a:t>
                </a:r>
                <a:r>
                  <a:rPr lang="zh-CN" altLang="en-US" dirty="0"/>
                  <a:t>，恰好为</a:t>
                </a:r>
                <a:r>
                  <a:rPr lang="en-US" altLang="zh-CN" dirty="0"/>
                  <a:t>12</a:t>
                </a:r>
                <a:r>
                  <a:rPr lang="zh-CN" altLang="en-US" dirty="0"/>
                  <a:t>个周期</a:t>
                </a:r>
                <a:r>
                  <a:rPr lang="en-US" altLang="zh-CN" dirty="0"/>
                  <a:t>,</a:t>
                </a:r>
                <a:r>
                  <a:rPr lang="zh-CN" altLang="en-US" dirty="0"/>
                  <a:t>逆向推导出</a:t>
                </a:r>
                <a14:m>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b="0" i="1" smtClean="0">
                            <a:latin typeface="Cambria Math" panose="02040503050406030204" pitchFamily="18" charset="0"/>
                          </a:rPr>
                          <m:t>V</m:t>
                        </m:r>
                      </m:e>
                      <m:sub>
                        <m:r>
                          <m:rPr>
                            <m:sty m:val="p"/>
                          </m:rPr>
                          <a:rPr lang="en-US" altLang="zh-CN" b="0" i="1" smtClean="0">
                            <a:latin typeface="Cambria Math" panose="02040503050406030204" pitchFamily="18" charset="0"/>
                          </a:rPr>
                          <m:t>f</m:t>
                        </m:r>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cos</m:t>
                        </m:r>
                      </m:sub>
                    </m:sSub>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b="0" i="1" smtClean="0">
                            <a:latin typeface="Cambria Math" panose="02040503050406030204" pitchFamily="18" charset="0"/>
                          </a:rPr>
                          <m:t>V</m:t>
                        </m:r>
                      </m:e>
                      <m:sub>
                        <m:r>
                          <m:rPr>
                            <m:sty m:val="p"/>
                          </m:rPr>
                          <a:rPr lang="en-US" altLang="zh-CN" b="0" i="1" smtClean="0">
                            <a:latin typeface="Cambria Math" panose="02040503050406030204" pitchFamily="18" charset="0"/>
                          </a:rPr>
                          <m:t>f</m:t>
                        </m:r>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sin</m:t>
                        </m:r>
                      </m:sub>
                    </m:sSub>
                  </m:oMath>
                </a14:m>
                <a:r>
                  <a:rPr lang="en-US" altLang="zh-CN" dirty="0"/>
                  <a:t>,</a:t>
                </a:r>
                <a:r>
                  <a:rPr lang="zh-CN" altLang="en-US" dirty="0"/>
                  <a:t>或者</a:t>
                </a:r>
                <a14:m>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b="0" i="1" smtClean="0">
                            <a:latin typeface="Cambria Math" panose="02040503050406030204" pitchFamily="18" charset="0"/>
                          </a:rPr>
                          <m:t>V</m:t>
                        </m:r>
                      </m:e>
                      <m:sub>
                        <m:r>
                          <a:rPr lang="en-US" altLang="zh-CN" b="0" i="1" smtClean="0">
                            <a:latin typeface="Cambria Math" panose="02040503050406030204" pitchFamily="18" charset="0"/>
                          </a:rPr>
                          <m:t>2</m:t>
                        </m:r>
                        <m:r>
                          <m:rPr>
                            <m:sty m:val="p"/>
                          </m:rPr>
                          <a:rPr lang="en-US" altLang="zh-CN" b="0" i="1" smtClean="0">
                            <a:latin typeface="Cambria Math" panose="02040503050406030204" pitchFamily="18" charset="0"/>
                          </a:rPr>
                          <m:t>f</m:t>
                        </m:r>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cos</m:t>
                        </m:r>
                      </m:sub>
                    </m:sSub>
                  </m:oMath>
                </a14:m>
                <a:endParaRPr lang="zh-CN" altLang="en-US" dirty="0"/>
              </a:p>
            </p:txBody>
          </p:sp>
        </mc:Choice>
        <mc:Fallback xmlns="">
          <p:sp>
            <p:nvSpPr>
              <p:cNvPr id="4" name="文本框 3">
                <a:extLst>
                  <a:ext uri="{FF2B5EF4-FFF2-40B4-BE49-F238E27FC236}">
                    <a16:creationId xmlns:a16="http://schemas.microsoft.com/office/drawing/2014/main" id="{F9C9251B-8A4B-60E0-4FB7-14415D88F193}"/>
                  </a:ext>
                </a:extLst>
              </p:cNvPr>
              <p:cNvSpPr txBox="1">
                <a:spLocks noRot="1" noChangeAspect="1" noMove="1" noResize="1" noEditPoints="1" noAdjustHandles="1" noChangeArrowheads="1" noChangeShapeType="1" noTextEdit="1"/>
              </p:cNvSpPr>
              <p:nvPr/>
            </p:nvSpPr>
            <p:spPr>
              <a:xfrm>
                <a:off x="767408" y="1552457"/>
                <a:ext cx="9433048" cy="289182"/>
              </a:xfrm>
              <a:prstGeom prst="rect">
                <a:avLst/>
              </a:prstGeom>
              <a:blipFill>
                <a:blip r:embed="rId4"/>
                <a:stretch>
                  <a:fillRect l="-1422" t="-27660" b="-44681"/>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EBE337D6-65F3-EB92-DF36-6FFB4220A494}"/>
              </a:ext>
            </a:extLst>
          </p:cNvPr>
          <p:cNvPicPr>
            <a:picLocks noChangeAspect="1"/>
          </p:cNvPicPr>
          <p:nvPr/>
        </p:nvPicPr>
        <p:blipFill>
          <a:blip r:embed="rId5"/>
          <a:srcRect l="21001" r="459" b="19051"/>
          <a:stretch>
            <a:fillRect/>
          </a:stretch>
        </p:blipFill>
        <p:spPr>
          <a:xfrm>
            <a:off x="3143672" y="1915638"/>
            <a:ext cx="4680520" cy="1313975"/>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C0A1372-09F0-B2B4-EC42-9B76B3C3CB94}"/>
                  </a:ext>
                </a:extLst>
              </p:cNvPr>
              <p:cNvSpPr txBox="1"/>
              <p:nvPr/>
            </p:nvSpPr>
            <p:spPr>
              <a:xfrm>
                <a:off x="860255" y="3351325"/>
                <a:ext cx="6290135" cy="1346844"/>
              </a:xfrm>
              <a:prstGeom prst="rect">
                <a:avLst/>
              </a:prstGeom>
              <a:noFill/>
            </p:spPr>
            <p:txBody>
              <a:bodyPr wrap="square" lIns="0" tIns="0" rIns="0" bIns="0" rtlCol="0">
                <a:spAutoFit/>
              </a:bodyPr>
              <a:lstStyle/>
              <a:p>
                <a:pPr marL="285750" indent="-285750">
                  <a:buFont typeface="Arial" panose="020B0604020202020204" pitchFamily="34" charset="0"/>
                  <a:buChar char="•"/>
                </a:pPr>
                <a:r>
                  <a:rPr lang="zh-CN" altLang="en-US" dirty="0"/>
                  <a:t>令</a:t>
                </a:r>
                <a14:m>
                  <m:oMath xmlns:m="http://schemas.openxmlformats.org/officeDocument/2006/math">
                    <m:r>
                      <a:rPr lang="en-US" altLang="zh-CN" i="1" smtClean="0">
                        <a:latin typeface="Cambria Math" panose="02040503050406030204" pitchFamily="18" charset="0"/>
                      </a:rPr>
                      <m:t>𝐶</m:t>
                    </m:r>
                    <m:r>
                      <a:rPr lang="en-US" altLang="zh-CN" i="1" smtClean="0">
                        <a:latin typeface="Cambria Math" panose="02040503050406030204" pitchFamily="18" charset="0"/>
                      </a:rPr>
                      <m:t>=</m:t>
                    </m:r>
                    <m:r>
                      <a:rPr lang="en-US" altLang="zh-CN" i="1" smtClean="0">
                        <a:latin typeface="Cambria Math" panose="02040503050406030204" pitchFamily="18" charset="0"/>
                      </a:rPr>
                      <m:t>𝑔</m:t>
                    </m:r>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oMath>
                </a14:m>
                <a:r>
                  <a:rPr lang="zh-CN" altLang="en-US" dirty="0"/>
                  <a:t>，可得</a:t>
                </a:r>
                <a:endParaRPr lang="en-US" altLang="zh-CN" dirty="0"/>
              </a:p>
              <a:p>
                <a14:m>
                  <m:oMath xmlns:m="http://schemas.openxmlformats.org/officeDocument/2006/math">
                    <m:sSubSup>
                      <m:sSubSupPr>
                        <m:ctrlPr>
                          <a:rPr lang="en-US" altLang="zh-CN" i="1">
                            <a:latin typeface="Cambria Math" panose="02040503050406030204" pitchFamily="18" charset="0"/>
                          </a:rPr>
                        </m:ctrlPr>
                      </m:sSubSupPr>
                      <m:e>
                        <m:acc>
                          <m:accPr>
                            <m:chr m:val="ˆ"/>
                            <m:ctrlPr>
                              <a:rPr lang="en-US" altLang="zh-CN" i="1">
                                <a:latin typeface="Cambria Math" panose="02040503050406030204" pitchFamily="18" charset="0"/>
                              </a:rPr>
                            </m:ctrlPr>
                          </m:accPr>
                          <m:e>
                            <m:r>
                              <a:rPr lang="en-US" altLang="zh-CN" i="1">
                                <a:latin typeface="Cambria Math" panose="02040503050406030204" pitchFamily="18" charset="0"/>
                              </a:rPr>
                              <m:t>𝑆</m:t>
                            </m:r>
                          </m:e>
                        </m:acc>
                      </m:e>
                      <m:sub>
                        <m:r>
                          <a:rPr lang="en-US" altLang="zh-CN" i="1">
                            <a:latin typeface="Cambria Math" panose="02040503050406030204" pitchFamily="18" charset="0"/>
                          </a:rPr>
                          <m:t>1</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r>
                      <a:rPr lang="en-US" altLang="zh-CN" i="1">
                        <a:latin typeface="Cambria Math" panose="02040503050406030204" pitchFamily="18" charset="0"/>
                      </a:rPr>
                      <m:t>=−</m:t>
                    </m:r>
                    <m:f>
                      <m:fPr>
                        <m:ctrlPr>
                          <a:rPr lang="en-US" altLang="zh-CN" i="1">
                            <a:latin typeface="Cambria Math" panose="02040503050406030204" pitchFamily="18" charset="0"/>
                          </a:rPr>
                        </m:ctrlPr>
                      </m:fPr>
                      <m:num>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𝑉</m:t>
                            </m:r>
                          </m:e>
                          <m:sub>
                            <m:r>
                              <a:rPr lang="en-US" altLang="zh-CN" i="1">
                                <a:latin typeface="Cambria Math" panose="02040503050406030204" pitchFamily="18" charset="0"/>
                              </a:rPr>
                              <m:t>2</m:t>
                            </m:r>
                            <m:r>
                              <a:rPr lang="en-US" altLang="zh-CN" i="1">
                                <a:latin typeface="Cambria Math" panose="02040503050406030204" pitchFamily="18" charset="0"/>
                              </a:rPr>
                              <m:t>𝑓</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num>
                      <m:den>
                        <m:r>
                          <a:rPr lang="en-US" altLang="zh-CN" i="1">
                            <a:latin typeface="Cambria Math" panose="02040503050406030204" pitchFamily="18" charset="0"/>
                          </a:rPr>
                          <m:t>𝐶</m:t>
                        </m:r>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2</m:t>
                            </m:r>
                          </m:sub>
                        </m:sSub>
                      </m:den>
                    </m:f>
                  </m:oMath>
                </a14:m>
                <a:r>
                  <a:rPr lang="zh-CN" altLang="en-US" dirty="0"/>
                  <a:t>，</a:t>
                </a:r>
                <a14:m>
                  <m:oMath xmlns:m="http://schemas.openxmlformats.org/officeDocument/2006/math">
                    <m:sSubSup>
                      <m:sSubSupPr>
                        <m:ctrlPr>
                          <a:rPr lang="en-US" altLang="zh-CN" i="1">
                            <a:latin typeface="Cambria Math" panose="02040503050406030204" pitchFamily="18" charset="0"/>
                          </a:rPr>
                        </m:ctrlPr>
                      </m:sSubSupPr>
                      <m:e>
                        <m:acc>
                          <m:accPr>
                            <m:chr m:val="ˆ"/>
                            <m:ctrlPr>
                              <a:rPr lang="en-US" altLang="zh-CN" i="1">
                                <a:latin typeface="Cambria Math" panose="02040503050406030204" pitchFamily="18" charset="0"/>
                              </a:rPr>
                            </m:ctrlPr>
                          </m:accPr>
                          <m:e>
                            <m:r>
                              <a:rPr lang="en-US" altLang="zh-CN" i="1">
                                <a:latin typeface="Cambria Math" panose="02040503050406030204" pitchFamily="18" charset="0"/>
                              </a:rPr>
                              <m:t>𝑆</m:t>
                            </m:r>
                          </m:e>
                        </m:acc>
                      </m:e>
                      <m:sub>
                        <m:r>
                          <a:rPr lang="en-US" altLang="zh-CN" i="1">
                            <a:latin typeface="Cambria Math" panose="02040503050406030204" pitchFamily="18" charset="0"/>
                          </a:rPr>
                          <m:t>3</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r>
                      <a:rPr lang="en-US" altLang="zh-CN" i="1">
                        <a:latin typeface="Cambria Math" panose="02040503050406030204" pitchFamily="18" charset="0"/>
                      </a:rPr>
                      <m:t>=</m:t>
                    </m:r>
                    <m:f>
                      <m:fPr>
                        <m:ctrlPr>
                          <a:rPr lang="en-US" altLang="zh-CN" i="1">
                            <a:latin typeface="Cambria Math" panose="02040503050406030204" pitchFamily="18" charset="0"/>
                          </a:rPr>
                        </m:ctrlPr>
                      </m:fPr>
                      <m:num>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𝑉</m:t>
                            </m:r>
                          </m:e>
                          <m:sub>
                            <m:r>
                              <a:rPr lang="en-US" altLang="zh-CN" i="1">
                                <a:latin typeface="Cambria Math" panose="02040503050406030204" pitchFamily="18" charset="0"/>
                              </a:rPr>
                              <m:t>𝑓</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num>
                      <m:den>
                        <m:r>
                          <a:rPr lang="en-US" altLang="zh-CN" i="1">
                            <a:latin typeface="Cambria Math" panose="02040503050406030204" pitchFamily="18" charset="0"/>
                          </a:rPr>
                          <m:t>𝐶</m:t>
                        </m:r>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1</m:t>
                            </m:r>
                          </m:sub>
                        </m:sSub>
                      </m:den>
                    </m:f>
                  </m:oMath>
                </a14:m>
                <a:r>
                  <a:rPr lang="zh-CN" altLang="en-US" dirty="0"/>
                  <a:t>，其中</a:t>
                </a:r>
                <a:r>
                  <a:rPr lang="en-US" altLang="zh-CN" dirty="0"/>
                  <a:t>k</a:t>
                </a:r>
                <a:r>
                  <a:rPr lang="zh-CN" altLang="en-US" dirty="0"/>
                  <a:t>指具体某个像素，</a:t>
                </a:r>
                <a:endParaRPr lang="en-US" altLang="zh-CN" dirty="0"/>
              </a:p>
              <a:p>
                <a14:m>
                  <m:oMath xmlns:m="http://schemas.openxmlformats.org/officeDocument/2006/math">
                    <m:sSubSup>
                      <m:sSubSupPr>
                        <m:ctrlPr>
                          <a:rPr lang="en-US" altLang="zh-CN" i="1">
                            <a:latin typeface="Cambria Math" panose="02040503050406030204" pitchFamily="18" charset="0"/>
                          </a:rPr>
                        </m:ctrlPr>
                      </m:sSubSupPr>
                      <m:e>
                        <m:acc>
                          <m:accPr>
                            <m:chr m:val="ˆ"/>
                            <m:ctrlPr>
                              <a:rPr lang="en-US" altLang="zh-CN" i="1">
                                <a:latin typeface="Cambria Math" panose="02040503050406030204" pitchFamily="18" charset="0"/>
                              </a:rPr>
                            </m:ctrlPr>
                          </m:accPr>
                          <m:e>
                            <m:r>
                              <a:rPr lang="en-US" altLang="zh-CN" i="1">
                                <a:latin typeface="Cambria Math" panose="02040503050406030204" pitchFamily="18" charset="0"/>
                              </a:rPr>
                              <m:t>𝑆</m:t>
                            </m:r>
                          </m:e>
                        </m:acc>
                      </m:e>
                      <m:sub>
                        <m:r>
                          <a:rPr lang="en-US" altLang="zh-CN" i="1">
                            <a:latin typeface="Cambria Math" panose="02040503050406030204" pitchFamily="18" charset="0"/>
                          </a:rPr>
                          <m:t>0</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2</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𝑉</m:t>
                            </m:r>
                          </m:e>
                          <m:sub>
                            <m:r>
                              <m:rPr>
                                <m:sty m:val="p"/>
                              </m:rPr>
                              <a:rPr lang="en-US" altLang="zh-CN" i="1">
                                <a:latin typeface="Cambria Math" panose="02040503050406030204" pitchFamily="18" charset="0"/>
                              </a:rPr>
                              <m:t>DC</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num>
                      <m:den>
                        <m:r>
                          <a:rPr lang="en-US" altLang="zh-CN" i="1">
                            <a:latin typeface="Cambria Math" panose="02040503050406030204" pitchFamily="18" charset="0"/>
                          </a:rPr>
                          <m:t>𝐶</m:t>
                        </m:r>
                      </m:den>
                    </m:f>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0</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Sup>
                      <m:sSubSupPr>
                        <m:ctrlPr>
                          <a:rPr lang="en-US" altLang="zh-CN" i="1">
                            <a:latin typeface="Cambria Math" panose="02040503050406030204" pitchFamily="18" charset="0"/>
                          </a:rPr>
                        </m:ctrlPr>
                      </m:sSubSupPr>
                      <m:e>
                        <m:acc>
                          <m:accPr>
                            <m:chr m:val="ˆ"/>
                            <m:ctrlPr>
                              <a:rPr lang="en-US" altLang="zh-CN" i="1">
                                <a:latin typeface="Cambria Math" panose="02040503050406030204" pitchFamily="18" charset="0"/>
                              </a:rPr>
                            </m:ctrlPr>
                          </m:accPr>
                          <m:e>
                            <m:r>
                              <a:rPr lang="en-US" altLang="zh-CN" i="1">
                                <a:latin typeface="Cambria Math" panose="02040503050406030204" pitchFamily="18" charset="0"/>
                              </a:rPr>
                              <m:t>𝑆</m:t>
                            </m:r>
                          </m:e>
                        </m:acc>
                      </m:e>
                      <m:sub>
                        <m:r>
                          <a:rPr lang="en-US" altLang="zh-CN" i="1">
                            <a:latin typeface="Cambria Math" panose="02040503050406030204" pitchFamily="18" charset="0"/>
                          </a:rPr>
                          <m:t>1</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oMath>
                </a14:m>
                <a:r>
                  <a:rPr lang="zh-CN" altLang="en-US"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0</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r>
                      <a:rPr lang="en-US" altLang="zh-CN" i="1">
                        <a:latin typeface="Cambria Math" panose="02040503050406030204" pitchFamily="18" charset="0"/>
                      </a:rPr>
                      <m:t> </m:t>
                    </m:r>
                  </m:oMath>
                </a14:m>
                <a:r>
                  <a:rPr lang="zh-CN" altLang="en-US" dirty="0"/>
                  <a:t>较小，可以忽略）</a:t>
                </a:r>
              </a:p>
            </p:txBody>
          </p:sp>
        </mc:Choice>
        <mc:Fallback xmlns="">
          <p:sp>
            <p:nvSpPr>
              <p:cNvPr id="10" name="文本框 9">
                <a:extLst>
                  <a:ext uri="{FF2B5EF4-FFF2-40B4-BE49-F238E27FC236}">
                    <a16:creationId xmlns:a16="http://schemas.microsoft.com/office/drawing/2014/main" id="{2C0A1372-09F0-B2B4-EC42-9B76B3C3CB94}"/>
                  </a:ext>
                </a:extLst>
              </p:cNvPr>
              <p:cNvSpPr txBox="1">
                <a:spLocks noRot="1" noChangeAspect="1" noMove="1" noResize="1" noEditPoints="1" noAdjustHandles="1" noChangeArrowheads="1" noChangeShapeType="1" noTextEdit="1"/>
              </p:cNvSpPr>
              <p:nvPr/>
            </p:nvSpPr>
            <p:spPr>
              <a:xfrm>
                <a:off x="860255" y="3351325"/>
                <a:ext cx="6290135" cy="1346844"/>
              </a:xfrm>
              <a:prstGeom prst="rect">
                <a:avLst/>
              </a:prstGeom>
              <a:blipFill>
                <a:blip r:embed="rId6"/>
                <a:stretch>
                  <a:fillRect l="-2035" t="-5882" b="-49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FA920A6C-518B-FC95-A52F-9C6DB3CB452F}"/>
                  </a:ext>
                </a:extLst>
              </p:cNvPr>
              <p:cNvSpPr txBox="1"/>
              <p:nvPr/>
            </p:nvSpPr>
            <p:spPr>
              <a:xfrm>
                <a:off x="790971" y="4739299"/>
                <a:ext cx="8185349" cy="391133"/>
              </a:xfrm>
              <a:prstGeom prst="rect">
                <a:avLst/>
              </a:prstGeom>
              <a:noFill/>
            </p:spPr>
            <p:txBody>
              <a:bodyPr wrap="square" lIns="0" tIns="0" rIns="0" bIns="0" rtlCol="0">
                <a:spAutoFit/>
              </a:bodyPr>
              <a:lstStyle/>
              <a:p>
                <a:r>
                  <a:rPr lang="zh-CN" altLang="en-US" dirty="0"/>
                  <a:t>对于图像整体，由于</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𝐻</m:t>
                        </m:r>
                      </m:e>
                      <m:sup>
                        <m:r>
                          <a:rPr lang="en-US" altLang="zh-CN" i="1">
                            <a:latin typeface="Cambria Math" panose="02040503050406030204" pitchFamily="18" charset="0"/>
                          </a:rPr>
                          <m:t>−1</m:t>
                        </m:r>
                      </m:sup>
                    </m:sSup>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𝑁</m:t>
                        </m:r>
                      </m:den>
                    </m:f>
                    <m:sSup>
                      <m:sSupPr>
                        <m:ctrlPr>
                          <a:rPr lang="en-US" altLang="zh-CN" i="1">
                            <a:latin typeface="Cambria Math" panose="02040503050406030204" pitchFamily="18" charset="0"/>
                          </a:rPr>
                        </m:ctrlPr>
                      </m:sSupPr>
                      <m:e>
                        <m:r>
                          <a:rPr lang="en-US" altLang="zh-CN" i="1">
                            <a:latin typeface="Cambria Math" panose="02040503050406030204" pitchFamily="18" charset="0"/>
                          </a:rPr>
                          <m:t>𝐻</m:t>
                        </m:r>
                      </m:e>
                      <m:sup>
                        <m:r>
                          <m:rPr>
                            <m:sty m:val="p"/>
                          </m:rPr>
                          <a:rPr lang="en-US" altLang="zh-CN" i="1">
                            <a:latin typeface="Cambria Math" panose="02040503050406030204" pitchFamily="18" charset="0"/>
                          </a:rPr>
                          <m:t>T</m:t>
                        </m:r>
                      </m:sup>
                    </m:sSup>
                  </m:oMath>
                </a14:m>
                <a:r>
                  <a:rPr lang="zh-CN" altLang="en-US" dirty="0"/>
                  <a:t>，</a:t>
                </a:r>
                <a14:m>
                  <m:oMath xmlns:m="http://schemas.openxmlformats.org/officeDocument/2006/math">
                    <m:r>
                      <a:rPr lang="en-US" altLang="zh-CN" i="1">
                        <a:latin typeface="Cambria Math" panose="02040503050406030204" pitchFamily="18" charset="0"/>
                      </a:rPr>
                      <m:t>𝐻</m:t>
                    </m:r>
                    <m:sSup>
                      <m:sSupPr>
                        <m:ctrlPr>
                          <a:rPr lang="en-US" altLang="zh-CN" i="1">
                            <a:latin typeface="Cambria Math" panose="02040503050406030204" pitchFamily="18" charset="0"/>
                          </a:rPr>
                        </m:ctrlPr>
                      </m:sSupPr>
                      <m:e>
                        <m:r>
                          <a:rPr lang="en-US" altLang="zh-CN" i="1">
                            <a:latin typeface="Cambria Math" panose="02040503050406030204" pitchFamily="18" charset="0"/>
                          </a:rPr>
                          <m:t>𝐻</m:t>
                        </m:r>
                      </m:e>
                      <m:sup>
                        <m:r>
                          <m:rPr>
                            <m:sty m:val="p"/>
                          </m:rPr>
                          <a:rPr lang="en-US" altLang="zh-CN" i="1">
                            <a:latin typeface="Cambria Math" panose="02040503050406030204" pitchFamily="18" charset="0"/>
                          </a:rPr>
                          <m:t>T</m:t>
                        </m:r>
                      </m:sup>
                    </m:sSup>
                    <m:r>
                      <a:rPr lang="en-US" altLang="zh-CN" i="1">
                        <a:latin typeface="Cambria Math" panose="02040503050406030204" pitchFamily="18" charset="0"/>
                      </a:rPr>
                      <m:t>=</m:t>
                    </m:r>
                    <m:r>
                      <a:rPr lang="en-US" altLang="zh-CN" i="1">
                        <a:latin typeface="Cambria Math" panose="02040503050406030204" pitchFamily="18" charset="0"/>
                      </a:rPr>
                      <m:t>𝑁𝐼</m:t>
                    </m:r>
                  </m:oMath>
                </a14:m>
                <a:r>
                  <a:rPr lang="zh-CN" altLang="en-US" dirty="0"/>
                  <a:t>，</a:t>
                </a:r>
                <a:r>
                  <a:rPr lang="en-US" altLang="zh-CN" b="1" dirty="0"/>
                  <a:t> </a:t>
                </a:r>
                <a:r>
                  <a:rPr lang="zh-CN" altLang="en-US" dirty="0"/>
                  <a:t>故有</a:t>
                </a:r>
                <a14:m>
                  <m:oMath xmlns:m="http://schemas.openxmlformats.org/officeDocument/2006/math">
                    <m:sSub>
                      <m:sSubPr>
                        <m:ctrlPr>
                          <a:rPr lang="en-US" altLang="zh-CN" b="1" i="1">
                            <a:latin typeface="Cambria Math" panose="02040503050406030204" pitchFamily="18" charset="0"/>
                          </a:rPr>
                        </m:ctrlPr>
                      </m:sSubPr>
                      <m:e>
                        <m:acc>
                          <m:accPr>
                            <m:chr m:val="ˆ"/>
                            <m:ctrlPr>
                              <a:rPr lang="en-US" altLang="zh-CN" b="1" i="1">
                                <a:latin typeface="Cambria Math" panose="02040503050406030204" pitchFamily="18" charset="0"/>
                              </a:rPr>
                            </m:ctrlPr>
                          </m:accPr>
                          <m:e>
                            <m:r>
                              <a:rPr lang="en-US" altLang="zh-CN" b="1" i="1">
                                <a:latin typeface="Cambria Math" panose="02040503050406030204" pitchFamily="18" charset="0"/>
                              </a:rPr>
                              <m:t>𝐱</m:t>
                            </m:r>
                          </m:e>
                        </m:acc>
                      </m:e>
                      <m:sub>
                        <m:r>
                          <a:rPr lang="en-US" altLang="zh-CN" i="1">
                            <a:latin typeface="Cambria Math" panose="02040503050406030204" pitchFamily="18" charset="0"/>
                          </a:rPr>
                          <m:t>𝑞</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𝑁</m:t>
                        </m:r>
                      </m:den>
                    </m:f>
                    <m:sSup>
                      <m:sSupPr>
                        <m:ctrlPr>
                          <a:rPr lang="en-US" altLang="zh-CN" i="1">
                            <a:latin typeface="Cambria Math" panose="02040503050406030204" pitchFamily="18" charset="0"/>
                          </a:rPr>
                        </m:ctrlPr>
                      </m:sSupPr>
                      <m:e>
                        <m:r>
                          <a:rPr lang="en-US" altLang="zh-CN" i="1">
                            <a:latin typeface="Cambria Math" panose="02040503050406030204" pitchFamily="18" charset="0"/>
                          </a:rPr>
                          <m:t>𝐻</m:t>
                        </m:r>
                      </m:e>
                      <m:sup>
                        <m:r>
                          <m:rPr>
                            <m:sty m:val="p"/>
                          </m:rPr>
                          <a:rPr lang="en-US" altLang="zh-CN" i="1">
                            <a:latin typeface="Cambria Math" panose="02040503050406030204" pitchFamily="18" charset="0"/>
                          </a:rPr>
                          <m:t>T</m:t>
                        </m:r>
                      </m:sup>
                    </m:sSup>
                    <m:sSub>
                      <m:sSubPr>
                        <m:ctrlPr>
                          <a:rPr lang="en-US" altLang="zh-CN" b="1" i="1">
                            <a:latin typeface="Cambria Math" panose="02040503050406030204" pitchFamily="18" charset="0"/>
                          </a:rPr>
                        </m:ctrlPr>
                      </m:sSubPr>
                      <m:e>
                        <m:acc>
                          <m:accPr>
                            <m:chr m:val="ˆ"/>
                            <m:ctrlPr>
                              <a:rPr lang="en-US" altLang="zh-CN" b="1" i="1">
                                <a:latin typeface="Cambria Math" panose="02040503050406030204" pitchFamily="18" charset="0"/>
                              </a:rPr>
                            </m:ctrlPr>
                          </m:accPr>
                          <m:e>
                            <m:r>
                              <a:rPr lang="en-US" altLang="zh-CN" b="1" i="1">
                                <a:latin typeface="Cambria Math" panose="02040503050406030204" pitchFamily="18" charset="0"/>
                              </a:rPr>
                              <m:t>𝐲</m:t>
                            </m:r>
                          </m:e>
                        </m:acc>
                      </m:e>
                      <m:sub>
                        <m:r>
                          <a:rPr lang="en-US" altLang="zh-CN" i="1">
                            <a:latin typeface="Cambria Math" panose="02040503050406030204" pitchFamily="18" charset="0"/>
                          </a:rPr>
                          <m:t>𝑞</m:t>
                        </m:r>
                      </m:sub>
                    </m:sSub>
                    <m:r>
                      <a:rPr lang="en-US" altLang="zh-CN" i="1">
                        <a:latin typeface="Cambria Math" panose="02040503050406030204" pitchFamily="18" charset="0"/>
                      </a:rPr>
                      <m:t>, </m:t>
                    </m:r>
                    <m:r>
                      <a:rPr lang="en-US" altLang="zh-CN" i="1">
                        <a:latin typeface="Cambria Math" panose="02040503050406030204" pitchFamily="18" charset="0"/>
                      </a:rPr>
                      <m:t>𝑞</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0,1,3</m:t>
                        </m:r>
                      </m:e>
                    </m:d>
                  </m:oMath>
                </a14:m>
                <a:endParaRPr lang="en-US" altLang="zh-CN" dirty="0"/>
              </a:p>
            </p:txBody>
          </p:sp>
        </mc:Choice>
        <mc:Fallback xmlns="">
          <p:sp>
            <p:nvSpPr>
              <p:cNvPr id="16" name="文本框 15">
                <a:extLst>
                  <a:ext uri="{FF2B5EF4-FFF2-40B4-BE49-F238E27FC236}">
                    <a16:creationId xmlns:a16="http://schemas.microsoft.com/office/drawing/2014/main" id="{FA920A6C-518B-FC95-A52F-9C6DB3CB452F}"/>
                  </a:ext>
                </a:extLst>
              </p:cNvPr>
              <p:cNvSpPr txBox="1">
                <a:spLocks noRot="1" noChangeAspect="1" noMove="1" noResize="1" noEditPoints="1" noAdjustHandles="1" noChangeArrowheads="1" noChangeShapeType="1" noTextEdit="1"/>
              </p:cNvSpPr>
              <p:nvPr/>
            </p:nvSpPr>
            <p:spPr>
              <a:xfrm>
                <a:off x="790971" y="4739299"/>
                <a:ext cx="8185349" cy="391133"/>
              </a:xfrm>
              <a:prstGeom prst="rect">
                <a:avLst/>
              </a:prstGeom>
              <a:blipFill>
                <a:blip r:embed="rId7"/>
                <a:stretch>
                  <a:fillRect l="-1788" t="-7692" b="-20000"/>
                </a:stretch>
              </a:blipFill>
            </p:spPr>
            <p:txBody>
              <a:bodyPr/>
              <a:lstStyle/>
              <a:p>
                <a:r>
                  <a:rPr lang="zh-CN" altLang="en-US">
                    <a:noFill/>
                  </a:rPr>
                  <a:t> </a:t>
                </a:r>
              </a:p>
            </p:txBody>
          </p:sp>
        </mc:Fallback>
      </mc:AlternateContent>
      <p:cxnSp>
        <p:nvCxnSpPr>
          <p:cNvPr id="18" name="直接连接符 17">
            <a:extLst>
              <a:ext uri="{FF2B5EF4-FFF2-40B4-BE49-F238E27FC236}">
                <a16:creationId xmlns:a16="http://schemas.microsoft.com/office/drawing/2014/main" id="{3FF45743-180B-AB70-5275-208D49B09D81}"/>
              </a:ext>
            </a:extLst>
          </p:cNvPr>
          <p:cNvCxnSpPr/>
          <p:nvPr/>
        </p:nvCxnSpPr>
        <p:spPr>
          <a:xfrm flipV="1">
            <a:off x="59668" y="5325816"/>
            <a:ext cx="12072664" cy="45248"/>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E9E27CD-A22A-C07B-AD06-E7A8DF263E0C}"/>
                  </a:ext>
                </a:extLst>
              </p:cNvPr>
              <p:cNvSpPr txBox="1"/>
              <p:nvPr/>
            </p:nvSpPr>
            <p:spPr>
              <a:xfrm>
                <a:off x="5303912" y="5442790"/>
                <a:ext cx="2394758" cy="654475"/>
              </a:xfrm>
              <a:prstGeom prst="rect">
                <a:avLst/>
              </a:prstGeom>
              <a:noFill/>
            </p:spPr>
            <p:txBody>
              <a:bodyPr wrap="none" lIns="0" tIns="0" rIns="0" bIns="0" rtlCol="0">
                <a:spAutoFit/>
              </a:bodyPr>
              <a:lstStyle/>
              <a:p>
                <a:pPr/>
                <a14:m>
                  <m:oMathPara xmlns:m="http://schemas.openxmlformats.org/officeDocument/2006/math">
                    <m:oMath>
                      <m:sSub>
                        <m:sSubPr>
                          <m:ctrlPr>
                            <a:rPr lang="en-US" altLang="zh-CN" i="1">
                              <a:latin typeface="Cambria Math" panose="02040503050406030204" pitchFamily="18" charset="0"/>
                            </a:rPr>
                          </m:ctrlPr>
                        </m:sSubPr>
                        <m:e>
                          <m:acc>
                            <m:accPr>
                              <m:chr m:val="ˆ"/>
                              <m:ctrlPr>
                                <a:rPr lang="en-US" altLang="zh-CN" i="1">
                                  <a:latin typeface="Cambria Math" panose="02040503050406030204" pitchFamily="18" charset="0"/>
                                </a:rPr>
                              </m:ctrlPr>
                            </m:accPr>
                            <m:e>
                              <m:r>
                                <a:rPr lang="en-US" altLang="zh-CN" i="1">
                                  <a:latin typeface="Cambria Math" panose="02040503050406030204" pitchFamily="18" charset="0"/>
                                </a:rPr>
                                <m:t>𝑇</m:t>
                              </m:r>
                            </m:e>
                          </m:acc>
                        </m:e>
                        <m:sub>
                          <m:r>
                            <a:rPr lang="en-US" altLang="zh-CN" i="1">
                              <a:latin typeface="Cambria Math" panose="02040503050406030204" pitchFamily="18" charset="0"/>
                            </a:rPr>
                            <m:t>𝑖</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acc>
                                <m:accPr>
                                  <m:chr m:val="ˆ"/>
                                  <m:ctrlPr>
                                    <a:rPr lang="en-US" altLang="zh-CN" i="1">
                                      <a:latin typeface="Cambria Math" panose="02040503050406030204" pitchFamily="18" charset="0"/>
                                    </a:rPr>
                                  </m:ctrlPr>
                                </m:accPr>
                                <m:e>
                                  <m:r>
                                    <a:rPr lang="en-US" altLang="zh-CN" i="1">
                                      <a:latin typeface="Cambria Math" panose="02040503050406030204" pitchFamily="18" charset="0"/>
                                    </a:rPr>
                                    <m:t>𝑆</m:t>
                                  </m:r>
                                </m:e>
                              </m:acc>
                            </m:e>
                            <m:sub>
                              <m:r>
                                <a:rPr lang="en-US" altLang="zh-CN" i="1">
                                  <a:latin typeface="Cambria Math" panose="02040503050406030204" pitchFamily="18" charset="0"/>
                                </a:rPr>
                                <m:t>0,</m:t>
                              </m:r>
                              <m:r>
                                <a:rPr lang="en-US" altLang="zh-CN" i="1">
                                  <a:latin typeface="Cambria Math" panose="02040503050406030204" pitchFamily="18" charset="0"/>
                                </a:rPr>
                                <m:t>𝑖</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m:rPr>
                                  <m:sty m:val="p"/>
                                </m:rPr>
                                <a:rPr lang="en-US" altLang="zh-CN" i="1">
                                  <a:latin typeface="Cambria Math" panose="02040503050406030204" pitchFamily="18" charset="0"/>
                                </a:rPr>
                                <m:t>pixel</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object</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L</m:t>
                              </m:r>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L</m:t>
                              </m:r>
                              <m:r>
                                <a:rPr lang="en-US" altLang="zh-CN" i="1">
                                  <a:latin typeface="Cambria Math" panose="02040503050406030204" pitchFamily="18" charset="0"/>
                                </a:rPr>
                                <m:t>3</m:t>
                              </m:r>
                            </m:sub>
                          </m:sSub>
                        </m:den>
                      </m:f>
                    </m:oMath>
                  </m:oMathPara>
                </a14:m>
                <a:endParaRPr lang="zh-CN" altLang="en-US" dirty="0"/>
              </a:p>
            </p:txBody>
          </p:sp>
        </mc:Choice>
        <mc:Fallback xmlns="">
          <p:sp>
            <p:nvSpPr>
              <p:cNvPr id="19" name="文本框 18">
                <a:extLst>
                  <a:ext uri="{FF2B5EF4-FFF2-40B4-BE49-F238E27FC236}">
                    <a16:creationId xmlns:a16="http://schemas.microsoft.com/office/drawing/2014/main" id="{9E9E27CD-A22A-C07B-AD06-E7A8DF263E0C}"/>
                  </a:ext>
                </a:extLst>
              </p:cNvPr>
              <p:cNvSpPr txBox="1">
                <a:spLocks noRot="1" noChangeAspect="1" noMove="1" noResize="1" noEditPoints="1" noAdjustHandles="1" noChangeArrowheads="1" noChangeShapeType="1" noTextEdit="1"/>
              </p:cNvSpPr>
              <p:nvPr/>
            </p:nvSpPr>
            <p:spPr>
              <a:xfrm>
                <a:off x="5303912" y="5442790"/>
                <a:ext cx="2394758" cy="65447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3EEB3785-44EB-1DB3-656F-F121BF23BEEB}"/>
                  </a:ext>
                </a:extLst>
              </p:cNvPr>
              <p:cNvSpPr txBox="1"/>
              <p:nvPr/>
            </p:nvSpPr>
            <p:spPr>
              <a:xfrm>
                <a:off x="3688481" y="6087674"/>
                <a:ext cx="2407519" cy="313676"/>
              </a:xfrm>
              <a:prstGeom prst="rect">
                <a:avLst/>
              </a:prstGeom>
              <a:noFill/>
            </p:spPr>
            <p:txBody>
              <a:bodyPr wrap="none" lIns="0" tIns="0" rIns="0" bIns="0" rtlCol="0">
                <a:spAutoFit/>
              </a:bodyPr>
              <a:lstStyle/>
              <a:p>
                <a:pPr/>
                <a14:m>
                  <m:oMathPara xmlns:m="http://schemas.openxmlformats.org/officeDocument/2006/math">
                    <m:oMath>
                      <m:sSub>
                        <m:sSubPr>
                          <m:ctrlPr>
                            <a:rPr lang="en-US" altLang="zh-CN" i="1">
                              <a:latin typeface="Cambria Math" panose="02040503050406030204" pitchFamily="18" charset="0"/>
                            </a:rPr>
                          </m:ctrlPr>
                        </m:sSubPr>
                        <m:e>
                          <m:acc>
                            <m:accPr>
                              <m:chr m:val="ˆ"/>
                              <m:ctrlPr>
                                <a:rPr lang="en-US" altLang="zh-CN" i="1">
                                  <a:latin typeface="Cambria Math" panose="02040503050406030204" pitchFamily="18" charset="0"/>
                                </a:rPr>
                              </m:ctrlPr>
                            </m:accPr>
                            <m:e>
                              <m:r>
                                <a:rPr lang="en-US" altLang="zh-CN" i="1">
                                  <a:latin typeface="Cambria Math" panose="02040503050406030204" pitchFamily="18" charset="0"/>
                                </a:rPr>
                                <m:t>𝑇</m:t>
                              </m:r>
                            </m:e>
                          </m:acc>
                        </m:e>
                        <m:sub>
                          <m:r>
                            <a:rPr lang="en-US" altLang="zh-CN" i="1">
                              <a:latin typeface="Cambria Math" panose="02040503050406030204" pitchFamily="18" charset="0"/>
                            </a:rPr>
                            <m:t>𝑖</m:t>
                          </m:r>
                        </m:sub>
                      </m:sSub>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min</m:t>
                          </m:r>
                        </m:fName>
                        <m:e>
                          <m:d>
                            <m:dPr>
                              <m:ctrlPr>
                                <a:rPr lang="en-US" altLang="zh-CN" i="1">
                                  <a:latin typeface="Cambria Math" panose="02040503050406030204" pitchFamily="18" charset="0"/>
                                </a:rPr>
                              </m:ctrlPr>
                            </m:dPr>
                            <m:e>
                              <m:r>
                                <a:rPr lang="en-US" altLang="zh-CN" i="1">
                                  <a:latin typeface="Cambria Math" panose="02040503050406030204" pitchFamily="18" charset="0"/>
                                </a:rPr>
                                <m:t>1,</m:t>
                              </m:r>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max</m:t>
                                  </m:r>
                                </m:fName>
                                <m:e>
                                  <m:d>
                                    <m:dPr>
                                      <m:ctrlPr>
                                        <a:rPr lang="en-US" altLang="zh-CN" i="1">
                                          <a:latin typeface="Cambria Math" panose="02040503050406030204" pitchFamily="18" charset="0"/>
                                        </a:rPr>
                                      </m:ctrlPr>
                                    </m:dPr>
                                    <m:e>
                                      <m:r>
                                        <a:rPr lang="en-US" altLang="zh-CN" i="1">
                                          <a:latin typeface="Cambria Math" panose="02040503050406030204" pitchFamily="18" charset="0"/>
                                        </a:rPr>
                                        <m:t>0,</m:t>
                                      </m:r>
                                      <m:sSub>
                                        <m:sSubPr>
                                          <m:ctrlPr>
                                            <a:rPr lang="en-US" altLang="zh-CN" i="1">
                                              <a:latin typeface="Cambria Math" panose="02040503050406030204" pitchFamily="18" charset="0"/>
                                            </a:rPr>
                                          </m:ctrlPr>
                                        </m:sSubPr>
                                        <m:e>
                                          <m:acc>
                                            <m:accPr>
                                              <m:chr m:val="ˆ"/>
                                              <m:ctrlPr>
                                                <a:rPr lang="en-US" altLang="zh-CN" i="1">
                                                  <a:latin typeface="Cambria Math" panose="02040503050406030204" pitchFamily="18" charset="0"/>
                                                </a:rPr>
                                              </m:ctrlPr>
                                            </m:accPr>
                                            <m:e>
                                              <m:r>
                                                <a:rPr lang="en-US" altLang="zh-CN" i="1">
                                                  <a:latin typeface="Cambria Math" panose="02040503050406030204" pitchFamily="18" charset="0"/>
                                                </a:rPr>
                                                <m:t>𝑇</m:t>
                                              </m:r>
                                            </m:e>
                                          </m:acc>
                                        </m:e>
                                        <m:sub>
                                          <m:r>
                                            <a:rPr lang="en-US" altLang="zh-CN" i="1">
                                              <a:latin typeface="Cambria Math" panose="02040503050406030204" pitchFamily="18" charset="0"/>
                                            </a:rPr>
                                            <m:t>𝑖</m:t>
                                          </m:r>
                                        </m:sub>
                                      </m:sSub>
                                    </m:e>
                                  </m:d>
                                </m:e>
                              </m:func>
                            </m:e>
                          </m:d>
                        </m:e>
                      </m:func>
                    </m:oMath>
                  </m:oMathPara>
                </a14:m>
                <a:endParaRPr lang="zh-CN" altLang="en-US" dirty="0"/>
              </a:p>
            </p:txBody>
          </p:sp>
        </mc:Choice>
        <mc:Fallback xmlns="">
          <p:sp>
            <p:nvSpPr>
              <p:cNvPr id="21" name="文本框 20">
                <a:extLst>
                  <a:ext uri="{FF2B5EF4-FFF2-40B4-BE49-F238E27FC236}">
                    <a16:creationId xmlns:a16="http://schemas.microsoft.com/office/drawing/2014/main" id="{3EEB3785-44EB-1DB3-656F-F121BF23BEEB}"/>
                  </a:ext>
                </a:extLst>
              </p:cNvPr>
              <p:cNvSpPr txBox="1">
                <a:spLocks noRot="1" noChangeAspect="1" noMove="1" noResize="1" noEditPoints="1" noAdjustHandles="1" noChangeArrowheads="1" noChangeShapeType="1" noTextEdit="1"/>
              </p:cNvSpPr>
              <p:nvPr/>
            </p:nvSpPr>
            <p:spPr>
              <a:xfrm>
                <a:off x="3688481" y="6087674"/>
                <a:ext cx="2407519" cy="313676"/>
              </a:xfrm>
              <a:prstGeom prst="rect">
                <a:avLst/>
              </a:prstGeom>
              <a:blipFill>
                <a:blip r:embed="rId9"/>
                <a:stretch>
                  <a:fillRect l="-1519" t="-27451"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4A65F1ED-2D4A-8AE6-4047-E33E6BCA72D5}"/>
                  </a:ext>
                </a:extLst>
              </p:cNvPr>
              <p:cNvSpPr txBox="1"/>
              <p:nvPr/>
            </p:nvSpPr>
            <p:spPr>
              <a:xfrm>
                <a:off x="55075" y="5566448"/>
                <a:ext cx="6094948" cy="404150"/>
              </a:xfrm>
              <a:prstGeom prst="rect">
                <a:avLst/>
              </a:prstGeom>
              <a:noFill/>
            </p:spPr>
            <p:txBody>
              <a:bodyPr wrap="square">
                <a:spAutoFit/>
              </a:bodyPr>
              <a:lstStyle/>
              <a:p>
                <a:r>
                  <a:rPr lang="zh-CN" altLang="en-US" dirty="0"/>
                  <a:t>指标验证：将</a:t>
                </a:r>
                <a:r>
                  <a:rPr lang="zh-CN" altLang="zh-CN" dirty="0"/>
                  <a:t> </a:t>
                </a:r>
                <a14:m>
                  <m:oMath xmlns:m="http://schemas.openxmlformats.org/officeDocument/2006/math">
                    <m:sSub>
                      <m:sSubPr>
                        <m:ctrlPr>
                          <a:rPr lang="en-US" altLang="zh-CN" i="1">
                            <a:latin typeface="Cambria Math" panose="02040503050406030204" pitchFamily="18" charset="0"/>
                          </a:rPr>
                        </m:ctrlPr>
                      </m:sSubPr>
                      <m:e>
                        <m:acc>
                          <m:accPr>
                            <m:chr m:val="ˆ"/>
                            <m:ctrlPr>
                              <a:rPr lang="en-US" altLang="zh-CN" i="1">
                                <a:latin typeface="Cambria Math" panose="02040503050406030204" pitchFamily="18" charset="0"/>
                              </a:rPr>
                            </m:ctrlPr>
                          </m:accPr>
                          <m:e>
                            <m:r>
                              <a:rPr lang="en-US" altLang="zh-CN" i="1">
                                <a:latin typeface="Cambria Math" panose="02040503050406030204" pitchFamily="18" charset="0"/>
                              </a:rPr>
                              <m:t>𝑆</m:t>
                            </m:r>
                          </m:e>
                        </m:acc>
                      </m:e>
                      <m:sub>
                        <m:r>
                          <a:rPr lang="en-US" altLang="zh-CN" i="1">
                            <a:latin typeface="Cambria Math" panose="02040503050406030204" pitchFamily="18" charset="0"/>
                          </a:rPr>
                          <m:t>0,</m:t>
                        </m:r>
                        <m:r>
                          <a:rPr lang="en-US" altLang="zh-CN" i="1">
                            <a:latin typeface="Cambria Math" panose="02040503050406030204" pitchFamily="18" charset="0"/>
                          </a:rPr>
                          <m:t>𝑖</m:t>
                        </m:r>
                      </m:sub>
                    </m:sSub>
                  </m:oMath>
                </a14:m>
                <a:r>
                  <a:rPr lang="zh-CN" altLang="zh-CN" dirty="0"/>
                  <a:t> 除以前向模型的功率比例，得到</a:t>
                </a:r>
                <a:endParaRPr lang="zh-CN" altLang="en-US" dirty="0"/>
              </a:p>
            </p:txBody>
          </p:sp>
        </mc:Choice>
        <mc:Fallback xmlns="">
          <p:sp>
            <p:nvSpPr>
              <p:cNvPr id="25" name="文本框 24">
                <a:extLst>
                  <a:ext uri="{FF2B5EF4-FFF2-40B4-BE49-F238E27FC236}">
                    <a16:creationId xmlns:a16="http://schemas.microsoft.com/office/drawing/2014/main" id="{4A65F1ED-2D4A-8AE6-4047-E33E6BCA72D5}"/>
                  </a:ext>
                </a:extLst>
              </p:cNvPr>
              <p:cNvSpPr txBox="1">
                <a:spLocks noRot="1" noChangeAspect="1" noMove="1" noResize="1" noEditPoints="1" noAdjustHandles="1" noChangeArrowheads="1" noChangeShapeType="1" noTextEdit="1"/>
              </p:cNvSpPr>
              <p:nvPr/>
            </p:nvSpPr>
            <p:spPr>
              <a:xfrm>
                <a:off x="55075" y="5566448"/>
                <a:ext cx="6094948" cy="404150"/>
              </a:xfrm>
              <a:prstGeom prst="rect">
                <a:avLst/>
              </a:prstGeom>
              <a:blipFill>
                <a:blip r:embed="rId10"/>
                <a:stretch>
                  <a:fillRect l="-800" t="-9091" b="-19697"/>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017DEF3A-47CC-D101-9099-20B76004A111}"/>
              </a:ext>
            </a:extLst>
          </p:cNvPr>
          <p:cNvSpPr txBox="1"/>
          <p:nvPr/>
        </p:nvSpPr>
        <p:spPr>
          <a:xfrm>
            <a:off x="19926" y="6055410"/>
            <a:ext cx="6094948" cy="369332"/>
          </a:xfrm>
          <a:prstGeom prst="rect">
            <a:avLst/>
          </a:prstGeom>
          <a:noFill/>
        </p:spPr>
        <p:txBody>
          <a:bodyPr wrap="square">
            <a:spAutoFit/>
          </a:bodyPr>
          <a:lstStyle/>
          <a:p>
            <a:r>
              <a:rPr lang="zh-CN" altLang="en-US" dirty="0"/>
              <a:t>再进行归一化可得重构图像折射率</a:t>
            </a:r>
          </a:p>
        </p:txBody>
      </p:sp>
      <p:sp>
        <p:nvSpPr>
          <p:cNvPr id="27" name="文本框 26">
            <a:extLst>
              <a:ext uri="{FF2B5EF4-FFF2-40B4-BE49-F238E27FC236}">
                <a16:creationId xmlns:a16="http://schemas.microsoft.com/office/drawing/2014/main" id="{EBB2DEFC-F512-6E76-DD2C-7547F1914E32}"/>
              </a:ext>
            </a:extLst>
          </p:cNvPr>
          <p:cNvSpPr txBox="1"/>
          <p:nvPr/>
        </p:nvSpPr>
        <p:spPr>
          <a:xfrm>
            <a:off x="55074" y="6452176"/>
            <a:ext cx="11657549" cy="369332"/>
          </a:xfrm>
          <a:prstGeom prst="rect">
            <a:avLst/>
          </a:prstGeom>
          <a:noFill/>
        </p:spPr>
        <p:txBody>
          <a:bodyPr wrap="square">
            <a:spAutoFit/>
          </a:bodyPr>
          <a:lstStyle/>
          <a:p>
            <a:r>
              <a:rPr lang="zh-CN" altLang="en-US" dirty="0"/>
              <a:t>运用重构图像折射率和初始灰度映射的折射率计算</a:t>
            </a:r>
            <a:r>
              <a:rPr lang="en-US" altLang="zh-CN" dirty="0"/>
              <a:t>PSNR</a:t>
            </a:r>
            <a:r>
              <a:rPr lang="zh-CN" altLang="en-US" dirty="0"/>
              <a:t>，</a:t>
            </a:r>
            <a:r>
              <a:rPr lang="en-US" altLang="zh-CN" dirty="0"/>
              <a:t>SSIM</a:t>
            </a:r>
            <a:r>
              <a:rPr lang="zh-CN" altLang="en-US" dirty="0"/>
              <a:t>等指标</a:t>
            </a:r>
          </a:p>
        </p:txBody>
      </p:sp>
      <p:sp>
        <p:nvSpPr>
          <p:cNvPr id="28" name="文本框 27">
            <a:extLst>
              <a:ext uri="{FF2B5EF4-FFF2-40B4-BE49-F238E27FC236}">
                <a16:creationId xmlns:a16="http://schemas.microsoft.com/office/drawing/2014/main" id="{7923EA9D-C85F-FFCB-22F8-E32D1111CB94}"/>
              </a:ext>
            </a:extLst>
          </p:cNvPr>
          <p:cNvSpPr txBox="1"/>
          <p:nvPr/>
        </p:nvSpPr>
        <p:spPr>
          <a:xfrm>
            <a:off x="8976320" y="4739299"/>
            <a:ext cx="1584176" cy="369332"/>
          </a:xfrm>
          <a:prstGeom prst="rect">
            <a:avLst/>
          </a:prstGeom>
          <a:noFill/>
        </p:spPr>
        <p:txBody>
          <a:bodyPr wrap="square" rtlCol="0">
            <a:spAutoFit/>
          </a:bodyPr>
          <a:lstStyle/>
          <a:p>
            <a:r>
              <a:rPr lang="zh-CN" altLang="en-US" dirty="0">
                <a:solidFill>
                  <a:srgbClr val="0070C0"/>
                </a:solidFill>
                <a:hlinkClick r:id="rId11" action="ppaction://hlinksldjump">
                  <a:extLst>
                    <a:ext uri="{A12FA001-AC4F-418D-AE19-62706E023703}">
                      <ahyp:hlinkClr xmlns:ahyp="http://schemas.microsoft.com/office/drawing/2018/hyperlinkcolor" val="tx"/>
                    </a:ext>
                  </a:extLst>
                </a:hlinkClick>
              </a:rPr>
              <a:t>重构结果展示</a:t>
            </a:r>
            <a:endParaRPr lang="zh-CN" altLang="en-US" dirty="0">
              <a:solidFill>
                <a:srgbClr val="0070C0"/>
              </a:solidFill>
            </a:endParaRPr>
          </a:p>
        </p:txBody>
      </p:sp>
    </p:spTree>
    <p:extLst>
      <p:ext uri="{BB962C8B-B14F-4D97-AF65-F5344CB8AC3E}">
        <p14:creationId xmlns:p14="http://schemas.microsoft.com/office/powerpoint/2010/main" val="2698094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50D9EF-182A-B868-D430-084D7A68F175}"/>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6B92ABE1-283C-DCB8-B94E-EE9BF1CCDB68}"/>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B9BF84CD-B7EB-B44C-BBF2-1683433B9191}"/>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8D4DEFDA-835D-E50B-575A-1A90238CC9D2}"/>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A9E10F39-099D-EBF1-F54D-40BA3AAFCE89}"/>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仿真中的关键图片</a:t>
            </a:r>
          </a:p>
        </p:txBody>
      </p:sp>
      <p:sp>
        <p:nvSpPr>
          <p:cNvPr id="14" name="文本框 13">
            <a:extLst>
              <a:ext uri="{FF2B5EF4-FFF2-40B4-BE49-F238E27FC236}">
                <a16:creationId xmlns:a16="http://schemas.microsoft.com/office/drawing/2014/main" id="{6085FFF9-3443-10D4-9C6B-59DB9389E66D}"/>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仿真结果</a:t>
            </a:r>
            <a:endParaRPr lang="en-US" altLang="zh-CN" sz="3600" b="1" dirty="0">
              <a:solidFill>
                <a:srgbClr val="3467AB"/>
              </a:solidFill>
            </a:endParaRPr>
          </a:p>
        </p:txBody>
      </p:sp>
      <p:sp>
        <p:nvSpPr>
          <p:cNvPr id="6" name="文本框 5">
            <a:extLst>
              <a:ext uri="{FF2B5EF4-FFF2-40B4-BE49-F238E27FC236}">
                <a16:creationId xmlns:a16="http://schemas.microsoft.com/office/drawing/2014/main" id="{2D8EAF2D-8CBF-63EF-E447-C4E3D6593A14}"/>
              </a:ext>
            </a:extLst>
          </p:cNvPr>
          <p:cNvSpPr txBox="1"/>
          <p:nvPr/>
        </p:nvSpPr>
        <p:spPr>
          <a:xfrm>
            <a:off x="11352584" y="6488668"/>
            <a:ext cx="720080" cy="369332"/>
          </a:xfrm>
          <a:prstGeom prst="rect">
            <a:avLst/>
          </a:prstGeom>
          <a:noFill/>
        </p:spPr>
        <p:txBody>
          <a:bodyPr wrap="square" rtlCol="0">
            <a:spAutoFit/>
          </a:bodyPr>
          <a:lstStyle/>
          <a:p>
            <a:r>
              <a:rPr lang="zh-CN" altLang="en-US" dirty="0">
                <a:solidFill>
                  <a:srgbClr val="0070C0"/>
                </a:solidFill>
                <a:hlinkClick r:id="rId3" action="ppaction://hlinksldjump">
                  <a:extLst>
                    <a:ext uri="{A12FA001-AC4F-418D-AE19-62706E023703}">
                      <ahyp:hlinkClr xmlns:ahyp="http://schemas.microsoft.com/office/drawing/2018/hyperlinkcolor" val="tx"/>
                    </a:ext>
                  </a:extLst>
                </a:hlinkClick>
              </a:rPr>
              <a:t>返回</a:t>
            </a:r>
            <a:endParaRPr lang="zh-CN" altLang="en-US" dirty="0">
              <a:solidFill>
                <a:srgbClr val="0070C0"/>
              </a:solidFill>
            </a:endParaRPr>
          </a:p>
        </p:txBody>
      </p:sp>
      <p:pic>
        <p:nvPicPr>
          <p:cNvPr id="10" name="图片 9">
            <a:extLst>
              <a:ext uri="{FF2B5EF4-FFF2-40B4-BE49-F238E27FC236}">
                <a16:creationId xmlns:a16="http://schemas.microsoft.com/office/drawing/2014/main" id="{A6536AC0-FF4C-36B0-7F3A-73AA0DBA34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28" y="1340768"/>
            <a:ext cx="6945987" cy="3123002"/>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1160BB7-D323-D613-41F5-0FCCAECEBCDB}"/>
                  </a:ext>
                </a:extLst>
              </p:cNvPr>
              <p:cNvSpPr txBox="1"/>
              <p:nvPr/>
            </p:nvSpPr>
            <p:spPr>
              <a:xfrm>
                <a:off x="239712" y="4455379"/>
                <a:ext cx="4808560" cy="370871"/>
              </a:xfrm>
              <a:prstGeom prst="rect">
                <a:avLst/>
              </a:prstGeom>
              <a:noFill/>
            </p:spPr>
            <p:txBody>
              <a:bodyPr wrap="none" lIns="0" tIns="0" rIns="0" bIns="0" rtlCol="0">
                <a:spAutoFit/>
              </a:bodyPr>
              <a:lstStyle/>
              <a:p>
                <a14:m>
                  <m:oMath xmlns:m="http://schemas.openxmlformats.org/officeDocument/2006/math">
                    <m:r>
                      <a:rPr lang="zh-CN" altLang="en-US" i="1">
                        <a:latin typeface="Cambria Math" panose="02040503050406030204" pitchFamily="18" charset="0"/>
                      </a:rPr>
                      <m:t>透射率</m:t>
                    </m:r>
                    <m:r>
                      <a:rPr lang="zh-CN" altLang="en-US"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𝑖</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𝑖</m:t>
                            </m:r>
                          </m:sub>
                        </m:sSub>
                      </m:num>
                      <m:den>
                        <m:r>
                          <a:rPr lang="en-US" altLang="zh-CN" i="1">
                            <a:latin typeface="Cambria Math" panose="02040503050406030204" pitchFamily="18" charset="0"/>
                          </a:rPr>
                          <m:t>255</m:t>
                        </m:r>
                      </m:den>
                    </m:f>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𝑖</m:t>
                        </m:r>
                      </m:sub>
                    </m:sSub>
                  </m:oMath>
                </a14:m>
                <a:r>
                  <a:rPr lang="zh-CN" altLang="en-US" dirty="0"/>
                  <a:t>为图片中单个像素的灰度值</a:t>
                </a:r>
              </a:p>
            </p:txBody>
          </p:sp>
        </mc:Choice>
        <mc:Fallback xmlns="">
          <p:sp>
            <p:nvSpPr>
              <p:cNvPr id="15" name="文本框 14">
                <a:extLst>
                  <a:ext uri="{FF2B5EF4-FFF2-40B4-BE49-F238E27FC236}">
                    <a16:creationId xmlns:a16="http://schemas.microsoft.com/office/drawing/2014/main" id="{E1160BB7-D323-D613-41F5-0FCCAECEBCDB}"/>
                  </a:ext>
                </a:extLst>
              </p:cNvPr>
              <p:cNvSpPr txBox="1">
                <a:spLocks noRot="1" noChangeAspect="1" noMove="1" noResize="1" noEditPoints="1" noAdjustHandles="1" noChangeArrowheads="1" noChangeShapeType="1" noTextEdit="1"/>
              </p:cNvSpPr>
              <p:nvPr/>
            </p:nvSpPr>
            <p:spPr>
              <a:xfrm>
                <a:off x="239712" y="4455379"/>
                <a:ext cx="4808560" cy="370871"/>
              </a:xfrm>
              <a:prstGeom prst="rect">
                <a:avLst/>
              </a:prstGeom>
              <a:blipFill>
                <a:blip r:embed="rId5"/>
                <a:stretch>
                  <a:fillRect l="-2281" t="-13115" r="-2408" b="-196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591BDD1-0FC6-5FF9-7DBE-53C3A5DBC135}"/>
                  </a:ext>
                </a:extLst>
              </p:cNvPr>
              <p:cNvSpPr txBox="1"/>
              <p:nvPr/>
            </p:nvSpPr>
            <p:spPr>
              <a:xfrm>
                <a:off x="119336" y="5216504"/>
                <a:ext cx="5660972" cy="297389"/>
              </a:xfrm>
              <a:prstGeom prst="rect">
                <a:avLst/>
              </a:prstGeom>
              <a:noFill/>
            </p:spPr>
            <p:txBody>
              <a:bodyPr wrap="none" lIns="0" tIns="0" rIns="0" bIns="0" rtlCol="0">
                <a:spAutoFit/>
              </a:bodyPr>
              <a:lstStyle/>
              <a:p>
                <a:pPr/>
                <a14:m>
                  <m:oMathPara xmlns:m="http://schemas.openxmlformats.org/officeDocument/2006/math">
                    <m:oMath>
                      <m:r>
                        <a:rPr lang="zh-CN" altLang="en-US" i="1">
                          <a:latin typeface="Cambria Math" panose="02040503050406030204" pitchFamily="18" charset="0"/>
                        </a:rPr>
                        <m:t>斯托克斯参数</m:t>
                      </m:r>
                      <m:r>
                        <a:rPr lang="zh-CN" altLang="en-US"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0,</m:t>
                          </m:r>
                          <m:r>
                            <a:rPr lang="en-US" altLang="zh-CN" i="1">
                              <a:latin typeface="Cambria Math" panose="02040503050406030204" pitchFamily="18" charset="0"/>
                            </a:rPr>
                            <m:t>𝑖</m:t>
                          </m:r>
                        </m:sub>
                      </m:sSub>
                      <m:sSub>
                        <m:sSubPr>
                          <m:ctrlPr>
                            <a:rPr lang="en-US" altLang="zh-CN" i="1">
                              <a:latin typeface="Cambria Math" panose="02040503050406030204" pitchFamily="18" charset="0"/>
                            </a:rPr>
                          </m:ctrlPr>
                        </m:sSubPr>
                        <m:e>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r>
                                <m:rPr>
                                  <m:sty m:val="p"/>
                                </m:rPr>
                                <a:rPr lang="en-US" altLang="zh-CN" i="1">
                                  <a:latin typeface="Cambria Math" panose="02040503050406030204" pitchFamily="18" charset="0"/>
                                </a:rPr>
                                <m:t>Γ</m:t>
                              </m:r>
                            </m:e>
                          </m:func>
                        </m:e>
                        <m:sub>
                          <m:r>
                            <a:rPr lang="en-US" altLang="zh-CN" i="1">
                              <a:latin typeface="Cambria Math" panose="02040503050406030204" pitchFamily="18" charset="0"/>
                            </a:rPr>
                            <m:t>𝑖</m:t>
                          </m:r>
                        </m:sub>
                      </m:sSub>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2,</m:t>
                          </m:r>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smtClean="0">
                          <a:latin typeface="Cambria Math" panose="02040503050406030204" pitchFamily="18" charset="0"/>
                        </a:rPr>
                        <m:t>0</m:t>
                      </m:r>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0,</m:t>
                          </m:r>
                          <m:r>
                            <a:rPr lang="en-US" altLang="zh-CN" i="1">
                              <a:latin typeface="Cambria Math" panose="02040503050406030204" pitchFamily="18" charset="0"/>
                            </a:rPr>
                            <m:t>𝑖</m:t>
                          </m:r>
                        </m:sub>
                      </m:sSub>
                      <m:sSub>
                        <m:sSubPr>
                          <m:ctrlPr>
                            <a:rPr lang="en-US" altLang="zh-CN" i="1">
                              <a:latin typeface="Cambria Math" panose="02040503050406030204" pitchFamily="18" charset="0"/>
                            </a:rPr>
                          </m:ctrlPr>
                        </m:sSubPr>
                        <m:e>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r>
                                <m:rPr>
                                  <m:sty m:val="p"/>
                                </m:rPr>
                                <a:rPr lang="en-US" altLang="zh-CN" i="1">
                                  <a:latin typeface="Cambria Math" panose="02040503050406030204" pitchFamily="18" charset="0"/>
                                </a:rPr>
                                <m:t>Γ</m:t>
                              </m:r>
                            </m:e>
                          </m:func>
                        </m:e>
                        <m:sub>
                          <m:r>
                            <a:rPr lang="en-US" altLang="zh-CN" i="1">
                              <a:latin typeface="Cambria Math" panose="02040503050406030204" pitchFamily="18" charset="0"/>
                            </a:rPr>
                            <m:t>𝑖</m:t>
                          </m:r>
                        </m:sub>
                      </m:sSub>
                    </m:oMath>
                  </m:oMathPara>
                </a14:m>
                <a:endParaRPr lang="zh-CN" altLang="en-US" dirty="0"/>
              </a:p>
            </p:txBody>
          </p:sp>
        </mc:Choice>
        <mc:Fallback xmlns="">
          <p:sp>
            <p:nvSpPr>
              <p:cNvPr id="17" name="文本框 16">
                <a:extLst>
                  <a:ext uri="{FF2B5EF4-FFF2-40B4-BE49-F238E27FC236}">
                    <a16:creationId xmlns:a16="http://schemas.microsoft.com/office/drawing/2014/main" id="{7591BDD1-0FC6-5FF9-7DBE-53C3A5DBC135}"/>
                  </a:ext>
                </a:extLst>
              </p:cNvPr>
              <p:cNvSpPr txBox="1">
                <a:spLocks noRot="1" noChangeAspect="1" noMove="1" noResize="1" noEditPoints="1" noAdjustHandles="1" noChangeArrowheads="1" noChangeShapeType="1" noTextEdit="1"/>
              </p:cNvSpPr>
              <p:nvPr/>
            </p:nvSpPr>
            <p:spPr>
              <a:xfrm>
                <a:off x="119336" y="5216504"/>
                <a:ext cx="5660972" cy="297389"/>
              </a:xfrm>
              <a:prstGeom prst="rect">
                <a:avLst/>
              </a:prstGeom>
              <a:blipFill>
                <a:blip r:embed="rId6"/>
                <a:stretch>
                  <a:fillRect l="-970" t="-8163" b="-26531"/>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70EF0689-2E9A-3B74-6F5F-5B73756DAD66}"/>
              </a:ext>
            </a:extLst>
          </p:cNvPr>
          <p:cNvSpPr txBox="1"/>
          <p:nvPr/>
        </p:nvSpPr>
        <p:spPr>
          <a:xfrm>
            <a:off x="3143672" y="1700808"/>
            <a:ext cx="680464" cy="288032"/>
          </a:xfrm>
          <a:prstGeom prst="rect">
            <a:avLst/>
          </a:prstGeom>
          <a:noFill/>
        </p:spPr>
        <p:txBody>
          <a:bodyPr wrap="square" rtlCol="0">
            <a:spAutoFit/>
          </a:bodyPr>
          <a:lstStyle/>
          <a:p>
            <a:r>
              <a:rPr lang="zh-CN" altLang="en-US" sz="1200" dirty="0"/>
              <a:t>标准值</a:t>
            </a:r>
          </a:p>
        </p:txBody>
      </p:sp>
      <p:sp>
        <p:nvSpPr>
          <p:cNvPr id="19" name="文本框 18">
            <a:extLst>
              <a:ext uri="{FF2B5EF4-FFF2-40B4-BE49-F238E27FC236}">
                <a16:creationId xmlns:a16="http://schemas.microsoft.com/office/drawing/2014/main" id="{2C89C200-C7CC-993F-43FE-EA60F96BDCE5}"/>
              </a:ext>
            </a:extLst>
          </p:cNvPr>
          <p:cNvSpPr txBox="1"/>
          <p:nvPr/>
        </p:nvSpPr>
        <p:spPr>
          <a:xfrm>
            <a:off x="5375920" y="1700808"/>
            <a:ext cx="680464" cy="288032"/>
          </a:xfrm>
          <a:prstGeom prst="rect">
            <a:avLst/>
          </a:prstGeom>
          <a:noFill/>
        </p:spPr>
        <p:txBody>
          <a:bodyPr wrap="square" rtlCol="0">
            <a:spAutoFit/>
          </a:bodyPr>
          <a:lstStyle/>
          <a:p>
            <a:r>
              <a:rPr lang="zh-CN" altLang="en-US" sz="1200" dirty="0"/>
              <a:t>标准值</a:t>
            </a:r>
          </a:p>
        </p:txBody>
      </p:sp>
      <p:sp>
        <p:nvSpPr>
          <p:cNvPr id="20" name="文本框 19">
            <a:extLst>
              <a:ext uri="{FF2B5EF4-FFF2-40B4-BE49-F238E27FC236}">
                <a16:creationId xmlns:a16="http://schemas.microsoft.com/office/drawing/2014/main" id="{830EADAF-9438-7A7A-FF75-0CB38FAAD2B3}"/>
              </a:ext>
            </a:extLst>
          </p:cNvPr>
          <p:cNvSpPr txBox="1"/>
          <p:nvPr/>
        </p:nvSpPr>
        <p:spPr>
          <a:xfrm>
            <a:off x="911424" y="1700808"/>
            <a:ext cx="680464" cy="288032"/>
          </a:xfrm>
          <a:prstGeom prst="rect">
            <a:avLst/>
          </a:prstGeom>
          <a:noFill/>
        </p:spPr>
        <p:txBody>
          <a:bodyPr wrap="square" rtlCol="0">
            <a:spAutoFit/>
          </a:bodyPr>
          <a:lstStyle/>
          <a:p>
            <a:r>
              <a:rPr lang="zh-CN" altLang="en-US" sz="1200" dirty="0"/>
              <a:t>标准值</a:t>
            </a: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1BE4A1DE-9250-D253-FC01-D0EEE31429EF}"/>
                  </a:ext>
                </a:extLst>
              </p:cNvPr>
              <p:cNvSpPr txBox="1"/>
              <p:nvPr/>
            </p:nvSpPr>
            <p:spPr>
              <a:xfrm>
                <a:off x="1303856" y="4773481"/>
                <a:ext cx="2520280" cy="369332"/>
              </a:xfrm>
              <a:prstGeom prst="rect">
                <a:avLst/>
              </a:prstGeom>
              <a:noFill/>
            </p:spPr>
            <p:txBody>
              <a:bodyPr wrap="square">
                <a:spAutoFit/>
              </a:bodyPr>
              <a:lstStyle/>
              <a:p>
                <a:pPr/>
                <a14:m>
                  <m:oMathPara xmlns:m="http://schemas.openxmlformats.org/officeDocument/2006/math">
                    <m:oMath>
                      <m:sSub>
                        <m:sSubPr>
                          <m:ctrlPr>
                            <a:rPr lang="sv-SE" altLang="zh-CN" sz="1800" i="1">
                              <a:latin typeface="Cambria Math" panose="02040503050406030204" pitchFamily="18" charset="0"/>
                            </a:rPr>
                          </m:ctrlPr>
                        </m:sSubPr>
                        <m:e>
                          <m:r>
                            <m:rPr>
                              <m:sty m:val="p"/>
                            </m:rPr>
                            <a:rPr lang="sv-SE" altLang="zh-CN" sz="1800" i="1">
                              <a:latin typeface="Cambria Math" panose="02040503050406030204" pitchFamily="18" charset="0"/>
                            </a:rPr>
                            <m:t>Γ</m:t>
                          </m:r>
                        </m:e>
                        <m:sub>
                          <m:r>
                            <a:rPr lang="sv-SE" altLang="zh-CN" sz="1800" i="1">
                              <a:latin typeface="Cambria Math" panose="02040503050406030204" pitchFamily="18" charset="0"/>
                            </a:rPr>
                            <m:t>𝑖</m:t>
                          </m:r>
                        </m:sub>
                      </m:sSub>
                      <m:r>
                        <a:rPr lang="sv-SE" altLang="zh-CN" sz="1800" i="1">
                          <a:latin typeface="Cambria Math" panose="02040503050406030204" pitchFamily="18" charset="0"/>
                        </a:rPr>
                        <m:t>=</m:t>
                      </m:r>
                      <m:sSub>
                        <m:sSubPr>
                          <m:ctrlPr>
                            <a:rPr lang="sv-SE" altLang="zh-CN" sz="1800" i="1">
                              <a:latin typeface="Cambria Math" panose="02040503050406030204" pitchFamily="18" charset="0"/>
                            </a:rPr>
                          </m:ctrlPr>
                        </m:sSubPr>
                        <m:e>
                          <m:r>
                            <m:rPr>
                              <m:sty m:val="p"/>
                            </m:rPr>
                            <a:rPr lang="sv-SE" altLang="zh-CN" sz="1800" i="1">
                              <a:latin typeface="Cambria Math" panose="02040503050406030204" pitchFamily="18" charset="0"/>
                            </a:rPr>
                            <m:t>Γ</m:t>
                          </m:r>
                        </m:e>
                        <m:sub>
                          <m:r>
                            <m:rPr>
                              <m:sty m:val="p"/>
                            </m:rPr>
                            <a:rPr lang="sv-SE" altLang="zh-CN" sz="1800" i="1">
                              <a:latin typeface="Cambria Math" panose="02040503050406030204" pitchFamily="18" charset="0"/>
                            </a:rPr>
                            <m:t>max</m:t>
                          </m:r>
                        </m:sub>
                      </m:sSub>
                      <m:sSub>
                        <m:sSubPr>
                          <m:ctrlPr>
                            <a:rPr lang="sv-SE" altLang="zh-CN" sz="1800" i="1">
                              <a:latin typeface="Cambria Math" panose="02040503050406030204" pitchFamily="18" charset="0"/>
                            </a:rPr>
                          </m:ctrlPr>
                        </m:sSubPr>
                        <m:e>
                          <m:r>
                            <a:rPr lang="sv-SE" altLang="zh-CN" sz="1800" i="1">
                              <a:latin typeface="Cambria Math" panose="02040503050406030204" pitchFamily="18" charset="0"/>
                            </a:rPr>
                            <m:t>𝑇</m:t>
                          </m:r>
                        </m:e>
                        <m:sub>
                          <m:r>
                            <a:rPr lang="sv-SE" altLang="zh-CN" sz="1800" i="1">
                              <a:latin typeface="Cambria Math" panose="02040503050406030204" pitchFamily="18" charset="0"/>
                            </a:rPr>
                            <m:t>𝑖</m:t>
                          </m:r>
                        </m:sub>
                      </m:sSub>
                      <m:r>
                        <a:rPr lang="en-US" altLang="zh-CN" sz="1800" b="0" i="1" smtClean="0">
                          <a:latin typeface="Cambria Math" panose="02040503050406030204" pitchFamily="18" charset="0"/>
                        </a:rPr>
                        <m:t>  </m:t>
                      </m:r>
                      <m:sSub>
                        <m:sSubPr>
                          <m:ctrlPr>
                            <a:rPr lang="sv-SE" altLang="zh-CN" sz="1800" i="1">
                              <a:latin typeface="Cambria Math" panose="02040503050406030204" pitchFamily="18" charset="0"/>
                            </a:rPr>
                          </m:ctrlPr>
                        </m:sSubPr>
                        <m:e>
                          <m:r>
                            <m:rPr>
                              <m:sty m:val="p"/>
                            </m:rPr>
                            <a:rPr lang="sv-SE" altLang="zh-CN" sz="1800" i="1">
                              <a:latin typeface="Cambria Math" panose="02040503050406030204" pitchFamily="18" charset="0"/>
                            </a:rPr>
                            <m:t>Γ</m:t>
                          </m:r>
                        </m:e>
                        <m:sub>
                          <m:r>
                            <m:rPr>
                              <m:sty m:val="p"/>
                            </m:rPr>
                            <a:rPr lang="sv-SE" altLang="zh-CN" sz="1800" i="1">
                              <a:latin typeface="Cambria Math" panose="02040503050406030204" pitchFamily="18" charset="0"/>
                            </a:rPr>
                            <m:t>max</m:t>
                          </m:r>
                        </m:sub>
                      </m:sSub>
                      <m:r>
                        <a:rPr lang="sv-SE" altLang="zh-CN" sz="1800" i="1">
                          <a:latin typeface="Cambria Math" panose="02040503050406030204" pitchFamily="18" charset="0"/>
                        </a:rPr>
                        <m:t>=</m:t>
                      </m:r>
                      <m:sSup>
                        <m:sSupPr>
                          <m:ctrlPr>
                            <a:rPr lang="sv-SE" altLang="zh-CN" sz="1800" i="1">
                              <a:latin typeface="Cambria Math" panose="02040503050406030204" pitchFamily="18" charset="0"/>
                            </a:rPr>
                          </m:ctrlPr>
                        </m:sSupPr>
                        <m:e>
                          <m:r>
                            <a:rPr lang="sv-SE" altLang="zh-CN" sz="1800" i="1">
                              <a:latin typeface="Cambria Math" panose="02040503050406030204" pitchFamily="18" charset="0"/>
                            </a:rPr>
                            <m:t>60</m:t>
                          </m:r>
                        </m:e>
                        <m:sup>
                          <m:r>
                            <a:rPr lang="sv-SE" altLang="zh-CN" sz="1800" i="1">
                              <a:latin typeface="Cambria Math" panose="02040503050406030204" pitchFamily="18" charset="0"/>
                            </a:rPr>
                            <m:t>∘</m:t>
                          </m:r>
                        </m:sup>
                      </m:sSup>
                    </m:oMath>
                  </m:oMathPara>
                </a14:m>
                <a:endParaRPr lang="zh-CN" altLang="en-US" sz="1800" dirty="0"/>
              </a:p>
            </p:txBody>
          </p:sp>
        </mc:Choice>
        <mc:Fallback xmlns="">
          <p:sp>
            <p:nvSpPr>
              <p:cNvPr id="22" name="文本框 21">
                <a:extLst>
                  <a:ext uri="{FF2B5EF4-FFF2-40B4-BE49-F238E27FC236}">
                    <a16:creationId xmlns:a16="http://schemas.microsoft.com/office/drawing/2014/main" id="{1BE4A1DE-9250-D253-FC01-D0EEE31429EF}"/>
                  </a:ext>
                </a:extLst>
              </p:cNvPr>
              <p:cNvSpPr txBox="1">
                <a:spLocks noRot="1" noChangeAspect="1" noMove="1" noResize="1" noEditPoints="1" noAdjustHandles="1" noChangeArrowheads="1" noChangeShapeType="1" noTextEdit="1"/>
              </p:cNvSpPr>
              <p:nvPr/>
            </p:nvSpPr>
            <p:spPr>
              <a:xfrm>
                <a:off x="1303856" y="4773481"/>
                <a:ext cx="2520280" cy="369332"/>
              </a:xfrm>
              <a:prstGeom prst="rect">
                <a:avLst/>
              </a:prstGeom>
              <a:blipFill>
                <a:blip r:embed="rId7"/>
                <a:stretch>
                  <a:fillRect/>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BED166D8-0F3C-2B75-95F9-2F4B9D659F3D}"/>
              </a:ext>
            </a:extLst>
          </p:cNvPr>
          <p:cNvSpPr txBox="1"/>
          <p:nvPr/>
        </p:nvSpPr>
        <p:spPr>
          <a:xfrm>
            <a:off x="239712" y="985501"/>
            <a:ext cx="5296322" cy="276999"/>
          </a:xfrm>
          <a:prstGeom prst="rect">
            <a:avLst/>
          </a:prstGeom>
          <a:noFill/>
        </p:spPr>
        <p:txBody>
          <a:bodyPr wrap="none" lIns="0" tIns="0" rIns="0" bIns="0" rtlCol="0">
            <a:spAutoFit/>
          </a:bodyPr>
          <a:lstStyle/>
          <a:p>
            <a:r>
              <a:rPr lang="en-US" altLang="zh-CN" dirty="0"/>
              <a:t>PEM</a:t>
            </a:r>
            <a:r>
              <a:rPr lang="zh-CN" altLang="en-US" dirty="0"/>
              <a:t>前光的斯托克斯参数标准值，单位（</a:t>
            </a:r>
            <a:r>
              <a:rPr lang="en-US" altLang="zh-CN" dirty="0" err="1"/>
              <a:t>nW</a:t>
            </a:r>
            <a:r>
              <a:rPr lang="en-US" altLang="zh-CN" dirty="0"/>
              <a:t>/</a:t>
            </a:r>
            <a:r>
              <a:rPr lang="zh-CN" altLang="en-US" dirty="0"/>
              <a:t>像素）</a:t>
            </a:r>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A3094438-F3D4-7892-81EA-B4377D31A441}"/>
                  </a:ext>
                </a:extLst>
              </p:cNvPr>
              <p:cNvSpPr txBox="1"/>
              <p:nvPr/>
            </p:nvSpPr>
            <p:spPr>
              <a:xfrm>
                <a:off x="119336" y="5556856"/>
                <a:ext cx="6195799" cy="516295"/>
              </a:xfrm>
              <a:prstGeom prst="rect">
                <a:avLst/>
              </a:prstGeom>
              <a:noFill/>
            </p:spPr>
            <p:txBody>
              <a:bodyPr wrap="none" lIns="0" tIns="0" rIns="0" bIns="0" rtlCol="0">
                <a:spAutoFit/>
              </a:bodyPr>
              <a:lstStyle/>
              <a:p>
                <a:r>
                  <a:rPr lang="zh-CN" altLang="en-US" dirty="0"/>
                  <a:t>计算过程</a:t>
                </a:r>
                <a14:m>
                  <m:oMath xmlns:m="http://schemas.openxmlformats.org/officeDocument/2006/math">
                    <m:r>
                      <a:rPr lang="zh-CN" altLang="en-US" i="1">
                        <a:latin typeface="Cambria Math" panose="02040503050406030204" pitchFamily="18" charset="0"/>
                      </a:rPr>
                      <m:t>为</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m:t>
                        </m:r>
                        <m:r>
                          <a:rPr lang="en-US" altLang="zh-CN" i="1">
                            <a:latin typeface="Cambria Math" panose="02040503050406030204" pitchFamily="18" charset="0"/>
                          </a:rPr>
                          <m:t>𝑆</m:t>
                        </m:r>
                      </m:e>
                      <m:sub>
                        <m:r>
                          <a:rPr lang="en-US" altLang="zh-CN" i="1">
                            <a:latin typeface="Cambria Math" panose="02040503050406030204" pitchFamily="18" charset="0"/>
                          </a:rPr>
                          <m:t>0,</m:t>
                        </m:r>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m:rPr>
                            <m:sty m:val="p"/>
                          </m:rPr>
                          <a:rPr lang="en-US" altLang="zh-CN" i="1">
                            <a:latin typeface="Cambria Math" panose="02040503050406030204" pitchFamily="18" charset="0"/>
                          </a:rPr>
                          <m:t>pix</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𝑖</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obj</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a:rPr lang="en-US" altLang="zh-CN" i="1">
                            <a:latin typeface="Cambria Math" panose="02040503050406030204" pitchFamily="18" charset="0"/>
                          </a:rPr>
                          <m:t>𝐿</m:t>
                        </m:r>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a:rPr lang="en-US" altLang="zh-CN" i="1">
                            <a:latin typeface="Cambria Math" panose="02040503050406030204" pitchFamily="18" charset="0"/>
                          </a:rPr>
                          <m:t>𝐿</m:t>
                        </m:r>
                        <m:r>
                          <a:rPr lang="en-US" altLang="zh-CN" i="1">
                            <a:latin typeface="Cambria Math" panose="02040503050406030204" pitchFamily="18" charset="0"/>
                          </a:rPr>
                          <m:t>3</m:t>
                        </m:r>
                      </m:sub>
                    </m:sSub>
                    <m:r>
                      <a:rPr lang="en-US" altLang="zh-CN" i="1">
                        <a:latin typeface="Cambria Math" panose="02040503050406030204" pitchFamily="18" charset="0"/>
                      </a:rPr>
                      <m:t> </m:t>
                    </m:r>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𝑃</m:t>
                        </m:r>
                      </m:e>
                      <m:sub>
                        <m:r>
                          <m:rPr>
                            <m:sty m:val="p"/>
                          </m:rPr>
                          <a:rPr lang="en-US" altLang="zh-CN" i="1" smtClean="0">
                            <a:latin typeface="Cambria Math" panose="02040503050406030204" pitchFamily="18" charset="0"/>
                          </a:rPr>
                          <m:t>pix</m:t>
                        </m:r>
                      </m:sub>
                    </m:sSub>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𝑃</m:t>
                            </m:r>
                          </m:e>
                          <m:sub>
                            <m:r>
                              <m:rPr>
                                <m:sty m:val="p"/>
                              </m:rPr>
                              <a:rPr lang="en-US" altLang="zh-CN" i="1" smtClean="0">
                                <a:latin typeface="Cambria Math" panose="02040503050406030204" pitchFamily="18" charset="0"/>
                              </a:rPr>
                              <m:t>source</m:t>
                            </m:r>
                          </m:sub>
                        </m:sSub>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𝜂</m:t>
                            </m:r>
                          </m:e>
                          <m:sub>
                            <m:r>
                              <m:rPr>
                                <m:sty m:val="p"/>
                              </m:rPr>
                              <a:rPr lang="en-US" altLang="zh-CN" i="1" smtClean="0">
                                <a:latin typeface="Cambria Math" panose="02040503050406030204" pitchFamily="18" charset="0"/>
                              </a:rPr>
                              <m:t>DMD</m:t>
                            </m:r>
                          </m:sub>
                        </m:sSub>
                        <m:d>
                          <m:dPr>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1</m:t>
                                </m:r>
                              </m:num>
                              <m:den>
                                <m:r>
                                  <a:rPr lang="en-US" altLang="zh-CN" i="1" smtClean="0">
                                    <a:latin typeface="Cambria Math" panose="02040503050406030204" pitchFamily="18" charset="0"/>
                                  </a:rPr>
                                  <m:t>2</m:t>
                                </m:r>
                              </m:den>
                            </m:f>
                          </m:e>
                        </m:d>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𝜂</m:t>
                            </m:r>
                          </m:e>
                          <m:sub>
                            <m:r>
                              <a:rPr lang="en-US" altLang="zh-CN" i="1" smtClean="0">
                                <a:latin typeface="Cambria Math" panose="02040503050406030204" pitchFamily="18" charset="0"/>
                              </a:rPr>
                              <m:t>𝑃</m:t>
                            </m:r>
                          </m:sub>
                        </m:sSub>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𝜂</m:t>
                            </m:r>
                          </m:e>
                          <m:sub>
                            <m:r>
                              <a:rPr lang="en-US" altLang="zh-CN" i="1" smtClean="0">
                                <a:latin typeface="Cambria Math" panose="02040503050406030204" pitchFamily="18" charset="0"/>
                              </a:rPr>
                              <m:t>𝐿</m:t>
                            </m:r>
                            <m:r>
                              <a:rPr lang="en-US" altLang="zh-CN" i="1" smtClean="0">
                                <a:latin typeface="Cambria Math" panose="02040503050406030204" pitchFamily="18" charset="0"/>
                              </a:rPr>
                              <m:t>1</m:t>
                            </m:r>
                          </m:sub>
                        </m:sSub>
                      </m:num>
                      <m:den>
                        <m:r>
                          <a:rPr lang="en-US" altLang="zh-CN" i="1" smtClean="0">
                            <a:latin typeface="Cambria Math" panose="02040503050406030204" pitchFamily="18" charset="0"/>
                          </a:rPr>
                          <m:t>𝑁</m:t>
                        </m:r>
                      </m:den>
                    </m:f>
                  </m:oMath>
                </a14:m>
                <a:endParaRPr lang="zh-CN" altLang="en-US" dirty="0"/>
              </a:p>
            </p:txBody>
          </p:sp>
        </mc:Choice>
        <mc:Fallback xmlns="">
          <p:sp>
            <p:nvSpPr>
              <p:cNvPr id="25" name="文本框 24">
                <a:extLst>
                  <a:ext uri="{FF2B5EF4-FFF2-40B4-BE49-F238E27FC236}">
                    <a16:creationId xmlns:a16="http://schemas.microsoft.com/office/drawing/2014/main" id="{A3094438-F3D4-7892-81EA-B4377D31A441}"/>
                  </a:ext>
                </a:extLst>
              </p:cNvPr>
              <p:cNvSpPr txBox="1">
                <a:spLocks noRot="1" noChangeAspect="1" noMove="1" noResize="1" noEditPoints="1" noAdjustHandles="1" noChangeArrowheads="1" noChangeShapeType="1" noTextEdit="1"/>
              </p:cNvSpPr>
              <p:nvPr/>
            </p:nvSpPr>
            <p:spPr>
              <a:xfrm>
                <a:off x="119336" y="5556856"/>
                <a:ext cx="6195799" cy="516295"/>
              </a:xfrm>
              <a:prstGeom prst="rect">
                <a:avLst/>
              </a:prstGeom>
              <a:blipFill>
                <a:blip r:embed="rId8"/>
                <a:stretch>
                  <a:fillRect l="-2362" b="-15476"/>
                </a:stretch>
              </a:blipFill>
            </p:spPr>
            <p:txBody>
              <a:bodyPr/>
              <a:lstStyle/>
              <a:p>
                <a:r>
                  <a:rPr lang="zh-CN" altLang="en-US">
                    <a:noFill/>
                  </a:rPr>
                  <a:t> </a:t>
                </a:r>
              </a:p>
            </p:txBody>
          </p:sp>
        </mc:Fallback>
      </mc:AlternateContent>
      <p:pic>
        <p:nvPicPr>
          <p:cNvPr id="29" name="图片 28">
            <a:extLst>
              <a:ext uri="{FF2B5EF4-FFF2-40B4-BE49-F238E27FC236}">
                <a16:creationId xmlns:a16="http://schemas.microsoft.com/office/drawing/2014/main" id="{BC16B821-5C2E-3F37-FA3E-58AD9312298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392144" y="1262499"/>
            <a:ext cx="4799856" cy="2495925"/>
          </a:xfrm>
          <a:prstGeom prst="rect">
            <a:avLst/>
          </a:prstGeom>
        </p:spPr>
      </p:pic>
      <p:sp>
        <p:nvSpPr>
          <p:cNvPr id="30" name="文本框 29">
            <a:extLst>
              <a:ext uri="{FF2B5EF4-FFF2-40B4-BE49-F238E27FC236}">
                <a16:creationId xmlns:a16="http://schemas.microsoft.com/office/drawing/2014/main" id="{B5B8C585-A28E-0F90-40CE-0BF274FDF37E}"/>
              </a:ext>
            </a:extLst>
          </p:cNvPr>
          <p:cNvSpPr txBox="1"/>
          <p:nvPr/>
        </p:nvSpPr>
        <p:spPr>
          <a:xfrm>
            <a:off x="8400256" y="949305"/>
            <a:ext cx="3000821" cy="276999"/>
          </a:xfrm>
          <a:prstGeom prst="rect">
            <a:avLst/>
          </a:prstGeom>
          <a:noFill/>
        </p:spPr>
        <p:txBody>
          <a:bodyPr wrap="none" lIns="0" tIns="0" rIns="0" bIns="0" rtlCol="0">
            <a:spAutoFit/>
          </a:bodyPr>
          <a:lstStyle/>
          <a:p>
            <a:r>
              <a:rPr lang="zh-CN" altLang="en-US" dirty="0"/>
              <a:t>采集到的理想信号的大致形状</a:t>
            </a:r>
          </a:p>
        </p:txBody>
      </p:sp>
      <p:pic>
        <p:nvPicPr>
          <p:cNvPr id="32" name="图片 31">
            <a:extLst>
              <a:ext uri="{FF2B5EF4-FFF2-40B4-BE49-F238E27FC236}">
                <a16:creationId xmlns:a16="http://schemas.microsoft.com/office/drawing/2014/main" id="{91E3A921-0A5B-797C-1FFB-DDD1C54E6A8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392144" y="4070187"/>
            <a:ext cx="4799856" cy="2495925"/>
          </a:xfrm>
          <a:prstGeom prst="rect">
            <a:avLst/>
          </a:prstGeom>
        </p:spPr>
      </p:pic>
      <p:sp>
        <p:nvSpPr>
          <p:cNvPr id="33" name="文本框 32">
            <a:extLst>
              <a:ext uri="{FF2B5EF4-FFF2-40B4-BE49-F238E27FC236}">
                <a16:creationId xmlns:a16="http://schemas.microsoft.com/office/drawing/2014/main" id="{CE461B37-4332-E41A-DC99-AF2C2E05C48E}"/>
              </a:ext>
            </a:extLst>
          </p:cNvPr>
          <p:cNvSpPr txBox="1"/>
          <p:nvPr/>
        </p:nvSpPr>
        <p:spPr>
          <a:xfrm>
            <a:off x="8400256" y="3750506"/>
            <a:ext cx="2539157" cy="276999"/>
          </a:xfrm>
          <a:prstGeom prst="rect">
            <a:avLst/>
          </a:prstGeom>
          <a:noFill/>
        </p:spPr>
        <p:txBody>
          <a:bodyPr wrap="none" lIns="0" tIns="0" rIns="0" bIns="0" rtlCol="0">
            <a:spAutoFit/>
          </a:bodyPr>
          <a:lstStyle/>
          <a:p>
            <a:r>
              <a:rPr lang="zh-CN" altLang="en-US" dirty="0"/>
              <a:t>采集到的理想信号的频谱</a:t>
            </a:r>
          </a:p>
        </p:txBody>
      </p:sp>
      <p:sp>
        <p:nvSpPr>
          <p:cNvPr id="34" name="文本框 33">
            <a:extLst>
              <a:ext uri="{FF2B5EF4-FFF2-40B4-BE49-F238E27FC236}">
                <a16:creationId xmlns:a16="http://schemas.microsoft.com/office/drawing/2014/main" id="{FDE73D4C-156D-1C75-984C-FEADCE9047A0}"/>
              </a:ext>
            </a:extLst>
          </p:cNvPr>
          <p:cNvSpPr txBox="1"/>
          <p:nvPr/>
        </p:nvSpPr>
        <p:spPr>
          <a:xfrm>
            <a:off x="8577501" y="6232945"/>
            <a:ext cx="542835" cy="215444"/>
          </a:xfrm>
          <a:prstGeom prst="rect">
            <a:avLst/>
          </a:prstGeom>
          <a:noFill/>
        </p:spPr>
        <p:txBody>
          <a:bodyPr wrap="square" rtlCol="0">
            <a:spAutoFit/>
          </a:bodyPr>
          <a:lstStyle/>
          <a:p>
            <a:r>
              <a:rPr lang="en-US" altLang="zh-CN" sz="800" dirty="0"/>
              <a:t>50KHz</a:t>
            </a:r>
            <a:endParaRPr lang="zh-CN" altLang="en-US" sz="800" dirty="0"/>
          </a:p>
        </p:txBody>
      </p:sp>
      <p:sp>
        <p:nvSpPr>
          <p:cNvPr id="36" name="文本框 35">
            <a:extLst>
              <a:ext uri="{FF2B5EF4-FFF2-40B4-BE49-F238E27FC236}">
                <a16:creationId xmlns:a16="http://schemas.microsoft.com/office/drawing/2014/main" id="{DEBF9AAA-734F-EF3C-9F44-FCDCBB598C54}"/>
              </a:ext>
            </a:extLst>
          </p:cNvPr>
          <p:cNvSpPr txBox="1"/>
          <p:nvPr/>
        </p:nvSpPr>
        <p:spPr>
          <a:xfrm>
            <a:off x="9661568" y="6232945"/>
            <a:ext cx="629677" cy="215444"/>
          </a:xfrm>
          <a:prstGeom prst="rect">
            <a:avLst/>
          </a:prstGeom>
          <a:noFill/>
        </p:spPr>
        <p:txBody>
          <a:bodyPr wrap="square" rtlCol="0">
            <a:spAutoFit/>
          </a:bodyPr>
          <a:lstStyle/>
          <a:p>
            <a:r>
              <a:rPr lang="en-US" altLang="zh-CN" sz="800" dirty="0"/>
              <a:t>100KHz</a:t>
            </a:r>
            <a:endParaRPr lang="zh-CN" altLang="en-US" sz="800" dirty="0"/>
          </a:p>
        </p:txBody>
      </p:sp>
      <p:sp>
        <p:nvSpPr>
          <p:cNvPr id="37" name="文本框 36">
            <a:extLst>
              <a:ext uri="{FF2B5EF4-FFF2-40B4-BE49-F238E27FC236}">
                <a16:creationId xmlns:a16="http://schemas.microsoft.com/office/drawing/2014/main" id="{AA28F61A-76EE-3193-F9C6-18012004762C}"/>
              </a:ext>
            </a:extLst>
          </p:cNvPr>
          <p:cNvSpPr txBox="1"/>
          <p:nvPr/>
        </p:nvSpPr>
        <p:spPr>
          <a:xfrm>
            <a:off x="10722907" y="6232945"/>
            <a:ext cx="629677" cy="215444"/>
          </a:xfrm>
          <a:prstGeom prst="rect">
            <a:avLst/>
          </a:prstGeom>
          <a:noFill/>
        </p:spPr>
        <p:txBody>
          <a:bodyPr wrap="square" rtlCol="0">
            <a:spAutoFit/>
          </a:bodyPr>
          <a:lstStyle/>
          <a:p>
            <a:r>
              <a:rPr lang="en-US" altLang="zh-CN" sz="800" dirty="0"/>
              <a:t>150KHz</a:t>
            </a:r>
            <a:endParaRPr lang="zh-CN" altLang="en-US" sz="800" dirty="0"/>
          </a:p>
        </p:txBody>
      </p:sp>
      <p:pic>
        <p:nvPicPr>
          <p:cNvPr id="39" name="图片 38">
            <a:extLst>
              <a:ext uri="{FF2B5EF4-FFF2-40B4-BE49-F238E27FC236}">
                <a16:creationId xmlns:a16="http://schemas.microsoft.com/office/drawing/2014/main" id="{1996FAFF-7EBA-15B2-16B7-C65103C64E78}"/>
              </a:ext>
            </a:extLst>
          </p:cNvPr>
          <p:cNvPicPr>
            <a:picLocks noChangeAspect="1"/>
          </p:cNvPicPr>
          <p:nvPr/>
        </p:nvPicPr>
        <p:blipFill>
          <a:blip r:embed="rId11"/>
          <a:stretch>
            <a:fillRect/>
          </a:stretch>
        </p:blipFill>
        <p:spPr>
          <a:xfrm>
            <a:off x="10751772" y="4065025"/>
            <a:ext cx="1412162" cy="879391"/>
          </a:xfrm>
          <a:prstGeom prst="rect">
            <a:avLst/>
          </a:prstGeom>
        </p:spPr>
      </p:pic>
      <p:sp>
        <p:nvSpPr>
          <p:cNvPr id="40" name="文本框 39">
            <a:extLst>
              <a:ext uri="{FF2B5EF4-FFF2-40B4-BE49-F238E27FC236}">
                <a16:creationId xmlns:a16="http://schemas.microsoft.com/office/drawing/2014/main" id="{AC079811-69EF-465D-A91F-188CAEB75CCD}"/>
              </a:ext>
            </a:extLst>
          </p:cNvPr>
          <p:cNvSpPr txBox="1"/>
          <p:nvPr/>
        </p:nvSpPr>
        <p:spPr>
          <a:xfrm>
            <a:off x="10999429" y="4839543"/>
            <a:ext cx="968496" cy="369332"/>
          </a:xfrm>
          <a:prstGeom prst="rect">
            <a:avLst/>
          </a:prstGeom>
          <a:noFill/>
        </p:spPr>
        <p:txBody>
          <a:bodyPr wrap="square" rtlCol="0">
            <a:spAutoFit/>
          </a:bodyPr>
          <a:lstStyle/>
          <a:p>
            <a:r>
              <a:rPr lang="en-US" altLang="zh-CN" dirty="0"/>
              <a:t>……….</a:t>
            </a:r>
            <a:endParaRPr lang="zh-CN" altLang="en-US" dirty="0"/>
          </a:p>
        </p:txBody>
      </p:sp>
    </p:spTree>
    <p:extLst>
      <p:ext uri="{BB962C8B-B14F-4D97-AF65-F5344CB8AC3E}">
        <p14:creationId xmlns:p14="http://schemas.microsoft.com/office/powerpoint/2010/main" val="2628485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F6229D0-8396-48F0-640C-E439688F33DF}"/>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1F4BA3DA-DE11-CD00-7FFD-3EB0D4EDE938}"/>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A5F16376-1E2E-9AC2-0659-9C50CCA59DD6}"/>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A2EABB83-B488-2BEA-2D77-792C0625C94C}"/>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3724A5E2-2BA7-D3B7-6948-1B8524EB5E41}"/>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仿真中的关键图片</a:t>
            </a:r>
          </a:p>
        </p:txBody>
      </p:sp>
      <p:sp>
        <p:nvSpPr>
          <p:cNvPr id="14" name="文本框 13">
            <a:extLst>
              <a:ext uri="{FF2B5EF4-FFF2-40B4-BE49-F238E27FC236}">
                <a16:creationId xmlns:a16="http://schemas.microsoft.com/office/drawing/2014/main" id="{9B433A18-FF6D-F543-D1E1-58AFEDCFA81D}"/>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仿真结果</a:t>
            </a:r>
            <a:endParaRPr lang="en-US" altLang="zh-CN" sz="3600" b="1" dirty="0">
              <a:solidFill>
                <a:srgbClr val="3467AB"/>
              </a:solidFill>
            </a:endParaRPr>
          </a:p>
        </p:txBody>
      </p:sp>
      <p:sp>
        <p:nvSpPr>
          <p:cNvPr id="2" name="文本框 1">
            <a:extLst>
              <a:ext uri="{FF2B5EF4-FFF2-40B4-BE49-F238E27FC236}">
                <a16:creationId xmlns:a16="http://schemas.microsoft.com/office/drawing/2014/main" id="{BDB52222-60F4-D125-6AA1-6231D53C4D69}"/>
              </a:ext>
            </a:extLst>
          </p:cNvPr>
          <p:cNvSpPr txBox="1"/>
          <p:nvPr/>
        </p:nvSpPr>
        <p:spPr>
          <a:xfrm>
            <a:off x="11501887" y="6488668"/>
            <a:ext cx="690113" cy="369332"/>
          </a:xfrm>
          <a:prstGeom prst="rect">
            <a:avLst/>
          </a:prstGeom>
          <a:noFill/>
        </p:spPr>
        <p:txBody>
          <a:bodyPr wrap="square" rtlCol="0">
            <a:spAutoFit/>
          </a:bodyPr>
          <a:lstStyle/>
          <a:p>
            <a:r>
              <a:rPr lang="zh-CN" altLang="en-US" dirty="0">
                <a:solidFill>
                  <a:srgbClr val="0070C0"/>
                </a:solidFill>
                <a:hlinkClick r:id="rId3" action="ppaction://hlinksldjump">
                  <a:extLst>
                    <a:ext uri="{A12FA001-AC4F-418D-AE19-62706E023703}">
                      <ahyp:hlinkClr xmlns:ahyp="http://schemas.microsoft.com/office/drawing/2018/hyperlinkcolor" val="tx"/>
                    </a:ext>
                  </a:extLst>
                </a:hlinkClick>
              </a:rPr>
              <a:t>返回</a:t>
            </a:r>
            <a:endParaRPr lang="zh-CN" altLang="en-US" dirty="0">
              <a:solidFill>
                <a:srgbClr val="0070C0"/>
              </a:solidFill>
            </a:endParaRPr>
          </a:p>
        </p:txBody>
      </p:sp>
      <p:pic>
        <p:nvPicPr>
          <p:cNvPr id="4" name="图片 3">
            <a:extLst>
              <a:ext uri="{FF2B5EF4-FFF2-40B4-BE49-F238E27FC236}">
                <a16:creationId xmlns:a16="http://schemas.microsoft.com/office/drawing/2014/main" id="{8DE9BF35-B92C-CC7A-62A6-841AA91252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97" y="1325758"/>
            <a:ext cx="5842798" cy="3159188"/>
          </a:xfrm>
          <a:prstGeom prst="rect">
            <a:avLst/>
          </a:prstGeom>
        </p:spPr>
      </p:pic>
      <p:pic>
        <p:nvPicPr>
          <p:cNvPr id="7" name="图片 6">
            <a:extLst>
              <a:ext uri="{FF2B5EF4-FFF2-40B4-BE49-F238E27FC236}">
                <a16:creationId xmlns:a16="http://schemas.microsoft.com/office/drawing/2014/main" id="{9169F2B8-54D3-8CBD-13D0-93E8445E46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0706" y="0"/>
            <a:ext cx="5451294" cy="6488668"/>
          </a:xfrm>
          <a:prstGeom prst="rect">
            <a:avLst/>
          </a:prstGeom>
        </p:spPr>
      </p:pic>
      <p:sp>
        <p:nvSpPr>
          <p:cNvPr id="12" name="文本框 11">
            <a:extLst>
              <a:ext uri="{FF2B5EF4-FFF2-40B4-BE49-F238E27FC236}">
                <a16:creationId xmlns:a16="http://schemas.microsoft.com/office/drawing/2014/main" id="{3DC9C284-2443-5DB5-3632-D45C5FA41A1D}"/>
              </a:ext>
            </a:extLst>
          </p:cNvPr>
          <p:cNvSpPr txBox="1"/>
          <p:nvPr/>
        </p:nvSpPr>
        <p:spPr>
          <a:xfrm>
            <a:off x="1759569" y="940864"/>
            <a:ext cx="2377254" cy="276999"/>
          </a:xfrm>
          <a:prstGeom prst="rect">
            <a:avLst/>
          </a:prstGeom>
          <a:noFill/>
        </p:spPr>
        <p:txBody>
          <a:bodyPr wrap="none" lIns="0" tIns="0" rIns="0" bIns="0" rtlCol="0">
            <a:spAutoFit/>
          </a:bodyPr>
          <a:lstStyle/>
          <a:p>
            <a:r>
              <a:rPr lang="zh-CN" altLang="en-US" dirty="0"/>
              <a:t>重构图像的透射率对比</a:t>
            </a:r>
          </a:p>
        </p:txBody>
      </p:sp>
      <p:sp>
        <p:nvSpPr>
          <p:cNvPr id="15" name="文本框 14">
            <a:extLst>
              <a:ext uri="{FF2B5EF4-FFF2-40B4-BE49-F238E27FC236}">
                <a16:creationId xmlns:a16="http://schemas.microsoft.com/office/drawing/2014/main" id="{64ABA98D-5511-26D0-5763-32571201A0AA}"/>
              </a:ext>
            </a:extLst>
          </p:cNvPr>
          <p:cNvSpPr txBox="1"/>
          <p:nvPr/>
        </p:nvSpPr>
        <p:spPr>
          <a:xfrm>
            <a:off x="458725" y="4696993"/>
            <a:ext cx="4937249" cy="276999"/>
          </a:xfrm>
          <a:prstGeom prst="rect">
            <a:avLst/>
          </a:prstGeom>
          <a:noFill/>
        </p:spPr>
        <p:txBody>
          <a:bodyPr wrap="none" lIns="0" tIns="0" rIns="0" bIns="0" rtlCol="0">
            <a:spAutoFit/>
          </a:bodyPr>
          <a:lstStyle/>
          <a:p>
            <a:r>
              <a:rPr lang="zh-CN" altLang="en-US" dirty="0"/>
              <a:t>重构图像与原图像透射率的最大差值仅为</a:t>
            </a:r>
            <a:r>
              <a:rPr lang="en-US" altLang="zh-CN" dirty="0"/>
              <a:t>6.024%</a:t>
            </a:r>
            <a:endParaRPr lang="zh-CN" altLang="en-US" dirty="0"/>
          </a:p>
        </p:txBody>
      </p:sp>
      <p:sp>
        <p:nvSpPr>
          <p:cNvPr id="17" name="文本框 16">
            <a:extLst>
              <a:ext uri="{FF2B5EF4-FFF2-40B4-BE49-F238E27FC236}">
                <a16:creationId xmlns:a16="http://schemas.microsoft.com/office/drawing/2014/main" id="{BA1625A8-D1A1-3B21-5BEB-0FD2D4AD409F}"/>
              </a:ext>
            </a:extLst>
          </p:cNvPr>
          <p:cNvSpPr txBox="1"/>
          <p:nvPr/>
        </p:nvSpPr>
        <p:spPr>
          <a:xfrm>
            <a:off x="4512023" y="1556792"/>
            <a:ext cx="769441" cy="184666"/>
          </a:xfrm>
          <a:prstGeom prst="rect">
            <a:avLst/>
          </a:prstGeom>
          <a:noFill/>
        </p:spPr>
        <p:txBody>
          <a:bodyPr wrap="none" lIns="0" tIns="0" rIns="0" bIns="0" rtlCol="0">
            <a:spAutoFit/>
          </a:bodyPr>
          <a:lstStyle/>
          <a:p>
            <a:r>
              <a:rPr lang="zh-CN" altLang="en-US" sz="1200" dirty="0"/>
              <a:t>归一化误差</a:t>
            </a:r>
          </a:p>
        </p:txBody>
      </p:sp>
      <mc:AlternateContent xmlns:mc="http://schemas.openxmlformats.org/markup-compatibility/2006" xmlns:p14="http://schemas.microsoft.com/office/powerpoint/2010/main">
        <mc:Choice Requires="p14">
          <p:contentPart p14:bwMode="auto" r:id="rId6">
            <p14:nvContentPartPr>
              <p14:cNvPr id="20" name="墨迹 19">
                <a:extLst>
                  <a:ext uri="{FF2B5EF4-FFF2-40B4-BE49-F238E27FC236}">
                    <a16:creationId xmlns:a16="http://schemas.microsoft.com/office/drawing/2014/main" id="{24BA9917-4212-E0DB-C52E-2B31044ECBCC}"/>
                  </a:ext>
                </a:extLst>
              </p14:cNvPr>
              <p14:cNvContentPartPr/>
              <p14:nvPr/>
            </p14:nvContentPartPr>
            <p14:xfrm>
              <a:off x="10316793" y="1740327"/>
              <a:ext cx="794160" cy="360"/>
            </p14:xfrm>
          </p:contentPart>
        </mc:Choice>
        <mc:Fallback xmlns="">
          <p:pic>
            <p:nvPicPr>
              <p:cNvPr id="20" name="墨迹 19">
                <a:extLst>
                  <a:ext uri="{FF2B5EF4-FFF2-40B4-BE49-F238E27FC236}">
                    <a16:creationId xmlns:a16="http://schemas.microsoft.com/office/drawing/2014/main" id="{24BA9917-4212-E0DB-C52E-2B31044ECBCC}"/>
                  </a:ext>
                </a:extLst>
              </p:cNvPr>
              <p:cNvPicPr/>
              <p:nvPr/>
            </p:nvPicPr>
            <p:blipFill>
              <a:blip r:embed="rId7"/>
              <a:stretch>
                <a:fillRect/>
              </a:stretch>
            </p:blipFill>
            <p:spPr>
              <a:xfrm>
                <a:off x="10310673" y="1734207"/>
                <a:ext cx="8064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墨迹 20">
                <a:extLst>
                  <a:ext uri="{FF2B5EF4-FFF2-40B4-BE49-F238E27FC236}">
                    <a16:creationId xmlns:a16="http://schemas.microsoft.com/office/drawing/2014/main" id="{AB365C44-216E-E388-3263-5072E66D4884}"/>
                  </a:ext>
                </a:extLst>
              </p14:cNvPr>
              <p14:cNvContentPartPr/>
              <p14:nvPr/>
            </p14:nvContentPartPr>
            <p14:xfrm>
              <a:off x="10354593" y="1387167"/>
              <a:ext cx="1021320" cy="360"/>
            </p14:xfrm>
          </p:contentPart>
        </mc:Choice>
        <mc:Fallback xmlns="">
          <p:pic>
            <p:nvPicPr>
              <p:cNvPr id="21" name="墨迹 20">
                <a:extLst>
                  <a:ext uri="{FF2B5EF4-FFF2-40B4-BE49-F238E27FC236}">
                    <a16:creationId xmlns:a16="http://schemas.microsoft.com/office/drawing/2014/main" id="{AB365C44-216E-E388-3263-5072E66D4884}"/>
                  </a:ext>
                </a:extLst>
              </p:cNvPr>
              <p:cNvPicPr/>
              <p:nvPr/>
            </p:nvPicPr>
            <p:blipFill>
              <a:blip r:embed="rId9"/>
              <a:stretch>
                <a:fillRect/>
              </a:stretch>
            </p:blipFill>
            <p:spPr>
              <a:xfrm>
                <a:off x="10348473" y="1381047"/>
                <a:ext cx="10335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墨迹 21">
                <a:extLst>
                  <a:ext uri="{FF2B5EF4-FFF2-40B4-BE49-F238E27FC236}">
                    <a16:creationId xmlns:a16="http://schemas.microsoft.com/office/drawing/2014/main" id="{9BCBBF7E-845C-4EE3-64B5-FB32C13063BF}"/>
                  </a:ext>
                </a:extLst>
              </p14:cNvPr>
              <p14:cNvContentPartPr/>
              <p14:nvPr/>
            </p14:nvContentPartPr>
            <p14:xfrm>
              <a:off x="10367193" y="3341967"/>
              <a:ext cx="990000" cy="360"/>
            </p14:xfrm>
          </p:contentPart>
        </mc:Choice>
        <mc:Fallback xmlns="">
          <p:pic>
            <p:nvPicPr>
              <p:cNvPr id="22" name="墨迹 21">
                <a:extLst>
                  <a:ext uri="{FF2B5EF4-FFF2-40B4-BE49-F238E27FC236}">
                    <a16:creationId xmlns:a16="http://schemas.microsoft.com/office/drawing/2014/main" id="{9BCBBF7E-845C-4EE3-64B5-FB32C13063BF}"/>
                  </a:ext>
                </a:extLst>
              </p:cNvPr>
              <p:cNvPicPr/>
              <p:nvPr/>
            </p:nvPicPr>
            <p:blipFill>
              <a:blip r:embed="rId11"/>
              <a:stretch>
                <a:fillRect/>
              </a:stretch>
            </p:blipFill>
            <p:spPr>
              <a:xfrm>
                <a:off x="10361073" y="3335847"/>
                <a:ext cx="10022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墨迹 22">
                <a:extLst>
                  <a:ext uri="{FF2B5EF4-FFF2-40B4-BE49-F238E27FC236}">
                    <a16:creationId xmlns:a16="http://schemas.microsoft.com/office/drawing/2014/main" id="{8C607A17-3C12-CC55-7D66-B85DE3C74644}"/>
                  </a:ext>
                </a:extLst>
              </p14:cNvPr>
              <p14:cNvContentPartPr/>
              <p14:nvPr/>
            </p14:nvContentPartPr>
            <p14:xfrm>
              <a:off x="10386273" y="3695127"/>
              <a:ext cx="630000" cy="360"/>
            </p14:xfrm>
          </p:contentPart>
        </mc:Choice>
        <mc:Fallback xmlns="">
          <p:pic>
            <p:nvPicPr>
              <p:cNvPr id="23" name="墨迹 22">
                <a:extLst>
                  <a:ext uri="{FF2B5EF4-FFF2-40B4-BE49-F238E27FC236}">
                    <a16:creationId xmlns:a16="http://schemas.microsoft.com/office/drawing/2014/main" id="{8C607A17-3C12-CC55-7D66-B85DE3C74644}"/>
                  </a:ext>
                </a:extLst>
              </p:cNvPr>
              <p:cNvPicPr/>
              <p:nvPr/>
            </p:nvPicPr>
            <p:blipFill>
              <a:blip r:embed="rId13"/>
              <a:stretch>
                <a:fillRect/>
              </a:stretch>
            </p:blipFill>
            <p:spPr>
              <a:xfrm>
                <a:off x="10380153" y="3689007"/>
                <a:ext cx="6422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墨迹 23">
                <a:extLst>
                  <a:ext uri="{FF2B5EF4-FFF2-40B4-BE49-F238E27FC236}">
                    <a16:creationId xmlns:a16="http://schemas.microsoft.com/office/drawing/2014/main" id="{F5B6310A-06C7-86E2-8B0A-F092F2ED868F}"/>
                  </a:ext>
                </a:extLst>
              </p14:cNvPr>
              <p14:cNvContentPartPr/>
              <p14:nvPr/>
            </p14:nvContentPartPr>
            <p14:xfrm>
              <a:off x="10386273" y="5675487"/>
              <a:ext cx="686880" cy="360"/>
            </p14:xfrm>
          </p:contentPart>
        </mc:Choice>
        <mc:Fallback xmlns="">
          <p:pic>
            <p:nvPicPr>
              <p:cNvPr id="24" name="墨迹 23">
                <a:extLst>
                  <a:ext uri="{FF2B5EF4-FFF2-40B4-BE49-F238E27FC236}">
                    <a16:creationId xmlns:a16="http://schemas.microsoft.com/office/drawing/2014/main" id="{F5B6310A-06C7-86E2-8B0A-F092F2ED868F}"/>
                  </a:ext>
                </a:extLst>
              </p:cNvPr>
              <p:cNvPicPr/>
              <p:nvPr/>
            </p:nvPicPr>
            <p:blipFill>
              <a:blip r:embed="rId15"/>
              <a:stretch>
                <a:fillRect/>
              </a:stretch>
            </p:blipFill>
            <p:spPr>
              <a:xfrm>
                <a:off x="10380153" y="5669367"/>
                <a:ext cx="6991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墨迹 24">
                <a:extLst>
                  <a:ext uri="{FF2B5EF4-FFF2-40B4-BE49-F238E27FC236}">
                    <a16:creationId xmlns:a16="http://schemas.microsoft.com/office/drawing/2014/main" id="{07E73AE3-58D4-C7B2-207C-D77E018A17A1}"/>
                  </a:ext>
                </a:extLst>
              </p14:cNvPr>
              <p14:cNvContentPartPr/>
              <p14:nvPr/>
            </p14:nvContentPartPr>
            <p14:xfrm>
              <a:off x="10373673" y="5297127"/>
              <a:ext cx="920520" cy="360"/>
            </p14:xfrm>
          </p:contentPart>
        </mc:Choice>
        <mc:Fallback xmlns="">
          <p:pic>
            <p:nvPicPr>
              <p:cNvPr id="25" name="墨迹 24">
                <a:extLst>
                  <a:ext uri="{FF2B5EF4-FFF2-40B4-BE49-F238E27FC236}">
                    <a16:creationId xmlns:a16="http://schemas.microsoft.com/office/drawing/2014/main" id="{07E73AE3-58D4-C7B2-207C-D77E018A17A1}"/>
                  </a:ext>
                </a:extLst>
              </p:cNvPr>
              <p:cNvPicPr/>
              <p:nvPr/>
            </p:nvPicPr>
            <p:blipFill>
              <a:blip r:embed="rId17"/>
              <a:stretch>
                <a:fillRect/>
              </a:stretch>
            </p:blipFill>
            <p:spPr>
              <a:xfrm>
                <a:off x="10367553" y="5291007"/>
                <a:ext cx="932760" cy="12600"/>
              </a:xfrm>
              <a:prstGeom prst="rect">
                <a:avLst/>
              </a:prstGeom>
            </p:spPr>
          </p:pic>
        </mc:Fallback>
      </mc:AlternateContent>
      <p:sp>
        <p:nvSpPr>
          <p:cNvPr id="26" name="文本框 25">
            <a:extLst>
              <a:ext uri="{FF2B5EF4-FFF2-40B4-BE49-F238E27FC236}">
                <a16:creationId xmlns:a16="http://schemas.microsoft.com/office/drawing/2014/main" id="{1776AB78-5797-62D7-A21B-2E9D1D5AD996}"/>
              </a:ext>
            </a:extLst>
          </p:cNvPr>
          <p:cNvSpPr txBox="1"/>
          <p:nvPr/>
        </p:nvSpPr>
        <p:spPr>
          <a:xfrm>
            <a:off x="5366366" y="5877272"/>
            <a:ext cx="1357572" cy="369332"/>
          </a:xfrm>
          <a:prstGeom prst="rect">
            <a:avLst/>
          </a:prstGeom>
          <a:noFill/>
        </p:spPr>
        <p:txBody>
          <a:bodyPr wrap="square" rtlCol="0">
            <a:spAutoFit/>
          </a:bodyPr>
          <a:lstStyle/>
          <a:p>
            <a:r>
              <a:rPr lang="zh-CN" altLang="en-US" dirty="0">
                <a:solidFill>
                  <a:srgbClr val="0070C0"/>
                </a:solidFill>
                <a:hlinkClick r:id="rId18" action="ppaction://hlinksldjump">
                  <a:extLst>
                    <a:ext uri="{A12FA001-AC4F-418D-AE19-62706E023703}">
                      <ahyp:hlinkClr xmlns:ahyp="http://schemas.microsoft.com/office/drawing/2018/hyperlinkcolor" val="tx"/>
                    </a:ext>
                  </a:extLst>
                </a:hlinkClick>
              </a:rPr>
              <a:t>各指标详解</a:t>
            </a:r>
            <a:endParaRPr lang="zh-CN" altLang="en-US" dirty="0">
              <a:solidFill>
                <a:srgbClr val="0070C0"/>
              </a:solidFill>
            </a:endParaRPr>
          </a:p>
        </p:txBody>
      </p:sp>
    </p:spTree>
    <p:extLst>
      <p:ext uri="{BB962C8B-B14F-4D97-AF65-F5344CB8AC3E}">
        <p14:creationId xmlns:p14="http://schemas.microsoft.com/office/powerpoint/2010/main" val="2524878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DFF3A00-6241-CB69-E0DC-45BF4D8FB8B7}"/>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9ED0B852-C110-AEF8-F194-B1321AF4EC9D}"/>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3745F0A6-DE47-789F-8477-59FF88FFD0AA}"/>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46D2BEDD-F493-8DBC-A3EF-379836F62FE7}"/>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309D4A93-9CFC-6A62-0EFF-8B8C0FAB7023}"/>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仿真中的一些处理</a:t>
            </a:r>
          </a:p>
        </p:txBody>
      </p:sp>
      <p:sp>
        <p:nvSpPr>
          <p:cNvPr id="14" name="文本框 13">
            <a:extLst>
              <a:ext uri="{FF2B5EF4-FFF2-40B4-BE49-F238E27FC236}">
                <a16:creationId xmlns:a16="http://schemas.microsoft.com/office/drawing/2014/main" id="{C2C4C416-0857-7B32-C860-09EB384650CA}"/>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仿真</a:t>
            </a:r>
            <a:endParaRPr lang="en-US" altLang="zh-CN" sz="3600" b="1" dirty="0">
              <a:solidFill>
                <a:srgbClr val="3467AB"/>
              </a:solidFill>
            </a:endParaRPr>
          </a:p>
        </p:txBody>
      </p:sp>
      <p:sp>
        <p:nvSpPr>
          <p:cNvPr id="5" name="文本框 4">
            <a:extLst>
              <a:ext uri="{FF2B5EF4-FFF2-40B4-BE49-F238E27FC236}">
                <a16:creationId xmlns:a16="http://schemas.microsoft.com/office/drawing/2014/main" id="{FEDE287E-A315-0645-56DC-5F51B87657F0}"/>
              </a:ext>
            </a:extLst>
          </p:cNvPr>
          <p:cNvSpPr txBox="1"/>
          <p:nvPr/>
        </p:nvSpPr>
        <p:spPr>
          <a:xfrm>
            <a:off x="0" y="1123743"/>
            <a:ext cx="12144672" cy="646331"/>
          </a:xfrm>
          <a:prstGeom prst="rect">
            <a:avLst/>
          </a:prstGeom>
          <a:noFill/>
        </p:spPr>
        <p:txBody>
          <a:bodyPr wrap="square">
            <a:spAutoFit/>
          </a:bodyPr>
          <a:lstStyle/>
          <a:p>
            <a:r>
              <a:rPr lang="zh-CN" altLang="zh-CN" b="1" dirty="0"/>
              <a:t>偏振单像素成像的仿真模型</a:t>
            </a:r>
            <a:r>
              <a:rPr lang="zh-CN" altLang="en-US" b="1" dirty="0"/>
              <a:t>：</a:t>
            </a:r>
            <a:endParaRPr lang="en-US" altLang="zh-CN" b="1" dirty="0"/>
          </a:p>
          <a:p>
            <a:r>
              <a:rPr lang="zh-CN" altLang="zh-CN" dirty="0"/>
              <a:t>空间编码、PEM调制、锁相解调和Stokes图像重构</a:t>
            </a:r>
            <a:r>
              <a:rPr lang="zh-CN" altLang="en-US" dirty="0"/>
              <a:t>。</a:t>
            </a:r>
            <a:r>
              <a:rPr lang="zh-CN" altLang="zh-CN" dirty="0"/>
              <a:t>从物体偏振信息到电压测量，再到Stokes图像反演的整个过程</a:t>
            </a:r>
            <a:endParaRPr lang="zh-CN" altLang="en-US" dirty="0"/>
          </a:p>
        </p:txBody>
      </p:sp>
      <p:sp>
        <p:nvSpPr>
          <p:cNvPr id="7" name="文本框 6">
            <a:extLst>
              <a:ext uri="{FF2B5EF4-FFF2-40B4-BE49-F238E27FC236}">
                <a16:creationId xmlns:a16="http://schemas.microsoft.com/office/drawing/2014/main" id="{7EAEC41D-C4FF-7DA1-D6BA-B79F9589AED2}"/>
              </a:ext>
            </a:extLst>
          </p:cNvPr>
          <p:cNvSpPr txBox="1"/>
          <p:nvPr/>
        </p:nvSpPr>
        <p:spPr>
          <a:xfrm>
            <a:off x="18870" y="2060848"/>
            <a:ext cx="10613634" cy="3447098"/>
          </a:xfrm>
          <a:prstGeom prst="rect">
            <a:avLst/>
          </a:prstGeom>
          <a:noFill/>
        </p:spPr>
        <p:txBody>
          <a:bodyPr wrap="square" rtlCol="0">
            <a:spAutoFit/>
          </a:bodyPr>
          <a:lstStyle/>
          <a:p>
            <a:pPr marL="342900" indent="-342900">
              <a:buFont typeface="Arial" panose="020B0604020202020204" pitchFamily="34" charset="0"/>
              <a:buChar char="•"/>
            </a:pPr>
            <a:r>
              <a:rPr lang="zh-CN" altLang="en-US" sz="2000" b="1" dirty="0"/>
              <a:t>前提假设：</a:t>
            </a:r>
            <a:endParaRPr lang="en-US" altLang="zh-CN" sz="2000" b="1" dirty="0"/>
          </a:p>
          <a:p>
            <a:r>
              <a:rPr lang="en-US" altLang="zh-CN" dirty="0"/>
              <a:t>1.</a:t>
            </a:r>
            <a:r>
              <a:rPr lang="zh-CN" altLang="en-US" dirty="0"/>
              <a:t>样品的透过率和相位延迟都由灰度值决定，最大相位延迟为</a:t>
            </a:r>
            <a:r>
              <a:rPr lang="en-US" altLang="zh-CN" dirty="0"/>
              <a:t>60°</a:t>
            </a:r>
          </a:p>
          <a:p>
            <a:r>
              <a:rPr lang="zh-CN" altLang="en-US" dirty="0"/>
              <a:t>                                                    </a:t>
            </a:r>
            <a:endParaRPr lang="en-US" altLang="zh-CN" dirty="0"/>
          </a:p>
          <a:p>
            <a:r>
              <a:rPr lang="en-US" altLang="zh-CN" dirty="0"/>
              <a:t>2.</a:t>
            </a:r>
            <a:r>
              <a:rPr lang="zh-CN" altLang="en-US" dirty="0"/>
              <a:t>仿真采用的是单色光，并没有考虑白光光源的整体波长范围，最终锁相放大器得到的信号会比仿真小</a:t>
            </a:r>
            <a:endParaRPr lang="en-US" altLang="zh-CN" dirty="0"/>
          </a:p>
          <a:p>
            <a:endParaRPr lang="en-US" altLang="zh-CN" dirty="0"/>
          </a:p>
          <a:p>
            <a:r>
              <a:rPr lang="en-US" altLang="zh-CN" dirty="0"/>
              <a:t>3.PEM</a:t>
            </a:r>
            <a:r>
              <a:rPr lang="zh-CN" altLang="en-US" dirty="0"/>
              <a:t>延迟完全相同，进入</a:t>
            </a:r>
            <a:r>
              <a:rPr lang="en-US" altLang="zh-CN" dirty="0"/>
              <a:t>PEM</a:t>
            </a:r>
            <a:r>
              <a:rPr lang="zh-CN" altLang="en-US" dirty="0"/>
              <a:t>的光束完全平行，且</a:t>
            </a:r>
            <a:r>
              <a:rPr lang="en-US" altLang="zh-CN" dirty="0"/>
              <a:t>PEM</a:t>
            </a:r>
            <a:r>
              <a:rPr lang="zh-CN" altLang="en-US" dirty="0"/>
              <a:t>与样品均视为</a:t>
            </a:r>
            <a:r>
              <a:rPr lang="en-US" altLang="zh-CN" dirty="0"/>
              <a:t>45°</a:t>
            </a:r>
            <a:r>
              <a:rPr lang="zh-CN" altLang="en-US" dirty="0"/>
              <a:t>同轴偏振器件</a:t>
            </a:r>
            <a:endParaRPr lang="en-US" altLang="zh-CN" dirty="0"/>
          </a:p>
          <a:p>
            <a:endParaRPr lang="en-US" altLang="zh-CN" dirty="0"/>
          </a:p>
          <a:p>
            <a:r>
              <a:rPr lang="en-US" altLang="zh-CN" dirty="0"/>
              <a:t>4. DMD</a:t>
            </a:r>
            <a:r>
              <a:rPr lang="zh-CN" altLang="en-US" dirty="0"/>
              <a:t>为理想器件，不考虑衍射，</a:t>
            </a:r>
            <a:r>
              <a:rPr lang="en-US" altLang="zh-CN" dirty="0" err="1"/>
              <a:t>hadamard</a:t>
            </a:r>
            <a:r>
              <a:rPr lang="zh-CN" altLang="en-US" dirty="0"/>
              <a:t>矩阵只有</a:t>
            </a:r>
            <a:r>
              <a:rPr lang="en-US" altLang="zh-CN" dirty="0"/>
              <a:t>-1</a:t>
            </a:r>
            <a:r>
              <a:rPr lang="zh-CN" altLang="en-US" dirty="0"/>
              <a:t>，</a:t>
            </a:r>
            <a:r>
              <a:rPr lang="en-US" altLang="zh-CN" dirty="0"/>
              <a:t>0</a:t>
            </a:r>
            <a:r>
              <a:rPr lang="zh-CN" altLang="en-US" dirty="0"/>
              <a:t>和</a:t>
            </a:r>
            <a:r>
              <a:rPr lang="en-US" altLang="zh-CN" dirty="0"/>
              <a:t>1</a:t>
            </a:r>
            <a:r>
              <a:rPr lang="zh-CN" altLang="en-US" dirty="0"/>
              <a:t> </a:t>
            </a:r>
            <a:endParaRPr lang="en-US" altLang="zh-CN" dirty="0">
              <a:solidFill>
                <a:srgbClr val="FF0000"/>
              </a:solidFill>
            </a:endParaRPr>
          </a:p>
          <a:p>
            <a:endParaRPr lang="en-US" altLang="zh-CN" dirty="0"/>
          </a:p>
          <a:p>
            <a:r>
              <a:rPr lang="en-US" altLang="zh-CN" dirty="0"/>
              <a:t>5.</a:t>
            </a:r>
            <a:r>
              <a:rPr lang="zh-CN" altLang="en-US" dirty="0"/>
              <a:t>探测器的增益</a:t>
            </a:r>
            <a:r>
              <a:rPr lang="en-US" altLang="zh-CN" dirty="0"/>
              <a:t>g</a:t>
            </a:r>
            <a:r>
              <a:rPr lang="zh-CN" altLang="en-US" dirty="0"/>
              <a:t>（</a:t>
            </a:r>
            <a:r>
              <a:rPr lang="en-US" altLang="zh-CN" dirty="0"/>
              <a:t>V/W</a:t>
            </a:r>
            <a:r>
              <a:rPr lang="zh-CN" altLang="en-US" dirty="0"/>
              <a:t>）设置为</a:t>
            </a:r>
            <a:r>
              <a:rPr lang="en-US" altLang="zh-CN" dirty="0"/>
              <a:t>4500</a:t>
            </a:r>
            <a:r>
              <a:rPr lang="zh-CN" altLang="en-US" dirty="0"/>
              <a:t>，探测器读数输出较小</a:t>
            </a:r>
            <a:endParaRPr lang="en-US" altLang="zh-CN" dirty="0"/>
          </a:p>
          <a:p>
            <a:endParaRPr lang="en-US" altLang="zh-CN" dirty="0"/>
          </a:p>
          <a:p>
            <a:r>
              <a:rPr lang="en-US" altLang="zh-CN" dirty="0"/>
              <a:t>6.</a:t>
            </a:r>
            <a:r>
              <a:rPr lang="zh-CN" altLang="en-US" dirty="0"/>
              <a:t>只考虑探测器静态噪声，没有外加任何动态噪声</a:t>
            </a:r>
          </a:p>
        </p:txBody>
      </p:sp>
    </p:spTree>
    <p:extLst>
      <p:ext uri="{BB962C8B-B14F-4D97-AF65-F5344CB8AC3E}">
        <p14:creationId xmlns:p14="http://schemas.microsoft.com/office/powerpoint/2010/main" val="61374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C7239EC-E03F-3D0F-6A3E-84858733A575}"/>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6408E029-1DEE-6157-0613-AA96EF40FEE2}"/>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CAE68BAE-7EDE-3BA5-1EDA-90E45DEC4F44}"/>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475FC4E5-C195-52F3-199B-97458E543AC5}"/>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1EE5F6E0-5AF8-92BB-F908-1E79FC4C5CB2}"/>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问题：</a:t>
            </a:r>
            <a:r>
              <a:rPr lang="zh-CN" altLang="zh-CN" sz="3200" dirty="0">
                <a:solidFill>
                  <a:srgbClr val="FFFFFF"/>
                </a:solidFill>
              </a:rPr>
              <a:t>为什么2f信号很小？</a:t>
            </a:r>
            <a:endParaRPr lang="zh-CN" altLang="en-US" sz="3200" dirty="0">
              <a:solidFill>
                <a:srgbClr val="FFFFFF"/>
              </a:solidFill>
            </a:endParaRPr>
          </a:p>
        </p:txBody>
      </p:sp>
      <p:sp>
        <p:nvSpPr>
          <p:cNvPr id="14" name="文本框 13">
            <a:extLst>
              <a:ext uri="{FF2B5EF4-FFF2-40B4-BE49-F238E27FC236}">
                <a16:creationId xmlns:a16="http://schemas.microsoft.com/office/drawing/2014/main" id="{E869C8F7-8687-6B8A-AA0A-784BD0C96929}"/>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实验</a:t>
            </a:r>
            <a:endParaRPr lang="en-US" altLang="zh-CN" sz="3600" b="1" dirty="0">
              <a:solidFill>
                <a:srgbClr val="3467AB"/>
              </a:solidFill>
            </a:endParaRPr>
          </a:p>
        </p:txBody>
      </p:sp>
      <p:sp>
        <p:nvSpPr>
          <p:cNvPr id="7" name="文本框 6">
            <a:extLst>
              <a:ext uri="{FF2B5EF4-FFF2-40B4-BE49-F238E27FC236}">
                <a16:creationId xmlns:a16="http://schemas.microsoft.com/office/drawing/2014/main" id="{034DE8AD-C36C-DD23-186F-55A7F836D655}"/>
              </a:ext>
            </a:extLst>
          </p:cNvPr>
          <p:cNvSpPr txBox="1"/>
          <p:nvPr/>
        </p:nvSpPr>
        <p:spPr>
          <a:xfrm>
            <a:off x="18870" y="3330123"/>
            <a:ext cx="12053794" cy="2893100"/>
          </a:xfrm>
          <a:prstGeom prst="rect">
            <a:avLst/>
          </a:prstGeom>
          <a:noFill/>
        </p:spPr>
        <p:txBody>
          <a:bodyPr wrap="square" rtlCol="0">
            <a:spAutoFit/>
          </a:bodyPr>
          <a:lstStyle/>
          <a:p>
            <a:pPr marL="342900" indent="-342900">
              <a:buFont typeface="Arial" panose="020B0604020202020204" pitchFamily="34" charset="0"/>
              <a:buChar char="•"/>
            </a:pPr>
            <a:r>
              <a:rPr lang="zh-CN" altLang="en-US" sz="2000" b="1" dirty="0"/>
              <a:t>现象：使用锁相放大器锁住信号时，发现原本光路中忘记加第二个偏振片了</a:t>
            </a:r>
            <a:endParaRPr lang="en-US" altLang="zh-CN" sz="2000" b="1" dirty="0"/>
          </a:p>
          <a:p>
            <a:r>
              <a:rPr lang="zh-CN" altLang="en-US" dirty="0"/>
              <a:t>锁相放大器得到的二倍频</a:t>
            </a:r>
            <a:r>
              <a:rPr lang="en-US" altLang="zh-CN" dirty="0">
                <a:solidFill>
                  <a:srgbClr val="FF0000"/>
                </a:solidFill>
              </a:rPr>
              <a:t>2f</a:t>
            </a:r>
            <a:r>
              <a:rPr lang="zh-CN" altLang="en-US" dirty="0">
                <a:solidFill>
                  <a:srgbClr val="FF0000"/>
                </a:solidFill>
              </a:rPr>
              <a:t>信号非常小</a:t>
            </a:r>
            <a:r>
              <a:rPr lang="zh-CN" altLang="en-US" dirty="0"/>
              <a:t>，大概</a:t>
            </a:r>
            <a:r>
              <a:rPr lang="en-US" altLang="zh-CN" dirty="0"/>
              <a:t>0.009mV</a:t>
            </a:r>
            <a:r>
              <a:rPr lang="zh-CN" altLang="en-US" dirty="0"/>
              <a:t>，原信号约为</a:t>
            </a:r>
            <a:r>
              <a:rPr lang="en-US" altLang="zh-CN" dirty="0"/>
              <a:t>200mV</a:t>
            </a:r>
            <a:r>
              <a:rPr lang="zh-CN" altLang="en-US" dirty="0"/>
              <a:t>（问题一），但是加上第二个偏振片后信号突然就变成了</a:t>
            </a:r>
            <a:r>
              <a:rPr lang="en-US" altLang="zh-CN" dirty="0"/>
              <a:t>2.1mV</a:t>
            </a:r>
            <a:r>
              <a:rPr lang="zh-CN" altLang="en-US" dirty="0"/>
              <a:t>，放大了近乎</a:t>
            </a:r>
            <a:r>
              <a:rPr lang="en-US" altLang="zh-CN" dirty="0"/>
              <a:t>233</a:t>
            </a:r>
            <a:r>
              <a:rPr lang="zh-CN" altLang="en-US" dirty="0"/>
              <a:t>倍（问题二）</a:t>
            </a:r>
            <a:endParaRPr lang="en-US" altLang="zh-CN" dirty="0"/>
          </a:p>
          <a:p>
            <a:pPr marL="285750" indent="-285750">
              <a:buFont typeface="Arial" panose="020B0604020202020204" pitchFamily="34" charset="0"/>
              <a:buChar char="•"/>
            </a:pPr>
            <a:r>
              <a:rPr lang="zh-CN" altLang="en-US" dirty="0">
                <a:solidFill>
                  <a:srgbClr val="00B050"/>
                </a:solidFill>
              </a:rPr>
              <a:t>问题一</a:t>
            </a:r>
            <a:r>
              <a:rPr lang="zh-CN" altLang="en-US" dirty="0"/>
              <a:t>原因猜测：</a:t>
            </a:r>
            <a:endParaRPr lang="en-US" altLang="zh-CN" dirty="0"/>
          </a:p>
          <a:p>
            <a:pPr marL="342900" indent="-342900">
              <a:buFont typeface="+mj-lt"/>
              <a:buAutoNum type="arabicPeriod"/>
            </a:pPr>
            <a:r>
              <a:rPr lang="zh-CN" altLang="en-US" dirty="0"/>
              <a:t>信号非常小：</a:t>
            </a:r>
            <a:r>
              <a:rPr lang="en-US" altLang="zh-CN" dirty="0"/>
              <a:t>PEM</a:t>
            </a:r>
            <a:r>
              <a:rPr lang="zh-CN" altLang="en-US" dirty="0"/>
              <a:t>光弹调制器有特定的波长范围</a:t>
            </a:r>
            <a:r>
              <a:rPr lang="en-US" altLang="zh-CN" dirty="0"/>
              <a:t>633nm</a:t>
            </a:r>
            <a:r>
              <a:rPr lang="zh-CN" altLang="en-US" dirty="0"/>
              <a:t>，只有</a:t>
            </a:r>
            <a:r>
              <a:rPr lang="en-US" altLang="zh-CN" dirty="0"/>
              <a:t>633nm</a:t>
            </a:r>
            <a:r>
              <a:rPr lang="zh-CN" altLang="en-US" dirty="0"/>
              <a:t>波长范围的光才被精准引入了相位差，只有该波段光信号斯托克斯参量被精准移频，其他波段的光并没有精准地被移动频率</a:t>
            </a:r>
            <a:endParaRPr lang="en-US" altLang="zh-CN" dirty="0"/>
          </a:p>
          <a:p>
            <a:pPr marL="342900" indent="-342900">
              <a:buFont typeface="+mj-lt"/>
              <a:buAutoNum type="arabicPeriod"/>
            </a:pPr>
            <a:r>
              <a:rPr lang="zh-CN" altLang="en-US" dirty="0"/>
              <a:t>我需要知道检偏器之前我的信号的表现形式，第二个检偏器与第一个检偏器正交，它的的作用是保留与第一个检偏器垂直的分量</a:t>
            </a:r>
            <a:endParaRPr lang="en-US" altLang="zh-CN" dirty="0"/>
          </a:p>
          <a:p>
            <a:pPr marL="285750" indent="-285750">
              <a:buFont typeface="Arial" panose="020B0604020202020204" pitchFamily="34" charset="0"/>
              <a:buChar char="•"/>
            </a:pPr>
            <a:r>
              <a:rPr lang="zh-CN" altLang="en-US" dirty="0">
                <a:solidFill>
                  <a:srgbClr val="FF0000"/>
                </a:solidFill>
              </a:rPr>
              <a:t>真正原因</a:t>
            </a:r>
            <a:r>
              <a:rPr lang="zh-CN" altLang="en-US" dirty="0"/>
              <a:t>：没有放置检偏器，信号并没有频率，所以信号非常小，放上检偏器过后，信号有了频率。</a:t>
            </a:r>
            <a:endParaRPr lang="en-US" altLang="zh-CN" dirty="0"/>
          </a:p>
          <a:p>
            <a:r>
              <a:rPr lang="zh-CN" altLang="en-US" dirty="0"/>
              <a:t>原本的思考分析与检偏器作用的数学分析：</a:t>
            </a:r>
            <a:r>
              <a:rPr lang="zh-CN" altLang="en-US" dirty="0">
                <a:hlinkClick r:id="rId3" action="ppaction://hlinksldjump"/>
              </a:rPr>
              <a:t>见附录</a:t>
            </a:r>
            <a:endParaRPr lang="en-US" altLang="zh-CN" dirty="0"/>
          </a:p>
        </p:txBody>
      </p:sp>
      <p:sp>
        <p:nvSpPr>
          <p:cNvPr id="2" name="文本框 1">
            <a:extLst>
              <a:ext uri="{FF2B5EF4-FFF2-40B4-BE49-F238E27FC236}">
                <a16:creationId xmlns:a16="http://schemas.microsoft.com/office/drawing/2014/main" id="{E3C75050-D5B6-29A5-74C1-221AC6FF10C5}"/>
              </a:ext>
            </a:extLst>
          </p:cNvPr>
          <p:cNvSpPr txBox="1"/>
          <p:nvPr/>
        </p:nvSpPr>
        <p:spPr>
          <a:xfrm>
            <a:off x="735600" y="1118848"/>
            <a:ext cx="874715" cy="369332"/>
          </a:xfrm>
          <a:prstGeom prst="rect">
            <a:avLst/>
          </a:prstGeom>
          <a:noFill/>
        </p:spPr>
        <p:txBody>
          <a:bodyPr wrap="square" rtlCol="0">
            <a:spAutoFit/>
          </a:bodyPr>
          <a:lstStyle/>
          <a:p>
            <a:r>
              <a:rPr lang="zh-CN" altLang="en-US" dirty="0"/>
              <a:t>起偏器</a:t>
            </a:r>
          </a:p>
        </p:txBody>
      </p:sp>
      <p:sp>
        <p:nvSpPr>
          <p:cNvPr id="3" name="矩形: 圆角 2">
            <a:extLst>
              <a:ext uri="{FF2B5EF4-FFF2-40B4-BE49-F238E27FC236}">
                <a16:creationId xmlns:a16="http://schemas.microsoft.com/office/drawing/2014/main" id="{0FBBDB10-D659-5BD5-C9A0-3E04FA7C2CB0}"/>
              </a:ext>
            </a:extLst>
          </p:cNvPr>
          <p:cNvSpPr/>
          <p:nvPr/>
        </p:nvSpPr>
        <p:spPr>
          <a:xfrm>
            <a:off x="9858255" y="1610083"/>
            <a:ext cx="836342" cy="58524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240A2A8C-8CC6-B963-7343-6A5020D41517}"/>
              </a:ext>
            </a:extLst>
          </p:cNvPr>
          <p:cNvSpPr txBox="1"/>
          <p:nvPr/>
        </p:nvSpPr>
        <p:spPr>
          <a:xfrm>
            <a:off x="9959855" y="1136883"/>
            <a:ext cx="721668" cy="369332"/>
          </a:xfrm>
          <a:prstGeom prst="rect">
            <a:avLst/>
          </a:prstGeom>
          <a:noFill/>
        </p:spPr>
        <p:txBody>
          <a:bodyPr wrap="square" rtlCol="0">
            <a:spAutoFit/>
          </a:bodyPr>
          <a:lstStyle/>
          <a:p>
            <a:r>
              <a:rPr lang="zh-CN" altLang="en-US" dirty="0"/>
              <a:t>锁相</a:t>
            </a:r>
          </a:p>
        </p:txBody>
      </p:sp>
      <p:sp>
        <p:nvSpPr>
          <p:cNvPr id="6" name="箭头: 右 5">
            <a:extLst>
              <a:ext uri="{FF2B5EF4-FFF2-40B4-BE49-F238E27FC236}">
                <a16:creationId xmlns:a16="http://schemas.microsoft.com/office/drawing/2014/main" id="{39BAD16A-DC92-D0DE-4158-657C7D7F77F7}"/>
              </a:ext>
            </a:extLst>
          </p:cNvPr>
          <p:cNvSpPr/>
          <p:nvPr/>
        </p:nvSpPr>
        <p:spPr>
          <a:xfrm rot="12653839">
            <a:off x="443350" y="2206484"/>
            <a:ext cx="857986" cy="504056"/>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476FD791-9602-0F6B-6D44-AA79533483CC}"/>
              </a:ext>
            </a:extLst>
          </p:cNvPr>
          <p:cNvSpPr/>
          <p:nvPr/>
        </p:nvSpPr>
        <p:spPr>
          <a:xfrm>
            <a:off x="902047" y="1506215"/>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12" name="直接连接符 11">
            <a:extLst>
              <a:ext uri="{FF2B5EF4-FFF2-40B4-BE49-F238E27FC236}">
                <a16:creationId xmlns:a16="http://schemas.microsoft.com/office/drawing/2014/main" id="{DDF6672D-2104-74F9-7576-FD1A8D4B58A9}"/>
              </a:ext>
            </a:extLst>
          </p:cNvPr>
          <p:cNvCxnSpPr>
            <a:cxnSpLocks/>
            <a:stCxn id="10" idx="3"/>
            <a:endCxn id="10" idx="7"/>
          </p:cNvCxnSpPr>
          <p:nvPr/>
        </p:nvCxnSpPr>
        <p:spPr>
          <a:xfrm flipV="1">
            <a:off x="975864" y="1600868"/>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4357F55E-EB2C-AD48-9F71-977430C2C311}"/>
              </a:ext>
            </a:extLst>
          </p:cNvPr>
          <p:cNvSpPr txBox="1"/>
          <p:nvPr/>
        </p:nvSpPr>
        <p:spPr>
          <a:xfrm>
            <a:off x="-5710" y="1147181"/>
            <a:ext cx="796095" cy="369332"/>
          </a:xfrm>
          <a:prstGeom prst="rect">
            <a:avLst/>
          </a:prstGeom>
          <a:noFill/>
        </p:spPr>
        <p:txBody>
          <a:bodyPr wrap="square" rtlCol="0">
            <a:spAutoFit/>
          </a:bodyPr>
          <a:lstStyle/>
          <a:p>
            <a:r>
              <a:rPr lang="en-US" altLang="zh-CN" dirty="0"/>
              <a:t>DMD</a:t>
            </a:r>
            <a:endParaRPr lang="zh-CN" altLang="en-US" dirty="0"/>
          </a:p>
        </p:txBody>
      </p:sp>
      <p:sp>
        <p:nvSpPr>
          <p:cNvPr id="16" name="矩形 15">
            <a:extLst>
              <a:ext uri="{FF2B5EF4-FFF2-40B4-BE49-F238E27FC236}">
                <a16:creationId xmlns:a16="http://schemas.microsoft.com/office/drawing/2014/main" id="{79FBA974-204D-6E1D-29E6-80382E891C07}"/>
              </a:ext>
            </a:extLst>
          </p:cNvPr>
          <p:cNvSpPr/>
          <p:nvPr/>
        </p:nvSpPr>
        <p:spPr>
          <a:xfrm>
            <a:off x="245066" y="1598159"/>
            <a:ext cx="161667" cy="432048"/>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3B87B749-8327-FD73-6541-0F541CA0F737}"/>
              </a:ext>
            </a:extLst>
          </p:cNvPr>
          <p:cNvSpPr txBox="1"/>
          <p:nvPr/>
        </p:nvSpPr>
        <p:spPr>
          <a:xfrm>
            <a:off x="554477" y="2895063"/>
            <a:ext cx="720080" cy="369332"/>
          </a:xfrm>
          <a:prstGeom prst="rect">
            <a:avLst/>
          </a:prstGeom>
          <a:noFill/>
        </p:spPr>
        <p:txBody>
          <a:bodyPr wrap="square" rtlCol="0">
            <a:spAutoFit/>
          </a:bodyPr>
          <a:lstStyle/>
          <a:p>
            <a:r>
              <a:rPr lang="zh-CN" altLang="en-US" dirty="0"/>
              <a:t>光源</a:t>
            </a:r>
          </a:p>
        </p:txBody>
      </p:sp>
      <p:sp>
        <p:nvSpPr>
          <p:cNvPr id="18" name="文本框 17">
            <a:extLst>
              <a:ext uri="{FF2B5EF4-FFF2-40B4-BE49-F238E27FC236}">
                <a16:creationId xmlns:a16="http://schemas.microsoft.com/office/drawing/2014/main" id="{8D6C5F0A-0D16-1480-90CA-B95EA472D34E}"/>
              </a:ext>
            </a:extLst>
          </p:cNvPr>
          <p:cNvSpPr txBox="1"/>
          <p:nvPr/>
        </p:nvSpPr>
        <p:spPr>
          <a:xfrm>
            <a:off x="1615367" y="1132414"/>
            <a:ext cx="796095" cy="369332"/>
          </a:xfrm>
          <a:prstGeom prst="rect">
            <a:avLst/>
          </a:prstGeom>
          <a:noFill/>
        </p:spPr>
        <p:txBody>
          <a:bodyPr wrap="square" rtlCol="0">
            <a:spAutoFit/>
          </a:bodyPr>
          <a:lstStyle/>
          <a:p>
            <a:r>
              <a:rPr lang="zh-CN" altLang="en-US" dirty="0"/>
              <a:t>透镜</a:t>
            </a:r>
            <a:r>
              <a:rPr lang="en-US" altLang="zh-CN" dirty="0"/>
              <a:t>1</a:t>
            </a:r>
            <a:endParaRPr lang="zh-CN" altLang="en-US" dirty="0"/>
          </a:p>
        </p:txBody>
      </p:sp>
      <p:sp>
        <p:nvSpPr>
          <p:cNvPr id="19" name="椭圆 18">
            <a:extLst>
              <a:ext uri="{FF2B5EF4-FFF2-40B4-BE49-F238E27FC236}">
                <a16:creationId xmlns:a16="http://schemas.microsoft.com/office/drawing/2014/main" id="{28A3B18B-E2EF-DEFA-1122-D6C3F5EDEE1E}"/>
              </a:ext>
            </a:extLst>
          </p:cNvPr>
          <p:cNvSpPr/>
          <p:nvPr/>
        </p:nvSpPr>
        <p:spPr>
          <a:xfrm>
            <a:off x="1956592" y="1584795"/>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2570C692-445C-6127-2129-955BA7036BB6}"/>
              </a:ext>
            </a:extLst>
          </p:cNvPr>
          <p:cNvSpPr/>
          <p:nvPr/>
        </p:nvSpPr>
        <p:spPr>
          <a:xfrm>
            <a:off x="2639238" y="1228813"/>
            <a:ext cx="144016" cy="1152128"/>
          </a:xfrm>
          <a:prstGeom prst="rect">
            <a:avLst/>
          </a:prstGeom>
          <a:solidFill>
            <a:schemeClr val="bg2"/>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268AB59-7305-49C5-D8E2-C37ACFA1A9A5}"/>
              </a:ext>
            </a:extLst>
          </p:cNvPr>
          <p:cNvSpPr txBox="1"/>
          <p:nvPr/>
        </p:nvSpPr>
        <p:spPr>
          <a:xfrm>
            <a:off x="2406410" y="887382"/>
            <a:ext cx="652585" cy="369332"/>
          </a:xfrm>
          <a:prstGeom prst="rect">
            <a:avLst/>
          </a:prstGeom>
          <a:noFill/>
        </p:spPr>
        <p:txBody>
          <a:bodyPr wrap="square" rtlCol="0">
            <a:spAutoFit/>
          </a:bodyPr>
          <a:lstStyle/>
          <a:p>
            <a:r>
              <a:rPr lang="zh-CN" altLang="en-US" dirty="0"/>
              <a:t>物体</a:t>
            </a:r>
          </a:p>
        </p:txBody>
      </p:sp>
      <p:sp>
        <p:nvSpPr>
          <p:cNvPr id="22" name="文本框 21">
            <a:extLst>
              <a:ext uri="{FF2B5EF4-FFF2-40B4-BE49-F238E27FC236}">
                <a16:creationId xmlns:a16="http://schemas.microsoft.com/office/drawing/2014/main" id="{6A1DA7D2-0B98-747B-ECA6-50E745ACA142}"/>
              </a:ext>
            </a:extLst>
          </p:cNvPr>
          <p:cNvSpPr txBox="1"/>
          <p:nvPr/>
        </p:nvSpPr>
        <p:spPr>
          <a:xfrm>
            <a:off x="3128004" y="1127273"/>
            <a:ext cx="796095" cy="369332"/>
          </a:xfrm>
          <a:prstGeom prst="rect">
            <a:avLst/>
          </a:prstGeom>
          <a:noFill/>
        </p:spPr>
        <p:txBody>
          <a:bodyPr wrap="square" rtlCol="0">
            <a:spAutoFit/>
          </a:bodyPr>
          <a:lstStyle/>
          <a:p>
            <a:r>
              <a:rPr lang="zh-CN" altLang="en-US" dirty="0"/>
              <a:t>透镜</a:t>
            </a:r>
            <a:r>
              <a:rPr lang="en-US" altLang="zh-CN" dirty="0"/>
              <a:t>2</a:t>
            </a:r>
            <a:endParaRPr lang="zh-CN" altLang="en-US" dirty="0"/>
          </a:p>
        </p:txBody>
      </p:sp>
      <p:sp>
        <p:nvSpPr>
          <p:cNvPr id="23" name="椭圆 22">
            <a:extLst>
              <a:ext uri="{FF2B5EF4-FFF2-40B4-BE49-F238E27FC236}">
                <a16:creationId xmlns:a16="http://schemas.microsoft.com/office/drawing/2014/main" id="{4D865121-D727-E389-BEC4-A99ED2391342}"/>
              </a:ext>
            </a:extLst>
          </p:cNvPr>
          <p:cNvSpPr/>
          <p:nvPr/>
        </p:nvSpPr>
        <p:spPr>
          <a:xfrm>
            <a:off x="3405997" y="1589038"/>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FE5AC685-D2A2-B7E9-0971-968F089BB4E5}"/>
              </a:ext>
            </a:extLst>
          </p:cNvPr>
          <p:cNvSpPr txBox="1"/>
          <p:nvPr/>
        </p:nvSpPr>
        <p:spPr>
          <a:xfrm>
            <a:off x="4106525" y="1132875"/>
            <a:ext cx="1097515" cy="369332"/>
          </a:xfrm>
          <a:prstGeom prst="rect">
            <a:avLst/>
          </a:prstGeom>
          <a:noFill/>
        </p:spPr>
        <p:txBody>
          <a:bodyPr wrap="square" rtlCol="0">
            <a:spAutoFit/>
          </a:bodyPr>
          <a:lstStyle/>
          <a:p>
            <a:r>
              <a:rPr lang="zh-CN" altLang="en-US" dirty="0"/>
              <a:t>准直透镜</a:t>
            </a:r>
          </a:p>
        </p:txBody>
      </p:sp>
      <p:sp>
        <p:nvSpPr>
          <p:cNvPr id="25" name="椭圆 24">
            <a:extLst>
              <a:ext uri="{FF2B5EF4-FFF2-40B4-BE49-F238E27FC236}">
                <a16:creationId xmlns:a16="http://schemas.microsoft.com/office/drawing/2014/main" id="{AF439E35-35A6-6CF7-2A47-8416CC561809}"/>
              </a:ext>
            </a:extLst>
          </p:cNvPr>
          <p:cNvSpPr/>
          <p:nvPr/>
        </p:nvSpPr>
        <p:spPr>
          <a:xfrm>
            <a:off x="4555252" y="1589037"/>
            <a:ext cx="144016"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57CC997E-A821-8D88-BA55-36673A6DBE1D}"/>
              </a:ext>
            </a:extLst>
          </p:cNvPr>
          <p:cNvSpPr/>
          <p:nvPr/>
        </p:nvSpPr>
        <p:spPr>
          <a:xfrm>
            <a:off x="5558883" y="1737170"/>
            <a:ext cx="504056" cy="214153"/>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BB7CDA84-1C69-C2BA-3F1F-7C1AAE494475}"/>
              </a:ext>
            </a:extLst>
          </p:cNvPr>
          <p:cNvSpPr txBox="1"/>
          <p:nvPr/>
        </p:nvSpPr>
        <p:spPr>
          <a:xfrm>
            <a:off x="5450129" y="1131300"/>
            <a:ext cx="723004" cy="369332"/>
          </a:xfrm>
          <a:prstGeom prst="rect">
            <a:avLst/>
          </a:prstGeom>
          <a:noFill/>
        </p:spPr>
        <p:txBody>
          <a:bodyPr wrap="square" rtlCol="0">
            <a:spAutoFit/>
          </a:bodyPr>
          <a:lstStyle/>
          <a:p>
            <a:r>
              <a:rPr lang="en-US" altLang="zh-CN" dirty="0"/>
              <a:t>PEM</a:t>
            </a:r>
            <a:endParaRPr lang="zh-CN" altLang="en-US" dirty="0"/>
          </a:p>
        </p:txBody>
      </p:sp>
      <p:sp>
        <p:nvSpPr>
          <p:cNvPr id="28" name="椭圆 27">
            <a:extLst>
              <a:ext uri="{FF2B5EF4-FFF2-40B4-BE49-F238E27FC236}">
                <a16:creationId xmlns:a16="http://schemas.microsoft.com/office/drawing/2014/main" id="{D4B66306-0799-48AE-0EDF-D7ED2A29AAC2}"/>
              </a:ext>
            </a:extLst>
          </p:cNvPr>
          <p:cNvSpPr/>
          <p:nvPr/>
        </p:nvSpPr>
        <p:spPr>
          <a:xfrm>
            <a:off x="6687283" y="1515430"/>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16D93186-58B8-6B72-8271-157A44ADC22B}"/>
              </a:ext>
            </a:extLst>
          </p:cNvPr>
          <p:cNvSpPr txBox="1"/>
          <p:nvPr/>
        </p:nvSpPr>
        <p:spPr>
          <a:xfrm>
            <a:off x="6491813" y="1127273"/>
            <a:ext cx="1011068" cy="369332"/>
          </a:xfrm>
          <a:prstGeom prst="rect">
            <a:avLst/>
          </a:prstGeom>
          <a:noFill/>
        </p:spPr>
        <p:txBody>
          <a:bodyPr wrap="square" rtlCol="0">
            <a:spAutoFit/>
          </a:bodyPr>
          <a:lstStyle/>
          <a:p>
            <a:r>
              <a:rPr lang="zh-CN" altLang="en-US" dirty="0"/>
              <a:t>检偏器</a:t>
            </a:r>
          </a:p>
        </p:txBody>
      </p:sp>
      <p:cxnSp>
        <p:nvCxnSpPr>
          <p:cNvPr id="30" name="直接连接符 29">
            <a:extLst>
              <a:ext uri="{FF2B5EF4-FFF2-40B4-BE49-F238E27FC236}">
                <a16:creationId xmlns:a16="http://schemas.microsoft.com/office/drawing/2014/main" id="{8721D62E-633C-D4CE-0EAE-D68DE3A71AF7}"/>
              </a:ext>
            </a:extLst>
          </p:cNvPr>
          <p:cNvCxnSpPr>
            <a:stCxn id="28" idx="3"/>
            <a:endCxn id="28" idx="7"/>
          </p:cNvCxnSpPr>
          <p:nvPr/>
        </p:nvCxnSpPr>
        <p:spPr>
          <a:xfrm flipV="1">
            <a:off x="6761100" y="1610083"/>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9A58B9F1-6891-42D5-9373-7A9EB77308B5}"/>
              </a:ext>
            </a:extLst>
          </p:cNvPr>
          <p:cNvSpPr txBox="1"/>
          <p:nvPr/>
        </p:nvSpPr>
        <p:spPr>
          <a:xfrm>
            <a:off x="7547665" y="1149955"/>
            <a:ext cx="1151206" cy="369332"/>
          </a:xfrm>
          <a:prstGeom prst="rect">
            <a:avLst/>
          </a:prstGeom>
          <a:noFill/>
        </p:spPr>
        <p:txBody>
          <a:bodyPr wrap="square" rtlCol="0">
            <a:spAutoFit/>
          </a:bodyPr>
          <a:lstStyle/>
          <a:p>
            <a:r>
              <a:rPr lang="zh-CN" altLang="en-US" dirty="0"/>
              <a:t>聚光透镜</a:t>
            </a:r>
          </a:p>
        </p:txBody>
      </p:sp>
      <p:sp>
        <p:nvSpPr>
          <p:cNvPr id="32" name="椭圆 31">
            <a:extLst>
              <a:ext uri="{FF2B5EF4-FFF2-40B4-BE49-F238E27FC236}">
                <a16:creationId xmlns:a16="http://schemas.microsoft.com/office/drawing/2014/main" id="{341D4224-F6D6-8918-373B-6D5296F735E6}"/>
              </a:ext>
            </a:extLst>
          </p:cNvPr>
          <p:cNvSpPr/>
          <p:nvPr/>
        </p:nvSpPr>
        <p:spPr>
          <a:xfrm>
            <a:off x="8068877" y="1598159"/>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36DB64F8-33DE-5F3B-6ED2-50D2B5CEF544}"/>
              </a:ext>
            </a:extLst>
          </p:cNvPr>
          <p:cNvSpPr/>
          <p:nvPr/>
        </p:nvSpPr>
        <p:spPr>
          <a:xfrm>
            <a:off x="8935861" y="1499181"/>
            <a:ext cx="504056" cy="646331"/>
          </a:xfrm>
          <a:prstGeom prst="ellipse">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436A26FD-0491-713A-769F-27E679D702BD}"/>
              </a:ext>
            </a:extLst>
          </p:cNvPr>
          <p:cNvSpPr txBox="1"/>
          <p:nvPr/>
        </p:nvSpPr>
        <p:spPr>
          <a:xfrm>
            <a:off x="8757486" y="1130808"/>
            <a:ext cx="895486" cy="369332"/>
          </a:xfrm>
          <a:prstGeom prst="rect">
            <a:avLst/>
          </a:prstGeom>
          <a:noFill/>
        </p:spPr>
        <p:txBody>
          <a:bodyPr wrap="square" rtlCol="0">
            <a:spAutoFit/>
          </a:bodyPr>
          <a:lstStyle/>
          <a:p>
            <a:r>
              <a:rPr lang="zh-CN" altLang="en-US" dirty="0"/>
              <a:t>探测器</a:t>
            </a:r>
          </a:p>
        </p:txBody>
      </p:sp>
      <p:sp>
        <p:nvSpPr>
          <p:cNvPr id="35" name="矩形: 圆角 34">
            <a:extLst>
              <a:ext uri="{FF2B5EF4-FFF2-40B4-BE49-F238E27FC236}">
                <a16:creationId xmlns:a16="http://schemas.microsoft.com/office/drawing/2014/main" id="{901570E3-3E4B-9191-F4A6-CE1E1B53C3CB}"/>
              </a:ext>
            </a:extLst>
          </p:cNvPr>
          <p:cNvSpPr/>
          <p:nvPr/>
        </p:nvSpPr>
        <p:spPr>
          <a:xfrm>
            <a:off x="11083302" y="1610083"/>
            <a:ext cx="836342" cy="5852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文本框 35">
            <a:extLst>
              <a:ext uri="{FF2B5EF4-FFF2-40B4-BE49-F238E27FC236}">
                <a16:creationId xmlns:a16="http://schemas.microsoft.com/office/drawing/2014/main" id="{CB2C6074-B69C-E3DD-22E1-C73FB4E71FBD}"/>
              </a:ext>
            </a:extLst>
          </p:cNvPr>
          <p:cNvSpPr txBox="1"/>
          <p:nvPr/>
        </p:nvSpPr>
        <p:spPr>
          <a:xfrm>
            <a:off x="11083119" y="1143775"/>
            <a:ext cx="798368" cy="369332"/>
          </a:xfrm>
          <a:prstGeom prst="rect">
            <a:avLst/>
          </a:prstGeom>
          <a:noFill/>
        </p:spPr>
        <p:txBody>
          <a:bodyPr wrap="square" rtlCol="0">
            <a:spAutoFit/>
          </a:bodyPr>
          <a:lstStyle/>
          <a:p>
            <a:r>
              <a:rPr lang="en-US" altLang="zh-CN" dirty="0"/>
              <a:t>PC</a:t>
            </a:r>
            <a:r>
              <a:rPr lang="zh-CN" altLang="en-US" dirty="0"/>
              <a:t>端</a:t>
            </a:r>
          </a:p>
        </p:txBody>
      </p:sp>
    </p:spTree>
    <p:extLst>
      <p:ext uri="{BB962C8B-B14F-4D97-AF65-F5344CB8AC3E}">
        <p14:creationId xmlns:p14="http://schemas.microsoft.com/office/powerpoint/2010/main" val="3939411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CEC1F0D-A587-4FCC-B638-C7A416366B4E}"/>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F22F27CA-5E6E-4762-8DE2-3B18CBE709A2}"/>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17</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ACAEE91A-E2B7-4A84-BDF3-883B0F04E2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8290E8DC-17C2-13AD-AE6B-D2CCE81A5B62}"/>
              </a:ext>
            </a:extLst>
          </p:cNvPr>
          <p:cNvSpPr txBox="1"/>
          <p:nvPr/>
        </p:nvSpPr>
        <p:spPr>
          <a:xfrm>
            <a:off x="623392" y="69315"/>
            <a:ext cx="11568608" cy="369332"/>
          </a:xfrm>
          <a:prstGeom prst="rect">
            <a:avLst/>
          </a:prstGeom>
          <a:noFill/>
        </p:spPr>
        <p:txBody>
          <a:bodyPr wrap="square" rtlCol="0">
            <a:spAutoFit/>
          </a:bodyPr>
          <a:lstStyle/>
          <a:p>
            <a:r>
              <a:rPr lang="en-US" altLang="zh-CN" dirty="0"/>
              <a:t>Case</a:t>
            </a:r>
            <a:r>
              <a:rPr lang="zh-CN" altLang="en-US" dirty="0"/>
              <a:t> </a:t>
            </a:r>
            <a:r>
              <a:rPr lang="en-US" altLang="zh-CN" dirty="0"/>
              <a:t>study 1 </a:t>
            </a:r>
            <a:r>
              <a:rPr lang="zh-CN" altLang="en-US" dirty="0"/>
              <a:t>贝塞尔函数零点对应的最终光强结果</a:t>
            </a:r>
            <a:endParaRPr lang="en-US" altLang="zh-CN"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D07C98C-11EF-C7C8-CD05-AC2EF39B1C00}"/>
                  </a:ext>
                </a:extLst>
              </p:cNvPr>
              <p:cNvSpPr txBox="1"/>
              <p:nvPr/>
            </p:nvSpPr>
            <p:spPr>
              <a:xfrm>
                <a:off x="275141" y="684393"/>
                <a:ext cx="10585847" cy="339324"/>
              </a:xfrm>
              <a:prstGeom prst="rect">
                <a:avLst/>
              </a:prstGeom>
              <a:noFill/>
            </p:spPr>
            <p:txBody>
              <a:bodyPr wrap="none" lIns="0" tIns="0" rIns="0" bIns="0" rtlCol="0">
                <a:spAutoFit/>
              </a:bodyPr>
              <a:lstStyle/>
              <a:p>
                <a:r>
                  <a:rPr lang="zh-CN" altLang="en-US" sz="1600" dirty="0">
                    <a:solidFill>
                      <a:schemeClr val="tx1"/>
                    </a:solidFill>
                  </a:rPr>
                  <a:t>最终</a:t>
                </a:r>
                <a14:m>
                  <m:oMath xmlns:m="http://schemas.openxmlformats.org/officeDocument/2006/math">
                    <m:r>
                      <a:rPr lang="zh-CN" altLang="en-US" sz="1600" i="1">
                        <a:latin typeface="Cambria Math" panose="02040503050406030204" pitchFamily="18" charset="0"/>
                      </a:rPr>
                      <m:t>输出的</m:t>
                    </m:r>
                    <m:r>
                      <a:rPr lang="zh-CN" altLang="en-US" sz="1600" i="1" smtClean="0">
                        <a:latin typeface="Cambria Math" panose="02040503050406030204" pitchFamily="18" charset="0"/>
                      </a:rPr>
                      <m:t>光强</m:t>
                    </m:r>
                    <m:r>
                      <a:rPr lang="en-US" altLang="zh-CN" sz="1600" i="1" smtClean="0">
                        <a:solidFill>
                          <a:schemeClr val="tx1"/>
                        </a:solidFill>
                        <a:latin typeface="Cambria Math" panose="02040503050406030204" pitchFamily="18" charset="0"/>
                      </a:rPr>
                      <m:t>𝑃</m:t>
                    </m:r>
                    <m:d>
                      <m:dPr>
                        <m:ctrlPr>
                          <a:rPr lang="en-US" altLang="zh-CN" sz="1600" i="1">
                            <a:solidFill>
                              <a:schemeClr val="tx1"/>
                            </a:solidFill>
                            <a:latin typeface="Cambria Math" panose="02040503050406030204" pitchFamily="18" charset="0"/>
                          </a:rPr>
                        </m:ctrlPr>
                      </m:dPr>
                      <m:e>
                        <m:r>
                          <a:rPr lang="en-US" altLang="zh-CN" sz="1600" i="1">
                            <a:solidFill>
                              <a:schemeClr val="tx1"/>
                            </a:solidFill>
                            <a:latin typeface="Cambria Math" panose="02040503050406030204" pitchFamily="18" charset="0"/>
                          </a:rPr>
                          <m:t>𝑡</m:t>
                        </m:r>
                      </m:e>
                    </m:d>
                    <m:r>
                      <a:rPr lang="en-US" altLang="zh-CN" sz="1600" i="1">
                        <a:solidFill>
                          <a:schemeClr val="tx1"/>
                        </a:solidFill>
                        <a:latin typeface="Cambria Math" panose="02040503050406030204" pitchFamily="18" charset="0"/>
                      </a:rPr>
                      <m:t>=</m:t>
                    </m:r>
                    <m:f>
                      <m:fPr>
                        <m:ctrlPr>
                          <a:rPr lang="en-US" altLang="zh-CN" sz="1600" i="1">
                            <a:solidFill>
                              <a:schemeClr val="tx1"/>
                            </a:solidFill>
                            <a:latin typeface="Cambria Math" panose="02040503050406030204" pitchFamily="18" charset="0"/>
                          </a:rPr>
                        </m:ctrlPr>
                      </m:fPr>
                      <m:num>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m:rPr>
                                <m:sty m:val="p"/>
                              </m:rPr>
                              <a:rPr lang="en-US" altLang="zh-CN" sz="1600" i="1">
                                <a:solidFill>
                                  <a:schemeClr val="tx1"/>
                                </a:solidFill>
                                <a:latin typeface="Cambria Math" panose="02040503050406030204" pitchFamily="18" charset="0"/>
                              </a:rPr>
                              <m:t>post</m:t>
                            </m:r>
                          </m:sub>
                        </m:sSub>
                      </m:num>
                      <m:den>
                        <m:r>
                          <a:rPr lang="en-US" altLang="zh-CN" sz="1600" i="1">
                            <a:solidFill>
                              <a:schemeClr val="tx1"/>
                            </a:solidFill>
                            <a:latin typeface="Cambria Math" panose="02040503050406030204" pitchFamily="18" charset="0"/>
                          </a:rPr>
                          <m:t>2</m:t>
                        </m:r>
                      </m:den>
                    </m:f>
                    <m:d>
                      <m:dPr>
                        <m:begChr m:val="["/>
                        <m:endChr m:val="]"/>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𝑆</m:t>
                            </m:r>
                          </m:e>
                          <m:sub>
                            <m:r>
                              <a:rPr lang="en-US" altLang="zh-CN" sz="1600" i="1">
                                <a:solidFill>
                                  <a:schemeClr val="tx1"/>
                                </a:solidFill>
                                <a:latin typeface="Cambria Math" panose="02040503050406030204" pitchFamily="18" charset="0"/>
                              </a:rPr>
                              <m:t>0</m:t>
                            </m:r>
                          </m:sub>
                        </m:sSub>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𝐽</m:t>
                            </m:r>
                          </m:e>
                          <m:sub>
                            <m:r>
                              <a:rPr lang="en-US" altLang="zh-CN" sz="1600" i="1">
                                <a:solidFill>
                                  <a:schemeClr val="tx1"/>
                                </a:solidFill>
                                <a:latin typeface="Cambria Math" panose="02040503050406030204" pitchFamily="18" charset="0"/>
                              </a:rPr>
                              <m:t>0</m:t>
                            </m:r>
                          </m:sub>
                        </m:sSub>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𝛿</m:t>
                                </m:r>
                              </m:e>
                              <m:sub>
                                <m:r>
                                  <a:rPr lang="en-US" altLang="zh-CN" sz="1600" i="1">
                                    <a:solidFill>
                                      <a:schemeClr val="tx1"/>
                                    </a:solidFill>
                                    <a:latin typeface="Cambria Math" panose="02040503050406030204" pitchFamily="18" charset="0"/>
                                  </a:rPr>
                                  <m:t>0</m:t>
                                </m:r>
                              </m:sub>
                            </m:sSub>
                          </m:e>
                        </m:d>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𝑆</m:t>
                            </m:r>
                          </m:e>
                          <m:sub>
                            <m:r>
                              <a:rPr lang="en-US" altLang="zh-CN" sz="1600" i="1">
                                <a:solidFill>
                                  <a:schemeClr val="tx1"/>
                                </a:solidFill>
                                <a:latin typeface="Cambria Math" panose="02040503050406030204" pitchFamily="18" charset="0"/>
                              </a:rPr>
                              <m:t>1</m:t>
                            </m:r>
                          </m:sub>
                        </m:sSub>
                      </m:e>
                    </m:d>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m:rPr>
                            <m:sty m:val="p"/>
                          </m:rPr>
                          <a:rPr lang="en-US" altLang="zh-CN" sz="1600" i="1">
                            <a:solidFill>
                              <a:schemeClr val="tx1"/>
                            </a:solidFill>
                            <a:latin typeface="Cambria Math" panose="02040503050406030204" pitchFamily="18" charset="0"/>
                          </a:rPr>
                          <m:t>post</m:t>
                        </m:r>
                      </m:sub>
                    </m:sSub>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𝐽</m:t>
                        </m:r>
                      </m:e>
                      <m:sub>
                        <m:r>
                          <a:rPr lang="en-US" altLang="zh-CN" sz="1600" i="1">
                            <a:solidFill>
                              <a:schemeClr val="tx1"/>
                            </a:solidFill>
                            <a:latin typeface="Cambria Math" panose="02040503050406030204" pitchFamily="18" charset="0"/>
                          </a:rPr>
                          <m:t>1</m:t>
                        </m:r>
                      </m:sub>
                    </m:sSub>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𝛿</m:t>
                            </m:r>
                          </m:e>
                          <m:sub>
                            <m:r>
                              <a:rPr lang="en-US" altLang="zh-CN" sz="1600" i="1">
                                <a:solidFill>
                                  <a:schemeClr val="tx1"/>
                                </a:solidFill>
                                <a:latin typeface="Cambria Math" panose="02040503050406030204" pitchFamily="18" charset="0"/>
                              </a:rPr>
                              <m:t>0</m:t>
                            </m:r>
                          </m:sub>
                        </m:sSub>
                      </m:e>
                    </m:d>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𝑆</m:t>
                        </m:r>
                      </m:e>
                      <m:sub>
                        <m:r>
                          <a:rPr lang="en-US" altLang="zh-CN" sz="1600" i="1">
                            <a:solidFill>
                              <a:schemeClr val="tx1"/>
                            </a:solidFill>
                            <a:latin typeface="Cambria Math" panose="02040503050406030204" pitchFamily="18" charset="0"/>
                          </a:rPr>
                          <m:t>3</m:t>
                        </m:r>
                      </m:sub>
                    </m:sSub>
                    <m:func>
                      <m:funcPr>
                        <m:ctrlPr>
                          <a:rPr lang="en-US" altLang="zh-CN" sz="1600" i="1">
                            <a:solidFill>
                              <a:schemeClr val="tx1"/>
                            </a:solidFill>
                            <a:latin typeface="Cambria Math" panose="02040503050406030204" pitchFamily="18" charset="0"/>
                          </a:rPr>
                        </m:ctrlPr>
                      </m:funcPr>
                      <m:fName>
                        <m:r>
                          <m:rPr>
                            <m:sty m:val="p"/>
                          </m:rPr>
                          <a:rPr lang="en-US" altLang="zh-CN" sz="1600" i="1">
                            <a:solidFill>
                              <a:schemeClr val="tx1"/>
                            </a:solidFill>
                            <a:latin typeface="Cambria Math" panose="02040503050406030204" pitchFamily="18" charset="0"/>
                          </a:rPr>
                          <m:t>sin</m:t>
                        </m:r>
                      </m:fName>
                      <m:e>
                        <m:d>
                          <m:dPr>
                            <m:ctrlPr>
                              <a:rPr lang="en-US" altLang="zh-CN" sz="1600" i="1">
                                <a:solidFill>
                                  <a:schemeClr val="tx1"/>
                                </a:solidFill>
                                <a:latin typeface="Cambria Math" panose="02040503050406030204" pitchFamily="18" charset="0"/>
                              </a:rPr>
                            </m:ctrlPr>
                          </m:dPr>
                          <m:e>
                            <m:r>
                              <a:rPr lang="en-US" altLang="zh-CN" sz="1600" i="1">
                                <a:solidFill>
                                  <a:schemeClr val="tx1"/>
                                </a:solidFill>
                                <a:latin typeface="Cambria Math" panose="02040503050406030204" pitchFamily="18" charset="0"/>
                              </a:rPr>
                              <m:t>𝜔</m:t>
                            </m:r>
                            <m:r>
                              <a:rPr lang="en-US" altLang="zh-CN" sz="1600" i="1">
                                <a:solidFill>
                                  <a:schemeClr val="tx1"/>
                                </a:solidFill>
                                <a:latin typeface="Cambria Math" panose="02040503050406030204" pitchFamily="18" charset="0"/>
                              </a:rPr>
                              <m:t>𝑡</m:t>
                            </m:r>
                          </m:e>
                        </m:d>
                      </m:e>
                    </m:func>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m:rPr>
                            <m:sty m:val="p"/>
                          </m:rPr>
                          <a:rPr lang="en-US" altLang="zh-CN" sz="1600" i="1">
                            <a:solidFill>
                              <a:schemeClr val="tx1"/>
                            </a:solidFill>
                            <a:latin typeface="Cambria Math" panose="02040503050406030204" pitchFamily="18" charset="0"/>
                          </a:rPr>
                          <m:t>post</m:t>
                        </m:r>
                      </m:sub>
                    </m:sSub>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𝐽</m:t>
                        </m:r>
                      </m:e>
                      <m:sub>
                        <m:r>
                          <a:rPr lang="en-US" altLang="zh-CN" sz="1600" i="1">
                            <a:solidFill>
                              <a:schemeClr val="tx1"/>
                            </a:solidFill>
                            <a:latin typeface="Cambria Math" panose="02040503050406030204" pitchFamily="18" charset="0"/>
                          </a:rPr>
                          <m:t>2</m:t>
                        </m:r>
                      </m:sub>
                    </m:sSub>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𝛿</m:t>
                            </m:r>
                          </m:e>
                          <m:sub>
                            <m:r>
                              <a:rPr lang="en-US" altLang="zh-CN" sz="1600" i="1">
                                <a:solidFill>
                                  <a:schemeClr val="tx1"/>
                                </a:solidFill>
                                <a:latin typeface="Cambria Math" panose="02040503050406030204" pitchFamily="18" charset="0"/>
                              </a:rPr>
                              <m:t>0</m:t>
                            </m:r>
                          </m:sub>
                        </m:sSub>
                      </m:e>
                    </m:d>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𝑆</m:t>
                        </m:r>
                      </m:e>
                      <m:sub>
                        <m:r>
                          <a:rPr lang="en-US" altLang="zh-CN" sz="1600" i="1">
                            <a:solidFill>
                              <a:schemeClr val="tx1"/>
                            </a:solidFill>
                            <a:latin typeface="Cambria Math" panose="02040503050406030204" pitchFamily="18" charset="0"/>
                          </a:rPr>
                          <m:t>1</m:t>
                        </m:r>
                      </m:sub>
                    </m:sSub>
                    <m:func>
                      <m:funcPr>
                        <m:ctrlPr>
                          <a:rPr lang="en-US" altLang="zh-CN" sz="1600" i="1">
                            <a:solidFill>
                              <a:schemeClr val="tx1"/>
                            </a:solidFill>
                            <a:latin typeface="Cambria Math" panose="02040503050406030204" pitchFamily="18" charset="0"/>
                          </a:rPr>
                        </m:ctrlPr>
                      </m:funcPr>
                      <m:fName>
                        <m:r>
                          <m:rPr>
                            <m:sty m:val="p"/>
                          </m:rPr>
                          <a:rPr lang="en-US" altLang="zh-CN" sz="1600" i="1">
                            <a:solidFill>
                              <a:schemeClr val="tx1"/>
                            </a:solidFill>
                            <a:latin typeface="Cambria Math" panose="02040503050406030204" pitchFamily="18" charset="0"/>
                          </a:rPr>
                          <m:t>cos</m:t>
                        </m:r>
                      </m:fName>
                      <m:e>
                        <m:d>
                          <m:dPr>
                            <m:ctrlPr>
                              <a:rPr lang="en-US" altLang="zh-CN" sz="1600" i="1">
                                <a:solidFill>
                                  <a:schemeClr val="tx1"/>
                                </a:solidFill>
                                <a:latin typeface="Cambria Math" panose="02040503050406030204" pitchFamily="18" charset="0"/>
                              </a:rPr>
                            </m:ctrlPr>
                          </m:dPr>
                          <m:e>
                            <m:r>
                              <a:rPr lang="en-US" altLang="zh-CN" sz="1600" i="1">
                                <a:solidFill>
                                  <a:schemeClr val="tx1"/>
                                </a:solidFill>
                                <a:latin typeface="Cambria Math" panose="02040503050406030204" pitchFamily="18" charset="0"/>
                              </a:rPr>
                              <m:t>2</m:t>
                            </m:r>
                            <m:r>
                              <a:rPr lang="en-US" altLang="zh-CN" sz="1600" i="1">
                                <a:solidFill>
                                  <a:schemeClr val="tx1"/>
                                </a:solidFill>
                                <a:latin typeface="Cambria Math" panose="02040503050406030204" pitchFamily="18" charset="0"/>
                              </a:rPr>
                              <m:t>𝜔</m:t>
                            </m:r>
                            <m:r>
                              <a:rPr lang="en-US" altLang="zh-CN" sz="1600" i="1">
                                <a:solidFill>
                                  <a:schemeClr val="tx1"/>
                                </a:solidFill>
                                <a:latin typeface="Cambria Math" panose="02040503050406030204" pitchFamily="18" charset="0"/>
                              </a:rPr>
                              <m:t>𝑡</m:t>
                            </m:r>
                          </m:e>
                        </m:d>
                      </m:e>
                    </m:func>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m:rPr>
                            <m:sty m:val="p"/>
                          </m:rPr>
                          <a:rPr lang="en-US" altLang="zh-CN" sz="1600" i="1">
                            <a:solidFill>
                              <a:schemeClr val="tx1"/>
                            </a:solidFill>
                            <a:latin typeface="Cambria Math" panose="02040503050406030204" pitchFamily="18" charset="0"/>
                          </a:rPr>
                          <m:t>post</m:t>
                        </m:r>
                      </m:sub>
                    </m:sSub>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𝐽</m:t>
                        </m:r>
                      </m:e>
                      <m:sub>
                        <m:r>
                          <a:rPr lang="en-US" altLang="zh-CN" sz="1600" i="1">
                            <a:solidFill>
                              <a:schemeClr val="tx1"/>
                            </a:solidFill>
                            <a:latin typeface="Cambria Math" panose="02040503050406030204" pitchFamily="18" charset="0"/>
                          </a:rPr>
                          <m:t>3</m:t>
                        </m:r>
                      </m:sub>
                    </m:sSub>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𝛿</m:t>
                            </m:r>
                          </m:e>
                          <m:sub>
                            <m:r>
                              <a:rPr lang="en-US" altLang="zh-CN" sz="1600" i="1">
                                <a:solidFill>
                                  <a:schemeClr val="tx1"/>
                                </a:solidFill>
                                <a:latin typeface="Cambria Math" panose="02040503050406030204" pitchFamily="18" charset="0"/>
                              </a:rPr>
                              <m:t>0</m:t>
                            </m:r>
                          </m:sub>
                        </m:sSub>
                      </m:e>
                    </m:d>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𝑆</m:t>
                        </m:r>
                      </m:e>
                      <m:sub>
                        <m:r>
                          <a:rPr lang="en-US" altLang="zh-CN" sz="1600" i="1">
                            <a:solidFill>
                              <a:schemeClr val="tx1"/>
                            </a:solidFill>
                            <a:latin typeface="Cambria Math" panose="02040503050406030204" pitchFamily="18" charset="0"/>
                          </a:rPr>
                          <m:t>3</m:t>
                        </m:r>
                      </m:sub>
                    </m:sSub>
                    <m:func>
                      <m:funcPr>
                        <m:ctrlPr>
                          <a:rPr lang="en-US" altLang="zh-CN" sz="1600" i="1">
                            <a:solidFill>
                              <a:schemeClr val="tx1"/>
                            </a:solidFill>
                            <a:latin typeface="Cambria Math" panose="02040503050406030204" pitchFamily="18" charset="0"/>
                          </a:rPr>
                        </m:ctrlPr>
                      </m:funcPr>
                      <m:fName>
                        <m:r>
                          <m:rPr>
                            <m:sty m:val="p"/>
                          </m:rPr>
                          <a:rPr lang="en-US" altLang="zh-CN" sz="1600" i="1">
                            <a:solidFill>
                              <a:schemeClr val="tx1"/>
                            </a:solidFill>
                            <a:latin typeface="Cambria Math" panose="02040503050406030204" pitchFamily="18" charset="0"/>
                          </a:rPr>
                          <m:t>sin</m:t>
                        </m:r>
                      </m:fName>
                      <m:e>
                        <m:d>
                          <m:dPr>
                            <m:ctrlPr>
                              <a:rPr lang="en-US" altLang="zh-CN" sz="1600" i="1">
                                <a:solidFill>
                                  <a:schemeClr val="tx1"/>
                                </a:solidFill>
                                <a:latin typeface="Cambria Math" panose="02040503050406030204" pitchFamily="18" charset="0"/>
                              </a:rPr>
                            </m:ctrlPr>
                          </m:dPr>
                          <m:e>
                            <m:r>
                              <a:rPr lang="en-US" altLang="zh-CN" sz="1600" i="1">
                                <a:solidFill>
                                  <a:schemeClr val="tx1"/>
                                </a:solidFill>
                                <a:latin typeface="Cambria Math" panose="02040503050406030204" pitchFamily="18" charset="0"/>
                              </a:rPr>
                              <m:t>3</m:t>
                            </m:r>
                            <m:r>
                              <a:rPr lang="en-US" altLang="zh-CN" sz="1600" i="1">
                                <a:solidFill>
                                  <a:schemeClr val="tx1"/>
                                </a:solidFill>
                                <a:latin typeface="Cambria Math" panose="02040503050406030204" pitchFamily="18" charset="0"/>
                              </a:rPr>
                              <m:t>𝜔</m:t>
                            </m:r>
                            <m:r>
                              <a:rPr lang="en-US" altLang="zh-CN" sz="1600" i="1">
                                <a:solidFill>
                                  <a:schemeClr val="tx1"/>
                                </a:solidFill>
                                <a:latin typeface="Cambria Math" panose="02040503050406030204" pitchFamily="18" charset="0"/>
                              </a:rPr>
                              <m:t>𝑡</m:t>
                            </m:r>
                          </m:e>
                        </m:d>
                      </m:e>
                    </m:func>
                    <m:r>
                      <a:rPr lang="en-US" altLang="zh-CN" sz="1600" i="1">
                        <a:solidFill>
                          <a:schemeClr val="tx1"/>
                        </a:solidFill>
                        <a:latin typeface="Cambria Math" panose="02040503050406030204" pitchFamily="18" charset="0"/>
                      </a:rPr>
                      <m:t>−⋯</m:t>
                    </m:r>
                  </m:oMath>
                </a14:m>
                <a:endParaRPr lang="zh-CN" altLang="en-US" sz="1600" dirty="0">
                  <a:solidFill>
                    <a:schemeClr val="tx1"/>
                  </a:solidFill>
                </a:endParaRPr>
              </a:p>
            </p:txBody>
          </p:sp>
        </mc:Choice>
        <mc:Fallback xmlns="">
          <p:sp>
            <p:nvSpPr>
              <p:cNvPr id="6" name="文本框 5">
                <a:extLst>
                  <a:ext uri="{FF2B5EF4-FFF2-40B4-BE49-F238E27FC236}">
                    <a16:creationId xmlns:a16="http://schemas.microsoft.com/office/drawing/2014/main" id="{CD07C98C-11EF-C7C8-CD05-AC2EF39B1C00}"/>
                  </a:ext>
                </a:extLst>
              </p:cNvPr>
              <p:cNvSpPr txBox="1">
                <a:spLocks noRot="1" noChangeAspect="1" noMove="1" noResize="1" noEditPoints="1" noAdjustHandles="1" noChangeArrowheads="1" noChangeShapeType="1" noTextEdit="1"/>
              </p:cNvSpPr>
              <p:nvPr/>
            </p:nvSpPr>
            <p:spPr>
              <a:xfrm>
                <a:off x="275141" y="684393"/>
                <a:ext cx="10585847" cy="339324"/>
              </a:xfrm>
              <a:prstGeom prst="rect">
                <a:avLst/>
              </a:prstGeom>
              <a:blipFill>
                <a:blip r:embed="rId3"/>
                <a:stretch>
                  <a:fillRect l="-1151" t="-7143" b="-19643"/>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8C169F44-F7E6-A7DA-8296-C6AF722128D7}"/>
              </a:ext>
            </a:extLst>
          </p:cNvPr>
          <p:cNvPicPr>
            <a:picLocks noChangeAspect="1"/>
          </p:cNvPicPr>
          <p:nvPr/>
        </p:nvPicPr>
        <p:blipFill>
          <a:blip r:embed="rId4"/>
          <a:stretch>
            <a:fillRect/>
          </a:stretch>
        </p:blipFill>
        <p:spPr>
          <a:xfrm>
            <a:off x="127804" y="1484784"/>
            <a:ext cx="3675594" cy="2938924"/>
          </a:xfrm>
          <a:prstGeom prst="rect">
            <a:avLst/>
          </a:prstGeom>
        </p:spPr>
      </p:pic>
      <p:sp>
        <p:nvSpPr>
          <p:cNvPr id="16" name="椭圆 15">
            <a:extLst>
              <a:ext uri="{FF2B5EF4-FFF2-40B4-BE49-F238E27FC236}">
                <a16:creationId xmlns:a16="http://schemas.microsoft.com/office/drawing/2014/main" id="{41868783-7693-BDC1-16D3-C42B527C02F7}"/>
              </a:ext>
            </a:extLst>
          </p:cNvPr>
          <p:cNvSpPr/>
          <p:nvPr/>
        </p:nvSpPr>
        <p:spPr>
          <a:xfrm>
            <a:off x="695400" y="3415596"/>
            <a:ext cx="144016" cy="14401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箭头连接符 17">
            <a:extLst>
              <a:ext uri="{FF2B5EF4-FFF2-40B4-BE49-F238E27FC236}">
                <a16:creationId xmlns:a16="http://schemas.microsoft.com/office/drawing/2014/main" id="{C77E8EA9-1D51-6D1A-7C65-D19CF0415076}"/>
              </a:ext>
            </a:extLst>
          </p:cNvPr>
          <p:cNvCxnSpPr>
            <a:cxnSpLocks/>
          </p:cNvCxnSpPr>
          <p:nvPr/>
        </p:nvCxnSpPr>
        <p:spPr>
          <a:xfrm flipV="1">
            <a:off x="839416" y="1557423"/>
            <a:ext cx="3384376" cy="1858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A46D9FFB-769D-792C-4E33-1FDB2C77354B}"/>
                  </a:ext>
                </a:extLst>
              </p:cNvPr>
              <p:cNvSpPr txBox="1"/>
              <p:nvPr/>
            </p:nvSpPr>
            <p:spPr>
              <a:xfrm>
                <a:off x="4295800" y="1167733"/>
                <a:ext cx="7848872" cy="3815532"/>
              </a:xfrm>
              <a:prstGeom prst="rect">
                <a:avLst/>
              </a:prstGeom>
              <a:noFill/>
            </p:spPr>
            <p:txBody>
              <a:bodyPr wrap="square" rtlCol="0">
                <a:spAutoFit/>
              </a:bodyPr>
              <a:lstStyle/>
              <a:p>
                <a:pPr marL="342900" indent="-342900">
                  <a:buFont typeface="+mj-lt"/>
                  <a:buAutoNum type="arabicPeriod"/>
                </a:pPr>
                <a:r>
                  <a:rPr lang="zh-CN" altLang="en-US" dirty="0"/>
                  <a:t>当</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r>
                      <a:rPr lang="en-US" altLang="zh-CN" i="1">
                        <a:latin typeface="Cambria Math" panose="02040503050406030204" pitchFamily="18" charset="0"/>
                      </a:rPr>
                      <m:t> </m:t>
                    </m:r>
                  </m:oMath>
                </a14:m>
                <a:r>
                  <a:rPr lang="en-US" altLang="zh-CN" dirty="0"/>
                  <a:t>=2.404</a:t>
                </a:r>
                <a:r>
                  <a:rPr lang="zh-CN" altLang="en-US" dirty="0"/>
                  <a:t>时，</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0</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r>
                      <a:rPr lang="en-US" altLang="zh-CN" b="0" i="1" smtClean="0">
                        <a:latin typeface="Cambria Math" panose="02040503050406030204" pitchFamily="18" charset="0"/>
                      </a:rPr>
                      <m:t>=0</m:t>
                    </m:r>
                    <m:r>
                      <a:rPr lang="zh-CN" altLang="en-US" i="1">
                        <a:latin typeface="Cambria Math" panose="02040503050406030204" pitchFamily="18" charset="0"/>
                      </a:rPr>
                      <m:t>，</m:t>
                    </m:r>
                  </m:oMath>
                </a14:m>
                <a:r>
                  <a:rPr lang="en-US" altLang="zh-CN" dirty="0"/>
                  <a:t> </a:t>
                </a:r>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num>
                      <m:den>
                        <m:r>
                          <a:rPr lang="en-US" altLang="zh-CN" i="1">
                            <a:latin typeface="Cambria Math" panose="02040503050406030204" pitchFamily="18" charset="0"/>
                          </a:rPr>
                          <m:t>2</m:t>
                        </m:r>
                      </m:den>
                    </m:f>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0</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1</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𝜔</m:t>
                            </m:r>
                            <m:r>
                              <a:rPr lang="en-US" altLang="zh-CN" i="1">
                                <a:latin typeface="Cambria Math" panose="02040503050406030204" pitchFamily="18" charset="0"/>
                              </a:rPr>
                              <m:t>𝑡</m:t>
                            </m:r>
                          </m:e>
                        </m:d>
                      </m:e>
                    </m:func>
                    <m:r>
                      <a:rPr lang="en-US" altLang="zh-CN"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𝜔</m:t>
                            </m:r>
                            <m:r>
                              <a:rPr lang="en-US" altLang="zh-CN" i="1">
                                <a:latin typeface="Cambria Math" panose="02040503050406030204" pitchFamily="18" charset="0"/>
                              </a:rPr>
                              <m:t>𝑡</m:t>
                            </m:r>
                          </m:e>
                        </m:d>
                      </m:e>
                    </m:fun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3</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3</m:t>
                            </m:r>
                            <m:r>
                              <a:rPr lang="en-US" altLang="zh-CN" i="1">
                                <a:latin typeface="Cambria Math" panose="02040503050406030204" pitchFamily="18" charset="0"/>
                              </a:rPr>
                              <m:t>𝜔</m:t>
                            </m:r>
                            <m:r>
                              <a:rPr lang="en-US" altLang="zh-CN" i="1">
                                <a:latin typeface="Cambria Math" panose="02040503050406030204" pitchFamily="18" charset="0"/>
                              </a:rPr>
                              <m:t>𝑡</m:t>
                            </m:r>
                          </m:e>
                        </m:d>
                      </m:e>
                    </m:func>
                    <m:r>
                      <a:rPr lang="en-US" altLang="zh-CN" i="1">
                        <a:latin typeface="Cambria Math" panose="02040503050406030204" pitchFamily="18" charset="0"/>
                      </a:rPr>
                      <m:t>⋯</m:t>
                    </m:r>
                  </m:oMath>
                </a14:m>
                <a:endParaRPr lang="en-US" altLang="zh-CN" dirty="0"/>
              </a:p>
              <a:p>
                <a:r>
                  <a:rPr lang="zh-CN" altLang="en-US" dirty="0"/>
                  <a:t>      结论：此时直流分量只与</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0</m:t>
                        </m:r>
                      </m:sub>
                    </m:sSub>
                    <m:r>
                      <a:rPr lang="zh-CN" altLang="en-US" i="1">
                        <a:latin typeface="Cambria Math" panose="02040503050406030204" pitchFamily="18" charset="0"/>
                      </a:rPr>
                      <m:t>相关</m:t>
                    </m:r>
                  </m:oMath>
                </a14:m>
                <a:r>
                  <a:rPr lang="zh-CN" altLang="en-US" dirty="0"/>
                  <a:t>，与</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1</m:t>
                        </m:r>
                      </m:sub>
                    </m:sSub>
                    <m:r>
                      <a:rPr lang="zh-CN" altLang="en-US" i="1">
                        <a:latin typeface="Cambria Math" panose="02040503050406030204" pitchFamily="18" charset="0"/>
                      </a:rPr>
                      <m:t>解耦</m:t>
                    </m:r>
                  </m:oMath>
                </a14:m>
                <a:endParaRPr lang="en-US" altLang="zh-CN" dirty="0"/>
              </a:p>
              <a:p>
                <a:endParaRPr lang="en-US" altLang="zh-CN" dirty="0"/>
              </a:p>
              <a:p>
                <a:pPr marL="342900" indent="-342900">
                  <a:buFont typeface="+mj-lt"/>
                  <a:buAutoNum type="arabicPeriod" startAt="2"/>
                </a:pPr>
                <a:r>
                  <a:rPr lang="zh-CN" altLang="en-US" dirty="0"/>
                  <a:t>当</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r>
                      <a:rPr lang="en-US" altLang="zh-CN" i="1">
                        <a:latin typeface="Cambria Math" panose="02040503050406030204" pitchFamily="18" charset="0"/>
                      </a:rPr>
                      <m:t> </m:t>
                    </m:r>
                  </m:oMath>
                </a14:m>
                <a:r>
                  <a:rPr lang="en-US" altLang="zh-CN" dirty="0"/>
                  <a:t>=</a:t>
                </a:r>
                <a14:m>
                  <m:oMath xmlns:m="http://schemas.openxmlformats.org/officeDocument/2006/math">
                    <m:r>
                      <a:rPr lang="en-US" altLang="zh-CN" dirty="0" smtClean="0">
                        <a:latin typeface="Cambria Math" panose="02040503050406030204" pitchFamily="18" charset="0"/>
                      </a:rPr>
                      <m:t>3.831</m:t>
                    </m:r>
                  </m:oMath>
                </a14:m>
                <a:r>
                  <a:rPr lang="zh-CN" altLang="en-US" dirty="0"/>
                  <a:t>时， </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b="0" i="1" smtClean="0">
                            <a:latin typeface="Cambria Math" panose="02040503050406030204" pitchFamily="18" charset="0"/>
                          </a:rPr>
                          <m:t>1</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r>
                      <a:rPr lang="en-US" altLang="zh-CN" i="1">
                        <a:latin typeface="Cambria Math" panose="02040503050406030204" pitchFamily="18" charset="0"/>
                      </a:rPr>
                      <m:t>=0</m:t>
                    </m:r>
                    <m:r>
                      <a:rPr lang="zh-CN" altLang="en-US" i="1" smtClean="0">
                        <a:latin typeface="Cambria Math" panose="02040503050406030204" pitchFamily="18" charset="0"/>
                      </a:rPr>
                      <m:t>，</m:t>
                    </m:r>
                  </m:oMath>
                </a14:m>
                <a:r>
                  <a:rPr lang="en-US" altLang="zh-CN" dirty="0"/>
                  <a:t> </a:t>
                </a:r>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num>
                      <m:den>
                        <m:r>
                          <a:rPr lang="en-US" altLang="zh-CN" i="1">
                            <a:latin typeface="Cambria Math" panose="02040503050406030204" pitchFamily="18" charset="0"/>
                          </a:rPr>
                          <m:t>2</m:t>
                        </m:r>
                      </m:den>
                    </m:f>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0</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0</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𝜔</m:t>
                            </m:r>
                            <m:r>
                              <a:rPr lang="en-US" altLang="zh-CN" i="1">
                                <a:latin typeface="Cambria Math" panose="02040503050406030204" pitchFamily="18" charset="0"/>
                              </a:rPr>
                              <m:t>𝑡</m:t>
                            </m:r>
                          </m:e>
                        </m:d>
                      </m:e>
                    </m:fun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3</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3</m:t>
                            </m:r>
                            <m:r>
                              <a:rPr lang="en-US" altLang="zh-CN" i="1">
                                <a:latin typeface="Cambria Math" panose="02040503050406030204" pitchFamily="18" charset="0"/>
                              </a:rPr>
                              <m:t>𝜔</m:t>
                            </m:r>
                            <m:r>
                              <a:rPr lang="en-US" altLang="zh-CN" i="1">
                                <a:latin typeface="Cambria Math" panose="02040503050406030204" pitchFamily="18" charset="0"/>
                              </a:rPr>
                              <m:t>𝑡</m:t>
                            </m:r>
                          </m:e>
                        </m:d>
                      </m:e>
                    </m:func>
                    <m:r>
                      <a:rPr lang="en-US" altLang="zh-CN" i="1">
                        <a:latin typeface="Cambria Math" panose="02040503050406030204" pitchFamily="18" charset="0"/>
                      </a:rPr>
                      <m:t>−⋯</m:t>
                    </m:r>
                  </m:oMath>
                </a14:m>
                <a:endParaRPr lang="en-US" altLang="zh-CN" dirty="0"/>
              </a:p>
              <a:p>
                <a:r>
                  <a:rPr lang="en-US" altLang="zh-CN" dirty="0"/>
                  <a:t>     </a:t>
                </a:r>
                <a:r>
                  <a:rPr lang="zh-CN" altLang="en-US" dirty="0"/>
                  <a:t>结论：</a:t>
                </a:r>
                <a:r>
                  <a:rPr lang="en-US" altLang="zh-CN" dirty="0"/>
                  <a:t> </a:t>
                </a:r>
                <a:r>
                  <a:rPr lang="zh-CN" altLang="en-US" dirty="0"/>
                  <a:t>此时，一倍频分量消失</a:t>
                </a:r>
                <a:endParaRPr lang="en-US" altLang="zh-CN" dirty="0"/>
              </a:p>
              <a:p>
                <a:endParaRPr lang="en-US" altLang="zh-CN" dirty="0"/>
              </a:p>
              <a:p>
                <a:pPr marL="342900" indent="-342900">
                  <a:buFont typeface="+mj-lt"/>
                  <a:buAutoNum type="arabicPeriod" startAt="3"/>
                </a:pPr>
                <a:r>
                  <a:rPr lang="zh-CN" altLang="en-US" dirty="0"/>
                  <a:t>当</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r>
                      <a:rPr lang="en-US" altLang="zh-CN" i="1">
                        <a:latin typeface="Cambria Math" panose="02040503050406030204" pitchFamily="18" charset="0"/>
                      </a:rPr>
                      <m:t> </m:t>
                    </m:r>
                  </m:oMath>
                </a14:m>
                <a:r>
                  <a:rPr lang="en-US" altLang="zh-CN" dirty="0"/>
                  <a:t>=</a:t>
                </a:r>
                <a14:m>
                  <m:oMath xmlns:m="http://schemas.openxmlformats.org/officeDocument/2006/math">
                    <m:r>
                      <a:rPr lang="zh-CN" altLang="zh-CN" dirty="0" smtClean="0">
                        <a:latin typeface="Cambria Math" panose="02040503050406030204" pitchFamily="18" charset="0"/>
                      </a:rPr>
                      <m:t>5.1356</m:t>
                    </m:r>
                  </m:oMath>
                </a14:m>
                <a:r>
                  <a:rPr lang="zh-CN" altLang="en-US" dirty="0"/>
                  <a:t>时，</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b="0" i="1" smtClean="0">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r>
                      <a:rPr lang="en-US" altLang="zh-CN" i="1">
                        <a:latin typeface="Cambria Math" panose="02040503050406030204" pitchFamily="18" charset="0"/>
                      </a:rPr>
                      <m:t> =0 </m:t>
                    </m:r>
                    <m:r>
                      <a:rPr lang="zh-CN" altLang="en-US" i="1" smtClean="0">
                        <a:latin typeface="Cambria Math" panose="02040503050406030204" pitchFamily="18" charset="0"/>
                      </a:rPr>
                      <m:t>，</m:t>
                    </m:r>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num>
                      <m:den>
                        <m:r>
                          <a:rPr lang="en-US" altLang="zh-CN" i="1">
                            <a:latin typeface="Cambria Math" panose="02040503050406030204" pitchFamily="18" charset="0"/>
                          </a:rPr>
                          <m:t>2</m:t>
                        </m:r>
                      </m:den>
                    </m:f>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0</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0</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1</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𝜔</m:t>
                            </m:r>
                            <m:r>
                              <a:rPr lang="en-US" altLang="zh-CN" i="1">
                                <a:latin typeface="Cambria Math" panose="02040503050406030204" pitchFamily="18" charset="0"/>
                              </a:rPr>
                              <m:t>𝑡</m:t>
                            </m:r>
                          </m:e>
                        </m:d>
                      </m:e>
                    </m:fun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3</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3</m:t>
                            </m:r>
                            <m:r>
                              <a:rPr lang="en-US" altLang="zh-CN" i="1">
                                <a:latin typeface="Cambria Math" panose="02040503050406030204" pitchFamily="18" charset="0"/>
                              </a:rPr>
                              <m:t>𝜔</m:t>
                            </m:r>
                            <m:r>
                              <a:rPr lang="en-US" altLang="zh-CN" i="1">
                                <a:latin typeface="Cambria Math" panose="02040503050406030204" pitchFamily="18" charset="0"/>
                              </a:rPr>
                              <m:t>𝑡</m:t>
                            </m:r>
                          </m:e>
                        </m:d>
                      </m:e>
                    </m:func>
                  </m:oMath>
                </a14:m>
                <a:endParaRPr lang="en-US" altLang="zh-CN" dirty="0"/>
              </a:p>
              <a:p>
                <a:r>
                  <a:rPr lang="en-US" altLang="zh-CN" dirty="0"/>
                  <a:t>      </a:t>
                </a:r>
                <a:r>
                  <a:rPr lang="zh-CN" altLang="en-US" dirty="0"/>
                  <a:t>结论：此时，二倍频分量消失</a:t>
                </a:r>
                <a:endParaRPr lang="en-US" altLang="zh-CN" dirty="0"/>
              </a:p>
              <a:p>
                <a:endParaRPr lang="zh-CN" altLang="en-US" dirty="0"/>
              </a:p>
            </p:txBody>
          </p:sp>
        </mc:Choice>
        <mc:Fallback>
          <p:sp>
            <p:nvSpPr>
              <p:cNvPr id="19" name="文本框 18">
                <a:extLst>
                  <a:ext uri="{FF2B5EF4-FFF2-40B4-BE49-F238E27FC236}">
                    <a16:creationId xmlns:a16="http://schemas.microsoft.com/office/drawing/2014/main" id="{A46D9FFB-769D-792C-4E33-1FDB2C77354B}"/>
                  </a:ext>
                </a:extLst>
              </p:cNvPr>
              <p:cNvSpPr txBox="1">
                <a:spLocks noRot="1" noChangeAspect="1" noMove="1" noResize="1" noEditPoints="1" noAdjustHandles="1" noChangeArrowheads="1" noChangeShapeType="1" noTextEdit="1"/>
              </p:cNvSpPr>
              <p:nvPr/>
            </p:nvSpPr>
            <p:spPr>
              <a:xfrm>
                <a:off x="4295800" y="1167733"/>
                <a:ext cx="7848872" cy="3815532"/>
              </a:xfrm>
              <a:prstGeom prst="rect">
                <a:avLst/>
              </a:prstGeom>
              <a:blipFill>
                <a:blip r:embed="rId5"/>
                <a:stretch>
                  <a:fillRect l="-544"/>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118D5253-438F-E464-6F09-7E5A3708A333}"/>
              </a:ext>
            </a:extLst>
          </p:cNvPr>
          <p:cNvSpPr txBox="1"/>
          <p:nvPr/>
        </p:nvSpPr>
        <p:spPr>
          <a:xfrm>
            <a:off x="1127448" y="1167733"/>
            <a:ext cx="1800200" cy="369332"/>
          </a:xfrm>
          <a:prstGeom prst="rect">
            <a:avLst/>
          </a:prstGeom>
          <a:noFill/>
        </p:spPr>
        <p:txBody>
          <a:bodyPr wrap="square" rtlCol="0">
            <a:spAutoFit/>
          </a:bodyPr>
          <a:lstStyle/>
          <a:p>
            <a:r>
              <a:rPr lang="zh-CN" altLang="en-US" dirty="0"/>
              <a:t>贝塞尔函数图像</a:t>
            </a:r>
          </a:p>
        </p:txBody>
      </p:sp>
      <p:sp>
        <p:nvSpPr>
          <p:cNvPr id="38" name="椭圆 37">
            <a:extLst>
              <a:ext uri="{FF2B5EF4-FFF2-40B4-BE49-F238E27FC236}">
                <a16:creationId xmlns:a16="http://schemas.microsoft.com/office/drawing/2014/main" id="{6824B6BC-697A-888A-8261-DA2A0C8B8B45}"/>
              </a:ext>
            </a:extLst>
          </p:cNvPr>
          <p:cNvSpPr/>
          <p:nvPr/>
        </p:nvSpPr>
        <p:spPr>
          <a:xfrm>
            <a:off x="941601" y="3420617"/>
            <a:ext cx="144016" cy="14401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9E0D1E50-0904-A04B-EDC8-A666C3FAC285}"/>
              </a:ext>
            </a:extLst>
          </p:cNvPr>
          <p:cNvSpPr/>
          <p:nvPr/>
        </p:nvSpPr>
        <p:spPr>
          <a:xfrm>
            <a:off x="1138797" y="3418938"/>
            <a:ext cx="144016" cy="14401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a:extLst>
              <a:ext uri="{FF2B5EF4-FFF2-40B4-BE49-F238E27FC236}">
                <a16:creationId xmlns:a16="http://schemas.microsoft.com/office/drawing/2014/main" id="{7523740E-C013-11F5-C747-514D5EF8A0D6}"/>
              </a:ext>
            </a:extLst>
          </p:cNvPr>
          <p:cNvCxnSpPr>
            <a:cxnSpLocks/>
            <a:stCxn id="38" idx="1"/>
          </p:cNvCxnSpPr>
          <p:nvPr/>
        </p:nvCxnSpPr>
        <p:spPr>
          <a:xfrm flipV="1">
            <a:off x="962692" y="2486509"/>
            <a:ext cx="3261100" cy="9551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83674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2C6C6-B938-04FC-28B4-48CCF64784D0}"/>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E2E79AC9-ADB3-1312-17BE-54F290CA9A33}"/>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7F78A181-A3C6-DE61-CCA7-E3F9CA4F8E5E}"/>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18</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9448B460-A964-3AE2-2E64-455DA95FA2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ABD61255-F7A5-A294-79C6-1AB797CFC060}"/>
              </a:ext>
            </a:extLst>
          </p:cNvPr>
          <p:cNvSpPr txBox="1"/>
          <p:nvPr/>
        </p:nvSpPr>
        <p:spPr>
          <a:xfrm>
            <a:off x="623392" y="69315"/>
            <a:ext cx="11568608" cy="369332"/>
          </a:xfrm>
          <a:prstGeom prst="rect">
            <a:avLst/>
          </a:prstGeom>
          <a:noFill/>
        </p:spPr>
        <p:txBody>
          <a:bodyPr wrap="square" rtlCol="0">
            <a:spAutoFit/>
          </a:bodyPr>
          <a:lstStyle/>
          <a:p>
            <a:r>
              <a:rPr lang="en-US" altLang="zh-CN" dirty="0"/>
              <a:t>Case</a:t>
            </a:r>
            <a:r>
              <a:rPr lang="zh-CN" altLang="en-US" dirty="0"/>
              <a:t> </a:t>
            </a:r>
            <a:r>
              <a:rPr lang="en-US" altLang="zh-CN" dirty="0"/>
              <a:t>study 2 </a:t>
            </a:r>
            <a:r>
              <a:rPr lang="zh-CN" altLang="en-US" dirty="0"/>
              <a:t>当</a:t>
            </a:r>
            <a:r>
              <a:rPr lang="en-US" altLang="zh-CN" dirty="0"/>
              <a:t>45°</a:t>
            </a:r>
            <a:r>
              <a:rPr lang="zh-CN" altLang="en-US" dirty="0"/>
              <a:t>偏振光入射的时候，会有什么变化？</a:t>
            </a:r>
            <a:endParaRPr lang="en-US" altLang="zh-CN" dirty="0"/>
          </a:p>
        </p:txBody>
      </p:sp>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FB340046-4ED7-8CC9-42C0-520C80C77E5F}"/>
                  </a:ext>
                </a:extLst>
              </p:cNvPr>
              <p:cNvSpPr txBox="1"/>
              <p:nvPr/>
            </p:nvSpPr>
            <p:spPr>
              <a:xfrm>
                <a:off x="106732" y="2118752"/>
                <a:ext cx="11677900" cy="1493358"/>
              </a:xfrm>
              <a:prstGeom prst="rect">
                <a:avLst/>
              </a:prstGeom>
              <a:noFill/>
            </p:spPr>
            <p:txBody>
              <a:bodyPr wrap="square" lIns="0" tIns="0" rIns="0" bIns="0" rtlCol="0">
                <a:spAutoFit/>
              </a:bodyPr>
              <a:lstStyle/>
              <a:p>
                <a:r>
                  <a:rPr lang="zh-CN" altLang="en-US" dirty="0"/>
                  <a:t>默认</a:t>
                </a:r>
                <a:r>
                  <a:rPr lang="en-US" altLang="zh-CN" dirty="0"/>
                  <a:t>PEM</a:t>
                </a:r>
                <a:r>
                  <a:rPr lang="zh-CN" altLang="en-US" dirty="0"/>
                  <a:t>主轴为</a:t>
                </a:r>
                <a:r>
                  <a:rPr lang="en-US" altLang="zh-CN" dirty="0"/>
                  <a:t>45°</a:t>
                </a:r>
              </a:p>
              <a:p>
                <a:pPr marL="342900" indent="-342900">
                  <a:buFont typeface="+mj-lt"/>
                  <a:buAutoNum type="arabicPeriod"/>
                </a:pPr>
                <a:r>
                  <a:rPr lang="en-US" altLang="zh-CN" b="1" dirty="0"/>
                  <a:t>45°</a:t>
                </a:r>
                <a:r>
                  <a:rPr lang="zh-CN" altLang="en-US" b="1" dirty="0"/>
                  <a:t>偏振光是经过起偏器产生的：</a:t>
                </a:r>
                <a:endParaRPr lang="en-US" altLang="zh-CN" b="1" dirty="0"/>
              </a:p>
              <a:p>
                <a:r>
                  <a:rPr lang="zh-CN" altLang="en-US" dirty="0"/>
                  <a:t>光最终输出</a:t>
                </a:r>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num>
                      <m:den>
                        <m:r>
                          <a:rPr lang="en-US" altLang="zh-CN" i="1">
                            <a:latin typeface="Cambria Math" panose="02040503050406030204" pitchFamily="18" charset="0"/>
                          </a:rPr>
                          <m:t>2</m:t>
                        </m:r>
                      </m:den>
                    </m:f>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0</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0</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1</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𝜔</m:t>
                            </m:r>
                            <m:r>
                              <a:rPr lang="en-US" altLang="zh-CN" i="1">
                                <a:latin typeface="Cambria Math" panose="02040503050406030204" pitchFamily="18" charset="0"/>
                              </a:rPr>
                              <m:t>𝑡</m:t>
                            </m:r>
                          </m:e>
                        </m:d>
                      </m:e>
                    </m:fun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𝜔</m:t>
                            </m:r>
                            <m:r>
                              <a:rPr lang="en-US" altLang="zh-CN" i="1">
                                <a:latin typeface="Cambria Math" panose="02040503050406030204" pitchFamily="18" charset="0"/>
                              </a:rPr>
                              <m:t>𝑡</m:t>
                            </m:r>
                          </m:e>
                        </m:d>
                      </m:e>
                    </m:fun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3</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3</m:t>
                            </m:r>
                            <m:r>
                              <a:rPr lang="en-US" altLang="zh-CN" i="1">
                                <a:latin typeface="Cambria Math" panose="02040503050406030204" pitchFamily="18" charset="0"/>
                              </a:rPr>
                              <m:t>𝜔</m:t>
                            </m:r>
                            <m:r>
                              <a:rPr lang="en-US" altLang="zh-CN" i="1">
                                <a:latin typeface="Cambria Math" panose="02040503050406030204" pitchFamily="18" charset="0"/>
                              </a:rPr>
                              <m:t>𝑡</m:t>
                            </m:r>
                          </m:e>
                        </m:d>
                      </m:e>
                    </m:func>
                    <m:r>
                      <a:rPr lang="en-US" altLang="zh-CN" i="1">
                        <a:latin typeface="Cambria Math" panose="02040503050406030204" pitchFamily="18" charset="0"/>
                      </a:rPr>
                      <m:t>−⋯</m:t>
                    </m:r>
                  </m:oMath>
                </a14:m>
                <a:endParaRPr lang="en-US" altLang="zh-CN" dirty="0"/>
              </a:p>
              <a:p>
                <a:r>
                  <a:rPr lang="zh-CN" altLang="en-US" dirty="0"/>
                  <a:t>这个公式的前提假设</a:t>
                </a:r>
                <a:r>
                  <a:rPr lang="zh-CN" altLang="zh-CN" dirty="0"/>
                  <a:t>是：PEM 主轴相</a:t>
                </a:r>
                <a:r>
                  <a:rPr lang="zh-CN" altLang="en-US" dirty="0"/>
                  <a:t>对</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oMath>
                </a14:m>
                <a:r>
                  <a:rPr lang="zh-CN" altLang="zh-CN" dirty="0"/>
                  <a:t> 坐标轴为 45</a:t>
                </a:r>
                <a:r>
                  <a:rPr lang="en-US" altLang="zh-CN" dirty="0"/>
                  <a:t>°</a:t>
                </a:r>
                <a:r>
                  <a:rPr lang="zh-CN" altLang="en-US" dirty="0"/>
                  <a:t>，即</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oMath>
                </a14:m>
                <a:r>
                  <a:rPr lang="zh-CN" altLang="zh-CN" dirty="0"/>
                  <a:t> </a:t>
                </a:r>
                <a:r>
                  <a:rPr lang="zh-CN" altLang="en-US" dirty="0"/>
                  <a:t>主轴为</a:t>
                </a:r>
                <a:r>
                  <a:rPr lang="en-US" altLang="zh-CN" dirty="0"/>
                  <a:t>0°</a:t>
                </a:r>
                <a:r>
                  <a:rPr lang="zh-CN" altLang="en-US" dirty="0"/>
                  <a:t>，</a:t>
                </a:r>
                <a:r>
                  <a:rPr lang="en-US" altLang="zh-CN" dirty="0"/>
                  <a:t>PEM</a:t>
                </a:r>
                <a:r>
                  <a:rPr lang="zh-CN" altLang="en-US" dirty="0"/>
                  <a:t>主轴为</a:t>
                </a:r>
                <a:r>
                  <a:rPr lang="en-US" altLang="zh-CN" dirty="0"/>
                  <a:t>45°</a:t>
                </a:r>
                <a:r>
                  <a:rPr lang="zh-CN" altLang="en-US" dirty="0"/>
                  <a:t>。从物理上分析，由于光在这个过程中偏振态并没有发生改变，检偏器与起偏器相互垂直，所以最终输出的光强就是</a:t>
                </a:r>
                <a:r>
                  <a:rPr lang="en-US" altLang="zh-CN" dirty="0"/>
                  <a:t>0</a:t>
                </a:r>
              </a:p>
            </p:txBody>
          </p:sp>
        </mc:Choice>
        <mc:Fallback>
          <p:sp>
            <p:nvSpPr>
              <p:cNvPr id="9" name="文本框 8">
                <a:extLst>
                  <a:ext uri="{FF2B5EF4-FFF2-40B4-BE49-F238E27FC236}">
                    <a16:creationId xmlns:a16="http://schemas.microsoft.com/office/drawing/2014/main" id="{FB340046-4ED7-8CC9-42C0-520C80C77E5F}"/>
                  </a:ext>
                </a:extLst>
              </p:cNvPr>
              <p:cNvSpPr txBox="1">
                <a:spLocks noRot="1" noChangeAspect="1" noMove="1" noResize="1" noEditPoints="1" noAdjustHandles="1" noChangeArrowheads="1" noChangeShapeType="1" noTextEdit="1"/>
              </p:cNvSpPr>
              <p:nvPr/>
            </p:nvSpPr>
            <p:spPr>
              <a:xfrm>
                <a:off x="106732" y="2118752"/>
                <a:ext cx="11677900" cy="1493358"/>
              </a:xfrm>
              <a:prstGeom prst="rect">
                <a:avLst/>
              </a:prstGeom>
              <a:blipFill>
                <a:blip r:embed="rId3"/>
                <a:stretch>
                  <a:fillRect l="-1253" t="-5306" r="-679" b="-8571"/>
                </a:stretch>
              </a:blipFill>
            </p:spPr>
            <p:txBody>
              <a:bodyPr/>
              <a:lstStyle/>
              <a:p>
                <a:r>
                  <a:rPr lang="zh-CN" altLang="en-US">
                    <a:noFill/>
                  </a:rPr>
                  <a:t> </a:t>
                </a:r>
              </a:p>
            </p:txBody>
          </p:sp>
        </mc:Fallback>
      </mc:AlternateContent>
      <p:sp>
        <p:nvSpPr>
          <p:cNvPr id="45" name="文本框 44">
            <a:extLst>
              <a:ext uri="{FF2B5EF4-FFF2-40B4-BE49-F238E27FC236}">
                <a16:creationId xmlns:a16="http://schemas.microsoft.com/office/drawing/2014/main" id="{206D22DA-0270-C68F-F0ED-19F17EED3F58}"/>
              </a:ext>
            </a:extLst>
          </p:cNvPr>
          <p:cNvSpPr txBox="1"/>
          <p:nvPr/>
        </p:nvSpPr>
        <p:spPr>
          <a:xfrm>
            <a:off x="735600" y="715373"/>
            <a:ext cx="874715" cy="369332"/>
          </a:xfrm>
          <a:prstGeom prst="rect">
            <a:avLst/>
          </a:prstGeom>
          <a:noFill/>
        </p:spPr>
        <p:txBody>
          <a:bodyPr wrap="square" rtlCol="0">
            <a:spAutoFit/>
          </a:bodyPr>
          <a:lstStyle/>
          <a:p>
            <a:r>
              <a:rPr lang="zh-CN" altLang="en-US" dirty="0"/>
              <a:t>起偏器</a:t>
            </a:r>
          </a:p>
        </p:txBody>
      </p:sp>
      <p:sp>
        <p:nvSpPr>
          <p:cNvPr id="46" name="矩形: 圆角 45">
            <a:extLst>
              <a:ext uri="{FF2B5EF4-FFF2-40B4-BE49-F238E27FC236}">
                <a16:creationId xmlns:a16="http://schemas.microsoft.com/office/drawing/2014/main" id="{08D09B7A-96C0-145B-E5B2-E8377F322511}"/>
              </a:ext>
            </a:extLst>
          </p:cNvPr>
          <p:cNvSpPr/>
          <p:nvPr/>
        </p:nvSpPr>
        <p:spPr>
          <a:xfrm>
            <a:off x="9858255" y="1206608"/>
            <a:ext cx="836342" cy="58524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1B3F5F1B-18DE-B285-713F-5532D6B26976}"/>
              </a:ext>
            </a:extLst>
          </p:cNvPr>
          <p:cNvSpPr txBox="1"/>
          <p:nvPr/>
        </p:nvSpPr>
        <p:spPr>
          <a:xfrm>
            <a:off x="9959855" y="733408"/>
            <a:ext cx="721668" cy="369332"/>
          </a:xfrm>
          <a:prstGeom prst="rect">
            <a:avLst/>
          </a:prstGeom>
          <a:noFill/>
        </p:spPr>
        <p:txBody>
          <a:bodyPr wrap="square" rtlCol="0">
            <a:spAutoFit/>
          </a:bodyPr>
          <a:lstStyle/>
          <a:p>
            <a:r>
              <a:rPr lang="zh-CN" altLang="en-US" dirty="0"/>
              <a:t>锁相</a:t>
            </a:r>
          </a:p>
        </p:txBody>
      </p:sp>
      <p:sp>
        <p:nvSpPr>
          <p:cNvPr id="48" name="椭圆 47">
            <a:extLst>
              <a:ext uri="{FF2B5EF4-FFF2-40B4-BE49-F238E27FC236}">
                <a16:creationId xmlns:a16="http://schemas.microsoft.com/office/drawing/2014/main" id="{281D135D-87DF-9E0C-1D07-3D10D560ED25}"/>
              </a:ext>
            </a:extLst>
          </p:cNvPr>
          <p:cNvSpPr/>
          <p:nvPr/>
        </p:nvSpPr>
        <p:spPr>
          <a:xfrm>
            <a:off x="902047" y="1102740"/>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49" name="直接连接符 48">
            <a:extLst>
              <a:ext uri="{FF2B5EF4-FFF2-40B4-BE49-F238E27FC236}">
                <a16:creationId xmlns:a16="http://schemas.microsoft.com/office/drawing/2014/main" id="{878B780A-D1DA-52F8-0B49-D25A1C9A60C3}"/>
              </a:ext>
            </a:extLst>
          </p:cNvPr>
          <p:cNvCxnSpPr>
            <a:cxnSpLocks/>
            <a:stCxn id="48" idx="3"/>
            <a:endCxn id="48" idx="7"/>
          </p:cNvCxnSpPr>
          <p:nvPr/>
        </p:nvCxnSpPr>
        <p:spPr>
          <a:xfrm flipV="1">
            <a:off x="975864" y="1197393"/>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E25052BA-31CA-DD21-CBC1-DF0F6101E399}"/>
              </a:ext>
            </a:extLst>
          </p:cNvPr>
          <p:cNvSpPr txBox="1"/>
          <p:nvPr/>
        </p:nvSpPr>
        <p:spPr>
          <a:xfrm>
            <a:off x="-5710" y="743706"/>
            <a:ext cx="796095" cy="369332"/>
          </a:xfrm>
          <a:prstGeom prst="rect">
            <a:avLst/>
          </a:prstGeom>
          <a:noFill/>
        </p:spPr>
        <p:txBody>
          <a:bodyPr wrap="square" rtlCol="0">
            <a:spAutoFit/>
          </a:bodyPr>
          <a:lstStyle/>
          <a:p>
            <a:r>
              <a:rPr lang="en-US" altLang="zh-CN" dirty="0"/>
              <a:t>DMD</a:t>
            </a:r>
            <a:endParaRPr lang="zh-CN" altLang="en-US" dirty="0"/>
          </a:p>
        </p:txBody>
      </p:sp>
      <p:sp>
        <p:nvSpPr>
          <p:cNvPr id="51" name="矩形 50">
            <a:extLst>
              <a:ext uri="{FF2B5EF4-FFF2-40B4-BE49-F238E27FC236}">
                <a16:creationId xmlns:a16="http://schemas.microsoft.com/office/drawing/2014/main" id="{AFA610AC-7CC6-EE3A-5CE1-42E02FE4D62F}"/>
              </a:ext>
            </a:extLst>
          </p:cNvPr>
          <p:cNvSpPr/>
          <p:nvPr/>
        </p:nvSpPr>
        <p:spPr>
          <a:xfrm>
            <a:off x="245066" y="1194684"/>
            <a:ext cx="161667" cy="432048"/>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5A3AD323-B099-E70B-A9F4-9CD74C439A96}"/>
              </a:ext>
            </a:extLst>
          </p:cNvPr>
          <p:cNvSpPr txBox="1"/>
          <p:nvPr/>
        </p:nvSpPr>
        <p:spPr>
          <a:xfrm>
            <a:off x="1615367" y="728939"/>
            <a:ext cx="796095" cy="369332"/>
          </a:xfrm>
          <a:prstGeom prst="rect">
            <a:avLst/>
          </a:prstGeom>
          <a:noFill/>
        </p:spPr>
        <p:txBody>
          <a:bodyPr wrap="square" rtlCol="0">
            <a:spAutoFit/>
          </a:bodyPr>
          <a:lstStyle/>
          <a:p>
            <a:r>
              <a:rPr lang="zh-CN" altLang="en-US" dirty="0"/>
              <a:t>透镜</a:t>
            </a:r>
            <a:r>
              <a:rPr lang="en-US" altLang="zh-CN" dirty="0"/>
              <a:t>1</a:t>
            </a:r>
            <a:endParaRPr lang="zh-CN" altLang="en-US" dirty="0"/>
          </a:p>
        </p:txBody>
      </p:sp>
      <p:sp>
        <p:nvSpPr>
          <p:cNvPr id="53" name="椭圆 52">
            <a:extLst>
              <a:ext uri="{FF2B5EF4-FFF2-40B4-BE49-F238E27FC236}">
                <a16:creationId xmlns:a16="http://schemas.microsoft.com/office/drawing/2014/main" id="{6905D40E-856A-B1C0-2A74-12E8B055369F}"/>
              </a:ext>
            </a:extLst>
          </p:cNvPr>
          <p:cNvSpPr/>
          <p:nvPr/>
        </p:nvSpPr>
        <p:spPr>
          <a:xfrm>
            <a:off x="1956592" y="1181320"/>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a:extLst>
              <a:ext uri="{FF2B5EF4-FFF2-40B4-BE49-F238E27FC236}">
                <a16:creationId xmlns:a16="http://schemas.microsoft.com/office/drawing/2014/main" id="{14E876E3-8BF9-FF8B-1006-61A79011290A}"/>
              </a:ext>
            </a:extLst>
          </p:cNvPr>
          <p:cNvSpPr/>
          <p:nvPr/>
        </p:nvSpPr>
        <p:spPr>
          <a:xfrm>
            <a:off x="2639238" y="825338"/>
            <a:ext cx="144016" cy="1152128"/>
          </a:xfrm>
          <a:prstGeom prst="rect">
            <a:avLst/>
          </a:prstGeom>
          <a:solidFill>
            <a:schemeClr val="bg2"/>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28403FD5-3998-124E-C3F7-C38A939E23C2}"/>
              </a:ext>
            </a:extLst>
          </p:cNvPr>
          <p:cNvSpPr txBox="1"/>
          <p:nvPr/>
        </p:nvSpPr>
        <p:spPr>
          <a:xfrm>
            <a:off x="2406410" y="483907"/>
            <a:ext cx="652585" cy="369332"/>
          </a:xfrm>
          <a:prstGeom prst="rect">
            <a:avLst/>
          </a:prstGeom>
          <a:noFill/>
        </p:spPr>
        <p:txBody>
          <a:bodyPr wrap="square" rtlCol="0">
            <a:spAutoFit/>
          </a:bodyPr>
          <a:lstStyle/>
          <a:p>
            <a:r>
              <a:rPr lang="zh-CN" altLang="en-US" dirty="0"/>
              <a:t>物体</a:t>
            </a:r>
          </a:p>
        </p:txBody>
      </p:sp>
      <p:sp>
        <p:nvSpPr>
          <p:cNvPr id="56" name="文本框 55">
            <a:extLst>
              <a:ext uri="{FF2B5EF4-FFF2-40B4-BE49-F238E27FC236}">
                <a16:creationId xmlns:a16="http://schemas.microsoft.com/office/drawing/2014/main" id="{CA9494B6-297E-1639-1562-A35DADA76120}"/>
              </a:ext>
            </a:extLst>
          </p:cNvPr>
          <p:cNvSpPr txBox="1"/>
          <p:nvPr/>
        </p:nvSpPr>
        <p:spPr>
          <a:xfrm>
            <a:off x="3128004" y="723798"/>
            <a:ext cx="796095" cy="369332"/>
          </a:xfrm>
          <a:prstGeom prst="rect">
            <a:avLst/>
          </a:prstGeom>
          <a:noFill/>
        </p:spPr>
        <p:txBody>
          <a:bodyPr wrap="square" rtlCol="0">
            <a:spAutoFit/>
          </a:bodyPr>
          <a:lstStyle/>
          <a:p>
            <a:r>
              <a:rPr lang="zh-CN" altLang="en-US" dirty="0"/>
              <a:t>透镜</a:t>
            </a:r>
            <a:r>
              <a:rPr lang="en-US" altLang="zh-CN" dirty="0"/>
              <a:t>2</a:t>
            </a:r>
            <a:endParaRPr lang="zh-CN" altLang="en-US" dirty="0"/>
          </a:p>
        </p:txBody>
      </p:sp>
      <p:sp>
        <p:nvSpPr>
          <p:cNvPr id="57" name="椭圆 56">
            <a:extLst>
              <a:ext uri="{FF2B5EF4-FFF2-40B4-BE49-F238E27FC236}">
                <a16:creationId xmlns:a16="http://schemas.microsoft.com/office/drawing/2014/main" id="{53366D88-F8A4-BC21-8F47-6040338397D4}"/>
              </a:ext>
            </a:extLst>
          </p:cNvPr>
          <p:cNvSpPr/>
          <p:nvPr/>
        </p:nvSpPr>
        <p:spPr>
          <a:xfrm>
            <a:off x="3405997" y="1185563"/>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AFB2D03F-4F3E-9E80-9788-0A3ED0AF185C}"/>
              </a:ext>
            </a:extLst>
          </p:cNvPr>
          <p:cNvSpPr txBox="1"/>
          <p:nvPr/>
        </p:nvSpPr>
        <p:spPr>
          <a:xfrm>
            <a:off x="4106525" y="729400"/>
            <a:ext cx="1097515" cy="369332"/>
          </a:xfrm>
          <a:prstGeom prst="rect">
            <a:avLst/>
          </a:prstGeom>
          <a:noFill/>
        </p:spPr>
        <p:txBody>
          <a:bodyPr wrap="square" rtlCol="0">
            <a:spAutoFit/>
          </a:bodyPr>
          <a:lstStyle/>
          <a:p>
            <a:r>
              <a:rPr lang="zh-CN" altLang="en-US" dirty="0"/>
              <a:t>准直透镜</a:t>
            </a:r>
          </a:p>
        </p:txBody>
      </p:sp>
      <p:sp>
        <p:nvSpPr>
          <p:cNvPr id="59" name="椭圆 58">
            <a:extLst>
              <a:ext uri="{FF2B5EF4-FFF2-40B4-BE49-F238E27FC236}">
                <a16:creationId xmlns:a16="http://schemas.microsoft.com/office/drawing/2014/main" id="{D3FE866E-EB2F-C1C5-2182-98ABF6648AB9}"/>
              </a:ext>
            </a:extLst>
          </p:cNvPr>
          <p:cNvSpPr/>
          <p:nvPr/>
        </p:nvSpPr>
        <p:spPr>
          <a:xfrm>
            <a:off x="4555252" y="1185562"/>
            <a:ext cx="144016"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a:extLst>
              <a:ext uri="{FF2B5EF4-FFF2-40B4-BE49-F238E27FC236}">
                <a16:creationId xmlns:a16="http://schemas.microsoft.com/office/drawing/2014/main" id="{1AF5C6CF-4092-751C-0CD9-7E40EF29BD60}"/>
              </a:ext>
            </a:extLst>
          </p:cNvPr>
          <p:cNvSpPr/>
          <p:nvPr/>
        </p:nvSpPr>
        <p:spPr>
          <a:xfrm>
            <a:off x="5558883" y="1333695"/>
            <a:ext cx="504056" cy="214153"/>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1" name="文本框 60">
            <a:extLst>
              <a:ext uri="{FF2B5EF4-FFF2-40B4-BE49-F238E27FC236}">
                <a16:creationId xmlns:a16="http://schemas.microsoft.com/office/drawing/2014/main" id="{8051EA84-5012-A5D8-CAF6-87F0E59C134A}"/>
              </a:ext>
            </a:extLst>
          </p:cNvPr>
          <p:cNvSpPr txBox="1"/>
          <p:nvPr/>
        </p:nvSpPr>
        <p:spPr>
          <a:xfrm>
            <a:off x="5450129" y="727825"/>
            <a:ext cx="723004" cy="369332"/>
          </a:xfrm>
          <a:prstGeom prst="rect">
            <a:avLst/>
          </a:prstGeom>
          <a:noFill/>
        </p:spPr>
        <p:txBody>
          <a:bodyPr wrap="square" rtlCol="0">
            <a:spAutoFit/>
          </a:bodyPr>
          <a:lstStyle/>
          <a:p>
            <a:r>
              <a:rPr lang="en-US" altLang="zh-CN" dirty="0"/>
              <a:t>PEM</a:t>
            </a:r>
            <a:endParaRPr lang="zh-CN" altLang="en-US" dirty="0"/>
          </a:p>
        </p:txBody>
      </p:sp>
      <p:sp>
        <p:nvSpPr>
          <p:cNvPr id="62" name="椭圆 61">
            <a:extLst>
              <a:ext uri="{FF2B5EF4-FFF2-40B4-BE49-F238E27FC236}">
                <a16:creationId xmlns:a16="http://schemas.microsoft.com/office/drawing/2014/main" id="{5EFC8E8D-27E6-1077-5906-73E7C97D13DD}"/>
              </a:ext>
            </a:extLst>
          </p:cNvPr>
          <p:cNvSpPr/>
          <p:nvPr/>
        </p:nvSpPr>
        <p:spPr>
          <a:xfrm>
            <a:off x="6687283" y="1111955"/>
            <a:ext cx="504056" cy="6463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65C01FCD-F39A-CE0A-E020-C9BBDDB3C23E}"/>
              </a:ext>
            </a:extLst>
          </p:cNvPr>
          <p:cNvSpPr txBox="1"/>
          <p:nvPr/>
        </p:nvSpPr>
        <p:spPr>
          <a:xfrm>
            <a:off x="6491813" y="723798"/>
            <a:ext cx="1011068" cy="369332"/>
          </a:xfrm>
          <a:prstGeom prst="rect">
            <a:avLst/>
          </a:prstGeom>
          <a:noFill/>
        </p:spPr>
        <p:txBody>
          <a:bodyPr wrap="square" rtlCol="0">
            <a:spAutoFit/>
          </a:bodyPr>
          <a:lstStyle/>
          <a:p>
            <a:r>
              <a:rPr lang="zh-CN" altLang="en-US" dirty="0"/>
              <a:t>检偏器</a:t>
            </a:r>
          </a:p>
        </p:txBody>
      </p:sp>
      <p:cxnSp>
        <p:nvCxnSpPr>
          <p:cNvPr id="64" name="直接连接符 63">
            <a:extLst>
              <a:ext uri="{FF2B5EF4-FFF2-40B4-BE49-F238E27FC236}">
                <a16:creationId xmlns:a16="http://schemas.microsoft.com/office/drawing/2014/main" id="{CCFCABD0-251E-BF73-57B1-B7ACB0120434}"/>
              </a:ext>
            </a:extLst>
          </p:cNvPr>
          <p:cNvCxnSpPr>
            <a:stCxn id="62" idx="3"/>
            <a:endCxn id="62" idx="7"/>
          </p:cNvCxnSpPr>
          <p:nvPr/>
        </p:nvCxnSpPr>
        <p:spPr>
          <a:xfrm flipV="1">
            <a:off x="6761100" y="1206608"/>
            <a:ext cx="356422" cy="457025"/>
          </a:xfrm>
          <a:prstGeom prst="line">
            <a:avLst/>
          </a:prstGeom>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086F4AE5-43E4-A0AE-C8C6-5F47EEA542D4}"/>
              </a:ext>
            </a:extLst>
          </p:cNvPr>
          <p:cNvSpPr txBox="1"/>
          <p:nvPr/>
        </p:nvSpPr>
        <p:spPr>
          <a:xfrm>
            <a:off x="7547665" y="746480"/>
            <a:ext cx="1151206" cy="369332"/>
          </a:xfrm>
          <a:prstGeom prst="rect">
            <a:avLst/>
          </a:prstGeom>
          <a:noFill/>
        </p:spPr>
        <p:txBody>
          <a:bodyPr wrap="square" rtlCol="0">
            <a:spAutoFit/>
          </a:bodyPr>
          <a:lstStyle/>
          <a:p>
            <a:r>
              <a:rPr lang="zh-CN" altLang="en-US" dirty="0"/>
              <a:t>聚光透镜</a:t>
            </a:r>
          </a:p>
        </p:txBody>
      </p:sp>
      <p:sp>
        <p:nvSpPr>
          <p:cNvPr id="66" name="椭圆 65">
            <a:extLst>
              <a:ext uri="{FF2B5EF4-FFF2-40B4-BE49-F238E27FC236}">
                <a16:creationId xmlns:a16="http://schemas.microsoft.com/office/drawing/2014/main" id="{3829AB44-EBB4-0B27-3711-96ECC8A1410A}"/>
              </a:ext>
            </a:extLst>
          </p:cNvPr>
          <p:cNvSpPr/>
          <p:nvPr/>
        </p:nvSpPr>
        <p:spPr>
          <a:xfrm>
            <a:off x="8068877" y="1194684"/>
            <a:ext cx="161667" cy="518905"/>
          </a:xfrm>
          <a:prstGeom prst="ellipse">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a:extLst>
              <a:ext uri="{FF2B5EF4-FFF2-40B4-BE49-F238E27FC236}">
                <a16:creationId xmlns:a16="http://schemas.microsoft.com/office/drawing/2014/main" id="{E5D25901-75B5-F367-3785-D77654DA8082}"/>
              </a:ext>
            </a:extLst>
          </p:cNvPr>
          <p:cNvSpPr/>
          <p:nvPr/>
        </p:nvSpPr>
        <p:spPr>
          <a:xfrm>
            <a:off x="8935861" y="1095706"/>
            <a:ext cx="504056" cy="646331"/>
          </a:xfrm>
          <a:prstGeom prst="ellipse">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64051BFF-1CEA-6BE8-AFE0-3C2E50EEA3FD}"/>
              </a:ext>
            </a:extLst>
          </p:cNvPr>
          <p:cNvSpPr txBox="1"/>
          <p:nvPr/>
        </p:nvSpPr>
        <p:spPr>
          <a:xfrm>
            <a:off x="8757486" y="727333"/>
            <a:ext cx="895486" cy="369332"/>
          </a:xfrm>
          <a:prstGeom prst="rect">
            <a:avLst/>
          </a:prstGeom>
          <a:noFill/>
        </p:spPr>
        <p:txBody>
          <a:bodyPr wrap="square" rtlCol="0">
            <a:spAutoFit/>
          </a:bodyPr>
          <a:lstStyle/>
          <a:p>
            <a:r>
              <a:rPr lang="zh-CN" altLang="en-US" dirty="0"/>
              <a:t>探测器</a:t>
            </a:r>
          </a:p>
        </p:txBody>
      </p:sp>
      <p:sp>
        <p:nvSpPr>
          <p:cNvPr id="69" name="矩形: 圆角 68">
            <a:extLst>
              <a:ext uri="{FF2B5EF4-FFF2-40B4-BE49-F238E27FC236}">
                <a16:creationId xmlns:a16="http://schemas.microsoft.com/office/drawing/2014/main" id="{5F2875B7-FAEC-324A-1CA6-A7B23ADFD7B6}"/>
              </a:ext>
            </a:extLst>
          </p:cNvPr>
          <p:cNvSpPr/>
          <p:nvPr/>
        </p:nvSpPr>
        <p:spPr>
          <a:xfrm>
            <a:off x="11083302" y="1206608"/>
            <a:ext cx="836342" cy="5852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框 69">
            <a:extLst>
              <a:ext uri="{FF2B5EF4-FFF2-40B4-BE49-F238E27FC236}">
                <a16:creationId xmlns:a16="http://schemas.microsoft.com/office/drawing/2014/main" id="{821604C2-79B2-70EF-32B2-89B732C9D822}"/>
              </a:ext>
            </a:extLst>
          </p:cNvPr>
          <p:cNvSpPr txBox="1"/>
          <p:nvPr/>
        </p:nvSpPr>
        <p:spPr>
          <a:xfrm>
            <a:off x="11083119" y="740300"/>
            <a:ext cx="798368" cy="369332"/>
          </a:xfrm>
          <a:prstGeom prst="rect">
            <a:avLst/>
          </a:prstGeom>
          <a:noFill/>
        </p:spPr>
        <p:txBody>
          <a:bodyPr wrap="square" rtlCol="0">
            <a:spAutoFit/>
          </a:bodyPr>
          <a:lstStyle/>
          <a:p>
            <a:r>
              <a:rPr lang="en-US" altLang="zh-CN" dirty="0"/>
              <a:t>PC</a:t>
            </a:r>
            <a:r>
              <a:rPr lang="zh-CN" altLang="en-US" dirty="0"/>
              <a:t>端</a:t>
            </a:r>
          </a:p>
        </p:txBody>
      </p:sp>
      <p:pic>
        <p:nvPicPr>
          <p:cNvPr id="72" name="图片 71">
            <a:extLst>
              <a:ext uri="{FF2B5EF4-FFF2-40B4-BE49-F238E27FC236}">
                <a16:creationId xmlns:a16="http://schemas.microsoft.com/office/drawing/2014/main" id="{4D74CA57-62E8-7449-F8D0-91D9114CD748}"/>
              </a:ext>
            </a:extLst>
          </p:cNvPr>
          <p:cNvPicPr>
            <a:picLocks noChangeAspect="1"/>
          </p:cNvPicPr>
          <p:nvPr/>
        </p:nvPicPr>
        <p:blipFill>
          <a:blip r:embed="rId4"/>
          <a:stretch>
            <a:fillRect/>
          </a:stretch>
        </p:blipFill>
        <p:spPr>
          <a:xfrm>
            <a:off x="9264352" y="3798187"/>
            <a:ext cx="2941745" cy="2352155"/>
          </a:xfrm>
          <a:prstGeom prst="rect">
            <a:avLst/>
          </a:prstGeom>
        </p:spPr>
      </p:pic>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607ECDC0-B0A3-BE5E-DBAC-1B6CA1FB665E}"/>
                  </a:ext>
                </a:extLst>
              </p:cNvPr>
              <p:cNvSpPr txBox="1"/>
              <p:nvPr/>
            </p:nvSpPr>
            <p:spPr>
              <a:xfrm>
                <a:off x="57150" y="3861048"/>
                <a:ext cx="8775153" cy="2910412"/>
              </a:xfrm>
              <a:prstGeom prst="rect">
                <a:avLst/>
              </a:prstGeom>
              <a:noFill/>
            </p:spPr>
            <p:txBody>
              <a:bodyPr wrap="square" rtlCol="0">
                <a:spAutoFit/>
              </a:bodyPr>
              <a:lstStyle/>
              <a:p>
                <a:pPr marL="342900" indent="-342900">
                  <a:buFont typeface="+mj-lt"/>
                  <a:buAutoNum type="arabicPeriod" startAt="2"/>
                </a:pPr>
                <a:r>
                  <a:rPr lang="en-US" altLang="zh-CN" b="1" dirty="0"/>
                  <a:t>45°</a:t>
                </a:r>
                <a:r>
                  <a:rPr lang="zh-CN" altLang="en-US" b="1" dirty="0"/>
                  <a:t>偏振光是光经过了物体后才变成了</a:t>
                </a:r>
                <a:r>
                  <a:rPr lang="en-US" altLang="zh-CN" b="1" dirty="0"/>
                  <a:t>45°</a:t>
                </a:r>
                <a:r>
                  <a:rPr lang="zh-CN" altLang="en-US" b="1" dirty="0"/>
                  <a:t>的线偏振光：</a:t>
                </a:r>
                <a:endParaRPr lang="en-US" altLang="zh-CN" b="1" dirty="0"/>
              </a:p>
              <a:p>
                <a:r>
                  <a:rPr lang="zh-CN" altLang="en-US" dirty="0">
                    <a:solidFill>
                      <a:srgbClr val="FF0000"/>
                    </a:solidFill>
                  </a:rPr>
                  <a:t>之前的物理分析：</a:t>
                </a:r>
                <a:r>
                  <a:rPr lang="zh-CN" altLang="en-US" dirty="0"/>
                  <a:t>此时相当于</a:t>
                </a:r>
                <a:r>
                  <a:rPr lang="en-US" altLang="zh-CN" dirty="0"/>
                  <a:t>PEM</a:t>
                </a:r>
                <a:r>
                  <a:rPr lang="zh-CN" altLang="en-US" dirty="0"/>
                  <a:t>没有起到作用，认为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oMath>
                </a14:m>
                <a:r>
                  <a:rPr lang="en-US" altLang="zh-CN" dirty="0"/>
                  <a:t>=0</a:t>
                </a:r>
                <a:r>
                  <a:rPr lang="zh-CN" altLang="en-US" dirty="0"/>
                  <a:t>，结合图像可知此时只有</a:t>
                </a:r>
                <a:r>
                  <a:rPr lang="en-US" altLang="zh-CN" dirty="0"/>
                  <a:t>0</a:t>
                </a:r>
                <a:r>
                  <a:rPr lang="zh-CN" altLang="en-US" dirty="0"/>
                  <a:t>阶贝塞尔函数不为</a:t>
                </a:r>
                <a:r>
                  <a:rPr lang="en-US" altLang="zh-CN" dirty="0"/>
                  <a:t>0</a:t>
                </a:r>
                <a:r>
                  <a:rPr lang="zh-CN" altLang="en-US" dirty="0"/>
                  <a:t>，一阶，二阶等贝塞尔函数全部为</a:t>
                </a:r>
                <a:r>
                  <a:rPr lang="en-US" altLang="zh-CN" dirty="0"/>
                  <a:t>0</a:t>
                </a:r>
                <a:r>
                  <a:rPr lang="zh-CN" altLang="en-US" dirty="0"/>
                  <a:t>，最终输出</a:t>
                </a:r>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num>
                      <m:den>
                        <m:r>
                          <a:rPr lang="en-US" altLang="zh-CN" i="1">
                            <a:latin typeface="Cambria Math" panose="02040503050406030204" pitchFamily="18" charset="0"/>
                          </a:rPr>
                          <m:t>2</m:t>
                        </m:r>
                      </m:den>
                    </m:f>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0</m:t>
                        </m:r>
                      </m:sub>
                    </m:sSub>
                  </m:oMath>
                </a14:m>
                <a:r>
                  <a:rPr lang="zh-CN" altLang="en-US" dirty="0"/>
                  <a:t>，只有一个直流分量。</a:t>
                </a:r>
                <a:endParaRPr lang="en-US" altLang="zh-CN" dirty="0"/>
              </a:p>
              <a:p>
                <a:r>
                  <a:rPr lang="zh-CN" altLang="en-US" dirty="0">
                    <a:solidFill>
                      <a:srgbClr val="FF0000"/>
                    </a:solidFill>
                  </a:rPr>
                  <a:t>真实的物理分析：</a:t>
                </a:r>
                <a:endParaRPr lang="en-US" altLang="zh-CN" dirty="0">
                  <a:solidFill>
                    <a:srgbClr val="FF0000"/>
                  </a:solidFill>
                </a:endParaRPr>
              </a:p>
              <a:p>
                <a:r>
                  <a:rPr lang="zh-CN" altLang="en-US" dirty="0"/>
                  <a:t>（此时</a:t>
                </a:r>
                <a:r>
                  <a:rPr lang="en-US" altLang="zh-CN" dirty="0"/>
                  <a:t>45°</a:t>
                </a:r>
                <a:r>
                  <a:rPr lang="zh-CN" altLang="en-US" dirty="0"/>
                  <a:t>偏振光的</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1</m:t>
                        </m:r>
                      </m:sub>
                    </m:sSub>
                  </m:oMath>
                </a14:m>
                <a:r>
                  <a:rPr lang="zh-CN" altLang="en-US"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b="0" i="1" smtClean="0">
                            <a:latin typeface="Cambria Math" panose="02040503050406030204" pitchFamily="18" charset="0"/>
                          </a:rPr>
                          <m:t>3</m:t>
                        </m:r>
                      </m:sub>
                    </m:sSub>
                  </m:oMath>
                </a14:m>
                <a:r>
                  <a:rPr lang="zh-CN" altLang="en-US" dirty="0"/>
                  <a:t>本来就是</a:t>
                </a:r>
                <a:r>
                  <a:rPr lang="en-US" altLang="zh-CN" dirty="0"/>
                  <a:t>0</a:t>
                </a:r>
                <a:r>
                  <a:rPr lang="zh-CN" altLang="en-US" dirty="0"/>
                  <a:t>，无论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oMath>
                </a14:m>
                <a:r>
                  <a:rPr lang="zh-CN" altLang="en-US" dirty="0"/>
                  <a:t>为何值，最终都是</a:t>
                </a:r>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num>
                      <m:den>
                        <m:r>
                          <a:rPr lang="en-US" altLang="zh-CN" i="1">
                            <a:latin typeface="Cambria Math" panose="02040503050406030204" pitchFamily="18" charset="0"/>
                          </a:rPr>
                          <m:t>2</m:t>
                        </m:r>
                      </m:den>
                    </m:f>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0</m:t>
                        </m:r>
                      </m:sub>
                    </m:sSub>
                  </m:oMath>
                </a14:m>
                <a:r>
                  <a:rPr lang="zh-CN" altLang="en-US" dirty="0"/>
                  <a:t>）</a:t>
                </a:r>
                <a:endParaRPr lang="en-US" altLang="zh-CN" dirty="0"/>
              </a:p>
              <a:p>
                <a:r>
                  <a:rPr lang="en-US" altLang="zh-CN" dirty="0"/>
                  <a:t>PEM</a:t>
                </a:r>
                <a:r>
                  <a:rPr lang="zh-CN" altLang="en-US" dirty="0"/>
                  <a:t>引入的</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oMath>
                </a14:m>
                <a:r>
                  <a:rPr lang="zh-CN" altLang="en-US" dirty="0"/>
                  <a:t>此时仅仅起到了给</a:t>
                </a:r>
                <a:r>
                  <a:rPr lang="en-US" altLang="zh-CN" dirty="0"/>
                  <a:t>45°</a:t>
                </a:r>
                <a:r>
                  <a:rPr lang="zh-CN" altLang="en-US" dirty="0"/>
                  <a:t>偏振光产生一定的延迟的作用，例如：</a:t>
                </a:r>
                <a:r>
                  <a:rPr lang="en-US" altLang="zh-CN" dirty="0"/>
                  <a:t> </a:t>
                </a:r>
                <a14:m>
                  <m:oMath xmlns:m="http://schemas.openxmlformats.org/officeDocument/2006/math">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𝜔</m:t>
                            </m:r>
                            <m:r>
                              <a:rPr lang="en-US" altLang="zh-CN" i="1">
                                <a:latin typeface="Cambria Math" panose="02040503050406030204" pitchFamily="18" charset="0"/>
                              </a:rPr>
                              <m:t>𝑡</m:t>
                            </m:r>
                          </m:e>
                        </m:d>
                      </m:e>
                    </m:func>
                  </m:oMath>
                </a14:m>
                <a:r>
                  <a:rPr lang="zh-CN" altLang="en-US" dirty="0"/>
                  <a:t>变成了</a:t>
                </a:r>
                <a14:m>
                  <m:oMath xmlns:m="http://schemas.openxmlformats.org/officeDocument/2006/math">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𝜔</m:t>
                            </m:r>
                            <m:r>
                              <a:rPr lang="en-US" altLang="zh-CN" i="1">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e>
                        </m:d>
                      </m:e>
                    </m:func>
                    <m:r>
                      <a:rPr lang="en-US" altLang="zh-CN" i="1">
                        <a:latin typeface="Cambria Math" panose="02040503050406030204" pitchFamily="18" charset="0"/>
                      </a:rPr>
                      <m:t> </m:t>
                    </m:r>
                  </m:oMath>
                </a14:m>
                <a:r>
                  <a:rPr lang="zh-CN" altLang="en-US" dirty="0"/>
                  <a:t>，就像电影中间慢放了几秒，</a:t>
                </a:r>
                <a:r>
                  <a:rPr lang="en-US" altLang="zh-CN" dirty="0"/>
                  <a:t> </a:t>
                </a:r>
                <a:r>
                  <a:rPr lang="zh-CN" altLang="en-US" dirty="0"/>
                  <a:t>但由于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oMath>
                </a14:m>
                <a:r>
                  <a:rPr lang="zh-CN" altLang="en-US"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sub>
                    </m:sSub>
                  </m:oMath>
                </a14:m>
                <a:r>
                  <a:rPr lang="zh-CN" altLang="en-US" dirty="0"/>
                  <a:t>本来就是</a:t>
                </a:r>
                <a:r>
                  <a:rPr lang="en-US" altLang="zh-CN" dirty="0"/>
                  <a:t>0</a:t>
                </a:r>
                <a:r>
                  <a:rPr lang="zh-CN" altLang="en-US" dirty="0"/>
                  <a:t>，并没有产生实际影响，最终输出的仍是</a:t>
                </a:r>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𝜂</m:t>
                            </m:r>
                          </m:e>
                          <m:sub>
                            <m:r>
                              <m:rPr>
                                <m:sty m:val="p"/>
                              </m:rPr>
                              <a:rPr lang="en-US" altLang="zh-CN" i="1">
                                <a:latin typeface="Cambria Math" panose="02040503050406030204" pitchFamily="18" charset="0"/>
                              </a:rPr>
                              <m:t>post</m:t>
                            </m:r>
                          </m:sub>
                        </m:sSub>
                      </m:num>
                      <m:den>
                        <m:r>
                          <a:rPr lang="en-US" altLang="zh-CN" i="1">
                            <a:latin typeface="Cambria Math" panose="02040503050406030204" pitchFamily="18" charset="0"/>
                          </a:rPr>
                          <m:t>2</m:t>
                        </m:r>
                      </m:den>
                    </m:f>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0</m:t>
                        </m:r>
                      </m:sub>
                    </m:sSub>
                  </m:oMath>
                </a14:m>
                <a:endParaRPr lang="en-US" altLang="zh-CN" dirty="0"/>
              </a:p>
            </p:txBody>
          </p:sp>
        </mc:Choice>
        <mc:Fallback>
          <p:sp>
            <p:nvSpPr>
              <p:cNvPr id="2" name="文本框 1">
                <a:extLst>
                  <a:ext uri="{FF2B5EF4-FFF2-40B4-BE49-F238E27FC236}">
                    <a16:creationId xmlns:a16="http://schemas.microsoft.com/office/drawing/2014/main" id="{607ECDC0-B0A3-BE5E-DBAC-1B6CA1FB665E}"/>
                  </a:ext>
                </a:extLst>
              </p:cNvPr>
              <p:cNvSpPr txBox="1">
                <a:spLocks noRot="1" noChangeAspect="1" noMove="1" noResize="1" noEditPoints="1" noAdjustHandles="1" noChangeArrowheads="1" noChangeShapeType="1" noTextEdit="1"/>
              </p:cNvSpPr>
              <p:nvPr/>
            </p:nvSpPr>
            <p:spPr>
              <a:xfrm>
                <a:off x="57150" y="3861048"/>
                <a:ext cx="8775153" cy="2910412"/>
              </a:xfrm>
              <a:prstGeom prst="rect">
                <a:avLst/>
              </a:prstGeom>
              <a:blipFill>
                <a:blip r:embed="rId5"/>
                <a:stretch>
                  <a:fillRect l="-556" t="-1046" r="-556" b="-2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546426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4742E-A657-6D23-7E0A-55C9F8D06B8C}"/>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ED2814B-AE87-2097-9D20-CCEE506EAFBA}"/>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FAC32F71-3457-D36A-822B-04B0F5A20FD9}"/>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19</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185CAAD4-ED74-F5D9-F6BC-2971663229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A58FFE4F-8BC4-2DAF-0AD8-E9B56C88F5E6}"/>
              </a:ext>
            </a:extLst>
          </p:cNvPr>
          <p:cNvSpPr txBox="1"/>
          <p:nvPr/>
        </p:nvSpPr>
        <p:spPr>
          <a:xfrm>
            <a:off x="623392" y="69315"/>
            <a:ext cx="11568608" cy="369332"/>
          </a:xfrm>
          <a:prstGeom prst="rect">
            <a:avLst/>
          </a:prstGeom>
          <a:noFill/>
        </p:spPr>
        <p:txBody>
          <a:bodyPr wrap="square" rtlCol="0">
            <a:spAutoFit/>
          </a:bodyPr>
          <a:lstStyle/>
          <a:p>
            <a:r>
              <a:rPr lang="zh-CN" altLang="en-US" dirty="0"/>
              <a:t>数据采集与复原：</a:t>
            </a:r>
            <a:endParaRPr lang="en-US" altLang="zh-CN" dirty="0"/>
          </a:p>
        </p:txBody>
      </p:sp>
    </p:spTree>
    <p:extLst>
      <p:ext uri="{BB962C8B-B14F-4D97-AF65-F5344CB8AC3E}">
        <p14:creationId xmlns:p14="http://schemas.microsoft.com/office/powerpoint/2010/main" val="36017918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Picture 11" descr="Timeline&#10;&#10;Description automatically generated with medium confidence">
            <a:extLst>
              <a:ext uri="{FF2B5EF4-FFF2-40B4-BE49-F238E27FC236}">
                <a16:creationId xmlns:a16="http://schemas.microsoft.com/office/drawing/2014/main" id="{4F2A2A8F-9517-4690-9118-9E9C119DEE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3589811" cy="964121"/>
          </a:xfrm>
          <a:prstGeom prst="rect">
            <a:avLst/>
          </a:prstGeom>
        </p:spPr>
      </p:pic>
      <p:cxnSp>
        <p:nvCxnSpPr>
          <p:cNvPr id="5" name="Straight Connector 4">
            <a:extLst>
              <a:ext uri="{FF2B5EF4-FFF2-40B4-BE49-F238E27FC236}">
                <a16:creationId xmlns:a16="http://schemas.microsoft.com/office/drawing/2014/main" id="{ACEC1F0D-A587-4FCC-B638-C7A416366B4E}"/>
              </a:ext>
            </a:extLst>
          </p:cNvPr>
          <p:cNvCxnSpPr>
            <a:cxnSpLocks/>
          </p:cNvCxnSpPr>
          <p:nvPr/>
        </p:nvCxnSpPr>
        <p:spPr>
          <a:xfrm>
            <a:off x="0" y="964121"/>
            <a:ext cx="12192002" cy="0"/>
          </a:xfrm>
          <a:prstGeom prst="line">
            <a:avLst/>
          </a:prstGeom>
          <a:noFill/>
          <a:ln w="38100" cap="flat" cmpd="sng" algn="ctr">
            <a:solidFill>
              <a:srgbClr val="164C8C"/>
            </a:solidFill>
            <a:prstDash val="solid"/>
            <a:miter lim="800000"/>
          </a:ln>
          <a:effectLst/>
        </p:spPr>
      </p:cxnSp>
      <p:grpSp>
        <p:nvGrpSpPr>
          <p:cNvPr id="8" name="Group 7">
            <a:extLst>
              <a:ext uri="{FF2B5EF4-FFF2-40B4-BE49-F238E27FC236}">
                <a16:creationId xmlns:a16="http://schemas.microsoft.com/office/drawing/2014/main" id="{9CDFCEC1-C72C-4AFF-9C6E-EE15DF50B3A1}"/>
              </a:ext>
            </a:extLst>
          </p:cNvPr>
          <p:cNvGrpSpPr/>
          <p:nvPr/>
        </p:nvGrpSpPr>
        <p:grpSpPr>
          <a:xfrm>
            <a:off x="-1" y="6042322"/>
            <a:ext cx="12192002" cy="815678"/>
            <a:chOff x="-1" y="5114925"/>
            <a:chExt cx="12192002" cy="1743075"/>
          </a:xfrm>
        </p:grpSpPr>
        <p:sp>
          <p:nvSpPr>
            <p:cNvPr id="9" name="íṥ1íde">
              <a:extLst>
                <a:ext uri="{FF2B5EF4-FFF2-40B4-BE49-F238E27FC236}">
                  <a16:creationId xmlns:a16="http://schemas.microsoft.com/office/drawing/2014/main" id="{6E2BA51F-A4D9-4F46-8543-10DB138EA98E}"/>
                </a:ext>
              </a:extLst>
            </p:cNvPr>
            <p:cNvSpPr/>
            <p:nvPr/>
          </p:nvSpPr>
          <p:spPr>
            <a:xfrm>
              <a:off x="-1" y="5114925"/>
              <a:ext cx="12192001" cy="1743075"/>
            </a:xfrm>
            <a:custGeom>
              <a:avLst/>
              <a:gdLst/>
              <a:ahLst/>
              <a:cxnLst/>
              <a:rect l="0" t="0" r="0" b="0"/>
              <a:pathLst>
                <a:path w="12192001" h="3741094" extrusionOk="0">
                  <a:moveTo>
                    <a:pt x="0" y="51100"/>
                  </a:moveTo>
                  <a:cubicBezTo>
                    <a:pt x="1197428" y="-363602"/>
                    <a:pt x="4795521" y="1882077"/>
                    <a:pt x="6831875" y="1879900"/>
                  </a:cubicBezTo>
                  <a:cubicBezTo>
                    <a:pt x="8868229" y="1877723"/>
                    <a:pt x="11357429" y="825119"/>
                    <a:pt x="12192000" y="1239821"/>
                  </a:cubicBezTo>
                  <a:cubicBezTo>
                    <a:pt x="12192000" y="2073579"/>
                    <a:pt x="12192001" y="2907336"/>
                    <a:pt x="12192001" y="3741094"/>
                  </a:cubicBezTo>
                  <a:lnTo>
                    <a:pt x="1" y="3741094"/>
                  </a:lnTo>
                  <a:cubicBezTo>
                    <a:pt x="1" y="2511096"/>
                    <a:pt x="0" y="1281098"/>
                    <a:pt x="0" y="51100"/>
                  </a:cubicBezTo>
                  <a:close/>
                </a:path>
              </a:pathLst>
            </a:custGeom>
            <a:solidFill>
              <a:srgbClr val="FFFFFF">
                <a:lumMod val="85000"/>
              </a:srgbClr>
            </a:solidFill>
            <a:ln>
              <a:noFill/>
            </a:ln>
            <a:effectLst/>
          </p:spPr>
          <p:txBody>
            <a:bodyPr spcFirstLastPara="1" wrap="square" lIns="91440" tIns="45720" rIns="91440" bIns="45720" anchor="ctr"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9pPr>
            </a:lstStyle>
            <a:p>
              <a:pPr marL="0" marR="0" lvl="0" indent="0" algn="ctr" defTabSz="457200" rtl="0" eaLnBrk="1" fontAlgn="auto" latinLnBrk="0" hangingPunct="1">
                <a:lnSpc>
                  <a:spcPct val="100000"/>
                </a:lnSpc>
                <a:spcBef>
                  <a:spcPts val="0"/>
                </a:spcBef>
                <a:spcAft>
                  <a:spcPts val="0"/>
                </a:spcAft>
                <a:buClr>
                  <a:srgbClr val="000000"/>
                </a:buClr>
                <a:buSzTx/>
                <a:buFont typeface="Arial" panose="020B0604020202090204"/>
                <a:buNone/>
                <a:tabLst/>
                <a:defRPr/>
              </a:pPr>
              <a:endParaRPr kumimoji="0" sz="1400" b="0" i="0" u="none" strike="noStrike" kern="0" cap="none" spc="0" normalizeH="0" baseline="0" noProof="0">
                <a:ln>
                  <a:noFill/>
                </a:ln>
                <a:solidFill>
                  <a:srgbClr val="000000"/>
                </a:solidFill>
                <a:effectLst/>
                <a:uLnTx/>
                <a:uFillTx/>
                <a:latin typeface="Arial"/>
                <a:ea typeface="Microsoft YaHei"/>
              </a:endParaRPr>
            </a:p>
          </p:txBody>
        </p:sp>
        <p:sp>
          <p:nvSpPr>
            <p:cNvPr id="10" name="ïsļidê">
              <a:extLst>
                <a:ext uri="{FF2B5EF4-FFF2-40B4-BE49-F238E27FC236}">
                  <a16:creationId xmlns:a16="http://schemas.microsoft.com/office/drawing/2014/main" id="{E039ED5A-27C8-46FD-A729-046833071DC5}"/>
                </a:ext>
              </a:extLst>
            </p:cNvPr>
            <p:cNvSpPr/>
            <p:nvPr/>
          </p:nvSpPr>
          <p:spPr>
            <a:xfrm>
              <a:off x="0" y="5729076"/>
              <a:ext cx="12192001" cy="1128921"/>
            </a:xfrm>
            <a:custGeom>
              <a:avLst/>
              <a:gdLst/>
              <a:ahLst/>
              <a:cxnLst/>
              <a:rect l="0" t="0" r="0" b="0"/>
              <a:pathLst>
                <a:path w="12192001" h="3741094" extrusionOk="0">
                  <a:moveTo>
                    <a:pt x="0" y="51100"/>
                  </a:moveTo>
                  <a:cubicBezTo>
                    <a:pt x="1197428" y="-363602"/>
                    <a:pt x="4795521" y="1882077"/>
                    <a:pt x="6831875" y="1879900"/>
                  </a:cubicBezTo>
                  <a:cubicBezTo>
                    <a:pt x="8868229" y="1877723"/>
                    <a:pt x="11357429" y="825119"/>
                    <a:pt x="12192000" y="1239821"/>
                  </a:cubicBezTo>
                  <a:cubicBezTo>
                    <a:pt x="12192000" y="2073579"/>
                    <a:pt x="12192001" y="2907336"/>
                    <a:pt x="12192001" y="3741094"/>
                  </a:cubicBezTo>
                  <a:lnTo>
                    <a:pt x="1" y="3741094"/>
                  </a:lnTo>
                  <a:cubicBezTo>
                    <a:pt x="1" y="2511096"/>
                    <a:pt x="0" y="1281098"/>
                    <a:pt x="0" y="51100"/>
                  </a:cubicBezTo>
                  <a:close/>
                </a:path>
              </a:pathLst>
            </a:custGeom>
            <a:solidFill>
              <a:srgbClr val="083F7F"/>
            </a:solidFill>
            <a:ln>
              <a:noFill/>
            </a:ln>
            <a:effectLst/>
          </p:spPr>
          <p:txBody>
            <a:bodyPr spcFirstLastPara="1" wrap="square" lIns="91440" tIns="45720" rIns="91440" bIns="45720" anchor="ctr"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9pPr>
            </a:lstStyle>
            <a:p>
              <a:pPr marL="0" marR="0" lvl="0" indent="0" algn="ctr" defTabSz="457200" rtl="0" eaLnBrk="1" fontAlgn="auto" latinLnBrk="0" hangingPunct="1">
                <a:lnSpc>
                  <a:spcPct val="100000"/>
                </a:lnSpc>
                <a:spcBef>
                  <a:spcPts val="0"/>
                </a:spcBef>
                <a:spcAft>
                  <a:spcPts val="0"/>
                </a:spcAft>
                <a:buClr>
                  <a:srgbClr val="000000"/>
                </a:buClr>
                <a:buSzTx/>
                <a:buFont typeface="Arial" panose="020B0604020202090204"/>
                <a:buNone/>
                <a:tabLst/>
                <a:defRPr/>
              </a:pPr>
              <a:endParaRPr kumimoji="0" sz="1400" b="0" i="0" u="none" strike="noStrike" kern="0" cap="none" spc="0" normalizeH="0" baseline="0" noProof="0">
                <a:ln>
                  <a:noFill/>
                </a:ln>
                <a:solidFill>
                  <a:srgbClr val="000000"/>
                </a:solidFill>
                <a:effectLst/>
                <a:uLnTx/>
                <a:uFillTx/>
                <a:latin typeface="Arial"/>
                <a:ea typeface="Microsoft YaHei"/>
              </a:endParaRPr>
            </a:p>
          </p:txBody>
        </p:sp>
      </p:grpSp>
      <p:sp>
        <p:nvSpPr>
          <p:cNvPr id="11" name="Slide Number Placeholder 2">
            <a:extLst>
              <a:ext uri="{FF2B5EF4-FFF2-40B4-BE49-F238E27FC236}">
                <a16:creationId xmlns:a16="http://schemas.microsoft.com/office/drawing/2014/main" id="{F22F27CA-5E6E-4762-8DE2-3B18CBE709A2}"/>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20</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ACAEE91A-E2B7-4A84-BDF3-883B0F04E2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 y="0"/>
            <a:ext cx="990599" cy="985742"/>
          </a:xfrm>
          <a:prstGeom prst="rect">
            <a:avLst/>
          </a:prstGeom>
        </p:spPr>
      </p:pic>
      <p:sp>
        <p:nvSpPr>
          <p:cNvPr id="2" name="TextBox 1">
            <a:extLst>
              <a:ext uri="{FF2B5EF4-FFF2-40B4-BE49-F238E27FC236}">
                <a16:creationId xmlns:a16="http://schemas.microsoft.com/office/drawing/2014/main" id="{F8C3D2FE-1C77-4808-A158-5FCBDB0DE32E}"/>
              </a:ext>
            </a:extLst>
          </p:cNvPr>
          <p:cNvSpPr txBox="1"/>
          <p:nvPr/>
        </p:nvSpPr>
        <p:spPr>
          <a:xfrm>
            <a:off x="2555630" y="2271471"/>
            <a:ext cx="7080740" cy="2315057"/>
          </a:xfrm>
          <a:prstGeom prst="rect">
            <a:avLst/>
          </a:prstGeom>
          <a:noFill/>
        </p:spPr>
        <p:txBody>
          <a:bodyPr wrap="square" rtlCol="0">
            <a:spAutoFit/>
          </a:bodyPr>
          <a:lstStyle/>
          <a:p>
            <a:pPr algn="ctr" defTabSz="685800">
              <a:lnSpc>
                <a:spcPct val="120000"/>
              </a:lnSpc>
              <a:spcBef>
                <a:spcPts val="600"/>
              </a:spcBef>
              <a:spcAft>
                <a:spcPts val="600"/>
              </a:spcAft>
            </a:pPr>
            <a:r>
              <a:rPr lang="zh-CN" altLang="en-US" sz="6000" b="1" dirty="0">
                <a:solidFill>
                  <a:srgbClr val="800000"/>
                </a:solidFill>
                <a:latin typeface="黑体" panose="02010609060101010101" pitchFamily="49" charset="-122"/>
                <a:ea typeface="黑体" panose="02010609060101010101" pitchFamily="49" charset="-122"/>
                <a:cs typeface="+mn-ea"/>
                <a:sym typeface="+mn-lt"/>
              </a:rPr>
              <a:t>衷心感谢大家</a:t>
            </a:r>
          </a:p>
          <a:p>
            <a:pPr algn="ctr" defTabSz="685800">
              <a:lnSpc>
                <a:spcPct val="120000"/>
              </a:lnSpc>
              <a:spcBef>
                <a:spcPts val="600"/>
              </a:spcBef>
              <a:spcAft>
                <a:spcPts val="600"/>
              </a:spcAft>
            </a:pPr>
            <a:r>
              <a:rPr lang="zh-CN" altLang="en-US" sz="6000" b="1" dirty="0">
                <a:solidFill>
                  <a:srgbClr val="800000"/>
                </a:solidFill>
                <a:latin typeface="黑体" panose="02010609060101010101" pitchFamily="49" charset="-122"/>
                <a:ea typeface="黑体" panose="02010609060101010101" pitchFamily="49" charset="-122"/>
                <a:cs typeface="+mn-ea"/>
                <a:sym typeface="+mn-lt"/>
              </a:rPr>
              <a:t>敬请批评指正</a:t>
            </a:r>
          </a:p>
        </p:txBody>
      </p:sp>
    </p:spTree>
    <p:extLst>
      <p:ext uri="{BB962C8B-B14F-4D97-AF65-F5344CB8AC3E}">
        <p14:creationId xmlns:p14="http://schemas.microsoft.com/office/powerpoint/2010/main" val="12248861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4052214-F0EA-9E6A-45CF-C702AB1FF4F0}"/>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E4389301-52A1-704A-5DDF-2993CFF85179}"/>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9212D58D-6D81-C3F2-ED0B-94D763ED21C0}"/>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7F524F45-4012-B5A3-6BFE-DFDF79622A54}"/>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023E8589-DF65-BEF7-172F-8D3EF19CDE3C}"/>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文献光路图</a:t>
            </a:r>
          </a:p>
        </p:txBody>
      </p:sp>
      <p:sp>
        <p:nvSpPr>
          <p:cNvPr id="14" name="文本框 13">
            <a:extLst>
              <a:ext uri="{FF2B5EF4-FFF2-40B4-BE49-F238E27FC236}">
                <a16:creationId xmlns:a16="http://schemas.microsoft.com/office/drawing/2014/main" id="{BA16F28D-0AF4-8BBF-89CC-D427CE46F787}"/>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附录</a:t>
            </a:r>
            <a:endParaRPr lang="en-US" altLang="zh-CN" sz="3600" b="1" dirty="0">
              <a:solidFill>
                <a:srgbClr val="3467AB"/>
              </a:solidFill>
            </a:endParaRPr>
          </a:p>
        </p:txBody>
      </p:sp>
      <p:pic>
        <p:nvPicPr>
          <p:cNvPr id="4" name="图片 3">
            <a:extLst>
              <a:ext uri="{FF2B5EF4-FFF2-40B4-BE49-F238E27FC236}">
                <a16:creationId xmlns:a16="http://schemas.microsoft.com/office/drawing/2014/main" id="{E9AA6DE6-6F42-1A11-1690-7404CE85AB44}"/>
              </a:ext>
            </a:extLst>
          </p:cNvPr>
          <p:cNvPicPr>
            <a:picLocks noChangeAspect="1"/>
          </p:cNvPicPr>
          <p:nvPr/>
        </p:nvPicPr>
        <p:blipFill>
          <a:blip r:embed="rId3"/>
          <a:stretch>
            <a:fillRect/>
          </a:stretch>
        </p:blipFill>
        <p:spPr>
          <a:xfrm>
            <a:off x="1415480" y="1196752"/>
            <a:ext cx="8496944" cy="4170612"/>
          </a:xfrm>
          <a:prstGeom prst="rect">
            <a:avLst/>
          </a:prstGeom>
        </p:spPr>
      </p:pic>
      <p:sp>
        <p:nvSpPr>
          <p:cNvPr id="6" name="文本框 5">
            <a:extLst>
              <a:ext uri="{FF2B5EF4-FFF2-40B4-BE49-F238E27FC236}">
                <a16:creationId xmlns:a16="http://schemas.microsoft.com/office/drawing/2014/main" id="{52AF84E7-3A38-3168-EF3D-C289619209A9}"/>
              </a:ext>
            </a:extLst>
          </p:cNvPr>
          <p:cNvSpPr txBox="1"/>
          <p:nvPr/>
        </p:nvSpPr>
        <p:spPr>
          <a:xfrm>
            <a:off x="588706" y="5570618"/>
            <a:ext cx="11076713" cy="646331"/>
          </a:xfrm>
          <a:prstGeom prst="rect">
            <a:avLst/>
          </a:prstGeom>
          <a:noFill/>
        </p:spPr>
        <p:txBody>
          <a:bodyPr wrap="square">
            <a:spAutoFit/>
          </a:bodyPr>
          <a:lstStyle/>
          <a:p>
            <a:pPr>
              <a:buNone/>
            </a:pPr>
            <a:r>
              <a:rPr lang="en-US" altLang="zh-CN" dirty="0"/>
              <a:t>P1</a:t>
            </a:r>
            <a:r>
              <a:rPr lang="zh-CN" altLang="en-US" dirty="0"/>
              <a:t>和</a:t>
            </a:r>
            <a:r>
              <a:rPr lang="en-US" altLang="zh-CN" dirty="0"/>
              <a:t>P2</a:t>
            </a:r>
            <a:r>
              <a:rPr lang="zh-CN" altLang="en-US" dirty="0"/>
              <a:t>为两个偏振片，</a:t>
            </a:r>
            <a:r>
              <a:rPr lang="en-US" altLang="zh-CN" dirty="0"/>
              <a:t>LC-SLM</a:t>
            </a:r>
            <a:r>
              <a:rPr lang="zh-CN" altLang="en-US" dirty="0"/>
              <a:t>为液晶型空间光调制器，投影的基底为</a:t>
            </a:r>
            <a:r>
              <a:rPr lang="en-US" altLang="zh-CN" dirty="0"/>
              <a:t>Hadamard</a:t>
            </a:r>
            <a:r>
              <a:rPr lang="zh-CN" altLang="en-US" dirty="0"/>
              <a:t>基，</a:t>
            </a:r>
            <a:r>
              <a:rPr lang="en-US" altLang="zh-CN" dirty="0"/>
              <a:t>PO</a:t>
            </a:r>
            <a:r>
              <a:rPr lang="zh-CN" altLang="en-US" dirty="0"/>
              <a:t>为透射式偏振物体</a:t>
            </a:r>
            <a:endParaRPr lang="en-US" altLang="zh-CN" dirty="0"/>
          </a:p>
          <a:p>
            <a:pPr>
              <a:buNone/>
            </a:pPr>
            <a:r>
              <a:rPr lang="en-US" altLang="zh-CN" dirty="0"/>
              <a:t>IBE</a:t>
            </a:r>
            <a:r>
              <a:rPr lang="zh-CN" altLang="en-US" dirty="0"/>
              <a:t>为聚光器件，用于聚焦</a:t>
            </a:r>
            <a:r>
              <a:rPr lang="en-US" altLang="zh-CN" dirty="0"/>
              <a:t>PO</a:t>
            </a:r>
            <a:r>
              <a:rPr lang="zh-CN" altLang="en-US" dirty="0"/>
              <a:t>物体后的光，</a:t>
            </a:r>
            <a:r>
              <a:rPr lang="en-US" altLang="zh-CN" dirty="0"/>
              <a:t>SP</a:t>
            </a:r>
            <a:r>
              <a:rPr lang="zh-CN" altLang="en-US" dirty="0"/>
              <a:t>为商业斯托克斯偏振仪器</a:t>
            </a:r>
            <a:endParaRPr lang="en-US" altLang="zh-CN" dirty="0"/>
          </a:p>
        </p:txBody>
      </p:sp>
    </p:spTree>
    <p:extLst>
      <p:ext uri="{BB962C8B-B14F-4D97-AF65-F5344CB8AC3E}">
        <p14:creationId xmlns:p14="http://schemas.microsoft.com/office/powerpoint/2010/main" val="3544706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E49F39C-69FD-E396-48CB-75E75407E32A}"/>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DF4D5BEB-86A0-35E3-2758-784CC940E54B}"/>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63B3CBBA-BFA4-8432-4A25-65299BA70DE7}"/>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3EFDA0D7-4F6C-FDD8-9193-5A8BDB2F7239}"/>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5E996BBE-8924-4CD8-811D-DA745CA99290}"/>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en-US" altLang="zh-CN" sz="3200" dirty="0">
                <a:solidFill>
                  <a:srgbClr val="FFFFFF"/>
                </a:solidFill>
              </a:rPr>
              <a:t>Stokes polarimeter </a:t>
            </a:r>
            <a:r>
              <a:rPr lang="zh-CN" altLang="en-US" sz="3200" dirty="0">
                <a:solidFill>
                  <a:srgbClr val="FFFFFF"/>
                </a:solidFill>
              </a:rPr>
              <a:t>原理</a:t>
            </a:r>
          </a:p>
        </p:txBody>
      </p:sp>
      <p:sp>
        <p:nvSpPr>
          <p:cNvPr id="14" name="文本框 13">
            <a:extLst>
              <a:ext uri="{FF2B5EF4-FFF2-40B4-BE49-F238E27FC236}">
                <a16:creationId xmlns:a16="http://schemas.microsoft.com/office/drawing/2014/main" id="{28D2089C-19B6-9984-9FFE-4F8CFB6E9759}"/>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附录</a:t>
            </a:r>
            <a:endParaRPr lang="en-US" altLang="zh-CN" sz="3600" b="1" dirty="0">
              <a:solidFill>
                <a:srgbClr val="3467AB"/>
              </a:solidFill>
            </a:endParaRPr>
          </a:p>
        </p:txBody>
      </p:sp>
      <p:pic>
        <p:nvPicPr>
          <p:cNvPr id="15" name="图片 14">
            <a:extLst>
              <a:ext uri="{FF2B5EF4-FFF2-40B4-BE49-F238E27FC236}">
                <a16:creationId xmlns:a16="http://schemas.microsoft.com/office/drawing/2014/main" id="{FB1C8FA7-8A9F-430D-EA8C-5B10D2276A81}"/>
              </a:ext>
            </a:extLst>
          </p:cNvPr>
          <p:cNvPicPr>
            <a:picLocks noChangeAspect="1"/>
          </p:cNvPicPr>
          <p:nvPr/>
        </p:nvPicPr>
        <p:blipFill>
          <a:blip r:embed="rId3"/>
          <a:stretch>
            <a:fillRect/>
          </a:stretch>
        </p:blipFill>
        <p:spPr>
          <a:xfrm>
            <a:off x="2567608" y="1196752"/>
            <a:ext cx="5753624" cy="2424250"/>
          </a:xfrm>
          <a:prstGeom prst="rect">
            <a:avLst/>
          </a:prstGeom>
        </p:spPr>
      </p:pic>
      <p:cxnSp>
        <p:nvCxnSpPr>
          <p:cNvPr id="3" name="直接箭头连接符 2">
            <a:extLst>
              <a:ext uri="{FF2B5EF4-FFF2-40B4-BE49-F238E27FC236}">
                <a16:creationId xmlns:a16="http://schemas.microsoft.com/office/drawing/2014/main" id="{B381DCB1-9FD6-FECB-6976-449CCD66ABCA}"/>
              </a:ext>
            </a:extLst>
          </p:cNvPr>
          <p:cNvCxnSpPr/>
          <p:nvPr/>
        </p:nvCxnSpPr>
        <p:spPr>
          <a:xfrm>
            <a:off x="6888088" y="3068960"/>
            <a:ext cx="1224136" cy="1224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03C4DD2B-1B7E-578A-0368-18053CB06068}"/>
              </a:ext>
            </a:extLst>
          </p:cNvPr>
          <p:cNvSpPr txBox="1"/>
          <p:nvPr/>
        </p:nvSpPr>
        <p:spPr>
          <a:xfrm>
            <a:off x="119336" y="4614040"/>
            <a:ext cx="12025336" cy="2031325"/>
          </a:xfrm>
          <a:prstGeom prst="rect">
            <a:avLst/>
          </a:prstGeom>
          <a:noFill/>
        </p:spPr>
        <p:txBody>
          <a:bodyPr wrap="square">
            <a:spAutoFit/>
          </a:bodyPr>
          <a:lstStyle/>
          <a:p>
            <a:pPr>
              <a:buNone/>
            </a:pPr>
            <a:r>
              <a:rPr lang="zh-CN" altLang="en-US" dirty="0"/>
              <a:t>理想化分析</a:t>
            </a:r>
            <a:r>
              <a:rPr lang="en-US" altLang="zh-CN" dirty="0"/>
              <a:t>:</a:t>
            </a:r>
          </a:p>
          <a:p>
            <a:pPr>
              <a:buNone/>
            </a:pPr>
            <a:r>
              <a:rPr lang="en-US" altLang="zh-CN" dirty="0"/>
              <a:t>I_H = (I0 + S1) / 2,   I_V = (I0 - S1) / 2</a:t>
            </a:r>
            <a:r>
              <a:rPr lang="zh-CN" altLang="en-US" dirty="0"/>
              <a:t>，二者进行线性运算可以得出</a:t>
            </a:r>
            <a:r>
              <a:rPr lang="en-US" altLang="zh-CN" dirty="0"/>
              <a:t>S1</a:t>
            </a:r>
            <a:r>
              <a:rPr lang="zh-CN" altLang="en-US" dirty="0"/>
              <a:t>，</a:t>
            </a:r>
            <a:r>
              <a:rPr lang="en-US" altLang="zh-CN" dirty="0"/>
              <a:t>S2,S3</a:t>
            </a:r>
            <a:r>
              <a:rPr lang="zh-CN" altLang="en-US" dirty="0"/>
              <a:t>同理</a:t>
            </a:r>
            <a:endParaRPr lang="en-US" altLang="zh-CN" dirty="0"/>
          </a:p>
          <a:p>
            <a:r>
              <a:rPr lang="en-US" altLang="zh-CN" dirty="0"/>
              <a:t>I_45 = (I0 + S2) / 2,  I_135 = (I0 - S2) / 2</a:t>
            </a:r>
            <a:br>
              <a:rPr lang="en-US" altLang="zh-CN" dirty="0"/>
            </a:br>
            <a:r>
              <a:rPr lang="en-US" altLang="zh-CN" dirty="0"/>
              <a:t>I_R = (I0 + S3) / 2,    I_L = (I0 - S3) / 2</a:t>
            </a:r>
          </a:p>
          <a:p>
            <a:r>
              <a:rPr lang="zh-CN" altLang="en-US" dirty="0">
                <a:solidFill>
                  <a:srgbClr val="FF0000"/>
                </a:solidFill>
              </a:rPr>
              <a:t>对比我的实验处理器件：</a:t>
            </a:r>
            <a:endParaRPr lang="en-US" altLang="zh-CN" dirty="0">
              <a:solidFill>
                <a:srgbClr val="FF0000"/>
              </a:solidFill>
            </a:endParaRPr>
          </a:p>
          <a:p>
            <a:r>
              <a:rPr lang="en-US" altLang="zh-CN" dirty="0"/>
              <a:t>PEM+</a:t>
            </a:r>
            <a:r>
              <a:rPr lang="zh-CN" altLang="en-US" dirty="0"/>
              <a:t>锁相放大器，多路信号输出，一次能得到</a:t>
            </a:r>
            <a:r>
              <a:rPr lang="en-US" altLang="zh-CN" dirty="0"/>
              <a:t>S0</a:t>
            </a:r>
            <a:r>
              <a:rPr lang="zh-CN" altLang="en-US" dirty="0"/>
              <a:t>，</a:t>
            </a:r>
            <a:r>
              <a:rPr lang="en-US" altLang="zh-CN" dirty="0"/>
              <a:t>S2</a:t>
            </a:r>
            <a:r>
              <a:rPr lang="zh-CN" altLang="en-US" dirty="0"/>
              <a:t>和</a:t>
            </a:r>
            <a:r>
              <a:rPr lang="en-US" altLang="zh-CN" dirty="0"/>
              <a:t>S3 </a:t>
            </a:r>
            <a:r>
              <a:rPr lang="zh-CN" altLang="en-US" dirty="0"/>
              <a:t>，优势在于频率可以更高，获取信息的速度可以更快。</a:t>
            </a:r>
            <a:endParaRPr lang="en-US" altLang="zh-CN" dirty="0"/>
          </a:p>
          <a:p>
            <a:r>
              <a:rPr lang="zh-CN" altLang="en-US" dirty="0"/>
              <a:t>缺陷在于</a:t>
            </a:r>
            <a:r>
              <a:rPr lang="en-US" altLang="zh-CN" dirty="0"/>
              <a:t>S1</a:t>
            </a:r>
            <a:r>
              <a:rPr lang="zh-CN" altLang="en-US" dirty="0"/>
              <a:t>分量需要靠计算得到，无法直接测量得到（若要测量得到需要旋转一次偏振片）</a:t>
            </a:r>
            <a:endParaRPr lang="en-US" altLang="zh-CN" dirty="0"/>
          </a:p>
        </p:txBody>
      </p:sp>
      <p:sp>
        <p:nvSpPr>
          <p:cNvPr id="7" name="文本框 6">
            <a:extLst>
              <a:ext uri="{FF2B5EF4-FFF2-40B4-BE49-F238E27FC236}">
                <a16:creationId xmlns:a16="http://schemas.microsoft.com/office/drawing/2014/main" id="{808C1FC1-8914-306D-0261-45D4598A1FF7}"/>
              </a:ext>
            </a:extLst>
          </p:cNvPr>
          <p:cNvSpPr txBox="1"/>
          <p:nvPr/>
        </p:nvSpPr>
        <p:spPr>
          <a:xfrm>
            <a:off x="8076220" y="4265803"/>
            <a:ext cx="2088232" cy="369332"/>
          </a:xfrm>
          <a:prstGeom prst="rect">
            <a:avLst/>
          </a:prstGeom>
          <a:noFill/>
        </p:spPr>
        <p:txBody>
          <a:bodyPr wrap="square">
            <a:spAutoFit/>
          </a:bodyPr>
          <a:lstStyle/>
          <a:p>
            <a:r>
              <a:rPr lang="en-US" altLang="zh-CN" dirty="0"/>
              <a:t>I_H = (I0 + S1) / 2</a:t>
            </a:r>
            <a:endParaRPr lang="zh-CN" altLang="en-US" dirty="0"/>
          </a:p>
        </p:txBody>
      </p:sp>
      <p:cxnSp>
        <p:nvCxnSpPr>
          <p:cNvPr id="10" name="直接箭头连接符 9">
            <a:extLst>
              <a:ext uri="{FF2B5EF4-FFF2-40B4-BE49-F238E27FC236}">
                <a16:creationId xmlns:a16="http://schemas.microsoft.com/office/drawing/2014/main" id="{4D612F6C-687D-AC06-23D6-22C65A7C6686}"/>
              </a:ext>
            </a:extLst>
          </p:cNvPr>
          <p:cNvCxnSpPr>
            <a:cxnSpLocks/>
          </p:cNvCxnSpPr>
          <p:nvPr/>
        </p:nvCxnSpPr>
        <p:spPr>
          <a:xfrm flipV="1">
            <a:off x="7392144" y="1684762"/>
            <a:ext cx="1728192" cy="722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4370D480-BB06-9FFD-87BB-A2F0D76BED8D}"/>
              </a:ext>
            </a:extLst>
          </p:cNvPr>
          <p:cNvSpPr txBox="1"/>
          <p:nvPr/>
        </p:nvSpPr>
        <p:spPr>
          <a:xfrm>
            <a:off x="8976320" y="1325394"/>
            <a:ext cx="2015852" cy="369332"/>
          </a:xfrm>
          <a:prstGeom prst="rect">
            <a:avLst/>
          </a:prstGeom>
          <a:noFill/>
        </p:spPr>
        <p:txBody>
          <a:bodyPr wrap="square">
            <a:spAutoFit/>
          </a:bodyPr>
          <a:lstStyle/>
          <a:p>
            <a:r>
              <a:rPr lang="en-US" altLang="zh-CN" dirty="0"/>
              <a:t>I_V = (I0 - S1) / 2</a:t>
            </a:r>
            <a:endParaRPr lang="zh-CN" altLang="en-US" dirty="0"/>
          </a:p>
        </p:txBody>
      </p:sp>
      <p:cxnSp>
        <p:nvCxnSpPr>
          <p:cNvPr id="20" name="直接箭头连接符 19">
            <a:extLst>
              <a:ext uri="{FF2B5EF4-FFF2-40B4-BE49-F238E27FC236}">
                <a16:creationId xmlns:a16="http://schemas.microsoft.com/office/drawing/2014/main" id="{93470982-A989-AD32-8566-375A1D9C1A04}"/>
              </a:ext>
            </a:extLst>
          </p:cNvPr>
          <p:cNvCxnSpPr>
            <a:cxnSpLocks/>
          </p:cNvCxnSpPr>
          <p:nvPr/>
        </p:nvCxnSpPr>
        <p:spPr>
          <a:xfrm flipH="1" flipV="1">
            <a:off x="1991544" y="1982083"/>
            <a:ext cx="2232248" cy="1086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0F585858-C375-CDCA-C73C-F9D8384530B1}"/>
              </a:ext>
            </a:extLst>
          </p:cNvPr>
          <p:cNvSpPr txBox="1"/>
          <p:nvPr/>
        </p:nvSpPr>
        <p:spPr>
          <a:xfrm>
            <a:off x="119336" y="1510060"/>
            <a:ext cx="1872208" cy="646331"/>
          </a:xfrm>
          <a:prstGeom prst="rect">
            <a:avLst/>
          </a:prstGeom>
          <a:noFill/>
        </p:spPr>
        <p:txBody>
          <a:bodyPr wrap="square">
            <a:spAutoFit/>
          </a:bodyPr>
          <a:lstStyle/>
          <a:p>
            <a:pPr>
              <a:buNone/>
            </a:pPr>
            <a:r>
              <a:rPr lang="en-US" altLang="zh-CN" dirty="0"/>
              <a:t>LCVR</a:t>
            </a:r>
            <a:r>
              <a:rPr lang="zh-CN" altLang="en-US" dirty="0"/>
              <a:t>液晶相位可变相位延迟器</a:t>
            </a:r>
            <a:endParaRPr lang="en-US" altLang="zh-CN" dirty="0"/>
          </a:p>
        </p:txBody>
      </p:sp>
      <p:sp>
        <p:nvSpPr>
          <p:cNvPr id="28" name="文本框 27">
            <a:extLst>
              <a:ext uri="{FF2B5EF4-FFF2-40B4-BE49-F238E27FC236}">
                <a16:creationId xmlns:a16="http://schemas.microsoft.com/office/drawing/2014/main" id="{E88F814C-77F6-F3A5-59E2-9A7013A326B7}"/>
              </a:ext>
            </a:extLst>
          </p:cNvPr>
          <p:cNvSpPr txBox="1"/>
          <p:nvPr/>
        </p:nvSpPr>
        <p:spPr>
          <a:xfrm>
            <a:off x="911424" y="3758736"/>
            <a:ext cx="6839815" cy="369332"/>
          </a:xfrm>
          <a:prstGeom prst="rect">
            <a:avLst/>
          </a:prstGeom>
          <a:noFill/>
        </p:spPr>
        <p:txBody>
          <a:bodyPr wrap="square">
            <a:spAutoFit/>
          </a:bodyPr>
          <a:lstStyle/>
          <a:p>
            <a:pPr>
              <a:buNone/>
            </a:pPr>
            <a:r>
              <a:rPr lang="en-US" altLang="zh-CN" dirty="0"/>
              <a:t>I_PD(</a:t>
            </a:r>
            <a:r>
              <a:rPr lang="el-GR" altLang="zh-CN" dirty="0"/>
              <a:t>δ1, δ2) = </a:t>
            </a:r>
            <a:r>
              <a:rPr lang="en-US" altLang="zh-CN" dirty="0"/>
              <a:t>m00(</a:t>
            </a:r>
            <a:r>
              <a:rPr lang="el-GR" altLang="zh-CN" dirty="0"/>
              <a:t>δ1, δ2) </a:t>
            </a:r>
            <a:r>
              <a:rPr lang="en-US" altLang="zh-CN" dirty="0"/>
              <a:t>I0 + </a:t>
            </a:r>
            <a:r>
              <a:rPr lang="el-GR" altLang="zh-CN" dirty="0"/>
              <a:t>Σ </a:t>
            </a:r>
            <a:r>
              <a:rPr lang="en-US" altLang="zh-CN" dirty="0"/>
              <a:t>m0i(</a:t>
            </a:r>
            <a:r>
              <a:rPr lang="el-GR" altLang="zh-CN" dirty="0"/>
              <a:t>δ1, δ2) </a:t>
            </a:r>
            <a:r>
              <a:rPr lang="en-US" altLang="zh-CN" dirty="0"/>
              <a:t>Si, </a:t>
            </a:r>
            <a:r>
              <a:rPr lang="en-US" altLang="zh-CN" dirty="0" err="1"/>
              <a:t>i</a:t>
            </a:r>
            <a:r>
              <a:rPr lang="en-US" altLang="zh-CN" dirty="0"/>
              <a:t> = 1, 2, 3</a:t>
            </a:r>
          </a:p>
        </p:txBody>
      </p:sp>
      <p:sp>
        <p:nvSpPr>
          <p:cNvPr id="29" name="箭头: 下 28">
            <a:extLst>
              <a:ext uri="{FF2B5EF4-FFF2-40B4-BE49-F238E27FC236}">
                <a16:creationId xmlns:a16="http://schemas.microsoft.com/office/drawing/2014/main" id="{0A4EE912-F42A-6C59-6EDE-D66158437AB6}"/>
              </a:ext>
            </a:extLst>
          </p:cNvPr>
          <p:cNvSpPr/>
          <p:nvPr/>
        </p:nvSpPr>
        <p:spPr>
          <a:xfrm>
            <a:off x="4151784" y="4128068"/>
            <a:ext cx="504056" cy="576064"/>
          </a:xfrm>
          <a:prstGeom prst="downArrow">
            <a:avLst/>
          </a:prstGeom>
          <a:solidFill>
            <a:srgbClr val="5B9B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7288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B71667E-EA8B-D8A6-ADC5-7138E3BF0219}"/>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27E783F7-1E60-EEEF-8733-B5534A752252}"/>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3957F284-6CEB-ABF8-DE24-AEAD4F2BDB24}"/>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1C6ABF9A-6957-E7AB-6A4C-88D3073BA181}"/>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AA97B7B6-6B14-1BC1-99BB-488515E21584}"/>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文献中使用的透射式偏振物体</a:t>
            </a:r>
          </a:p>
        </p:txBody>
      </p:sp>
      <p:sp>
        <p:nvSpPr>
          <p:cNvPr id="14" name="文本框 13">
            <a:extLst>
              <a:ext uri="{FF2B5EF4-FFF2-40B4-BE49-F238E27FC236}">
                <a16:creationId xmlns:a16="http://schemas.microsoft.com/office/drawing/2014/main" id="{575B1C69-90C1-9D36-4F12-2823E3761BA3}"/>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附录</a:t>
            </a:r>
            <a:endParaRPr lang="en-US" altLang="zh-CN" sz="3600" b="1" dirty="0">
              <a:solidFill>
                <a:srgbClr val="3467AB"/>
              </a:solidFill>
            </a:endParaRPr>
          </a:p>
        </p:txBody>
      </p:sp>
      <p:pic>
        <p:nvPicPr>
          <p:cNvPr id="6" name="图片 5">
            <a:extLst>
              <a:ext uri="{FF2B5EF4-FFF2-40B4-BE49-F238E27FC236}">
                <a16:creationId xmlns:a16="http://schemas.microsoft.com/office/drawing/2014/main" id="{113B168E-B733-BB91-46F2-929E0B651616}"/>
              </a:ext>
            </a:extLst>
          </p:cNvPr>
          <p:cNvPicPr>
            <a:picLocks noChangeAspect="1"/>
          </p:cNvPicPr>
          <p:nvPr/>
        </p:nvPicPr>
        <p:blipFill>
          <a:blip r:embed="rId3"/>
          <a:stretch>
            <a:fillRect/>
          </a:stretch>
        </p:blipFill>
        <p:spPr>
          <a:xfrm>
            <a:off x="5206213" y="1268761"/>
            <a:ext cx="6985787" cy="4941167"/>
          </a:xfrm>
          <a:prstGeom prst="rect">
            <a:avLst/>
          </a:prstGeom>
        </p:spPr>
      </p:pic>
      <p:pic>
        <p:nvPicPr>
          <p:cNvPr id="16" name="图片 15">
            <a:extLst>
              <a:ext uri="{FF2B5EF4-FFF2-40B4-BE49-F238E27FC236}">
                <a16:creationId xmlns:a16="http://schemas.microsoft.com/office/drawing/2014/main" id="{59987F24-E407-5C21-330A-C7AC8D09B85D}"/>
              </a:ext>
            </a:extLst>
          </p:cNvPr>
          <p:cNvPicPr>
            <a:picLocks noChangeAspect="1"/>
          </p:cNvPicPr>
          <p:nvPr/>
        </p:nvPicPr>
        <p:blipFill>
          <a:blip r:embed="rId4"/>
          <a:stretch>
            <a:fillRect/>
          </a:stretch>
        </p:blipFill>
        <p:spPr>
          <a:xfrm>
            <a:off x="0" y="1268760"/>
            <a:ext cx="5146652" cy="4941168"/>
          </a:xfrm>
          <a:prstGeom prst="rect">
            <a:avLst/>
          </a:prstGeom>
        </p:spPr>
      </p:pic>
    </p:spTree>
    <p:extLst>
      <p:ext uri="{BB962C8B-B14F-4D97-AF65-F5344CB8AC3E}">
        <p14:creationId xmlns:p14="http://schemas.microsoft.com/office/powerpoint/2010/main" val="3007967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897A44A-D2BB-AF5F-A3C8-61F011946948}"/>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3C3D1F13-1524-97B5-41B8-15CAD3013F64}"/>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F7924119-ACFD-C2F5-188E-B95157346EA5}"/>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7403540A-EBD0-3F6C-F495-818E66CAF803}"/>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252D1FB8-5B1C-9EB6-1AC3-A3969EF1FA8B}"/>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大透镜凸面和平面成像效果</a:t>
            </a:r>
          </a:p>
        </p:txBody>
      </p:sp>
      <p:sp>
        <p:nvSpPr>
          <p:cNvPr id="14" name="文本框 13">
            <a:extLst>
              <a:ext uri="{FF2B5EF4-FFF2-40B4-BE49-F238E27FC236}">
                <a16:creationId xmlns:a16="http://schemas.microsoft.com/office/drawing/2014/main" id="{6DD19EC1-DCC7-2682-F3C0-F7ABFF360B20}"/>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附录</a:t>
            </a:r>
            <a:endParaRPr lang="en-US" altLang="zh-CN" sz="3600" b="1" dirty="0">
              <a:solidFill>
                <a:srgbClr val="3467AB"/>
              </a:solidFill>
            </a:endParaRPr>
          </a:p>
        </p:txBody>
      </p:sp>
      <p:pic>
        <p:nvPicPr>
          <p:cNvPr id="3" name="图片 2">
            <a:extLst>
              <a:ext uri="{FF2B5EF4-FFF2-40B4-BE49-F238E27FC236}">
                <a16:creationId xmlns:a16="http://schemas.microsoft.com/office/drawing/2014/main" id="{3FEE4BD4-5114-88B3-B9DE-301D48CF87A0}"/>
              </a:ext>
            </a:extLst>
          </p:cNvPr>
          <p:cNvPicPr>
            <a:picLocks noChangeAspect="1"/>
          </p:cNvPicPr>
          <p:nvPr/>
        </p:nvPicPr>
        <p:blipFill>
          <a:blip r:embed="rId3" cstate="print">
            <a:extLst>
              <a:ext uri="{28A0092B-C50C-407E-A947-70E740481C1C}">
                <a14:useLocalDpi xmlns:a14="http://schemas.microsoft.com/office/drawing/2010/main" val="0"/>
              </a:ext>
            </a:extLst>
          </a:blip>
          <a:srcRect l="33581" t="29400" r="34267" b="22300"/>
          <a:stretch>
            <a:fillRect/>
          </a:stretch>
        </p:blipFill>
        <p:spPr>
          <a:xfrm>
            <a:off x="5961214" y="1771075"/>
            <a:ext cx="2465492" cy="2520280"/>
          </a:xfrm>
          <a:prstGeom prst="rect">
            <a:avLst/>
          </a:prstGeom>
        </p:spPr>
      </p:pic>
      <p:sp>
        <p:nvSpPr>
          <p:cNvPr id="5" name="文本框 4">
            <a:extLst>
              <a:ext uri="{FF2B5EF4-FFF2-40B4-BE49-F238E27FC236}">
                <a16:creationId xmlns:a16="http://schemas.microsoft.com/office/drawing/2014/main" id="{76C84DD8-77EE-01DA-B4C0-399146196C56}"/>
              </a:ext>
            </a:extLst>
          </p:cNvPr>
          <p:cNvSpPr txBox="1"/>
          <p:nvPr/>
        </p:nvSpPr>
        <p:spPr>
          <a:xfrm>
            <a:off x="6168008" y="4435371"/>
            <a:ext cx="2160697" cy="646331"/>
          </a:xfrm>
          <a:prstGeom prst="rect">
            <a:avLst/>
          </a:prstGeom>
          <a:noFill/>
        </p:spPr>
        <p:txBody>
          <a:bodyPr wrap="square" rtlCol="0">
            <a:spAutoFit/>
          </a:bodyPr>
          <a:lstStyle/>
          <a:p>
            <a:r>
              <a:rPr lang="zh-CN" altLang="en-US" dirty="0"/>
              <a:t>凸面在前平面在后</a:t>
            </a:r>
            <a:endParaRPr lang="en-US" altLang="zh-CN" dirty="0"/>
          </a:p>
          <a:p>
            <a:r>
              <a:rPr lang="zh-CN" altLang="en-US" dirty="0"/>
              <a:t>边缘扭曲并不严重</a:t>
            </a:r>
          </a:p>
        </p:txBody>
      </p:sp>
      <p:sp>
        <p:nvSpPr>
          <p:cNvPr id="6" name="文本框 5">
            <a:extLst>
              <a:ext uri="{FF2B5EF4-FFF2-40B4-BE49-F238E27FC236}">
                <a16:creationId xmlns:a16="http://schemas.microsoft.com/office/drawing/2014/main" id="{408E8742-4C10-BC02-153D-50422A03691A}"/>
              </a:ext>
            </a:extLst>
          </p:cNvPr>
          <p:cNvSpPr txBox="1"/>
          <p:nvPr/>
        </p:nvSpPr>
        <p:spPr>
          <a:xfrm>
            <a:off x="9408368" y="4435371"/>
            <a:ext cx="2160697" cy="646331"/>
          </a:xfrm>
          <a:prstGeom prst="rect">
            <a:avLst/>
          </a:prstGeom>
          <a:noFill/>
        </p:spPr>
        <p:txBody>
          <a:bodyPr wrap="square" rtlCol="0">
            <a:spAutoFit/>
          </a:bodyPr>
          <a:lstStyle/>
          <a:p>
            <a:r>
              <a:rPr lang="zh-CN" altLang="en-US" dirty="0"/>
              <a:t>平面在前凸面在后</a:t>
            </a:r>
            <a:endParaRPr lang="en-US" altLang="zh-CN" dirty="0"/>
          </a:p>
          <a:p>
            <a:r>
              <a:rPr lang="zh-CN" altLang="en-US" dirty="0"/>
              <a:t>边缘扭曲较严重</a:t>
            </a:r>
          </a:p>
        </p:txBody>
      </p:sp>
      <p:pic>
        <p:nvPicPr>
          <p:cNvPr id="10" name="图片 9">
            <a:extLst>
              <a:ext uri="{FF2B5EF4-FFF2-40B4-BE49-F238E27FC236}">
                <a16:creationId xmlns:a16="http://schemas.microsoft.com/office/drawing/2014/main" id="{BEECBF6A-A16F-B3D8-82C2-E04CD5D22380}"/>
              </a:ext>
            </a:extLst>
          </p:cNvPr>
          <p:cNvPicPr>
            <a:picLocks noChangeAspect="1"/>
          </p:cNvPicPr>
          <p:nvPr/>
        </p:nvPicPr>
        <p:blipFill>
          <a:blip r:embed="rId4" cstate="print">
            <a:extLst>
              <a:ext uri="{28A0092B-C50C-407E-A947-70E740481C1C}">
                <a14:useLocalDpi xmlns:a14="http://schemas.microsoft.com/office/drawing/2010/main" val="0"/>
              </a:ext>
            </a:extLst>
          </a:blip>
          <a:srcRect l="32138" t="35300" r="32133" b="14300"/>
          <a:stretch>
            <a:fillRect/>
          </a:stretch>
        </p:blipFill>
        <p:spPr>
          <a:xfrm>
            <a:off x="9120336" y="1771075"/>
            <a:ext cx="2625625" cy="2520280"/>
          </a:xfrm>
          <a:prstGeom prst="rect">
            <a:avLst/>
          </a:prstGeom>
        </p:spPr>
      </p:pic>
      <p:sp>
        <p:nvSpPr>
          <p:cNvPr id="12" name="文本框 11">
            <a:extLst>
              <a:ext uri="{FF2B5EF4-FFF2-40B4-BE49-F238E27FC236}">
                <a16:creationId xmlns:a16="http://schemas.microsoft.com/office/drawing/2014/main" id="{C6B75A44-B69A-9303-5035-3194A1E7CFA4}"/>
              </a:ext>
            </a:extLst>
          </p:cNvPr>
          <p:cNvSpPr txBox="1"/>
          <p:nvPr/>
        </p:nvSpPr>
        <p:spPr>
          <a:xfrm>
            <a:off x="239712" y="980728"/>
            <a:ext cx="10189084" cy="646331"/>
          </a:xfrm>
          <a:prstGeom prst="rect">
            <a:avLst/>
          </a:prstGeom>
          <a:noFill/>
        </p:spPr>
        <p:txBody>
          <a:bodyPr wrap="square" rtlCol="0">
            <a:spAutoFit/>
          </a:bodyPr>
          <a:lstStyle/>
          <a:p>
            <a:r>
              <a:rPr lang="zh-CN" altLang="en-US" dirty="0"/>
              <a:t>平行光入射需聚焦：平行光</a:t>
            </a:r>
            <a:r>
              <a:rPr lang="en-US" altLang="zh-CN" dirty="0"/>
              <a:t>——</a:t>
            </a:r>
            <a:r>
              <a:rPr lang="zh-CN" altLang="en-US" dirty="0"/>
              <a:t>凸面</a:t>
            </a:r>
            <a:r>
              <a:rPr lang="en-US" altLang="zh-CN" dirty="0"/>
              <a:t>——</a:t>
            </a:r>
            <a:r>
              <a:rPr lang="zh-CN" altLang="en-US" dirty="0"/>
              <a:t>透镜</a:t>
            </a:r>
            <a:r>
              <a:rPr lang="en-US" altLang="zh-CN" dirty="0"/>
              <a:t>——</a:t>
            </a:r>
            <a:r>
              <a:rPr lang="zh-CN" altLang="en-US" dirty="0"/>
              <a:t>平面，最终得到相对聚焦的焦点</a:t>
            </a:r>
            <a:endParaRPr lang="en-US" altLang="zh-CN" dirty="0"/>
          </a:p>
          <a:p>
            <a:r>
              <a:rPr lang="zh-CN" altLang="en-US" dirty="0"/>
              <a:t>发散光入射需准直：平行光</a:t>
            </a:r>
            <a:r>
              <a:rPr lang="en-US" altLang="zh-CN" dirty="0"/>
              <a:t>——</a:t>
            </a:r>
            <a:r>
              <a:rPr lang="zh-CN" altLang="en-US" dirty="0"/>
              <a:t>平面</a:t>
            </a:r>
            <a:r>
              <a:rPr lang="en-US" altLang="zh-CN" dirty="0"/>
              <a:t>——</a:t>
            </a:r>
            <a:r>
              <a:rPr lang="zh-CN" altLang="en-US" dirty="0"/>
              <a:t>透镜</a:t>
            </a:r>
            <a:r>
              <a:rPr lang="en-US" altLang="zh-CN" dirty="0"/>
              <a:t>——</a:t>
            </a:r>
            <a:r>
              <a:rPr lang="zh-CN" altLang="en-US" dirty="0"/>
              <a:t>凸面，最终得到平行光</a:t>
            </a:r>
          </a:p>
        </p:txBody>
      </p:sp>
      <p:pic>
        <p:nvPicPr>
          <p:cNvPr id="16" name="图片 15">
            <a:extLst>
              <a:ext uri="{FF2B5EF4-FFF2-40B4-BE49-F238E27FC236}">
                <a16:creationId xmlns:a16="http://schemas.microsoft.com/office/drawing/2014/main" id="{1023FDFC-45AB-72E9-B050-075089A01D9E}"/>
              </a:ext>
            </a:extLst>
          </p:cNvPr>
          <p:cNvPicPr>
            <a:picLocks noChangeAspect="1"/>
          </p:cNvPicPr>
          <p:nvPr/>
        </p:nvPicPr>
        <p:blipFill>
          <a:blip r:embed="rId5" cstate="print">
            <a:extLst>
              <a:ext uri="{28A0092B-C50C-407E-A947-70E740481C1C}">
                <a14:useLocalDpi xmlns:a14="http://schemas.microsoft.com/office/drawing/2010/main" val="0"/>
              </a:ext>
            </a:extLst>
          </a:blip>
          <a:srcRect t="35325" r="23769" b="12201"/>
          <a:stretch>
            <a:fillRect/>
          </a:stretch>
        </p:blipFill>
        <p:spPr>
          <a:xfrm>
            <a:off x="191345" y="1771076"/>
            <a:ext cx="2491440" cy="2520280"/>
          </a:xfrm>
          <a:prstGeom prst="rect">
            <a:avLst/>
          </a:prstGeom>
        </p:spPr>
      </p:pic>
      <p:pic>
        <p:nvPicPr>
          <p:cNvPr id="18" name="图片 17">
            <a:extLst>
              <a:ext uri="{FF2B5EF4-FFF2-40B4-BE49-F238E27FC236}">
                <a16:creationId xmlns:a16="http://schemas.microsoft.com/office/drawing/2014/main" id="{32EDD5C1-27FF-4E3A-8B71-5C125886DE9C}"/>
              </a:ext>
            </a:extLst>
          </p:cNvPr>
          <p:cNvPicPr>
            <a:picLocks noChangeAspect="1"/>
          </p:cNvPicPr>
          <p:nvPr/>
        </p:nvPicPr>
        <p:blipFill>
          <a:blip r:embed="rId6" cstate="print">
            <a:extLst>
              <a:ext uri="{28A0092B-C50C-407E-A947-70E740481C1C}">
                <a14:useLocalDpi xmlns:a14="http://schemas.microsoft.com/office/drawing/2010/main" val="0"/>
              </a:ext>
            </a:extLst>
          </a:blip>
          <a:srcRect l="5253" t="33200" r="38484" b="21651"/>
          <a:stretch>
            <a:fillRect/>
          </a:stretch>
        </p:blipFill>
        <p:spPr>
          <a:xfrm>
            <a:off x="3143672" y="1771075"/>
            <a:ext cx="2138613" cy="2522021"/>
          </a:xfrm>
          <a:prstGeom prst="rect">
            <a:avLst/>
          </a:prstGeom>
        </p:spPr>
      </p:pic>
      <p:sp>
        <p:nvSpPr>
          <p:cNvPr id="19" name="文本框 18">
            <a:extLst>
              <a:ext uri="{FF2B5EF4-FFF2-40B4-BE49-F238E27FC236}">
                <a16:creationId xmlns:a16="http://schemas.microsoft.com/office/drawing/2014/main" id="{B509D715-CECB-E9BE-947E-38F901DE6A91}"/>
              </a:ext>
            </a:extLst>
          </p:cNvPr>
          <p:cNvSpPr txBox="1"/>
          <p:nvPr/>
        </p:nvSpPr>
        <p:spPr>
          <a:xfrm>
            <a:off x="356716" y="4435371"/>
            <a:ext cx="2160697" cy="369332"/>
          </a:xfrm>
          <a:prstGeom prst="rect">
            <a:avLst/>
          </a:prstGeom>
          <a:noFill/>
        </p:spPr>
        <p:txBody>
          <a:bodyPr wrap="square" rtlCol="0">
            <a:spAutoFit/>
          </a:bodyPr>
          <a:lstStyle/>
          <a:p>
            <a:pPr algn="ctr"/>
            <a:r>
              <a:rPr lang="zh-CN" altLang="en-US" dirty="0"/>
              <a:t>凸面</a:t>
            </a:r>
          </a:p>
        </p:txBody>
      </p:sp>
      <p:sp>
        <p:nvSpPr>
          <p:cNvPr id="20" name="文本框 19">
            <a:extLst>
              <a:ext uri="{FF2B5EF4-FFF2-40B4-BE49-F238E27FC236}">
                <a16:creationId xmlns:a16="http://schemas.microsoft.com/office/drawing/2014/main" id="{2B25C854-D5C8-3C58-30B7-F2BF46D35DF6}"/>
              </a:ext>
            </a:extLst>
          </p:cNvPr>
          <p:cNvSpPr txBox="1"/>
          <p:nvPr/>
        </p:nvSpPr>
        <p:spPr>
          <a:xfrm>
            <a:off x="3121588" y="4435371"/>
            <a:ext cx="2160697" cy="369332"/>
          </a:xfrm>
          <a:prstGeom prst="rect">
            <a:avLst/>
          </a:prstGeom>
          <a:noFill/>
        </p:spPr>
        <p:txBody>
          <a:bodyPr wrap="square" rtlCol="0">
            <a:spAutoFit/>
          </a:bodyPr>
          <a:lstStyle/>
          <a:p>
            <a:pPr algn="ctr"/>
            <a:r>
              <a:rPr lang="zh-CN" altLang="en-US" dirty="0"/>
              <a:t>平面</a:t>
            </a:r>
          </a:p>
        </p:txBody>
      </p:sp>
      <p:sp>
        <p:nvSpPr>
          <p:cNvPr id="21" name="文本框 20">
            <a:extLst>
              <a:ext uri="{FF2B5EF4-FFF2-40B4-BE49-F238E27FC236}">
                <a16:creationId xmlns:a16="http://schemas.microsoft.com/office/drawing/2014/main" id="{A30A1586-5430-0F51-41B4-1233F1D1779E}"/>
              </a:ext>
            </a:extLst>
          </p:cNvPr>
          <p:cNvSpPr txBox="1"/>
          <p:nvPr/>
        </p:nvSpPr>
        <p:spPr>
          <a:xfrm>
            <a:off x="119336" y="5157192"/>
            <a:ext cx="11835284" cy="923330"/>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光路为透镜</a:t>
            </a:r>
            <a:r>
              <a:rPr lang="en-US" altLang="zh-CN" dirty="0"/>
              <a:t>f2</a:t>
            </a:r>
            <a:r>
              <a:rPr lang="zh-CN" altLang="en-US" dirty="0"/>
              <a:t>处直接放置大透镜以检验大透镜的像差效果，凸面在前平面在后的成像质量相对较好，还可以接受</a:t>
            </a:r>
            <a:endParaRPr lang="en-US" altLang="zh-CN" dirty="0"/>
          </a:p>
          <a:p>
            <a:r>
              <a:rPr lang="zh-CN" altLang="en-US" dirty="0"/>
              <a:t>所以经过成像扭曲的原因并不是透镜大透镜</a:t>
            </a:r>
            <a:r>
              <a:rPr lang="en-US" altLang="zh-CN" dirty="0"/>
              <a:t>f3</a:t>
            </a:r>
            <a:r>
              <a:rPr lang="zh-CN" altLang="en-US" dirty="0"/>
              <a:t>导致的，可能是其他原因，继续尝试</a:t>
            </a:r>
            <a:endParaRPr lang="en-US" altLang="zh-CN" dirty="0"/>
          </a:p>
          <a:p>
            <a:pPr marL="285750" indent="-285750">
              <a:buFont typeface="Arial" panose="020B0604020202020204" pitchFamily="34" charset="0"/>
              <a:buChar char="•"/>
            </a:pPr>
            <a:r>
              <a:rPr lang="zh-CN" altLang="en-US" dirty="0"/>
              <a:t>最终发现是</a:t>
            </a:r>
            <a:r>
              <a:rPr lang="zh-CN" altLang="en-US" dirty="0">
                <a:solidFill>
                  <a:srgbClr val="EF8004"/>
                </a:solidFill>
              </a:rPr>
              <a:t>对焦问题</a:t>
            </a:r>
            <a:r>
              <a:rPr lang="zh-CN" altLang="en-US" dirty="0"/>
              <a:t>，透镜对焦比较困难，但在最终准直完成后效果并不是很理想</a:t>
            </a:r>
          </a:p>
        </p:txBody>
      </p:sp>
      <p:sp>
        <p:nvSpPr>
          <p:cNvPr id="22" name="文本框 21">
            <a:extLst>
              <a:ext uri="{FF2B5EF4-FFF2-40B4-BE49-F238E27FC236}">
                <a16:creationId xmlns:a16="http://schemas.microsoft.com/office/drawing/2014/main" id="{D0456F69-5EF9-F7B1-8AB9-8DD158434800}"/>
              </a:ext>
            </a:extLst>
          </p:cNvPr>
          <p:cNvSpPr txBox="1"/>
          <p:nvPr/>
        </p:nvSpPr>
        <p:spPr>
          <a:xfrm>
            <a:off x="10776520" y="6452176"/>
            <a:ext cx="720080" cy="369332"/>
          </a:xfrm>
          <a:prstGeom prst="rect">
            <a:avLst/>
          </a:prstGeom>
          <a:noFill/>
        </p:spPr>
        <p:txBody>
          <a:bodyPr wrap="square" rtlCol="0">
            <a:spAutoFit/>
          </a:bodyPr>
          <a:lstStyle/>
          <a:p>
            <a:r>
              <a:rPr lang="zh-CN" altLang="en-US" dirty="0">
                <a:hlinkClick r:id="rId7" action="ppaction://hlinksldjump"/>
              </a:rPr>
              <a:t>返回</a:t>
            </a:r>
            <a:endParaRPr lang="zh-CN" altLang="en-US" dirty="0"/>
          </a:p>
        </p:txBody>
      </p:sp>
    </p:spTree>
    <p:extLst>
      <p:ext uri="{BB962C8B-B14F-4D97-AF65-F5344CB8AC3E}">
        <p14:creationId xmlns:p14="http://schemas.microsoft.com/office/powerpoint/2010/main" val="1638820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E41C3E5-D0FB-F954-6E05-EE359593F5EA}"/>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B576366B-DA84-0212-BBB7-360F1FF3BE80}"/>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6356208E-23A5-8150-7ED1-B570FE7D8FEE}"/>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432DCD0F-6666-3E5C-7922-76E786AF0F47}"/>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CA7AD152-B8DC-456A-DB14-F4458F2D7994}"/>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图像重构的指标</a:t>
            </a:r>
          </a:p>
        </p:txBody>
      </p:sp>
      <p:sp>
        <p:nvSpPr>
          <p:cNvPr id="14" name="文本框 13">
            <a:extLst>
              <a:ext uri="{FF2B5EF4-FFF2-40B4-BE49-F238E27FC236}">
                <a16:creationId xmlns:a16="http://schemas.microsoft.com/office/drawing/2014/main" id="{162387A2-0573-1BE7-0B88-46FE1E5C087C}"/>
              </a:ext>
            </a:extLst>
          </p:cNvPr>
          <p:cNvSpPr txBox="1"/>
          <p:nvPr/>
        </p:nvSpPr>
        <p:spPr>
          <a:xfrm>
            <a:off x="622935" y="190381"/>
            <a:ext cx="2304415" cy="584775"/>
          </a:xfrm>
          <a:prstGeom prst="rect">
            <a:avLst/>
          </a:prstGeom>
          <a:noFill/>
        </p:spPr>
        <p:txBody>
          <a:bodyPr wrap="square" rtlCol="0">
            <a:spAutoFit/>
          </a:bodyPr>
          <a:lstStyle/>
          <a:p>
            <a:pPr algn="ctr"/>
            <a:r>
              <a:rPr lang="zh-CN" altLang="en-US" sz="3200" b="1" dirty="0">
                <a:solidFill>
                  <a:srgbClr val="3467AB"/>
                </a:solidFill>
              </a:rPr>
              <a:t>附录</a:t>
            </a:r>
            <a:endParaRPr lang="en-US" altLang="zh-CN" sz="3200" b="1" dirty="0">
              <a:solidFill>
                <a:srgbClr val="3467AB"/>
              </a:solidFill>
            </a:endParaRPr>
          </a:p>
        </p:txBody>
      </p:sp>
      <p:sp>
        <p:nvSpPr>
          <p:cNvPr id="4" name="文本框 3">
            <a:extLst>
              <a:ext uri="{FF2B5EF4-FFF2-40B4-BE49-F238E27FC236}">
                <a16:creationId xmlns:a16="http://schemas.microsoft.com/office/drawing/2014/main" id="{CC5EDB23-248C-DE09-2F09-4ADC5708E2EF}"/>
              </a:ext>
            </a:extLst>
          </p:cNvPr>
          <p:cNvSpPr txBox="1"/>
          <p:nvPr/>
        </p:nvSpPr>
        <p:spPr>
          <a:xfrm>
            <a:off x="909931" y="2834369"/>
            <a:ext cx="2622996" cy="369332"/>
          </a:xfrm>
          <a:prstGeom prst="rect">
            <a:avLst/>
          </a:prstGeom>
          <a:noFill/>
        </p:spPr>
        <p:txBody>
          <a:bodyPr wrap="square">
            <a:spAutoFit/>
          </a:bodyPr>
          <a:lstStyle/>
          <a:p>
            <a:r>
              <a:rPr lang="en-US" altLang="zh-CN" dirty="0"/>
              <a:t>2.</a:t>
            </a:r>
            <a:r>
              <a:rPr lang="zh-CN" altLang="zh-CN" dirty="0"/>
              <a:t>MAE：平均绝对误差</a:t>
            </a:r>
            <a:endParaRPr lang="zh-CN" altLang="en-US" dirty="0"/>
          </a:p>
        </p:txBody>
      </p:sp>
      <p:sp>
        <p:nvSpPr>
          <p:cNvPr id="6" name="文本框 5">
            <a:extLst>
              <a:ext uri="{FF2B5EF4-FFF2-40B4-BE49-F238E27FC236}">
                <a16:creationId xmlns:a16="http://schemas.microsoft.com/office/drawing/2014/main" id="{40787FA2-7DA9-A2BC-B5A1-F1B272933D36}"/>
              </a:ext>
            </a:extLst>
          </p:cNvPr>
          <p:cNvSpPr txBox="1"/>
          <p:nvPr/>
        </p:nvSpPr>
        <p:spPr>
          <a:xfrm>
            <a:off x="938878" y="980728"/>
            <a:ext cx="2304415" cy="646331"/>
          </a:xfrm>
          <a:prstGeom prst="rect">
            <a:avLst/>
          </a:prstGeom>
          <a:noFill/>
        </p:spPr>
        <p:txBody>
          <a:bodyPr wrap="square">
            <a:spAutoFit/>
          </a:bodyPr>
          <a:lstStyle/>
          <a:p>
            <a:r>
              <a:rPr lang="en-US" altLang="zh-CN" dirty="0"/>
              <a:t>1.</a:t>
            </a:r>
            <a:r>
              <a:rPr lang="zh-CN" altLang="zh-CN" dirty="0"/>
              <a:t>RMSE：均方根误差</a:t>
            </a:r>
            <a:endParaRPr lang="zh-CN" altLang="en-US" dirty="0"/>
          </a:p>
        </p:txBody>
      </p:sp>
      <p:pic>
        <p:nvPicPr>
          <p:cNvPr id="10" name="图片 9">
            <a:extLst>
              <a:ext uri="{FF2B5EF4-FFF2-40B4-BE49-F238E27FC236}">
                <a16:creationId xmlns:a16="http://schemas.microsoft.com/office/drawing/2014/main" id="{5FA03064-B8AF-8790-8228-AB89B8FC6573}"/>
              </a:ext>
            </a:extLst>
          </p:cNvPr>
          <p:cNvPicPr>
            <a:picLocks noChangeAspect="1"/>
          </p:cNvPicPr>
          <p:nvPr/>
        </p:nvPicPr>
        <p:blipFill>
          <a:blip r:embed="rId3"/>
          <a:stretch>
            <a:fillRect/>
          </a:stretch>
        </p:blipFill>
        <p:spPr>
          <a:xfrm>
            <a:off x="839416" y="1316801"/>
            <a:ext cx="2941575" cy="777307"/>
          </a:xfrm>
          <a:prstGeom prst="rect">
            <a:avLst/>
          </a:prstGeom>
        </p:spPr>
      </p:pic>
      <p:sp>
        <p:nvSpPr>
          <p:cNvPr id="15" name="文本框 14">
            <a:extLst>
              <a:ext uri="{FF2B5EF4-FFF2-40B4-BE49-F238E27FC236}">
                <a16:creationId xmlns:a16="http://schemas.microsoft.com/office/drawing/2014/main" id="{A891D6BC-923C-31B4-A4B0-5BA776E90DC2}"/>
              </a:ext>
            </a:extLst>
          </p:cNvPr>
          <p:cNvSpPr txBox="1"/>
          <p:nvPr/>
        </p:nvSpPr>
        <p:spPr>
          <a:xfrm>
            <a:off x="317337" y="2206736"/>
            <a:ext cx="5014828" cy="369332"/>
          </a:xfrm>
          <a:prstGeom prst="rect">
            <a:avLst/>
          </a:prstGeom>
          <a:noFill/>
        </p:spPr>
        <p:txBody>
          <a:bodyPr wrap="square">
            <a:spAutoFit/>
          </a:bodyPr>
          <a:lstStyle/>
          <a:p>
            <a:r>
              <a:rPr lang="zh-CN" altLang="zh-CN" dirty="0"/>
              <a:t>对较大的局部误差比较敏感，单位为 nW/pixel</a:t>
            </a:r>
            <a:endParaRPr lang="zh-CN" altLang="en-US" dirty="0"/>
          </a:p>
        </p:txBody>
      </p:sp>
      <p:pic>
        <p:nvPicPr>
          <p:cNvPr id="17" name="图片 16">
            <a:extLst>
              <a:ext uri="{FF2B5EF4-FFF2-40B4-BE49-F238E27FC236}">
                <a16:creationId xmlns:a16="http://schemas.microsoft.com/office/drawing/2014/main" id="{4A4FF8DD-AF8E-26BE-D4BA-D20D14DC08F0}"/>
              </a:ext>
            </a:extLst>
          </p:cNvPr>
          <p:cNvPicPr>
            <a:picLocks noChangeAspect="1"/>
          </p:cNvPicPr>
          <p:nvPr/>
        </p:nvPicPr>
        <p:blipFill>
          <a:blip r:embed="rId4"/>
          <a:stretch>
            <a:fillRect/>
          </a:stretch>
        </p:blipFill>
        <p:spPr>
          <a:xfrm>
            <a:off x="1095408" y="3318419"/>
            <a:ext cx="2598645" cy="548688"/>
          </a:xfrm>
          <a:prstGeom prst="rect">
            <a:avLst/>
          </a:prstGeom>
        </p:spPr>
      </p:pic>
      <p:sp>
        <p:nvSpPr>
          <p:cNvPr id="21" name="文本框 20">
            <a:extLst>
              <a:ext uri="{FF2B5EF4-FFF2-40B4-BE49-F238E27FC236}">
                <a16:creationId xmlns:a16="http://schemas.microsoft.com/office/drawing/2014/main" id="{BCA322A6-37D6-30A7-471F-428A337EA50D}"/>
              </a:ext>
            </a:extLst>
          </p:cNvPr>
          <p:cNvSpPr txBox="1"/>
          <p:nvPr/>
        </p:nvSpPr>
        <p:spPr>
          <a:xfrm>
            <a:off x="473074" y="3945646"/>
            <a:ext cx="3960440" cy="369332"/>
          </a:xfrm>
          <a:prstGeom prst="rect">
            <a:avLst/>
          </a:prstGeom>
          <a:noFill/>
        </p:spPr>
        <p:txBody>
          <a:bodyPr wrap="square">
            <a:spAutoFit/>
          </a:bodyPr>
          <a:lstStyle/>
          <a:p>
            <a:r>
              <a:rPr lang="zh-CN" altLang="zh-CN" dirty="0"/>
              <a:t>表示每个像素平均相差多少 nW/pixel</a:t>
            </a:r>
            <a:endParaRPr lang="zh-CN" altLang="en-US" dirty="0"/>
          </a:p>
        </p:txBody>
      </p:sp>
      <p:sp>
        <p:nvSpPr>
          <p:cNvPr id="25" name="文本框 24">
            <a:extLst>
              <a:ext uri="{FF2B5EF4-FFF2-40B4-BE49-F238E27FC236}">
                <a16:creationId xmlns:a16="http://schemas.microsoft.com/office/drawing/2014/main" id="{BB58FB86-4D69-BC61-6C37-D7A09845A5B3}"/>
              </a:ext>
            </a:extLst>
          </p:cNvPr>
          <p:cNvSpPr txBox="1"/>
          <p:nvPr/>
        </p:nvSpPr>
        <p:spPr>
          <a:xfrm>
            <a:off x="554477" y="4653136"/>
            <a:ext cx="4533411" cy="369332"/>
          </a:xfrm>
          <a:prstGeom prst="rect">
            <a:avLst/>
          </a:prstGeom>
          <a:noFill/>
        </p:spPr>
        <p:txBody>
          <a:bodyPr wrap="square">
            <a:spAutoFit/>
          </a:bodyPr>
          <a:lstStyle/>
          <a:p>
            <a:r>
              <a:rPr lang="en-US" altLang="zh-CN" dirty="0"/>
              <a:t>3.</a:t>
            </a:r>
            <a:r>
              <a:rPr lang="zh-CN" altLang="zh-CN" dirty="0"/>
              <a:t>NRMSE / GT peak</a:t>
            </a:r>
            <a:r>
              <a:rPr lang="en-US" altLang="zh-CN" dirty="0"/>
              <a:t>:</a:t>
            </a:r>
            <a:r>
              <a:rPr lang="zh-CN" altLang="en-US" dirty="0"/>
              <a:t>正规化均方根误差</a:t>
            </a:r>
          </a:p>
        </p:txBody>
      </p:sp>
      <p:pic>
        <p:nvPicPr>
          <p:cNvPr id="30" name="图片 29">
            <a:extLst>
              <a:ext uri="{FF2B5EF4-FFF2-40B4-BE49-F238E27FC236}">
                <a16:creationId xmlns:a16="http://schemas.microsoft.com/office/drawing/2014/main" id="{D70BC47D-6CFD-B9A9-3888-6F4DB2C95DD8}"/>
              </a:ext>
            </a:extLst>
          </p:cNvPr>
          <p:cNvPicPr>
            <a:picLocks noChangeAspect="1"/>
          </p:cNvPicPr>
          <p:nvPr/>
        </p:nvPicPr>
        <p:blipFill>
          <a:blip r:embed="rId5"/>
          <a:stretch>
            <a:fillRect/>
          </a:stretch>
        </p:blipFill>
        <p:spPr>
          <a:xfrm>
            <a:off x="1121380" y="5052743"/>
            <a:ext cx="2034716" cy="662997"/>
          </a:xfrm>
          <a:prstGeom prst="rect">
            <a:avLst/>
          </a:prstGeom>
        </p:spPr>
      </p:pic>
      <p:sp>
        <p:nvSpPr>
          <p:cNvPr id="35" name="文本框 34">
            <a:extLst>
              <a:ext uri="{FF2B5EF4-FFF2-40B4-BE49-F238E27FC236}">
                <a16:creationId xmlns:a16="http://schemas.microsoft.com/office/drawing/2014/main" id="{4A79FD26-0D65-99E0-7746-7FE291363300}"/>
              </a:ext>
            </a:extLst>
          </p:cNvPr>
          <p:cNvSpPr txBox="1"/>
          <p:nvPr/>
        </p:nvSpPr>
        <p:spPr>
          <a:xfrm>
            <a:off x="104330" y="5743863"/>
            <a:ext cx="4839542" cy="646331"/>
          </a:xfrm>
          <a:prstGeom prst="rect">
            <a:avLst/>
          </a:prstGeom>
          <a:noFill/>
        </p:spPr>
        <p:txBody>
          <a:bodyPr wrap="square">
            <a:spAutoFit/>
          </a:bodyPr>
          <a:lstStyle/>
          <a:p>
            <a:r>
              <a:rPr lang="zh-CN" altLang="zh-CN" dirty="0"/>
              <a:t>把RMSE除以真值峰值，因此可以比较不同Stokes分量的相对误差。</a:t>
            </a:r>
            <a:endParaRPr lang="zh-CN" altLang="en-US" dirty="0"/>
          </a:p>
        </p:txBody>
      </p:sp>
      <p:sp>
        <p:nvSpPr>
          <p:cNvPr id="39" name="文本框 38">
            <a:extLst>
              <a:ext uri="{FF2B5EF4-FFF2-40B4-BE49-F238E27FC236}">
                <a16:creationId xmlns:a16="http://schemas.microsoft.com/office/drawing/2014/main" id="{53473729-FE03-438D-F25D-C24FB1B6B364}"/>
              </a:ext>
            </a:extLst>
          </p:cNvPr>
          <p:cNvSpPr txBox="1"/>
          <p:nvPr/>
        </p:nvSpPr>
        <p:spPr>
          <a:xfrm>
            <a:off x="6322778" y="1024456"/>
            <a:ext cx="4930343" cy="369332"/>
          </a:xfrm>
          <a:prstGeom prst="rect">
            <a:avLst/>
          </a:prstGeom>
          <a:noFill/>
        </p:spPr>
        <p:txBody>
          <a:bodyPr wrap="square">
            <a:spAutoFit/>
          </a:bodyPr>
          <a:lstStyle/>
          <a:p>
            <a:r>
              <a:rPr lang="en-US" altLang="zh-CN" dirty="0"/>
              <a:t>4.</a:t>
            </a:r>
            <a:r>
              <a:rPr lang="zh-CN" altLang="zh-CN" dirty="0"/>
              <a:t>Relative L2 error</a:t>
            </a:r>
            <a:r>
              <a:rPr lang="en-US" altLang="zh-CN" dirty="0"/>
              <a:t> : </a:t>
            </a:r>
            <a:r>
              <a:rPr lang="zh-CN" altLang="zh-CN" dirty="0"/>
              <a:t> L2相对误差</a:t>
            </a:r>
            <a:endParaRPr lang="zh-CN" altLang="en-US" dirty="0"/>
          </a:p>
        </p:txBody>
      </p:sp>
      <p:pic>
        <p:nvPicPr>
          <p:cNvPr id="41" name="图片 40">
            <a:extLst>
              <a:ext uri="{FF2B5EF4-FFF2-40B4-BE49-F238E27FC236}">
                <a16:creationId xmlns:a16="http://schemas.microsoft.com/office/drawing/2014/main" id="{F91787CD-0A93-349F-E43C-3879268AA6C2}"/>
              </a:ext>
            </a:extLst>
          </p:cNvPr>
          <p:cNvPicPr>
            <a:picLocks noChangeAspect="1"/>
          </p:cNvPicPr>
          <p:nvPr/>
        </p:nvPicPr>
        <p:blipFill>
          <a:blip r:embed="rId6"/>
          <a:stretch>
            <a:fillRect/>
          </a:stretch>
        </p:blipFill>
        <p:spPr>
          <a:xfrm>
            <a:off x="6600056" y="1381576"/>
            <a:ext cx="2141406" cy="647756"/>
          </a:xfrm>
          <a:prstGeom prst="rect">
            <a:avLst/>
          </a:prstGeom>
        </p:spPr>
      </p:pic>
      <p:sp>
        <p:nvSpPr>
          <p:cNvPr id="43" name="文本框 42">
            <a:extLst>
              <a:ext uri="{FF2B5EF4-FFF2-40B4-BE49-F238E27FC236}">
                <a16:creationId xmlns:a16="http://schemas.microsoft.com/office/drawing/2014/main" id="{C1E0B058-7EC5-EF49-D044-45DCB8FB5DAD}"/>
              </a:ext>
            </a:extLst>
          </p:cNvPr>
          <p:cNvSpPr txBox="1"/>
          <p:nvPr/>
        </p:nvSpPr>
        <p:spPr>
          <a:xfrm>
            <a:off x="6023992" y="2206736"/>
            <a:ext cx="4416677" cy="369332"/>
          </a:xfrm>
          <a:prstGeom prst="rect">
            <a:avLst/>
          </a:prstGeom>
          <a:noFill/>
        </p:spPr>
        <p:txBody>
          <a:bodyPr wrap="square">
            <a:spAutoFit/>
          </a:bodyPr>
          <a:lstStyle/>
          <a:p>
            <a:r>
              <a:rPr lang="zh-CN" altLang="zh-CN" dirty="0"/>
              <a:t>表示整幅图像误差能量与真值能量的比例。</a:t>
            </a:r>
            <a:endParaRPr lang="zh-CN" altLang="en-US" dirty="0"/>
          </a:p>
        </p:txBody>
      </p:sp>
      <p:sp>
        <p:nvSpPr>
          <p:cNvPr id="45" name="文本框 44">
            <a:extLst>
              <a:ext uri="{FF2B5EF4-FFF2-40B4-BE49-F238E27FC236}">
                <a16:creationId xmlns:a16="http://schemas.microsoft.com/office/drawing/2014/main" id="{1DA57527-552C-27D5-9FA3-0A4217237A4C}"/>
              </a:ext>
            </a:extLst>
          </p:cNvPr>
          <p:cNvSpPr txBox="1"/>
          <p:nvPr/>
        </p:nvSpPr>
        <p:spPr>
          <a:xfrm>
            <a:off x="6366728" y="2834369"/>
            <a:ext cx="3545695" cy="369332"/>
          </a:xfrm>
          <a:prstGeom prst="rect">
            <a:avLst/>
          </a:prstGeom>
          <a:noFill/>
        </p:spPr>
        <p:txBody>
          <a:bodyPr wrap="square">
            <a:spAutoFit/>
          </a:bodyPr>
          <a:lstStyle/>
          <a:p>
            <a:r>
              <a:rPr lang="en-US" altLang="zh-CN" dirty="0"/>
              <a:t>5.</a:t>
            </a:r>
            <a:r>
              <a:rPr lang="zh-CN" altLang="zh-CN" dirty="0"/>
              <a:t>Pearson </a:t>
            </a:r>
            <a:r>
              <a:rPr lang="en-US" altLang="zh-CN" dirty="0"/>
              <a:t> </a:t>
            </a:r>
            <a:r>
              <a:rPr lang="zh-CN" altLang="zh-CN" dirty="0"/>
              <a:t>r</a:t>
            </a:r>
            <a:r>
              <a:rPr lang="en-US" altLang="zh-CN" dirty="0"/>
              <a:t> : </a:t>
            </a:r>
            <a:r>
              <a:rPr lang="zh-CN" altLang="zh-CN" dirty="0"/>
              <a:t>皮尔逊相关</a:t>
            </a:r>
            <a:endParaRPr lang="zh-CN" altLang="en-US" dirty="0"/>
          </a:p>
        </p:txBody>
      </p:sp>
      <p:sp>
        <p:nvSpPr>
          <p:cNvPr id="48" name="文本框 47">
            <a:extLst>
              <a:ext uri="{FF2B5EF4-FFF2-40B4-BE49-F238E27FC236}">
                <a16:creationId xmlns:a16="http://schemas.microsoft.com/office/drawing/2014/main" id="{DBB908DE-79B8-1E5B-490B-60A5F4F9F49D}"/>
              </a:ext>
            </a:extLst>
          </p:cNvPr>
          <p:cNvSpPr txBox="1"/>
          <p:nvPr/>
        </p:nvSpPr>
        <p:spPr>
          <a:xfrm>
            <a:off x="6097052" y="4325815"/>
            <a:ext cx="6094948" cy="369332"/>
          </a:xfrm>
          <a:prstGeom prst="rect">
            <a:avLst/>
          </a:prstGeom>
          <a:noFill/>
        </p:spPr>
        <p:txBody>
          <a:bodyPr wrap="square">
            <a:spAutoFit/>
          </a:bodyPr>
          <a:lstStyle/>
          <a:p>
            <a:r>
              <a:rPr lang="zh-CN" altLang="zh-CN" dirty="0"/>
              <a:t>Pearson相关系数主要评价空间变化趋势是否一致：</a:t>
            </a:r>
            <a:endParaRPr lang="zh-CN" altLang="en-US" dirty="0"/>
          </a:p>
        </p:txBody>
      </p:sp>
      <p:pic>
        <p:nvPicPr>
          <p:cNvPr id="50" name="图片 49">
            <a:extLst>
              <a:ext uri="{FF2B5EF4-FFF2-40B4-BE49-F238E27FC236}">
                <a16:creationId xmlns:a16="http://schemas.microsoft.com/office/drawing/2014/main" id="{BE9D5239-1F04-44A7-D873-5734D48A444F}"/>
              </a:ext>
            </a:extLst>
          </p:cNvPr>
          <p:cNvPicPr>
            <a:picLocks noChangeAspect="1"/>
          </p:cNvPicPr>
          <p:nvPr/>
        </p:nvPicPr>
        <p:blipFill>
          <a:blip r:embed="rId7"/>
          <a:stretch>
            <a:fillRect/>
          </a:stretch>
        </p:blipFill>
        <p:spPr>
          <a:xfrm>
            <a:off x="7559824" y="3328580"/>
            <a:ext cx="1943268" cy="739204"/>
          </a:xfrm>
          <a:prstGeom prst="rect">
            <a:avLst/>
          </a:prstGeom>
        </p:spPr>
      </p:pic>
      <p:sp>
        <p:nvSpPr>
          <p:cNvPr id="52" name="文本框 51">
            <a:extLst>
              <a:ext uri="{FF2B5EF4-FFF2-40B4-BE49-F238E27FC236}">
                <a16:creationId xmlns:a16="http://schemas.microsoft.com/office/drawing/2014/main" id="{3D88F483-0154-4B33-1639-D252B6461A4A}"/>
              </a:ext>
            </a:extLst>
          </p:cNvPr>
          <p:cNvSpPr txBox="1"/>
          <p:nvPr/>
        </p:nvSpPr>
        <p:spPr>
          <a:xfrm>
            <a:off x="11471919" y="6493883"/>
            <a:ext cx="720081" cy="369332"/>
          </a:xfrm>
          <a:prstGeom prst="rect">
            <a:avLst/>
          </a:prstGeom>
          <a:noFill/>
        </p:spPr>
        <p:txBody>
          <a:bodyPr wrap="square" rtlCol="0">
            <a:spAutoFit/>
          </a:bodyPr>
          <a:lstStyle/>
          <a:p>
            <a:r>
              <a:rPr lang="zh-CN" altLang="en-US" dirty="0">
                <a:solidFill>
                  <a:srgbClr val="0070C0"/>
                </a:solidFill>
                <a:hlinkClick r:id="rId8" action="ppaction://hlinksldjump">
                  <a:extLst>
                    <a:ext uri="{A12FA001-AC4F-418D-AE19-62706E023703}">
                      <ahyp:hlinkClr xmlns:ahyp="http://schemas.microsoft.com/office/drawing/2018/hyperlinkcolor" val="tx"/>
                    </a:ext>
                  </a:extLst>
                </a:hlinkClick>
              </a:rPr>
              <a:t>返回</a:t>
            </a:r>
            <a:endParaRPr lang="zh-CN" altLang="en-US" dirty="0">
              <a:solidFill>
                <a:srgbClr val="0070C0"/>
              </a:solidFill>
            </a:endParaRPr>
          </a:p>
        </p:txBody>
      </p:sp>
    </p:spTree>
    <p:extLst>
      <p:ext uri="{BB962C8B-B14F-4D97-AF65-F5344CB8AC3E}">
        <p14:creationId xmlns:p14="http://schemas.microsoft.com/office/powerpoint/2010/main" val="2367259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FDDCDE-265A-E1A6-6B87-466DEA130869}"/>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59898E06-3503-47D9-866B-2567D4729FAF}"/>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45BEBFFD-DBB7-E663-00F0-A1461622C160}"/>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24512790-2597-A074-C0BE-418FC18B7664}"/>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19E8F9AD-D9B1-66CE-8BEA-D957082602FA}"/>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仿真结果中的一些疑惑</a:t>
            </a:r>
          </a:p>
        </p:txBody>
      </p:sp>
      <p:sp>
        <p:nvSpPr>
          <p:cNvPr id="14" name="文本框 13">
            <a:extLst>
              <a:ext uri="{FF2B5EF4-FFF2-40B4-BE49-F238E27FC236}">
                <a16:creationId xmlns:a16="http://schemas.microsoft.com/office/drawing/2014/main" id="{1AC9DC74-483E-2AEA-1E04-285063947BB1}"/>
              </a:ext>
            </a:extLst>
          </p:cNvPr>
          <p:cNvSpPr txBox="1"/>
          <p:nvPr/>
        </p:nvSpPr>
        <p:spPr>
          <a:xfrm>
            <a:off x="622935" y="190381"/>
            <a:ext cx="2304415" cy="584775"/>
          </a:xfrm>
          <a:prstGeom prst="rect">
            <a:avLst/>
          </a:prstGeom>
          <a:noFill/>
        </p:spPr>
        <p:txBody>
          <a:bodyPr wrap="square" rtlCol="0">
            <a:spAutoFit/>
          </a:bodyPr>
          <a:lstStyle/>
          <a:p>
            <a:pPr algn="ctr"/>
            <a:r>
              <a:rPr lang="zh-CN" altLang="en-US" sz="3200" b="1" dirty="0">
                <a:solidFill>
                  <a:srgbClr val="3467AB"/>
                </a:solidFill>
              </a:rPr>
              <a:t>附录</a:t>
            </a:r>
            <a:endParaRPr lang="en-US" altLang="zh-CN" sz="3200" b="1" dirty="0">
              <a:solidFill>
                <a:srgbClr val="3467AB"/>
              </a:solidFill>
            </a:endParaRPr>
          </a:p>
        </p:txBody>
      </p:sp>
      <p:pic>
        <p:nvPicPr>
          <p:cNvPr id="18" name="图片 17">
            <a:extLst>
              <a:ext uri="{FF2B5EF4-FFF2-40B4-BE49-F238E27FC236}">
                <a16:creationId xmlns:a16="http://schemas.microsoft.com/office/drawing/2014/main" id="{08CA4D0D-1510-F227-3E90-A94AAADD0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344" y="1262499"/>
            <a:ext cx="4799856" cy="2495925"/>
          </a:xfrm>
          <a:prstGeom prst="rect">
            <a:avLst/>
          </a:prstGeom>
        </p:spPr>
      </p:pic>
      <p:sp>
        <p:nvSpPr>
          <p:cNvPr id="20" name="文本框 19">
            <a:extLst>
              <a:ext uri="{FF2B5EF4-FFF2-40B4-BE49-F238E27FC236}">
                <a16:creationId xmlns:a16="http://schemas.microsoft.com/office/drawing/2014/main" id="{F28D93D3-49CB-232E-2E8F-9847C047B96D}"/>
              </a:ext>
            </a:extLst>
          </p:cNvPr>
          <p:cNvSpPr txBox="1"/>
          <p:nvPr/>
        </p:nvSpPr>
        <p:spPr>
          <a:xfrm>
            <a:off x="1055440" y="949305"/>
            <a:ext cx="3000821" cy="276999"/>
          </a:xfrm>
          <a:prstGeom prst="rect">
            <a:avLst/>
          </a:prstGeom>
          <a:noFill/>
        </p:spPr>
        <p:txBody>
          <a:bodyPr wrap="none" lIns="0" tIns="0" rIns="0" bIns="0" rtlCol="0">
            <a:spAutoFit/>
          </a:bodyPr>
          <a:lstStyle/>
          <a:p>
            <a:r>
              <a:rPr lang="zh-CN" altLang="en-US" dirty="0"/>
              <a:t>采集到的理想信号的大致形状</a:t>
            </a:r>
          </a:p>
        </p:txBody>
      </p:sp>
      <p:pic>
        <p:nvPicPr>
          <p:cNvPr id="22" name="图片 21">
            <a:extLst>
              <a:ext uri="{FF2B5EF4-FFF2-40B4-BE49-F238E27FC236}">
                <a16:creationId xmlns:a16="http://schemas.microsoft.com/office/drawing/2014/main" id="{451A90FE-DF32-2DC0-2974-E202F658B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44" y="4070187"/>
            <a:ext cx="4799856" cy="2495925"/>
          </a:xfrm>
          <a:prstGeom prst="rect">
            <a:avLst/>
          </a:prstGeom>
        </p:spPr>
      </p:pic>
      <p:sp>
        <p:nvSpPr>
          <p:cNvPr id="24" name="文本框 23">
            <a:extLst>
              <a:ext uri="{FF2B5EF4-FFF2-40B4-BE49-F238E27FC236}">
                <a16:creationId xmlns:a16="http://schemas.microsoft.com/office/drawing/2014/main" id="{FBFC4B91-19D5-4F59-905D-3E10C8C5C7AD}"/>
              </a:ext>
            </a:extLst>
          </p:cNvPr>
          <p:cNvSpPr txBox="1"/>
          <p:nvPr/>
        </p:nvSpPr>
        <p:spPr>
          <a:xfrm>
            <a:off x="1055440" y="3750506"/>
            <a:ext cx="2539157" cy="276999"/>
          </a:xfrm>
          <a:prstGeom prst="rect">
            <a:avLst/>
          </a:prstGeom>
          <a:noFill/>
        </p:spPr>
        <p:txBody>
          <a:bodyPr wrap="none" lIns="0" tIns="0" rIns="0" bIns="0" rtlCol="0">
            <a:spAutoFit/>
          </a:bodyPr>
          <a:lstStyle/>
          <a:p>
            <a:r>
              <a:rPr lang="zh-CN" altLang="en-US" dirty="0"/>
              <a:t>采集到的理想信号的频谱</a:t>
            </a:r>
          </a:p>
        </p:txBody>
      </p:sp>
      <p:pic>
        <p:nvPicPr>
          <p:cNvPr id="26" name="图片 25">
            <a:extLst>
              <a:ext uri="{FF2B5EF4-FFF2-40B4-BE49-F238E27FC236}">
                <a16:creationId xmlns:a16="http://schemas.microsoft.com/office/drawing/2014/main" id="{0F26BABD-EE8E-3D1E-06EC-5C781DBAC421}"/>
              </a:ext>
            </a:extLst>
          </p:cNvPr>
          <p:cNvPicPr>
            <a:picLocks noChangeAspect="1"/>
          </p:cNvPicPr>
          <p:nvPr/>
        </p:nvPicPr>
        <p:blipFill>
          <a:blip r:embed="rId5"/>
          <a:stretch>
            <a:fillRect/>
          </a:stretch>
        </p:blipFill>
        <p:spPr>
          <a:xfrm>
            <a:off x="3550972" y="4065025"/>
            <a:ext cx="1412162" cy="879391"/>
          </a:xfrm>
          <a:prstGeom prst="rect">
            <a:avLst/>
          </a:prstGeom>
        </p:spPr>
      </p:pic>
      <p:sp>
        <p:nvSpPr>
          <p:cNvPr id="28" name="文本框 27">
            <a:extLst>
              <a:ext uri="{FF2B5EF4-FFF2-40B4-BE49-F238E27FC236}">
                <a16:creationId xmlns:a16="http://schemas.microsoft.com/office/drawing/2014/main" id="{011DF8C1-E3E7-E1CF-C01D-A53ADB6A1656}"/>
              </a:ext>
            </a:extLst>
          </p:cNvPr>
          <p:cNvSpPr txBox="1"/>
          <p:nvPr/>
        </p:nvSpPr>
        <p:spPr>
          <a:xfrm>
            <a:off x="3798629" y="4839543"/>
            <a:ext cx="968496" cy="369332"/>
          </a:xfrm>
          <a:prstGeom prst="rect">
            <a:avLst/>
          </a:prstGeom>
          <a:noFill/>
        </p:spPr>
        <p:txBody>
          <a:bodyPr wrap="square" rtlCol="0">
            <a:spAutoFit/>
          </a:bodyPr>
          <a:lstStyle/>
          <a:p>
            <a:r>
              <a:rPr lang="en-US" altLang="zh-CN" dirty="0"/>
              <a:t>……….</a:t>
            </a:r>
            <a:endParaRPr lang="zh-CN" altLang="en-US" dirty="0"/>
          </a:p>
        </p:txBody>
      </p:sp>
      <p:sp>
        <p:nvSpPr>
          <p:cNvPr id="29" name="文本框 28">
            <a:extLst>
              <a:ext uri="{FF2B5EF4-FFF2-40B4-BE49-F238E27FC236}">
                <a16:creationId xmlns:a16="http://schemas.microsoft.com/office/drawing/2014/main" id="{8241182F-A45C-06EB-CCFD-A39D9FA7E000}"/>
              </a:ext>
            </a:extLst>
          </p:cNvPr>
          <p:cNvSpPr txBox="1"/>
          <p:nvPr/>
        </p:nvSpPr>
        <p:spPr>
          <a:xfrm>
            <a:off x="5303912" y="1206018"/>
            <a:ext cx="6264696" cy="830997"/>
          </a:xfrm>
          <a:prstGeom prst="rect">
            <a:avLst/>
          </a:prstGeom>
          <a:noFill/>
        </p:spPr>
        <p:txBody>
          <a:bodyPr wrap="square" lIns="0" tIns="0" rIns="0" bIns="0" rtlCol="0">
            <a:spAutoFit/>
          </a:bodyPr>
          <a:lstStyle/>
          <a:p>
            <a:pPr marL="342900" indent="-342900">
              <a:buFont typeface="+mj-lt"/>
              <a:buAutoNum type="arabicPeriod"/>
            </a:pPr>
            <a:r>
              <a:rPr lang="zh-CN" altLang="en-US" dirty="0"/>
              <a:t>为什么时域信号峰值与频域峰值并不相同？</a:t>
            </a:r>
            <a:endParaRPr lang="en-US" altLang="zh-CN" dirty="0"/>
          </a:p>
          <a:p>
            <a:r>
              <a:rPr lang="zh-CN" altLang="zh-CN" dirty="0"/>
              <a:t>时域中的 0.908</a:t>
            </a:r>
            <a:r>
              <a:rPr lang="en-US" altLang="zh-CN" dirty="0"/>
              <a:t>V</a:t>
            </a:r>
            <a:r>
              <a:rPr lang="zh-CN" altLang="zh-CN" dirty="0"/>
              <a:t>并不是50 kHz信号的幅值，而是某个时刻这些分量共同叠加后的电压</a:t>
            </a:r>
            <a:r>
              <a:rPr lang="zh-CN" altLang="en-US" dirty="0"/>
              <a:t>，并且这些电压峰值并不完全重合</a:t>
            </a: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76CADD1-79D6-5557-717E-F0710E772A10}"/>
                  </a:ext>
                </a:extLst>
              </p:cNvPr>
              <p:cNvSpPr txBox="1"/>
              <p:nvPr/>
            </p:nvSpPr>
            <p:spPr>
              <a:xfrm>
                <a:off x="6312024" y="2281449"/>
                <a:ext cx="3664465" cy="1469057"/>
              </a:xfrm>
              <a:prstGeom prst="rect">
                <a:avLst/>
              </a:prstGeom>
              <a:noFill/>
            </p:spPr>
            <p:txBody>
              <a:bodyPr wrap="none" lIns="0" tIns="0" rIns="0" bIns="0" rtlCol="0">
                <a:spAutoFit/>
              </a:bodyPr>
              <a:lstStyle/>
              <a:p>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𝑃</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𝑡</m:t>
                              </m:r>
                            </m:e>
                          </m:d>
                          <m:r>
                            <a:rPr lang="zh-CN" altLang="en-US" i="1" smtClean="0">
                              <a:latin typeface="Cambria Math" panose="02040503050406030204" pitchFamily="18" charset="0"/>
                            </a:rPr>
                            <m:t>=</m:t>
                          </m:r>
                          <m:r>
                            <m:rPr>
                              <m:aln/>
                            </m:rPr>
                            <a:rPr lang="zh-CN" altLang="en-US" i="1" smtClean="0">
                              <a:latin typeface="Cambria Math" panose="02040503050406030204" pitchFamily="18" charset="0"/>
                            </a:rPr>
                            <m:t>&amp;</m:t>
                          </m:r>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𝜂</m:t>
                                  </m:r>
                                </m:e>
                                <m:sub>
                                  <m:r>
                                    <m:rPr>
                                      <m:sty m:val="p"/>
                                    </m:rPr>
                                    <a:rPr lang="zh-CN" altLang="en-US" i="1" smtClean="0">
                                      <a:latin typeface="Cambria Math" panose="02040503050406030204" pitchFamily="18" charset="0"/>
                                    </a:rPr>
                                    <m:t>post</m:t>
                                  </m:r>
                                </m:sub>
                              </m:sSub>
                            </m:num>
                            <m:den>
                              <m:r>
                                <a:rPr lang="zh-CN" altLang="en-US" i="1" smtClean="0">
                                  <a:latin typeface="Cambria Math" panose="02040503050406030204" pitchFamily="18" charset="0"/>
                                </a:rPr>
                                <m:t>2</m:t>
                              </m:r>
                            </m:den>
                          </m:f>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𝑆</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𝐽</m:t>
                                  </m:r>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𝑆</m:t>
                                  </m:r>
                                </m:e>
                                <m:sub>
                                  <m:r>
                                    <a:rPr lang="zh-CN" altLang="en-US" i="1" smtClean="0">
                                      <a:latin typeface="Cambria Math" panose="02040503050406030204" pitchFamily="18" charset="0"/>
                                    </a:rPr>
                                    <m:t>1</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𝜂</m:t>
                              </m:r>
                            </m:e>
                            <m:sub>
                              <m:r>
                                <m:rPr>
                                  <m:sty m:val="p"/>
                                </m:rPr>
                                <a:rPr lang="zh-CN" altLang="en-US" i="1" smtClean="0">
                                  <a:latin typeface="Cambria Math" panose="02040503050406030204" pitchFamily="18" charset="0"/>
                                </a:rPr>
                                <m:t>post</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𝐽</m:t>
                              </m:r>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𝑆</m:t>
                              </m:r>
                            </m:e>
                            <m:sub>
                              <m:r>
                                <a:rPr lang="zh-CN" altLang="en-US" i="1" smtClean="0">
                                  <a:latin typeface="Cambria Math" panose="02040503050406030204" pitchFamily="18" charset="0"/>
                                </a:rPr>
                                <m:t>3</m:t>
                              </m:r>
                            </m:sub>
                          </m:sSub>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sin</m:t>
                              </m:r>
                            </m:fNa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𝜔</m:t>
                                  </m:r>
                                  <m:r>
                                    <a:rPr lang="zh-CN" altLang="en-US" i="1" smtClean="0">
                                      <a:latin typeface="Cambria Math" panose="02040503050406030204" pitchFamily="18" charset="0"/>
                                    </a:rPr>
                                    <m:t>𝑡</m:t>
                                  </m:r>
                                </m:e>
                              </m:d>
                            </m:e>
                          </m:func>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𝜂</m:t>
                              </m:r>
                            </m:e>
                            <m:sub>
                              <m:r>
                                <m:rPr>
                                  <m:sty m:val="p"/>
                                </m:rPr>
                                <a:rPr lang="zh-CN" altLang="en-US" i="1" smtClean="0">
                                  <a:latin typeface="Cambria Math" panose="02040503050406030204" pitchFamily="18" charset="0"/>
                                </a:rPr>
                                <m:t>post</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𝐽</m:t>
                              </m:r>
                            </m:e>
                            <m:sub>
                              <m:r>
                                <a:rPr lang="zh-CN" altLang="en-US" i="1" smtClean="0">
                                  <a:latin typeface="Cambria Math" panose="02040503050406030204" pitchFamily="18" charset="0"/>
                                </a:rPr>
                                <m:t>2</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𝑆</m:t>
                              </m:r>
                            </m:e>
                            <m:sub>
                              <m:r>
                                <a:rPr lang="zh-CN" altLang="en-US" i="1" smtClean="0">
                                  <a:latin typeface="Cambria Math" panose="02040503050406030204" pitchFamily="18" charset="0"/>
                                </a:rPr>
                                <m:t>1</m:t>
                              </m:r>
                            </m:sub>
                          </m:sSub>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cos</m:t>
                              </m:r>
                            </m:fNa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2</m:t>
                                  </m:r>
                                  <m:r>
                                    <a:rPr lang="zh-CN" altLang="en-US" i="1" smtClean="0">
                                      <a:latin typeface="Cambria Math" panose="02040503050406030204" pitchFamily="18" charset="0"/>
                                    </a:rPr>
                                    <m:t>𝜔</m:t>
                                  </m:r>
                                  <m:r>
                                    <a:rPr lang="zh-CN" altLang="en-US" i="1" smtClean="0">
                                      <a:latin typeface="Cambria Math" panose="02040503050406030204" pitchFamily="18" charset="0"/>
                                    </a:rPr>
                                    <m:t>𝑡</m:t>
                                  </m:r>
                                </m:e>
                              </m:d>
                            </m:e>
                          </m:func>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𝜂</m:t>
                              </m:r>
                            </m:e>
                            <m:sub>
                              <m:r>
                                <m:rPr>
                                  <m:sty m:val="p"/>
                                </m:rPr>
                                <a:rPr lang="zh-CN" altLang="en-US" i="1" smtClean="0">
                                  <a:latin typeface="Cambria Math" panose="02040503050406030204" pitchFamily="18" charset="0"/>
                                </a:rPr>
                                <m:t>post</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𝐽</m:t>
                              </m:r>
                            </m:e>
                            <m:sub>
                              <m:r>
                                <a:rPr lang="zh-CN" altLang="en-US" i="1" smtClean="0">
                                  <a:latin typeface="Cambria Math" panose="02040503050406030204" pitchFamily="18" charset="0"/>
                                </a:rPr>
                                <m:t>3</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𝑆</m:t>
                              </m:r>
                            </m:e>
                            <m:sub>
                              <m:r>
                                <a:rPr lang="zh-CN" altLang="en-US" i="1" smtClean="0">
                                  <a:latin typeface="Cambria Math" panose="02040503050406030204" pitchFamily="18" charset="0"/>
                                </a:rPr>
                                <m:t>3</m:t>
                              </m:r>
                            </m:sub>
                          </m:sSub>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sin</m:t>
                              </m:r>
                            </m:fNa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3</m:t>
                                  </m:r>
                                  <m:r>
                                    <a:rPr lang="zh-CN" altLang="en-US" i="1" smtClean="0">
                                      <a:latin typeface="Cambria Math" panose="02040503050406030204" pitchFamily="18" charset="0"/>
                                    </a:rPr>
                                    <m:t>𝜔</m:t>
                                  </m:r>
                                  <m:r>
                                    <a:rPr lang="zh-CN" altLang="en-US" i="1" smtClean="0">
                                      <a:latin typeface="Cambria Math" panose="02040503050406030204" pitchFamily="18" charset="0"/>
                                    </a:rPr>
                                    <m:t>𝑡</m:t>
                                  </m:r>
                                </m:e>
                              </m:d>
                            </m:e>
                          </m:func>
                          <m:r>
                            <a:rPr lang="zh-CN" altLang="en-US" i="1" smtClean="0">
                              <a:latin typeface="Cambria Math" panose="02040503050406030204" pitchFamily="18" charset="0"/>
                            </a:rPr>
                            <m:t>−⋯</m:t>
                          </m:r>
                        </m:e>
                      </m:eqArr>
                    </m:oMath>
                  </m:oMathPara>
                </a14:m>
                <a:endParaRPr lang="zh-CN" altLang="en-US" dirty="0"/>
              </a:p>
            </p:txBody>
          </p:sp>
        </mc:Choice>
        <mc:Fallback xmlns="">
          <p:sp>
            <p:nvSpPr>
              <p:cNvPr id="31" name="文本框 30">
                <a:extLst>
                  <a:ext uri="{FF2B5EF4-FFF2-40B4-BE49-F238E27FC236}">
                    <a16:creationId xmlns:a16="http://schemas.microsoft.com/office/drawing/2014/main" id="{D76CADD1-79D6-5557-717E-F0710E772A10}"/>
                  </a:ext>
                </a:extLst>
              </p:cNvPr>
              <p:cNvSpPr txBox="1">
                <a:spLocks noRot="1" noChangeAspect="1" noMove="1" noResize="1" noEditPoints="1" noAdjustHandles="1" noChangeArrowheads="1" noChangeShapeType="1" noTextEdit="1"/>
              </p:cNvSpPr>
              <p:nvPr/>
            </p:nvSpPr>
            <p:spPr>
              <a:xfrm>
                <a:off x="6312024" y="2281449"/>
                <a:ext cx="3664465" cy="1469057"/>
              </a:xfrm>
              <a:prstGeom prst="rect">
                <a:avLst/>
              </a:prstGeom>
              <a:blipFill>
                <a:blip r:embed="rId6"/>
                <a:stretch>
                  <a:fillRect/>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FB981AB2-2C57-524E-3CBF-AB1901E1EF39}"/>
              </a:ext>
            </a:extLst>
          </p:cNvPr>
          <p:cNvSpPr txBox="1"/>
          <p:nvPr/>
        </p:nvSpPr>
        <p:spPr>
          <a:xfrm>
            <a:off x="5303912" y="4065025"/>
            <a:ext cx="6696744" cy="1384995"/>
          </a:xfrm>
          <a:prstGeom prst="rect">
            <a:avLst/>
          </a:prstGeom>
          <a:noFill/>
        </p:spPr>
        <p:txBody>
          <a:bodyPr wrap="square" lIns="0" tIns="0" rIns="0" bIns="0" rtlCol="0">
            <a:spAutoFit/>
          </a:bodyPr>
          <a:lstStyle/>
          <a:p>
            <a:r>
              <a:rPr lang="en-US" altLang="zh-CN" dirty="0"/>
              <a:t>2. </a:t>
            </a:r>
            <a:r>
              <a:rPr lang="zh-CN" altLang="zh-CN" dirty="0"/>
              <a:t>为什么信号并不是一个理想的单峰频率而是一个有一定频率范围的三角尖峰？</a:t>
            </a:r>
            <a:endParaRPr lang="en-US" altLang="zh-CN" dirty="0"/>
          </a:p>
          <a:p>
            <a:r>
              <a:rPr lang="zh-CN" altLang="en-US" dirty="0"/>
              <a:t>画图问题，目前代码采样的是</a:t>
            </a:r>
            <a:r>
              <a:rPr lang="zh-CN" altLang="zh-CN" dirty="0"/>
              <a:t>折线绘图</a:t>
            </a:r>
            <a:r>
              <a:rPr lang="zh-CN" altLang="en-US" dirty="0"/>
              <a:t>效果，</a:t>
            </a:r>
            <a:r>
              <a:rPr lang="zh-CN" altLang="zh-CN" dirty="0"/>
              <a:t>三角形的宽度主要是绘图方式造成的，不代表50 kHz附近真的存在连续宽频带</a:t>
            </a:r>
            <a:r>
              <a:rPr lang="zh-CN" altLang="en-US" dirty="0"/>
              <a:t>。</a:t>
            </a:r>
            <a:endParaRPr lang="en-US" altLang="zh-CN" dirty="0"/>
          </a:p>
          <a:p>
            <a:r>
              <a:rPr lang="zh-CN" altLang="en-US" dirty="0"/>
              <a:t>修改绘图方式为“</a:t>
            </a:r>
            <a:r>
              <a:rPr lang="zh-CN" altLang="zh-CN" dirty="0"/>
              <a:t>针状谱</a:t>
            </a:r>
            <a:r>
              <a:rPr lang="zh-CN" altLang="en-US" dirty="0"/>
              <a:t>“后得到的图片就是一个频率单峰</a:t>
            </a:r>
            <a:endParaRPr lang="en-US" altLang="zh-CN" dirty="0"/>
          </a:p>
        </p:txBody>
      </p:sp>
      <p:sp>
        <p:nvSpPr>
          <p:cNvPr id="34" name="文本框 33">
            <a:extLst>
              <a:ext uri="{FF2B5EF4-FFF2-40B4-BE49-F238E27FC236}">
                <a16:creationId xmlns:a16="http://schemas.microsoft.com/office/drawing/2014/main" id="{6FCC2C7F-9618-75A5-C505-A1682AD0083F}"/>
              </a:ext>
            </a:extLst>
          </p:cNvPr>
          <p:cNvSpPr txBox="1"/>
          <p:nvPr/>
        </p:nvSpPr>
        <p:spPr>
          <a:xfrm>
            <a:off x="1339525" y="6232945"/>
            <a:ext cx="542835" cy="215444"/>
          </a:xfrm>
          <a:prstGeom prst="rect">
            <a:avLst/>
          </a:prstGeom>
          <a:noFill/>
        </p:spPr>
        <p:txBody>
          <a:bodyPr wrap="square" rtlCol="0">
            <a:spAutoFit/>
          </a:bodyPr>
          <a:lstStyle/>
          <a:p>
            <a:r>
              <a:rPr lang="en-US" altLang="zh-CN" sz="800" dirty="0"/>
              <a:t>50KHz</a:t>
            </a:r>
            <a:endParaRPr lang="zh-CN" altLang="en-US" sz="800" dirty="0"/>
          </a:p>
        </p:txBody>
      </p:sp>
      <p:sp>
        <p:nvSpPr>
          <p:cNvPr id="36" name="文本框 35">
            <a:extLst>
              <a:ext uri="{FF2B5EF4-FFF2-40B4-BE49-F238E27FC236}">
                <a16:creationId xmlns:a16="http://schemas.microsoft.com/office/drawing/2014/main" id="{84A3AB9A-3F97-A22A-6B95-EA53BAE988D4}"/>
              </a:ext>
            </a:extLst>
          </p:cNvPr>
          <p:cNvSpPr txBox="1"/>
          <p:nvPr/>
        </p:nvSpPr>
        <p:spPr>
          <a:xfrm>
            <a:off x="2423592" y="6232945"/>
            <a:ext cx="629677" cy="215444"/>
          </a:xfrm>
          <a:prstGeom prst="rect">
            <a:avLst/>
          </a:prstGeom>
          <a:noFill/>
        </p:spPr>
        <p:txBody>
          <a:bodyPr wrap="square" rtlCol="0">
            <a:spAutoFit/>
          </a:bodyPr>
          <a:lstStyle/>
          <a:p>
            <a:r>
              <a:rPr lang="en-US" altLang="zh-CN" sz="800" dirty="0"/>
              <a:t>100KHz</a:t>
            </a:r>
            <a:endParaRPr lang="zh-CN" altLang="en-US" sz="800" dirty="0"/>
          </a:p>
        </p:txBody>
      </p:sp>
      <p:sp>
        <p:nvSpPr>
          <p:cNvPr id="38" name="文本框 37">
            <a:extLst>
              <a:ext uri="{FF2B5EF4-FFF2-40B4-BE49-F238E27FC236}">
                <a16:creationId xmlns:a16="http://schemas.microsoft.com/office/drawing/2014/main" id="{8DE6E31D-DC54-7AEC-0BA9-EDA1E0E1335E}"/>
              </a:ext>
            </a:extLst>
          </p:cNvPr>
          <p:cNvSpPr txBox="1"/>
          <p:nvPr/>
        </p:nvSpPr>
        <p:spPr>
          <a:xfrm>
            <a:off x="3484931" y="6232945"/>
            <a:ext cx="629677" cy="215444"/>
          </a:xfrm>
          <a:prstGeom prst="rect">
            <a:avLst/>
          </a:prstGeom>
          <a:noFill/>
        </p:spPr>
        <p:txBody>
          <a:bodyPr wrap="square" rtlCol="0">
            <a:spAutoFit/>
          </a:bodyPr>
          <a:lstStyle/>
          <a:p>
            <a:r>
              <a:rPr lang="en-US" altLang="zh-CN" sz="800" dirty="0"/>
              <a:t>150KHz</a:t>
            </a:r>
            <a:endParaRPr lang="zh-CN" altLang="en-US" sz="800" dirty="0"/>
          </a:p>
        </p:txBody>
      </p:sp>
    </p:spTree>
    <p:extLst>
      <p:ext uri="{BB962C8B-B14F-4D97-AF65-F5344CB8AC3E}">
        <p14:creationId xmlns:p14="http://schemas.microsoft.com/office/powerpoint/2010/main" val="21866696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EA2C205-C2D1-60EB-7B33-BCB1F960769F}"/>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0134A5A9-4063-DE66-E3F1-9D77199AF31A}"/>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55B91FFE-C1FF-B781-793F-86EB2CD0E442}"/>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53F7A69C-C482-F708-8385-BBB4397EA8E6}"/>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472A0FA8-6FA7-CB4F-3439-0C30C7885C60}"/>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工作流程记录</a:t>
            </a:r>
          </a:p>
        </p:txBody>
      </p:sp>
      <p:sp>
        <p:nvSpPr>
          <p:cNvPr id="14" name="文本框 13">
            <a:extLst>
              <a:ext uri="{FF2B5EF4-FFF2-40B4-BE49-F238E27FC236}">
                <a16:creationId xmlns:a16="http://schemas.microsoft.com/office/drawing/2014/main" id="{296032C3-CB6E-8B71-B238-9B515534CDDE}"/>
              </a:ext>
            </a:extLst>
          </p:cNvPr>
          <p:cNvSpPr txBox="1"/>
          <p:nvPr/>
        </p:nvSpPr>
        <p:spPr>
          <a:xfrm>
            <a:off x="622935" y="190381"/>
            <a:ext cx="2304415" cy="646331"/>
          </a:xfrm>
          <a:prstGeom prst="rect">
            <a:avLst/>
          </a:prstGeom>
          <a:noFill/>
        </p:spPr>
        <p:txBody>
          <a:bodyPr wrap="square" rtlCol="0">
            <a:spAutoFit/>
          </a:bodyPr>
          <a:lstStyle/>
          <a:p>
            <a:pPr algn="ctr"/>
            <a:r>
              <a:rPr lang="zh-CN" altLang="en-US" sz="3600" b="1" dirty="0">
                <a:solidFill>
                  <a:srgbClr val="3467AB"/>
                </a:solidFill>
              </a:rPr>
              <a:t>附录</a:t>
            </a:r>
            <a:endParaRPr lang="en-US" altLang="zh-CN" sz="3600" b="1" dirty="0">
              <a:solidFill>
                <a:srgbClr val="3467AB"/>
              </a:solidFill>
            </a:endParaRPr>
          </a:p>
        </p:txBody>
      </p:sp>
      <p:sp>
        <p:nvSpPr>
          <p:cNvPr id="4" name="文本框 3">
            <a:extLst>
              <a:ext uri="{FF2B5EF4-FFF2-40B4-BE49-F238E27FC236}">
                <a16:creationId xmlns:a16="http://schemas.microsoft.com/office/drawing/2014/main" id="{E6BC7C9C-2F9C-6F4C-9356-4B0D94A70B2F}"/>
              </a:ext>
            </a:extLst>
          </p:cNvPr>
          <p:cNvSpPr txBox="1"/>
          <p:nvPr/>
        </p:nvSpPr>
        <p:spPr>
          <a:xfrm>
            <a:off x="239712" y="905053"/>
            <a:ext cx="10541414" cy="2092881"/>
          </a:xfrm>
          <a:prstGeom prst="rect">
            <a:avLst/>
          </a:prstGeom>
          <a:noFill/>
        </p:spPr>
        <p:txBody>
          <a:bodyPr wrap="square" rtlCol="0">
            <a:spAutoFit/>
          </a:bodyPr>
          <a:lstStyle/>
          <a:p>
            <a:r>
              <a:rPr lang="en-US" altLang="zh-CN" dirty="0"/>
              <a:t>2026.6.22</a:t>
            </a:r>
            <a:r>
              <a:rPr lang="zh-CN" altLang="en-US" dirty="0"/>
              <a:t>工作情况：新增内容为</a:t>
            </a:r>
            <a:r>
              <a:rPr lang="en-US" altLang="zh-CN" dirty="0"/>
              <a:t>P8-P10</a:t>
            </a:r>
            <a:r>
              <a:rPr lang="zh-CN" altLang="en-US" dirty="0"/>
              <a:t>和附录（</a:t>
            </a:r>
            <a:r>
              <a:rPr lang="en-US" altLang="zh-CN" dirty="0"/>
              <a:t>P10</a:t>
            </a:r>
            <a:r>
              <a:rPr lang="zh-CN" altLang="en-US" dirty="0"/>
              <a:t>的超链接）</a:t>
            </a:r>
            <a:endParaRPr lang="en-US" altLang="zh-CN" dirty="0"/>
          </a:p>
          <a:p>
            <a:pPr marL="285750" indent="-285750">
              <a:buFont typeface="Arial" panose="020B0604020202020204" pitchFamily="34" charset="0"/>
              <a:buChar char="•"/>
            </a:pPr>
            <a:r>
              <a:rPr lang="zh-CN" altLang="en-US" sz="2000" b="1" dirty="0"/>
              <a:t>目前已经完成的工作：</a:t>
            </a:r>
            <a:endParaRPr lang="en-US" altLang="zh-CN" sz="2000" b="1" dirty="0"/>
          </a:p>
          <a:p>
            <a:pPr marL="342900" indent="-342900">
              <a:buFont typeface="+mj-lt"/>
              <a:buAutoNum type="arabicPeriod"/>
            </a:pPr>
            <a:r>
              <a:rPr lang="zh-CN" altLang="en-US" dirty="0"/>
              <a:t>光路搭建基本完成（只剩下新买的锁相放大器还在研究，旧的那台只能接一个参考信号）</a:t>
            </a:r>
            <a:endParaRPr lang="en-US" altLang="zh-CN" dirty="0"/>
          </a:p>
          <a:p>
            <a:pPr marL="285750" indent="-285750">
              <a:buFont typeface="Arial" panose="020B0604020202020204" pitchFamily="34" charset="0"/>
              <a:buChar char="•"/>
            </a:pPr>
            <a:r>
              <a:rPr lang="zh-CN" altLang="en-US" sz="2000" b="1" dirty="0"/>
              <a:t>接下来的工作安排：</a:t>
            </a:r>
            <a:endParaRPr lang="en-US" altLang="zh-CN" sz="2000" b="1" dirty="0"/>
          </a:p>
          <a:p>
            <a:pPr marL="342900" indent="-342900">
              <a:buFont typeface="+mj-lt"/>
              <a:buAutoNum type="arabicPeriod"/>
            </a:pPr>
            <a:r>
              <a:rPr lang="zh-CN" altLang="en-US" dirty="0"/>
              <a:t>研究锁相放大器的驱动使用，以及与</a:t>
            </a:r>
            <a:r>
              <a:rPr lang="en-US" altLang="zh-CN" dirty="0"/>
              <a:t>DMD</a:t>
            </a:r>
            <a:r>
              <a:rPr lang="zh-CN" altLang="en-US" dirty="0"/>
              <a:t>的时序同步问题</a:t>
            </a:r>
            <a:endParaRPr lang="en-US" altLang="zh-CN" dirty="0"/>
          </a:p>
          <a:p>
            <a:r>
              <a:rPr lang="en-US" altLang="zh-CN" dirty="0"/>
              <a:t>PPT</a:t>
            </a:r>
            <a:r>
              <a:rPr lang="zh-CN" altLang="en-US" dirty="0"/>
              <a:t>存在的问题：</a:t>
            </a:r>
            <a:endParaRPr lang="en-US" altLang="zh-CN" dirty="0"/>
          </a:p>
          <a:p>
            <a:pPr marL="342900" indent="-342900">
              <a:buFont typeface="+mj-lt"/>
              <a:buAutoNum type="arabicPeriod"/>
            </a:pPr>
            <a:r>
              <a:rPr lang="zh-CN" altLang="en-US" dirty="0"/>
              <a:t>缺少仿真，需要仿真来对问题进行建模处理</a:t>
            </a:r>
            <a:endParaRPr lang="en-US" altLang="zh-CN" dirty="0"/>
          </a:p>
        </p:txBody>
      </p:sp>
      <p:sp>
        <p:nvSpPr>
          <p:cNvPr id="5" name="文本框 4">
            <a:extLst>
              <a:ext uri="{FF2B5EF4-FFF2-40B4-BE49-F238E27FC236}">
                <a16:creationId xmlns:a16="http://schemas.microsoft.com/office/drawing/2014/main" id="{27F9DEB2-050B-067F-781A-1D38561A3C2C}"/>
              </a:ext>
            </a:extLst>
          </p:cNvPr>
          <p:cNvSpPr txBox="1"/>
          <p:nvPr/>
        </p:nvSpPr>
        <p:spPr>
          <a:xfrm>
            <a:off x="239712" y="3284984"/>
            <a:ext cx="11952288" cy="3200876"/>
          </a:xfrm>
          <a:prstGeom prst="rect">
            <a:avLst/>
          </a:prstGeom>
          <a:noFill/>
        </p:spPr>
        <p:txBody>
          <a:bodyPr wrap="square" rtlCol="0">
            <a:spAutoFit/>
          </a:bodyPr>
          <a:lstStyle/>
          <a:p>
            <a:r>
              <a:rPr lang="en-US" altLang="zh-CN" dirty="0"/>
              <a:t>2026.8.7</a:t>
            </a:r>
            <a:r>
              <a:rPr lang="zh-CN" altLang="en-US" dirty="0"/>
              <a:t>工作情况：新增内容为</a:t>
            </a:r>
            <a:endParaRPr lang="en-US" altLang="zh-CN" dirty="0"/>
          </a:p>
          <a:p>
            <a:pPr marL="285750" indent="-285750">
              <a:buFont typeface="Arial" panose="020B0604020202020204" pitchFamily="34" charset="0"/>
              <a:buChar char="•"/>
            </a:pPr>
            <a:r>
              <a:rPr lang="zh-CN" altLang="en-US" sz="2000" b="1" dirty="0"/>
              <a:t>目前已经完成的工作：</a:t>
            </a:r>
            <a:endParaRPr lang="en-US" altLang="zh-CN" sz="2000" b="1" dirty="0"/>
          </a:p>
          <a:p>
            <a:pPr marL="342900" indent="-342900">
              <a:buFont typeface="+mj-lt"/>
              <a:buAutoNum type="arabicPeriod"/>
            </a:pPr>
            <a:r>
              <a:rPr lang="zh-CN" altLang="en-US" dirty="0"/>
              <a:t>已跑通仿真，基本理解仿真思路过程</a:t>
            </a:r>
            <a:endParaRPr lang="en-US" altLang="zh-CN" dirty="0"/>
          </a:p>
          <a:p>
            <a:pPr marL="285750" indent="-285750">
              <a:buFont typeface="Arial" panose="020B0604020202020204" pitchFamily="34" charset="0"/>
              <a:buChar char="•"/>
            </a:pPr>
            <a:r>
              <a:rPr lang="zh-CN" altLang="en-US" sz="2000" b="1" dirty="0"/>
              <a:t>接下来的工作安排：</a:t>
            </a:r>
            <a:endParaRPr lang="en-US" altLang="zh-CN" sz="2000" b="1" dirty="0"/>
          </a:p>
          <a:p>
            <a:pPr marL="457200" indent="-457200">
              <a:buFont typeface="+mj-lt"/>
              <a:buAutoNum type="arabicPeriod"/>
            </a:pPr>
            <a:r>
              <a:rPr lang="zh-CN" altLang="en-US" dirty="0"/>
              <a:t>实验对照仿真，收集实验具体的参数，对照仿真进行修改</a:t>
            </a:r>
            <a:endParaRPr lang="en-US" altLang="zh-CN" dirty="0"/>
          </a:p>
          <a:p>
            <a:pPr marL="457200" indent="-457200">
              <a:buFont typeface="+mj-lt"/>
              <a:buAutoNum type="arabicPeriod"/>
            </a:pPr>
            <a:r>
              <a:rPr lang="zh-CN" altLang="en-US" dirty="0"/>
              <a:t>研究锁相放大器的使用，写</a:t>
            </a:r>
            <a:r>
              <a:rPr lang="en-US" altLang="zh-CN" dirty="0" err="1"/>
              <a:t>labview</a:t>
            </a:r>
            <a:r>
              <a:rPr lang="zh-CN" altLang="en-US" dirty="0"/>
              <a:t>代码并尝试采集一批数据，分析数据误差（</a:t>
            </a:r>
            <a:r>
              <a:rPr lang="en-US" altLang="zh-CN" dirty="0"/>
              <a:t>or </a:t>
            </a:r>
            <a:r>
              <a:rPr lang="zh-CN" altLang="en-US" dirty="0"/>
              <a:t>错误）</a:t>
            </a:r>
            <a:endParaRPr lang="en-US" altLang="zh-CN" dirty="0"/>
          </a:p>
          <a:p>
            <a:r>
              <a:rPr lang="en-US" altLang="zh-CN" dirty="0"/>
              <a:t>PPT</a:t>
            </a:r>
            <a:r>
              <a:rPr lang="zh-CN" altLang="en-US" dirty="0"/>
              <a:t>存在的问题</a:t>
            </a:r>
            <a:endParaRPr lang="en-US" altLang="zh-CN" dirty="0"/>
          </a:p>
          <a:p>
            <a:pPr marL="342900" indent="-342900">
              <a:buFont typeface="+mj-lt"/>
              <a:buAutoNum type="arabicPeriod"/>
            </a:pPr>
            <a:r>
              <a:rPr lang="en-US" altLang="zh-CN" dirty="0"/>
              <a:t>PPT</a:t>
            </a:r>
            <a:r>
              <a:rPr lang="zh-CN" altLang="en-US" dirty="0"/>
              <a:t>花哨，使用魏老师的简洁模板，同时添加页码</a:t>
            </a:r>
            <a:endParaRPr lang="en-US" altLang="zh-CN" dirty="0"/>
          </a:p>
          <a:p>
            <a:pPr marL="342900" indent="-342900">
              <a:buFont typeface="+mj-lt"/>
              <a:buAutoNum type="arabicPeriod"/>
            </a:pPr>
            <a:r>
              <a:rPr lang="zh-CN" altLang="en-US" dirty="0"/>
              <a:t>需要</a:t>
            </a:r>
            <a:r>
              <a:rPr lang="en-US" altLang="zh-CN" dirty="0"/>
              <a:t>Case study</a:t>
            </a:r>
            <a:r>
              <a:rPr lang="zh-CN" altLang="en-US" dirty="0"/>
              <a:t>来辅助分析问题，以提供一些理解</a:t>
            </a:r>
            <a:endParaRPr lang="en-US" altLang="zh-CN" dirty="0"/>
          </a:p>
          <a:p>
            <a:pPr marL="342900" indent="-342900">
              <a:buFont typeface="+mj-lt"/>
              <a:buAutoNum type="arabicPeriod"/>
            </a:pPr>
            <a:r>
              <a:rPr lang="zh-CN" altLang="en-US" dirty="0"/>
              <a:t>太过注重推导公式和数学理解，要吧重心转移到图像理解，图中的变化趋势和一些峰值点，同时注重物理上的理解</a:t>
            </a:r>
            <a:endParaRPr lang="en-US" altLang="zh-CN" dirty="0"/>
          </a:p>
        </p:txBody>
      </p:sp>
    </p:spTree>
    <p:extLst>
      <p:ext uri="{BB962C8B-B14F-4D97-AF65-F5344CB8AC3E}">
        <p14:creationId xmlns:p14="http://schemas.microsoft.com/office/powerpoint/2010/main" val="4008941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FA223-9DBF-3394-3C2D-1D792D38EDF5}"/>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F9A7CEE9-A3DB-9A2D-B864-0FB88D988238}"/>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0B1481AD-6189-5F95-E870-392245F4731F}"/>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28</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10A6A363-2FDD-FD90-1597-F39173A906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4B7744C6-B0D5-F801-2918-04C8B9157477}"/>
              </a:ext>
            </a:extLst>
          </p:cNvPr>
          <p:cNvSpPr txBox="1"/>
          <p:nvPr/>
        </p:nvSpPr>
        <p:spPr>
          <a:xfrm>
            <a:off x="623392" y="69315"/>
            <a:ext cx="11568608" cy="369332"/>
          </a:xfrm>
          <a:prstGeom prst="rect">
            <a:avLst/>
          </a:prstGeom>
          <a:noFill/>
        </p:spPr>
        <p:txBody>
          <a:bodyPr wrap="square" rtlCol="0">
            <a:spAutoFit/>
          </a:bodyPr>
          <a:lstStyle/>
          <a:p>
            <a:r>
              <a:rPr lang="zh-CN" altLang="en-US" dirty="0"/>
              <a:t>附录：原本对检偏器问题的分析与检偏器作用的数学分析：</a:t>
            </a:r>
            <a:endParaRPr lang="en-US" altLang="zh-CN" dirty="0"/>
          </a:p>
        </p:txBody>
      </p:sp>
      <p:sp>
        <p:nvSpPr>
          <p:cNvPr id="2" name="文本框 1">
            <a:extLst>
              <a:ext uri="{FF2B5EF4-FFF2-40B4-BE49-F238E27FC236}">
                <a16:creationId xmlns:a16="http://schemas.microsoft.com/office/drawing/2014/main" id="{BF3D9B89-526A-2B87-4CAF-030C3AAD7D0B}"/>
              </a:ext>
            </a:extLst>
          </p:cNvPr>
          <p:cNvSpPr txBox="1"/>
          <p:nvPr/>
        </p:nvSpPr>
        <p:spPr>
          <a:xfrm>
            <a:off x="11352584" y="76884"/>
            <a:ext cx="720080" cy="369332"/>
          </a:xfrm>
          <a:prstGeom prst="rect">
            <a:avLst/>
          </a:prstGeom>
          <a:noFill/>
        </p:spPr>
        <p:txBody>
          <a:bodyPr wrap="square" rtlCol="0">
            <a:spAutoFit/>
          </a:bodyPr>
          <a:lstStyle/>
          <a:p>
            <a:r>
              <a:rPr lang="zh-CN" altLang="en-US" dirty="0">
                <a:hlinkClick r:id="rId3" action="ppaction://hlinksldjump"/>
              </a:rPr>
              <a:t>返回</a:t>
            </a:r>
            <a:endParaRPr lang="zh-CN" altLang="en-US" dirty="0"/>
          </a:p>
        </p:txBody>
      </p:sp>
      <p:sp>
        <p:nvSpPr>
          <p:cNvPr id="6" name="文本框 5">
            <a:extLst>
              <a:ext uri="{FF2B5EF4-FFF2-40B4-BE49-F238E27FC236}">
                <a16:creationId xmlns:a16="http://schemas.microsoft.com/office/drawing/2014/main" id="{88DE17AA-3110-BA55-DC79-20F642671B8F}"/>
              </a:ext>
            </a:extLst>
          </p:cNvPr>
          <p:cNvSpPr txBox="1"/>
          <p:nvPr/>
        </p:nvSpPr>
        <p:spPr>
          <a:xfrm>
            <a:off x="-24680" y="522266"/>
            <a:ext cx="11952288" cy="369332"/>
          </a:xfrm>
          <a:prstGeom prst="rect">
            <a:avLst/>
          </a:prstGeom>
          <a:noFill/>
        </p:spPr>
        <p:txBody>
          <a:bodyPr wrap="square" rtlCol="0">
            <a:spAutoFit/>
          </a:bodyPr>
          <a:lstStyle/>
          <a:p>
            <a:r>
              <a:rPr lang="zh-CN" altLang="en-US" dirty="0"/>
              <a:t>简化举例：</a:t>
            </a:r>
            <a:endParaRPr lang="en-US" altLang="zh-CN" dirty="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FE62D665-3B73-98FA-5809-9A1DEAC24662}"/>
                  </a:ext>
                </a:extLst>
              </p:cNvPr>
              <p:cNvSpPr txBox="1"/>
              <p:nvPr/>
            </p:nvSpPr>
            <p:spPr>
              <a:xfrm>
                <a:off x="3575720" y="792667"/>
                <a:ext cx="3034549" cy="708720"/>
              </a:xfrm>
              <a:prstGeom prst="rect">
                <a:avLst/>
              </a:prstGeom>
              <a:noFill/>
            </p:spPr>
            <p:txBody>
              <a:bodyPr wrap="none" rtlCol="0">
                <a:spAutoFit/>
              </a:bodyPr>
              <a:lstStyle/>
              <a:p>
                <a:pPr/>
                <a14:m>
                  <m:oMathPara xmlns:m="http://schemas.openxmlformats.org/officeDocument/2006/math">
                    <m:o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𝐄</m:t>
                          </m:r>
                        </m:e>
                        <m:sub>
                          <m:r>
                            <m:rPr>
                              <m:sty m:val="p"/>
                            </m:rPr>
                            <a:rPr lang="en-US" altLang="zh-CN" b="0" i="1">
                              <a:latin typeface="Cambria Math" panose="02040503050406030204" pitchFamily="18" charset="0"/>
                            </a:rPr>
                            <m:t>PEM</m:t>
                          </m:r>
                        </m:sub>
                      </m:sSub>
                      <m:d>
                        <m:dPr>
                          <m:ctrlPr>
                            <a:rPr lang="en-US" altLang="zh-CN" b="0" i="1">
                              <a:latin typeface="Cambria Math" panose="02040503050406030204" pitchFamily="18" charset="0"/>
                            </a:rPr>
                          </m:ctrlPr>
                        </m:dPr>
                        <m:e>
                          <m:r>
                            <a:rPr lang="en-US" altLang="zh-CN" b="0" i="1">
                              <a:latin typeface="Cambria Math" panose="02040503050406030204" pitchFamily="18" charset="0"/>
                            </a:rPr>
                            <m:t>𝑡</m:t>
                          </m:r>
                        </m:e>
                      </m:d>
                      <m:r>
                        <a:rPr lang="en-US" altLang="zh-CN" b="0"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0" i="1">
                              <a:latin typeface="Cambria Math" panose="02040503050406030204" pitchFamily="18" charset="0"/>
                            </a:rPr>
                            <m:t>𝐸</m:t>
                          </m:r>
                        </m:e>
                        <m:sub>
                          <m:r>
                            <a:rPr lang="en-US" altLang="zh-CN" b="0" i="1">
                              <a:latin typeface="Cambria Math" panose="02040503050406030204" pitchFamily="18" charset="0"/>
                            </a:rPr>
                            <m:t>0</m:t>
                          </m:r>
                        </m:sub>
                      </m:sSub>
                      <m:d>
                        <m:dPr>
                          <m:begChr m:val="["/>
                          <m:endChr m:val="]"/>
                          <m:ctrlPr>
                            <a:rPr lang="en-US" altLang="zh-CN" b="0" i="1">
                              <a:latin typeface="Cambria Math" panose="02040503050406030204" pitchFamily="18" charset="0"/>
                            </a:rPr>
                          </m:ctrlPr>
                        </m:dPr>
                        <m:e>
                          <m:m>
                            <m:mPr>
                              <m:mcs>
                                <m:mc>
                                  <m:mcPr>
                                    <m:count m:val="1"/>
                                    <m:mcJc m:val="center"/>
                                  </m:mcPr>
                                </m:mc>
                              </m:mcs>
                              <m:ctrlPr>
                                <a:rPr lang="en-US" altLang="zh-CN" b="0" i="1">
                                  <a:latin typeface="Cambria Math" panose="02040503050406030204" pitchFamily="18" charset="0"/>
                                </a:rPr>
                              </m:ctrlPr>
                            </m:mPr>
                            <m:mr>
                              <m:e>
                                <m:func>
                                  <m:funcPr>
                                    <m:ctrlPr>
                                      <a:rPr lang="en-US" altLang="zh-CN" b="0" i="1">
                                        <a:latin typeface="Cambria Math" panose="02040503050406030204" pitchFamily="18" charset="0"/>
                                      </a:rPr>
                                    </m:ctrlPr>
                                  </m:funcPr>
                                  <m:fName>
                                    <m:r>
                                      <m:rPr>
                                        <m:sty m:val="p"/>
                                      </m:rPr>
                                      <a:rPr lang="en-US" altLang="zh-CN" b="0" i="1">
                                        <a:latin typeface="Cambria Math" panose="02040503050406030204" pitchFamily="18" charset="0"/>
                                      </a:rPr>
                                      <m:t>cos</m:t>
                                    </m:r>
                                  </m:fName>
                                  <m:e>
                                    <m:d>
                                      <m:dPr>
                                        <m:begChr m:val="["/>
                                        <m:endChr m:val="]"/>
                                        <m:ctrlPr>
                                          <a:rPr lang="en-US" altLang="zh-CN" b="0" i="1">
                                            <a:latin typeface="Cambria Math" panose="02040503050406030204" pitchFamily="18" charset="0"/>
                                          </a:rPr>
                                        </m:ctrlPr>
                                      </m:dPr>
                                      <m:e>
                                        <m:r>
                                          <a:rPr lang="en-US" altLang="zh-CN" b="0" i="1">
                                            <a:latin typeface="Cambria Math" panose="02040503050406030204" pitchFamily="18" charset="0"/>
                                          </a:rPr>
                                          <m:t>𝛿</m:t>
                                        </m:r>
                                        <m:d>
                                          <m:dPr>
                                            <m:ctrlPr>
                                              <a:rPr lang="en-US" altLang="zh-CN" b="0" i="1">
                                                <a:latin typeface="Cambria Math" panose="02040503050406030204" pitchFamily="18" charset="0"/>
                                              </a:rPr>
                                            </m:ctrlPr>
                                          </m:dPr>
                                          <m:e>
                                            <m:r>
                                              <a:rPr lang="en-US" altLang="zh-CN" b="0" i="1">
                                                <a:latin typeface="Cambria Math" panose="02040503050406030204" pitchFamily="18" charset="0"/>
                                              </a:rPr>
                                              <m:t>𝑡</m:t>
                                            </m:r>
                                          </m:e>
                                        </m:d>
                                        <m:r>
                                          <a:rPr lang="en-US" altLang="zh-CN" b="0" i="1">
                                            <a:latin typeface="Cambria Math" panose="02040503050406030204" pitchFamily="18" charset="0"/>
                                          </a:rPr>
                                          <m:t>/2</m:t>
                                        </m:r>
                                      </m:e>
                                    </m:d>
                                  </m:e>
                                </m:func>
                              </m:e>
                            </m:mr>
                            <m:mr>
                              <m:e>
                                <m:r>
                                  <a:rPr lang="en-US" altLang="zh-CN" b="0" i="1">
                                    <a:latin typeface="Cambria Math" panose="02040503050406030204" pitchFamily="18" charset="0"/>
                                  </a:rPr>
                                  <m:t>𝑖</m:t>
                                </m:r>
                                <m:func>
                                  <m:funcPr>
                                    <m:ctrlPr>
                                      <a:rPr lang="en-US" altLang="zh-CN" b="0" i="1">
                                        <a:latin typeface="Cambria Math" panose="02040503050406030204" pitchFamily="18" charset="0"/>
                                      </a:rPr>
                                    </m:ctrlPr>
                                  </m:funcPr>
                                  <m:fName>
                                    <m:r>
                                      <m:rPr>
                                        <m:sty m:val="p"/>
                                      </m:rPr>
                                      <a:rPr lang="en-US" altLang="zh-CN" b="0" i="1">
                                        <a:latin typeface="Cambria Math" panose="02040503050406030204" pitchFamily="18" charset="0"/>
                                      </a:rPr>
                                      <m:t>sin</m:t>
                                    </m:r>
                                  </m:fName>
                                  <m:e>
                                    <m:d>
                                      <m:dPr>
                                        <m:begChr m:val="["/>
                                        <m:endChr m:val="]"/>
                                        <m:ctrlPr>
                                          <a:rPr lang="en-US" altLang="zh-CN" b="0" i="1">
                                            <a:latin typeface="Cambria Math" panose="02040503050406030204" pitchFamily="18" charset="0"/>
                                          </a:rPr>
                                        </m:ctrlPr>
                                      </m:dPr>
                                      <m:e>
                                        <m:r>
                                          <a:rPr lang="en-US" altLang="zh-CN" b="0" i="1">
                                            <a:latin typeface="Cambria Math" panose="02040503050406030204" pitchFamily="18" charset="0"/>
                                          </a:rPr>
                                          <m:t>𝛿</m:t>
                                        </m:r>
                                        <m:d>
                                          <m:dPr>
                                            <m:ctrlPr>
                                              <a:rPr lang="en-US" altLang="zh-CN" b="0" i="1">
                                                <a:latin typeface="Cambria Math" panose="02040503050406030204" pitchFamily="18" charset="0"/>
                                              </a:rPr>
                                            </m:ctrlPr>
                                          </m:dPr>
                                          <m:e>
                                            <m:r>
                                              <a:rPr lang="en-US" altLang="zh-CN" b="0" i="1">
                                                <a:latin typeface="Cambria Math" panose="02040503050406030204" pitchFamily="18" charset="0"/>
                                              </a:rPr>
                                              <m:t>𝑡</m:t>
                                            </m:r>
                                          </m:e>
                                        </m:d>
                                        <m:r>
                                          <a:rPr lang="en-US" altLang="zh-CN" b="0" i="1">
                                            <a:latin typeface="Cambria Math" panose="02040503050406030204" pitchFamily="18" charset="0"/>
                                          </a:rPr>
                                          <m:t>/2</m:t>
                                        </m:r>
                                      </m:e>
                                    </m:d>
                                  </m:e>
                                </m:func>
                              </m:e>
                            </m:mr>
                          </m:m>
                        </m:e>
                      </m:d>
                    </m:oMath>
                  </m:oMathPara>
                </a14:m>
                <a:endParaRPr lang="zh-CN" altLang="en-US" dirty="0"/>
              </a:p>
            </p:txBody>
          </p:sp>
        </mc:Choice>
        <mc:Fallback>
          <p:sp>
            <p:nvSpPr>
              <p:cNvPr id="8" name="文本框 7">
                <a:extLst>
                  <a:ext uri="{FF2B5EF4-FFF2-40B4-BE49-F238E27FC236}">
                    <a16:creationId xmlns:a16="http://schemas.microsoft.com/office/drawing/2014/main" id="{FE62D665-3B73-98FA-5809-9A1DEAC24662}"/>
                  </a:ext>
                </a:extLst>
              </p:cNvPr>
              <p:cNvSpPr txBox="1">
                <a:spLocks noRot="1" noChangeAspect="1" noMove="1" noResize="1" noEditPoints="1" noAdjustHandles="1" noChangeArrowheads="1" noChangeShapeType="1" noTextEdit="1"/>
              </p:cNvSpPr>
              <p:nvPr/>
            </p:nvSpPr>
            <p:spPr>
              <a:xfrm>
                <a:off x="3575720" y="792667"/>
                <a:ext cx="3034549" cy="7087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A2C68C4E-9697-B97B-F064-E9BB789F82E2}"/>
                  </a:ext>
                </a:extLst>
              </p:cNvPr>
              <p:cNvSpPr txBox="1"/>
              <p:nvPr/>
            </p:nvSpPr>
            <p:spPr>
              <a:xfrm>
                <a:off x="3935760" y="1489537"/>
                <a:ext cx="7506286" cy="714683"/>
              </a:xfrm>
              <a:prstGeom prst="rect">
                <a:avLst/>
              </a:prstGeom>
              <a:noFill/>
            </p:spPr>
            <p:txBody>
              <a:bodyPr wrap="none" rtlCol="0">
                <a:spAutoFit/>
              </a:bodyPr>
              <a:lstStyle/>
              <a:p>
                <a14:m>
                  <m:oMathPara xmlns:m="http://schemas.openxmlformats.org/officeDocument/2006/math">
                    <m:o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m:rPr>
                              <m:sty m:val="p"/>
                            </m:rPr>
                            <a:rPr lang="en-US" altLang="zh-CN" i="1">
                              <a:latin typeface="Cambria Math" panose="02040503050406030204" pitchFamily="18" charset="0"/>
                            </a:rPr>
                            <m:t>no</m:t>
                          </m:r>
                          <m:r>
                            <a:rPr lang="en-US" altLang="zh-CN" i="1">
                              <a:latin typeface="Cambria Math" panose="02040503050406030204" pitchFamily="18" charset="0"/>
                            </a:rPr>
                            <m:t> </m:t>
                          </m:r>
                          <m:r>
                            <m:rPr>
                              <m:sty m:val="p"/>
                            </m:rPr>
                            <a:rPr lang="en-US" altLang="zh-CN" i="1">
                              <a:latin typeface="Cambria Math" panose="02040503050406030204" pitchFamily="18" charset="0"/>
                            </a:rPr>
                            <m:t>analyzer</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𝐸</m:t>
                                  </m:r>
                                </m:e>
                                <m:sub>
                                  <m:r>
                                    <a:rPr lang="en-US" altLang="zh-CN" i="1">
                                      <a:latin typeface="Cambria Math" panose="02040503050406030204" pitchFamily="18" charset="0"/>
                                    </a:rPr>
                                    <m:t>𝑥</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𝑡</m:t>
                                  </m:r>
                                </m:e>
                              </m:d>
                            </m:e>
                          </m:d>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𝐸</m:t>
                                  </m:r>
                                </m:e>
                                <m:sub>
                                  <m:r>
                                    <a:rPr lang="en-US" altLang="zh-CN" i="1">
                                      <a:latin typeface="Cambria Math" panose="02040503050406030204" pitchFamily="18" charset="0"/>
                                    </a:rPr>
                                    <m:t>𝑦</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𝑡</m:t>
                                  </m:r>
                                </m:e>
                              </m:d>
                            </m:e>
                          </m:d>
                        </m:e>
                        <m:sup>
                          <m:r>
                            <a:rPr lang="en-US" altLang="zh-CN" i="1">
                              <a:latin typeface="Cambria Math" panose="02040503050406030204" pitchFamily="18" charset="0"/>
                            </a:rPr>
                            <m:t>2</m:t>
                          </m:r>
                        </m:sup>
                      </m:s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0</m:t>
                          </m:r>
                        </m:sub>
                      </m:sSub>
                      <m:func>
                        <m:funcPr>
                          <m:ctrlPr>
                            <a:rPr lang="en-US" altLang="zh-CN" i="1">
                              <a:latin typeface="Cambria Math" panose="02040503050406030204" pitchFamily="18" charset="0"/>
                            </a:rPr>
                          </m:ctrlPr>
                        </m:funcPr>
                        <m:fName>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cos</m:t>
                              </m:r>
                            </m:e>
                            <m:sup>
                              <m:r>
                                <a:rPr lang="en-US" altLang="zh-CN" i="1">
                                  <a:latin typeface="Cambria Math" panose="02040503050406030204" pitchFamily="18" charset="0"/>
                                </a:rPr>
                                <m:t>2</m:t>
                              </m:r>
                            </m:sup>
                          </m:sSup>
                        </m:fName>
                        <m:e>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𝛿</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num>
                                <m:den>
                                  <m:r>
                                    <a:rPr lang="en-US" altLang="zh-CN" i="1">
                                      <a:latin typeface="Cambria Math" panose="02040503050406030204" pitchFamily="18" charset="0"/>
                                    </a:rPr>
                                    <m:t>2</m:t>
                                  </m:r>
                                </m:den>
                              </m:f>
                            </m:e>
                          </m:d>
                        </m:e>
                      </m:fun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0</m:t>
                          </m:r>
                        </m:sub>
                      </m:sSub>
                      <m:func>
                        <m:funcPr>
                          <m:ctrlPr>
                            <a:rPr lang="en-US" altLang="zh-CN" i="1">
                              <a:latin typeface="Cambria Math" panose="02040503050406030204" pitchFamily="18" charset="0"/>
                            </a:rPr>
                          </m:ctrlPr>
                        </m:funcPr>
                        <m:fName>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sin</m:t>
                              </m:r>
                            </m:e>
                            <m:sup>
                              <m:r>
                                <a:rPr lang="en-US" altLang="zh-CN" i="1">
                                  <a:latin typeface="Cambria Math" panose="02040503050406030204" pitchFamily="18" charset="0"/>
                                </a:rPr>
                                <m:t>2</m:t>
                              </m:r>
                            </m:sup>
                          </m:sSup>
                        </m:fName>
                        <m:e>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𝛿</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num>
                                <m:den>
                                  <m:r>
                                    <a:rPr lang="en-US" altLang="zh-CN" i="1">
                                      <a:latin typeface="Cambria Math" panose="02040503050406030204" pitchFamily="18" charset="0"/>
                                    </a:rPr>
                                    <m:t>2</m:t>
                                  </m:r>
                                </m:den>
                              </m:f>
                            </m:e>
                          </m:d>
                        </m:e>
                      </m:fun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0</m:t>
                          </m:r>
                        </m:sub>
                      </m:sSub>
                    </m:oMath>
                  </m:oMathPara>
                </a14:m>
                <a:endParaRPr lang="zh-CN" altLang="en-US" dirty="0"/>
              </a:p>
            </p:txBody>
          </p:sp>
        </mc:Choice>
        <mc:Fallback>
          <p:sp>
            <p:nvSpPr>
              <p:cNvPr id="9" name="文本框 8">
                <a:extLst>
                  <a:ext uri="{FF2B5EF4-FFF2-40B4-BE49-F238E27FC236}">
                    <a16:creationId xmlns:a16="http://schemas.microsoft.com/office/drawing/2014/main" id="{A2C68C4E-9697-B97B-F064-E9BB789F82E2}"/>
                  </a:ext>
                </a:extLst>
              </p:cNvPr>
              <p:cNvSpPr txBox="1">
                <a:spLocks noRot="1" noChangeAspect="1" noMove="1" noResize="1" noEditPoints="1" noAdjustHandles="1" noChangeArrowheads="1" noChangeShapeType="1" noTextEdit="1"/>
              </p:cNvSpPr>
              <p:nvPr/>
            </p:nvSpPr>
            <p:spPr>
              <a:xfrm>
                <a:off x="3935760" y="1489537"/>
                <a:ext cx="7506286" cy="714683"/>
              </a:xfrm>
              <a:prstGeom prst="rect">
                <a:avLst/>
              </a:prstGeom>
              <a:blipFill>
                <a:blip r:embed="rId5"/>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A1FA47B6-B6E1-CDBC-F07F-F8A5620FEE06}"/>
              </a:ext>
            </a:extLst>
          </p:cNvPr>
          <p:cNvSpPr txBox="1"/>
          <p:nvPr/>
        </p:nvSpPr>
        <p:spPr>
          <a:xfrm>
            <a:off x="911424" y="962361"/>
            <a:ext cx="2952328" cy="369332"/>
          </a:xfrm>
          <a:prstGeom prst="rect">
            <a:avLst/>
          </a:prstGeom>
          <a:noFill/>
        </p:spPr>
        <p:txBody>
          <a:bodyPr wrap="square" rtlCol="0">
            <a:spAutoFit/>
          </a:bodyPr>
          <a:lstStyle/>
          <a:p>
            <a:r>
              <a:rPr lang="zh-CN" altLang="en-US" dirty="0"/>
              <a:t>一束普通的光经过</a:t>
            </a:r>
            <a:r>
              <a:rPr lang="en-US" altLang="zh-CN" dirty="0"/>
              <a:t>PEM</a:t>
            </a:r>
            <a:r>
              <a:rPr lang="zh-CN" altLang="en-US" dirty="0"/>
              <a:t>后：</a:t>
            </a:r>
            <a:endParaRPr lang="en-US" altLang="zh-CN" dirty="0"/>
          </a:p>
        </p:txBody>
      </p:sp>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F73CB2F6-5D4D-0CBE-E2AC-478944D8B553}"/>
                  </a:ext>
                </a:extLst>
              </p:cNvPr>
              <p:cNvSpPr txBox="1"/>
              <p:nvPr/>
            </p:nvSpPr>
            <p:spPr>
              <a:xfrm>
                <a:off x="4079776" y="2463364"/>
                <a:ext cx="2769155" cy="600934"/>
              </a:xfrm>
              <a:prstGeom prst="rect">
                <a:avLst/>
              </a:prstGeom>
              <a:noFill/>
            </p:spPr>
            <p:txBody>
              <a:bodyPr wrap="none" rtlCol="0">
                <a:spAutoFit/>
              </a:bodyPr>
              <a:lstStyle/>
              <a:p>
                <a14:m>
                  <m:oMathPara xmlns:m="http://schemas.openxmlformats.org/officeDocument/2006/math">
                    <m:o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𝐄</m:t>
                          </m:r>
                        </m:e>
                        <m:sub>
                          <m:r>
                            <a:rPr lang="en-US" altLang="zh-CN" b="0" i="1">
                              <a:latin typeface="Cambria Math" panose="02040503050406030204" pitchFamily="18" charset="0"/>
                            </a:rPr>
                            <m:t>𝐴</m:t>
                          </m:r>
                        </m:sub>
                      </m:sSub>
                      <m:d>
                        <m:dPr>
                          <m:ctrlPr>
                            <a:rPr lang="en-US" altLang="zh-CN" b="0" i="1">
                              <a:latin typeface="Cambria Math" panose="02040503050406030204" pitchFamily="18" charset="0"/>
                            </a:rPr>
                          </m:ctrlPr>
                        </m:dPr>
                        <m:e>
                          <m:r>
                            <a:rPr lang="en-US" altLang="zh-CN" b="0" i="1">
                              <a:latin typeface="Cambria Math" panose="02040503050406030204" pitchFamily="18" charset="0"/>
                            </a:rPr>
                            <m:t>𝑡</m:t>
                          </m:r>
                        </m:e>
                      </m:d>
                      <m:r>
                        <a:rPr lang="en-US" altLang="zh-CN" b="0"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0" i="1">
                              <a:latin typeface="Cambria Math" panose="02040503050406030204" pitchFamily="18" charset="0"/>
                            </a:rPr>
                            <m:t>𝐸</m:t>
                          </m:r>
                        </m:e>
                        <m:sub>
                          <m:r>
                            <a:rPr lang="en-US" altLang="zh-CN" b="0" i="1">
                              <a:latin typeface="Cambria Math" panose="02040503050406030204" pitchFamily="18" charset="0"/>
                            </a:rPr>
                            <m:t>0</m:t>
                          </m:r>
                        </m:sub>
                      </m:sSub>
                      <m:d>
                        <m:dPr>
                          <m:begChr m:val="["/>
                          <m:endChr m:val="]"/>
                          <m:ctrlPr>
                            <a:rPr lang="en-US" altLang="zh-CN" b="0" i="1">
                              <a:latin typeface="Cambria Math" panose="02040503050406030204" pitchFamily="18" charset="0"/>
                            </a:rPr>
                          </m:ctrlPr>
                        </m:dPr>
                        <m:e>
                          <m:m>
                            <m:mPr>
                              <m:mcs>
                                <m:mc>
                                  <m:mcPr>
                                    <m:count m:val="1"/>
                                    <m:mcJc m:val="center"/>
                                  </m:mcPr>
                                </m:mc>
                              </m:mcs>
                              <m:ctrlPr>
                                <a:rPr lang="en-US" altLang="zh-CN" b="0" i="1">
                                  <a:latin typeface="Cambria Math" panose="02040503050406030204" pitchFamily="18" charset="0"/>
                                </a:rPr>
                              </m:ctrlPr>
                            </m:mPr>
                            <m:mr>
                              <m:e>
                                <m:r>
                                  <a:rPr lang="en-US" altLang="zh-CN" b="0" i="1">
                                    <a:latin typeface="Cambria Math" panose="02040503050406030204" pitchFamily="18" charset="0"/>
                                  </a:rPr>
                                  <m:t>0</m:t>
                                </m:r>
                              </m:e>
                            </m:mr>
                            <m:mr>
                              <m:e>
                                <m:r>
                                  <a:rPr lang="en-US" altLang="zh-CN" b="0" i="1">
                                    <a:latin typeface="Cambria Math" panose="02040503050406030204" pitchFamily="18" charset="0"/>
                                  </a:rPr>
                                  <m:t>𝑖</m:t>
                                </m:r>
                                <m:func>
                                  <m:funcPr>
                                    <m:ctrlPr>
                                      <a:rPr lang="en-US" altLang="zh-CN" b="0" i="1">
                                        <a:latin typeface="Cambria Math" panose="02040503050406030204" pitchFamily="18" charset="0"/>
                                      </a:rPr>
                                    </m:ctrlPr>
                                  </m:funcPr>
                                  <m:fName>
                                    <m:r>
                                      <m:rPr>
                                        <m:sty m:val="p"/>
                                      </m:rPr>
                                      <a:rPr lang="en-US" altLang="zh-CN" b="0" i="1">
                                        <a:latin typeface="Cambria Math" panose="02040503050406030204" pitchFamily="18" charset="0"/>
                                      </a:rPr>
                                      <m:t>sin</m:t>
                                    </m:r>
                                  </m:fName>
                                  <m:e>
                                    <m:d>
                                      <m:dPr>
                                        <m:begChr m:val="["/>
                                        <m:endChr m:val="]"/>
                                        <m:ctrlPr>
                                          <a:rPr lang="en-US" altLang="zh-CN" b="0" i="1">
                                            <a:latin typeface="Cambria Math" panose="02040503050406030204" pitchFamily="18" charset="0"/>
                                          </a:rPr>
                                        </m:ctrlPr>
                                      </m:dPr>
                                      <m:e>
                                        <m:r>
                                          <a:rPr lang="en-US" altLang="zh-CN" b="0" i="1">
                                            <a:latin typeface="Cambria Math" panose="02040503050406030204" pitchFamily="18" charset="0"/>
                                          </a:rPr>
                                          <m:t>𝛿</m:t>
                                        </m:r>
                                        <m:d>
                                          <m:dPr>
                                            <m:ctrlPr>
                                              <a:rPr lang="en-US" altLang="zh-CN" b="0" i="1">
                                                <a:latin typeface="Cambria Math" panose="02040503050406030204" pitchFamily="18" charset="0"/>
                                              </a:rPr>
                                            </m:ctrlPr>
                                          </m:dPr>
                                          <m:e>
                                            <m:r>
                                              <a:rPr lang="en-US" altLang="zh-CN" b="0" i="1">
                                                <a:latin typeface="Cambria Math" panose="02040503050406030204" pitchFamily="18" charset="0"/>
                                              </a:rPr>
                                              <m:t>𝑡</m:t>
                                            </m:r>
                                          </m:e>
                                        </m:d>
                                        <m:r>
                                          <a:rPr lang="en-US" altLang="zh-CN" b="0" i="1">
                                            <a:latin typeface="Cambria Math" panose="02040503050406030204" pitchFamily="18" charset="0"/>
                                          </a:rPr>
                                          <m:t>/2</m:t>
                                        </m:r>
                                      </m:e>
                                    </m:d>
                                  </m:e>
                                </m:func>
                              </m:e>
                            </m:mr>
                          </m:m>
                        </m:e>
                      </m:d>
                    </m:oMath>
                  </m:oMathPara>
                </a14:m>
                <a:endParaRPr lang="zh-CN" altLang="en-US" dirty="0"/>
              </a:p>
            </p:txBody>
          </p:sp>
        </mc:Choice>
        <mc:Fallback>
          <p:sp>
            <p:nvSpPr>
              <p:cNvPr id="12" name="文本框 11">
                <a:extLst>
                  <a:ext uri="{FF2B5EF4-FFF2-40B4-BE49-F238E27FC236}">
                    <a16:creationId xmlns:a16="http://schemas.microsoft.com/office/drawing/2014/main" id="{F73CB2F6-5D4D-0CBE-E2AC-478944D8B553}"/>
                  </a:ext>
                </a:extLst>
              </p:cNvPr>
              <p:cNvSpPr txBox="1">
                <a:spLocks noRot="1" noChangeAspect="1" noMove="1" noResize="1" noEditPoints="1" noAdjustHandles="1" noChangeArrowheads="1" noChangeShapeType="1" noTextEdit="1"/>
              </p:cNvSpPr>
              <p:nvPr/>
            </p:nvSpPr>
            <p:spPr>
              <a:xfrm>
                <a:off x="4079776" y="2463364"/>
                <a:ext cx="2769155" cy="600934"/>
              </a:xfrm>
              <a:prstGeom prst="rect">
                <a:avLst/>
              </a:prstGeom>
              <a:blipFill>
                <a:blip r:embed="rId6"/>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3F1107C5-038B-5FD3-2C69-E3500674FD71}"/>
              </a:ext>
            </a:extLst>
          </p:cNvPr>
          <p:cNvSpPr txBox="1"/>
          <p:nvPr/>
        </p:nvSpPr>
        <p:spPr>
          <a:xfrm>
            <a:off x="57150" y="1478070"/>
            <a:ext cx="3878610" cy="369332"/>
          </a:xfrm>
          <a:prstGeom prst="rect">
            <a:avLst/>
          </a:prstGeom>
          <a:noFill/>
        </p:spPr>
        <p:txBody>
          <a:bodyPr wrap="square" rtlCol="0">
            <a:spAutoFit/>
          </a:bodyPr>
          <a:lstStyle/>
          <a:p>
            <a:r>
              <a:rPr lang="zh-CN" altLang="en-US" dirty="0"/>
              <a:t>未加检偏器时探测器最终接收的光强：</a:t>
            </a:r>
            <a:endParaRPr lang="en-US" altLang="zh-CN" dirty="0"/>
          </a:p>
        </p:txBody>
      </p:sp>
      <p:sp>
        <p:nvSpPr>
          <p:cNvPr id="15" name="文本框 14">
            <a:extLst>
              <a:ext uri="{FF2B5EF4-FFF2-40B4-BE49-F238E27FC236}">
                <a16:creationId xmlns:a16="http://schemas.microsoft.com/office/drawing/2014/main" id="{AE095AC1-96B8-8B3B-3D4D-0269D9C30E89}"/>
              </a:ext>
            </a:extLst>
          </p:cNvPr>
          <p:cNvSpPr txBox="1"/>
          <p:nvPr/>
        </p:nvSpPr>
        <p:spPr>
          <a:xfrm>
            <a:off x="57150" y="3745691"/>
            <a:ext cx="3878610" cy="369332"/>
          </a:xfrm>
          <a:prstGeom prst="rect">
            <a:avLst/>
          </a:prstGeom>
          <a:noFill/>
        </p:spPr>
        <p:txBody>
          <a:bodyPr wrap="square" rtlCol="0">
            <a:spAutoFit/>
          </a:bodyPr>
          <a:lstStyle/>
          <a:p>
            <a:r>
              <a:rPr lang="zh-CN" altLang="en-US" dirty="0"/>
              <a:t>加检偏器后探测器最终接收的光强：</a:t>
            </a:r>
            <a:endParaRPr lang="en-US" altLang="zh-CN" dirty="0"/>
          </a:p>
        </p:txBody>
      </p:sp>
      <mc:AlternateContent xmlns:mc="http://schemas.openxmlformats.org/markup-compatibility/2006">
        <mc:Choice xmlns:a14="http://schemas.microsoft.com/office/drawing/2010/main" Requires="a14">
          <p:sp>
            <p:nvSpPr>
              <p:cNvPr id="16" name="文本框 15">
                <a:extLst>
                  <a:ext uri="{FF2B5EF4-FFF2-40B4-BE49-F238E27FC236}">
                    <a16:creationId xmlns:a16="http://schemas.microsoft.com/office/drawing/2014/main" id="{4A96F9A7-0954-5DBA-2048-CB7152F44F44}"/>
                  </a:ext>
                </a:extLst>
              </p:cNvPr>
              <p:cNvSpPr txBox="1"/>
              <p:nvPr/>
            </p:nvSpPr>
            <p:spPr>
              <a:xfrm>
                <a:off x="4007768" y="3573016"/>
                <a:ext cx="6771534" cy="714683"/>
              </a:xfrm>
              <a:prstGeom prst="rect">
                <a:avLst/>
              </a:prstGeom>
              <a:noFill/>
            </p:spPr>
            <p:txBody>
              <a:bodyPr wrap="none" rtlCol="0">
                <a:spAutoFit/>
              </a:bodyPr>
              <a:lstStyle/>
              <a:p>
                <a14:m>
                  <m:oMathPara xmlns:m="http://schemas.openxmlformats.org/officeDocument/2006/math">
                    <m:o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𝐴</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0</m:t>
                          </m:r>
                        </m:sub>
                      </m:sSub>
                      <m:func>
                        <m:funcPr>
                          <m:ctrlPr>
                            <a:rPr lang="en-US" altLang="zh-CN" i="1">
                              <a:latin typeface="Cambria Math" panose="02040503050406030204" pitchFamily="18" charset="0"/>
                            </a:rPr>
                          </m:ctrlPr>
                        </m:funcPr>
                        <m:fName>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sin</m:t>
                              </m:r>
                            </m:e>
                            <m:sup>
                              <m:r>
                                <a:rPr lang="en-US" altLang="zh-CN" i="1">
                                  <a:latin typeface="Cambria Math" panose="02040503050406030204" pitchFamily="18" charset="0"/>
                                </a:rPr>
                                <m:t>2</m:t>
                              </m:r>
                            </m:sup>
                          </m:sSup>
                        </m:fName>
                        <m:e>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𝛿</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num>
                                <m:den>
                                  <m:r>
                                    <a:rPr lang="en-US" altLang="zh-CN" i="1">
                                      <a:latin typeface="Cambria Math" panose="02040503050406030204" pitchFamily="18" charset="0"/>
                                    </a:rPr>
                                    <m:t>2</m:t>
                                  </m:r>
                                </m:den>
                              </m:f>
                            </m:e>
                          </m:d>
                        </m:e>
                      </m:func>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0</m:t>
                              </m:r>
                            </m:sub>
                          </m:sSub>
                        </m:num>
                        <m:den>
                          <m:r>
                            <a:rPr lang="en-US" altLang="zh-CN" i="1">
                              <a:latin typeface="Cambria Math" panose="02040503050406030204" pitchFamily="18" charset="0"/>
                            </a:rPr>
                            <m:t>2</m:t>
                          </m:r>
                        </m:den>
                      </m:f>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1−</m:t>
                          </m:r>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r>
                                <a:rPr lang="en-US" altLang="zh-CN" i="1">
                                  <a:latin typeface="Cambria Math" panose="02040503050406030204" pitchFamily="18" charset="0"/>
                                </a:rPr>
                                <m:t>𝛿</m:t>
                              </m:r>
                            </m:e>
                          </m:func>
                          <m:d>
                            <m:dPr>
                              <m:ctrlPr>
                                <a:rPr lang="en-US" altLang="zh-CN" i="1">
                                  <a:latin typeface="Cambria Math" panose="02040503050406030204" pitchFamily="18" charset="0"/>
                                </a:rPr>
                              </m:ctrlPr>
                            </m:dPr>
                            <m:e>
                              <m:r>
                                <a:rPr lang="en-US" altLang="zh-CN" i="1">
                                  <a:latin typeface="Cambria Math" panose="02040503050406030204" pitchFamily="18" charset="0"/>
                                </a:rPr>
                                <m:t>𝑡</m:t>
                              </m:r>
                            </m:e>
                          </m:d>
                        </m:e>
                      </m:d>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0</m:t>
                              </m:r>
                            </m:sub>
                          </m:sSub>
                        </m:num>
                        <m:den>
                          <m:r>
                            <a:rPr lang="en-US" altLang="zh-CN" i="1">
                              <a:latin typeface="Cambria Math" panose="02040503050406030204" pitchFamily="18" charset="0"/>
                            </a:rPr>
                            <m:t>2</m:t>
                          </m:r>
                        </m:den>
                      </m:f>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1−</m:t>
                          </m:r>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r>
                                        <a:rPr lang="en-US" altLang="zh-CN" i="1">
                                          <a:latin typeface="Cambria Math" panose="02040503050406030204" pitchFamily="18" charset="0"/>
                                        </a:rPr>
                                        <m:t>𝜔</m:t>
                                      </m:r>
                                    </m:e>
                                  </m:func>
                                  <m:r>
                                    <a:rPr lang="en-US" altLang="zh-CN" i="1">
                                      <a:latin typeface="Cambria Math" panose="02040503050406030204" pitchFamily="18" charset="0"/>
                                    </a:rPr>
                                    <m:t>𝑡</m:t>
                                  </m:r>
                                </m:e>
                              </m:d>
                            </m:e>
                          </m:func>
                        </m:e>
                      </m:d>
                    </m:oMath>
                  </m:oMathPara>
                </a14:m>
                <a:endParaRPr lang="zh-CN" altLang="en-US" dirty="0"/>
              </a:p>
            </p:txBody>
          </p:sp>
        </mc:Choice>
        <mc:Fallback>
          <p:sp>
            <p:nvSpPr>
              <p:cNvPr id="16" name="文本框 15">
                <a:extLst>
                  <a:ext uri="{FF2B5EF4-FFF2-40B4-BE49-F238E27FC236}">
                    <a16:creationId xmlns:a16="http://schemas.microsoft.com/office/drawing/2014/main" id="{4A96F9A7-0954-5DBA-2048-CB7152F44F44}"/>
                  </a:ext>
                </a:extLst>
              </p:cNvPr>
              <p:cNvSpPr txBox="1">
                <a:spLocks noRot="1" noChangeAspect="1" noMove="1" noResize="1" noEditPoints="1" noAdjustHandles="1" noChangeArrowheads="1" noChangeShapeType="1" noTextEdit="1"/>
              </p:cNvSpPr>
              <p:nvPr/>
            </p:nvSpPr>
            <p:spPr>
              <a:xfrm>
                <a:off x="4007768" y="3573016"/>
                <a:ext cx="6771534" cy="714683"/>
              </a:xfrm>
              <a:prstGeom prst="rect">
                <a:avLst/>
              </a:prstGeom>
              <a:blipFill>
                <a:blip r:embed="rId7"/>
                <a:stretch>
                  <a:fillRect/>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1B85745B-AD61-E373-C0C4-72E9C2D31143}"/>
              </a:ext>
            </a:extLst>
          </p:cNvPr>
          <p:cNvSpPr txBox="1"/>
          <p:nvPr/>
        </p:nvSpPr>
        <p:spPr>
          <a:xfrm>
            <a:off x="911424" y="2579165"/>
            <a:ext cx="2952328" cy="369332"/>
          </a:xfrm>
          <a:prstGeom prst="rect">
            <a:avLst/>
          </a:prstGeom>
          <a:noFill/>
        </p:spPr>
        <p:txBody>
          <a:bodyPr wrap="square" rtlCol="0">
            <a:spAutoFit/>
          </a:bodyPr>
          <a:lstStyle/>
          <a:p>
            <a:r>
              <a:rPr lang="zh-CN" altLang="en-US" dirty="0"/>
              <a:t>加上检偏器后：</a:t>
            </a:r>
            <a:endParaRPr lang="en-US" altLang="zh-CN" dirty="0"/>
          </a:p>
        </p:txBody>
      </p:sp>
      <p:sp>
        <p:nvSpPr>
          <p:cNvPr id="18" name="文本框 17">
            <a:extLst>
              <a:ext uri="{FF2B5EF4-FFF2-40B4-BE49-F238E27FC236}">
                <a16:creationId xmlns:a16="http://schemas.microsoft.com/office/drawing/2014/main" id="{BD931A64-73E5-EFEA-DFA4-0EC0101EA98D}"/>
              </a:ext>
            </a:extLst>
          </p:cNvPr>
          <p:cNvSpPr txBox="1"/>
          <p:nvPr/>
        </p:nvSpPr>
        <p:spPr>
          <a:xfrm>
            <a:off x="3359696" y="4666113"/>
            <a:ext cx="3878610" cy="369332"/>
          </a:xfrm>
          <a:prstGeom prst="rect">
            <a:avLst/>
          </a:prstGeom>
          <a:noFill/>
        </p:spPr>
        <p:txBody>
          <a:bodyPr wrap="square" rtlCol="0">
            <a:spAutoFit/>
          </a:bodyPr>
          <a:lstStyle/>
          <a:p>
            <a:r>
              <a:rPr lang="zh-CN" altLang="en-US" dirty="0"/>
              <a:t>数学上，此时就产生了频率</a:t>
            </a:r>
            <a:endParaRPr lang="en-US" altLang="zh-CN" dirty="0"/>
          </a:p>
        </p:txBody>
      </p:sp>
    </p:spTree>
    <p:extLst>
      <p:ext uri="{BB962C8B-B14F-4D97-AF65-F5344CB8AC3E}">
        <p14:creationId xmlns:p14="http://schemas.microsoft.com/office/powerpoint/2010/main" val="1199360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520E2-BF5F-435B-D9F7-287DB3350C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4F4167-95B4-A4C3-885E-4B1EC98E1FCA}"/>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EC4BC803-BB20-40CB-2A27-0E9D62D02E23}"/>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29</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2BECE3D2-4B05-5896-19CF-95D8E53223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7" name="文本框 6">
            <a:extLst>
              <a:ext uri="{FF2B5EF4-FFF2-40B4-BE49-F238E27FC236}">
                <a16:creationId xmlns:a16="http://schemas.microsoft.com/office/drawing/2014/main" id="{FF24075E-0AE7-42AE-77C7-73F01B309A1D}"/>
              </a:ext>
            </a:extLst>
          </p:cNvPr>
          <p:cNvSpPr txBox="1"/>
          <p:nvPr/>
        </p:nvSpPr>
        <p:spPr>
          <a:xfrm>
            <a:off x="695400" y="74259"/>
            <a:ext cx="11496600" cy="369332"/>
          </a:xfrm>
          <a:prstGeom prst="rect">
            <a:avLst/>
          </a:prstGeom>
          <a:noFill/>
        </p:spPr>
        <p:txBody>
          <a:bodyPr wrap="square" rtlCol="0">
            <a:spAutoFit/>
          </a:bodyPr>
          <a:lstStyle/>
          <a:p>
            <a:r>
              <a:rPr lang="zh-CN" altLang="en-US" dirty="0"/>
              <a:t>文献阅读</a:t>
            </a:r>
            <a:endParaRPr lang="zh-CN" altLang="zh-CN" dirty="0"/>
          </a:p>
        </p:txBody>
      </p:sp>
      <p:sp>
        <p:nvSpPr>
          <p:cNvPr id="8" name="文本框 7">
            <a:extLst>
              <a:ext uri="{FF2B5EF4-FFF2-40B4-BE49-F238E27FC236}">
                <a16:creationId xmlns:a16="http://schemas.microsoft.com/office/drawing/2014/main" id="{7E289225-1E8B-BC97-95F1-739E1D794D3D}"/>
              </a:ext>
            </a:extLst>
          </p:cNvPr>
          <p:cNvSpPr txBox="1"/>
          <p:nvPr/>
        </p:nvSpPr>
        <p:spPr>
          <a:xfrm>
            <a:off x="479376" y="836712"/>
            <a:ext cx="11521280" cy="461665"/>
          </a:xfrm>
          <a:prstGeom prst="rect">
            <a:avLst/>
          </a:prstGeom>
          <a:noFill/>
        </p:spPr>
        <p:txBody>
          <a:bodyPr wrap="square" rtlCol="0">
            <a:spAutoFit/>
          </a:bodyPr>
          <a:lstStyle/>
          <a:p>
            <a:r>
              <a:rPr lang="zh-CN" altLang="zh-CN" sz="2400" b="1" dirty="0"/>
              <a:t>2026_Degree-of-polarization modulation for high-dimensional optical computing</a:t>
            </a:r>
            <a:endParaRPr lang="zh-CN" altLang="en-US" sz="2400" dirty="0"/>
          </a:p>
        </p:txBody>
      </p:sp>
      <p:sp>
        <p:nvSpPr>
          <p:cNvPr id="9" name="文本框 8">
            <a:extLst>
              <a:ext uri="{FF2B5EF4-FFF2-40B4-BE49-F238E27FC236}">
                <a16:creationId xmlns:a16="http://schemas.microsoft.com/office/drawing/2014/main" id="{89AA038C-9CEA-F595-AD25-DD9AB88374DC}"/>
              </a:ext>
            </a:extLst>
          </p:cNvPr>
          <p:cNvSpPr txBox="1"/>
          <p:nvPr/>
        </p:nvSpPr>
        <p:spPr>
          <a:xfrm>
            <a:off x="551384" y="1412776"/>
            <a:ext cx="4320480" cy="369332"/>
          </a:xfrm>
          <a:prstGeom prst="rect">
            <a:avLst/>
          </a:prstGeom>
          <a:noFill/>
        </p:spPr>
        <p:txBody>
          <a:bodyPr wrap="square" rtlCol="0">
            <a:spAutoFit/>
          </a:bodyPr>
          <a:lstStyle/>
          <a:p>
            <a:r>
              <a:rPr lang="zh-CN" altLang="en-US" dirty="0"/>
              <a:t>期刊：</a:t>
            </a:r>
            <a:r>
              <a:rPr lang="zh-CN" altLang="zh-CN" dirty="0"/>
              <a:t>Nature</a:t>
            </a:r>
            <a:r>
              <a:rPr lang="en-US" altLang="zh-CN" dirty="0"/>
              <a:t> </a:t>
            </a:r>
            <a:r>
              <a:rPr lang="zh-CN" altLang="en-US" dirty="0"/>
              <a:t>作者：</a:t>
            </a:r>
            <a:r>
              <a:rPr lang="zh-CN" altLang="zh-CN" dirty="0"/>
              <a:t>Alessandro Petrini</a:t>
            </a:r>
          </a:p>
        </p:txBody>
      </p:sp>
      <p:sp>
        <p:nvSpPr>
          <p:cNvPr id="10" name="文本框 9">
            <a:extLst>
              <a:ext uri="{FF2B5EF4-FFF2-40B4-BE49-F238E27FC236}">
                <a16:creationId xmlns:a16="http://schemas.microsoft.com/office/drawing/2014/main" id="{DB8D9FAE-FCA6-7C6F-B5F2-6506AA56AE48}"/>
              </a:ext>
            </a:extLst>
          </p:cNvPr>
          <p:cNvSpPr txBox="1"/>
          <p:nvPr/>
        </p:nvSpPr>
        <p:spPr>
          <a:xfrm>
            <a:off x="263352" y="2060848"/>
            <a:ext cx="6006773" cy="369332"/>
          </a:xfrm>
          <a:prstGeom prst="rect">
            <a:avLst/>
          </a:prstGeom>
          <a:noFill/>
        </p:spPr>
        <p:txBody>
          <a:bodyPr wrap="none" rtlCol="0">
            <a:spAutoFit/>
          </a:bodyPr>
          <a:lstStyle/>
          <a:p>
            <a:r>
              <a:rPr lang="zh-CN" altLang="zh-CN"/>
              <a:t>Sapienza University of Rome    Prof. Davide Pierangeli课题组</a:t>
            </a:r>
          </a:p>
        </p:txBody>
      </p:sp>
      <p:pic>
        <p:nvPicPr>
          <p:cNvPr id="14" name="图片 13">
            <a:extLst>
              <a:ext uri="{FF2B5EF4-FFF2-40B4-BE49-F238E27FC236}">
                <a16:creationId xmlns:a16="http://schemas.microsoft.com/office/drawing/2014/main" id="{4C4C8BA5-D4DA-3530-227C-0D40A2237CE8}"/>
              </a:ext>
            </a:extLst>
          </p:cNvPr>
          <p:cNvPicPr>
            <a:picLocks noChangeAspect="1"/>
          </p:cNvPicPr>
          <p:nvPr/>
        </p:nvPicPr>
        <p:blipFill>
          <a:blip r:embed="rId3"/>
          <a:stretch>
            <a:fillRect/>
          </a:stretch>
        </p:blipFill>
        <p:spPr>
          <a:xfrm>
            <a:off x="9522854" y="1340841"/>
            <a:ext cx="1710049" cy="1963824"/>
          </a:xfrm>
          <a:prstGeom prst="rect">
            <a:avLst/>
          </a:prstGeom>
        </p:spPr>
      </p:pic>
      <p:sp>
        <p:nvSpPr>
          <p:cNvPr id="16" name="文本框 15">
            <a:extLst>
              <a:ext uri="{FF2B5EF4-FFF2-40B4-BE49-F238E27FC236}">
                <a16:creationId xmlns:a16="http://schemas.microsoft.com/office/drawing/2014/main" id="{AB0B3681-A8E6-FCB0-B706-FC0C13D03C61}"/>
              </a:ext>
            </a:extLst>
          </p:cNvPr>
          <p:cNvSpPr txBox="1"/>
          <p:nvPr/>
        </p:nvSpPr>
        <p:spPr>
          <a:xfrm>
            <a:off x="9378838" y="3347129"/>
            <a:ext cx="2250763" cy="369332"/>
          </a:xfrm>
          <a:prstGeom prst="rect">
            <a:avLst/>
          </a:prstGeom>
          <a:noFill/>
        </p:spPr>
        <p:txBody>
          <a:bodyPr wrap="square">
            <a:spAutoFit/>
          </a:bodyPr>
          <a:lstStyle/>
          <a:p>
            <a:r>
              <a:rPr lang="zh-CN" altLang="zh-CN" sz="1800" dirty="0"/>
              <a:t>Alessandro Petrini</a:t>
            </a:r>
            <a:endParaRPr lang="zh-CN" altLang="en-US" dirty="0"/>
          </a:p>
        </p:txBody>
      </p:sp>
      <p:sp>
        <p:nvSpPr>
          <p:cNvPr id="18" name="文本框 17">
            <a:extLst>
              <a:ext uri="{FF2B5EF4-FFF2-40B4-BE49-F238E27FC236}">
                <a16:creationId xmlns:a16="http://schemas.microsoft.com/office/drawing/2014/main" id="{F5DA44EF-AE64-0DFF-022A-05A544BCDB52}"/>
              </a:ext>
            </a:extLst>
          </p:cNvPr>
          <p:cNvSpPr txBox="1"/>
          <p:nvPr/>
        </p:nvSpPr>
        <p:spPr>
          <a:xfrm>
            <a:off x="0" y="3861048"/>
            <a:ext cx="12144671" cy="1477328"/>
          </a:xfrm>
          <a:prstGeom prst="rect">
            <a:avLst/>
          </a:prstGeom>
          <a:noFill/>
        </p:spPr>
        <p:txBody>
          <a:bodyPr wrap="square">
            <a:spAutoFit/>
          </a:bodyPr>
          <a:lstStyle/>
          <a:p>
            <a:pPr>
              <a:buNone/>
            </a:pPr>
            <a:r>
              <a:rPr lang="zh-CN" altLang="en-US" dirty="0"/>
              <a:t>一句话概括：</a:t>
            </a:r>
            <a:endParaRPr lang="en-US" altLang="zh-CN" dirty="0"/>
          </a:p>
          <a:p>
            <a:r>
              <a:rPr lang="zh-CN" altLang="zh-CN" dirty="0"/>
              <a:t>针对目前还没有一种技术能够以可编程的方式对DOP进行空间调制</a:t>
            </a:r>
            <a:r>
              <a:rPr lang="zh-CN" altLang="en-US" dirty="0">
                <a:solidFill>
                  <a:srgbClr val="FF0000"/>
                </a:solidFill>
              </a:rPr>
              <a:t>问题</a:t>
            </a:r>
            <a:r>
              <a:rPr lang="zh-CN" altLang="zh-CN" dirty="0"/>
              <a:t>，作者提出</a:t>
            </a:r>
            <a:r>
              <a:rPr lang="zh-CN" altLang="en-US" dirty="0"/>
              <a:t>基于</a:t>
            </a:r>
            <a:r>
              <a:rPr lang="zh-CN" altLang="zh-CN" dirty="0"/>
              <a:t>SLM的宏模和微模引入相位</a:t>
            </a:r>
            <a:r>
              <a:rPr lang="zh-CN" altLang="en-US" dirty="0"/>
              <a:t>差</a:t>
            </a:r>
            <a:r>
              <a:rPr lang="zh-CN" altLang="zh-CN" dirty="0"/>
              <a:t>的均值和</a:t>
            </a:r>
            <a:r>
              <a:rPr lang="zh-CN" altLang="en-US" dirty="0"/>
              <a:t>标准</a:t>
            </a:r>
            <a:r>
              <a:rPr lang="zh-CN" altLang="zh-CN" dirty="0"/>
              <a:t>差对偏振度和偏振态进行调制，引入了旋转半波片和全波片</a:t>
            </a:r>
            <a:r>
              <a:rPr lang="zh-CN" altLang="en-US" dirty="0"/>
              <a:t>（或者再加一台</a:t>
            </a:r>
            <a:r>
              <a:rPr lang="en-US" altLang="zh-CN" dirty="0"/>
              <a:t>SLM</a:t>
            </a:r>
            <a:r>
              <a:rPr lang="zh-CN" altLang="en-US" dirty="0"/>
              <a:t>）</a:t>
            </a:r>
            <a:r>
              <a:rPr lang="zh-CN" altLang="zh-CN" dirty="0"/>
              <a:t>来增加了自由度以实现对所有斯托克斯参数的描述，</a:t>
            </a:r>
            <a:r>
              <a:rPr lang="zh-CN" altLang="en-US" dirty="0"/>
              <a:t>成功将</a:t>
            </a:r>
            <a:r>
              <a:rPr lang="en-US" altLang="zh-CN" dirty="0"/>
              <a:t>RGB</a:t>
            </a:r>
            <a:r>
              <a:rPr lang="zh-CN" altLang="en-US" dirty="0"/>
              <a:t>编码为了斯托克斯参数，</a:t>
            </a:r>
            <a:r>
              <a:rPr lang="zh-CN" altLang="zh-CN" dirty="0"/>
              <a:t>并用32×32的图像验证了偏振编码和偏振解码的过程</a:t>
            </a:r>
            <a:r>
              <a:rPr lang="zh-CN" altLang="en-US" dirty="0"/>
              <a:t>。文章通过</a:t>
            </a:r>
            <a:endParaRPr lang="zh-CN" altLang="zh-CN" dirty="0"/>
          </a:p>
        </p:txBody>
      </p:sp>
    </p:spTree>
    <p:extLst>
      <p:ext uri="{BB962C8B-B14F-4D97-AF65-F5344CB8AC3E}">
        <p14:creationId xmlns:p14="http://schemas.microsoft.com/office/powerpoint/2010/main" val="1945925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AD806-DF31-2E6E-AE66-F8EDA0E52F9A}"/>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8C950B0-2907-2A3B-5E97-09EB1B3B036C}"/>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AB93C8CB-745A-AF90-10BB-4C4523CDBBB2}"/>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30</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A53D5F5E-1BB9-70FA-85D2-233B31DA05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pic>
        <p:nvPicPr>
          <p:cNvPr id="3" name="图片 2">
            <a:extLst>
              <a:ext uri="{FF2B5EF4-FFF2-40B4-BE49-F238E27FC236}">
                <a16:creationId xmlns:a16="http://schemas.microsoft.com/office/drawing/2014/main" id="{4371AB23-D952-90FA-60D1-8660A95D51ED}"/>
              </a:ext>
            </a:extLst>
          </p:cNvPr>
          <p:cNvPicPr>
            <a:picLocks noChangeAspect="1"/>
          </p:cNvPicPr>
          <p:nvPr/>
        </p:nvPicPr>
        <p:blipFill>
          <a:blip r:embed="rId3"/>
          <a:srcRect l="4069" r="680"/>
          <a:stretch>
            <a:fillRect/>
          </a:stretch>
        </p:blipFill>
        <p:spPr>
          <a:xfrm>
            <a:off x="1703512" y="1124744"/>
            <a:ext cx="7848872" cy="3874110"/>
          </a:xfrm>
          <a:prstGeom prst="rect">
            <a:avLst/>
          </a:prstGeom>
        </p:spPr>
      </p:pic>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C45CEBE7-42F7-EC7F-8FD7-5CD2E211EC1B}"/>
                  </a:ext>
                </a:extLst>
              </p:cNvPr>
              <p:cNvSpPr txBox="1"/>
              <p:nvPr/>
            </p:nvSpPr>
            <p:spPr>
              <a:xfrm>
                <a:off x="0" y="5157192"/>
                <a:ext cx="12144671" cy="923330"/>
              </a:xfrm>
              <a:prstGeom prst="rect">
                <a:avLst/>
              </a:prstGeom>
              <a:noFill/>
            </p:spPr>
            <p:txBody>
              <a:bodyPr wrap="square">
                <a:spAutoFit/>
              </a:bodyPr>
              <a:lstStyle/>
              <a:p>
                <a:pPr>
                  <a:buNone/>
                </a:pPr>
                <a:r>
                  <a:rPr lang="zh-CN" altLang="en-US" dirty="0"/>
                  <a:t>由于</a:t>
                </a:r>
                <a:r>
                  <a:rPr lang="en-US" altLang="zh-CN" dirty="0"/>
                  <a:t>SLM</a:t>
                </a:r>
                <a:r>
                  <a:rPr lang="zh-CN" altLang="en-US" dirty="0"/>
                  <a:t>难以对每一个像素的相位进行精确的调制，存在些许误差，故作者将</a:t>
                </a:r>
                <a:r>
                  <a:rPr lang="en-US" altLang="zh-CN" dirty="0"/>
                  <a:t>1280×1080</a:t>
                </a:r>
                <a:r>
                  <a:rPr lang="zh-CN" altLang="en-US" dirty="0"/>
                  <a:t>的</a:t>
                </a:r>
                <a:r>
                  <a:rPr lang="en-US" altLang="zh-CN" dirty="0"/>
                  <a:t>SLM</a:t>
                </a:r>
                <a:r>
                  <a:rPr lang="zh-CN" altLang="en-US" dirty="0"/>
                  <a:t>划分为宏模和微模，宏模长和宽均为</a:t>
                </a:r>
                <a:r>
                  <a:rPr lang="en-US" altLang="zh-CN" dirty="0"/>
                  <a:t>25</a:t>
                </a:r>
                <a:r>
                  <a:rPr lang="zh-CN" altLang="en-US" dirty="0"/>
                  <a:t>个像素，每一个宏模包含</a:t>
                </a:r>
                <a:r>
                  <a:rPr lang="en-US" altLang="zh-CN" dirty="0"/>
                  <a:t>25</a:t>
                </a:r>
                <a:r>
                  <a:rPr lang="zh-CN" altLang="en-US" dirty="0"/>
                  <a:t>个微模，每一个微模包含</a:t>
                </a:r>
                <a:r>
                  <a:rPr lang="en-US" altLang="zh-CN" dirty="0"/>
                  <a:t>25</a:t>
                </a:r>
                <a:r>
                  <a:rPr lang="zh-CN" altLang="en-US" dirty="0"/>
                  <a:t>个像素，通过给一个宏模内所有像素</a:t>
                </a:r>
                <a:r>
                  <a:rPr lang="zh-CN" altLang="zh-CN" dirty="0"/>
                  <a:t>相位</a:t>
                </a:r>
                <a:r>
                  <a:rPr lang="zh-CN" altLang="en-US" dirty="0"/>
                  <a:t>差分配相同的均值</a:t>
                </a:r>
                <a14:m>
                  <m:oMath xmlns:m="http://schemas.openxmlformats.org/officeDocument/2006/math">
                    <m:r>
                      <a:rPr lang="zh-CN" altLang="en-US" i="1" smtClean="0">
                        <a:latin typeface="Cambria Math" panose="02040503050406030204" pitchFamily="18" charset="0"/>
                      </a:rPr>
                      <m:t>𝜑</m:t>
                    </m:r>
                  </m:oMath>
                </a14:m>
                <a:r>
                  <a:rPr lang="zh-CN" altLang="en-US" dirty="0"/>
                  <a:t>和标准差</a:t>
                </a:r>
                <a14:m>
                  <m:oMath xmlns:m="http://schemas.openxmlformats.org/officeDocument/2006/math">
                    <m:r>
                      <a:rPr lang="zh-CN" altLang="en-US" i="1" smtClean="0">
                        <a:latin typeface="Cambria Math" panose="02040503050406030204" pitchFamily="18" charset="0"/>
                      </a:rPr>
                      <m:t>𝛿𝜑</m:t>
                    </m:r>
                  </m:oMath>
                </a14:m>
                <a:r>
                  <a:rPr lang="zh-CN" altLang="en-US" dirty="0"/>
                  <a:t>，从宏观上来准确调控调控一个宏模光束的偏振态</a:t>
                </a:r>
                <a:endParaRPr lang="zh-CN" altLang="zh-CN" dirty="0"/>
              </a:p>
            </p:txBody>
          </p:sp>
        </mc:Choice>
        <mc:Fallback>
          <p:sp>
            <p:nvSpPr>
              <p:cNvPr id="6" name="文本框 5">
                <a:extLst>
                  <a:ext uri="{FF2B5EF4-FFF2-40B4-BE49-F238E27FC236}">
                    <a16:creationId xmlns:a16="http://schemas.microsoft.com/office/drawing/2014/main" id="{C45CEBE7-42F7-EC7F-8FD7-5CD2E211EC1B}"/>
                  </a:ext>
                </a:extLst>
              </p:cNvPr>
              <p:cNvSpPr txBox="1">
                <a:spLocks noRot="1" noChangeAspect="1" noMove="1" noResize="1" noEditPoints="1" noAdjustHandles="1" noChangeArrowheads="1" noChangeShapeType="1" noTextEdit="1"/>
              </p:cNvSpPr>
              <p:nvPr/>
            </p:nvSpPr>
            <p:spPr>
              <a:xfrm>
                <a:off x="0" y="5157192"/>
                <a:ext cx="12144671" cy="923330"/>
              </a:xfrm>
              <a:prstGeom prst="rect">
                <a:avLst/>
              </a:prstGeom>
              <a:blipFill>
                <a:blip r:embed="rId4"/>
                <a:stretch>
                  <a:fillRect l="-402" t="-3974" b="-99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905150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77F9E-05DB-6684-5D51-EB44BBA8B136}"/>
            </a:ext>
          </a:extLst>
        </p:cNvPr>
        <p:cNvGrpSpPr/>
        <p:nvPr/>
      </p:nvGrpSpPr>
      <p:grpSpPr>
        <a:xfrm>
          <a:off x="0" y="0"/>
          <a:ext cx="0" cy="0"/>
          <a:chOff x="0" y="0"/>
          <a:chExt cx="0" cy="0"/>
        </a:xfrm>
      </p:grpSpPr>
      <p:sp>
        <p:nvSpPr>
          <p:cNvPr id="11" name="Slide Number Placeholder 2">
            <a:extLst>
              <a:ext uri="{FF2B5EF4-FFF2-40B4-BE49-F238E27FC236}">
                <a16:creationId xmlns:a16="http://schemas.microsoft.com/office/drawing/2014/main" id="{DCB33F35-14BB-F489-9114-1205B1347EB0}"/>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31</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E6E0BB1A-5679-8ADC-EC40-706A957149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pic>
        <p:nvPicPr>
          <p:cNvPr id="3" name="图片 2">
            <a:extLst>
              <a:ext uri="{FF2B5EF4-FFF2-40B4-BE49-F238E27FC236}">
                <a16:creationId xmlns:a16="http://schemas.microsoft.com/office/drawing/2014/main" id="{027F6493-4802-CE2E-16CC-3BE6C4BA4E97}"/>
              </a:ext>
            </a:extLst>
          </p:cNvPr>
          <p:cNvPicPr>
            <a:picLocks noChangeAspect="1"/>
          </p:cNvPicPr>
          <p:nvPr/>
        </p:nvPicPr>
        <p:blipFill>
          <a:blip r:embed="rId3"/>
          <a:stretch>
            <a:fillRect/>
          </a:stretch>
        </p:blipFill>
        <p:spPr>
          <a:xfrm>
            <a:off x="2639616" y="46509"/>
            <a:ext cx="5812510" cy="3861048"/>
          </a:xfrm>
          <a:prstGeom prst="rect">
            <a:avLst/>
          </a:prstGeom>
        </p:spPr>
      </p:pic>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79741F49-5DBC-9213-6E1E-DCC99E8F31E4}"/>
                  </a:ext>
                </a:extLst>
              </p:cNvPr>
              <p:cNvSpPr txBox="1"/>
              <p:nvPr/>
            </p:nvSpPr>
            <p:spPr>
              <a:xfrm>
                <a:off x="0" y="4005064"/>
                <a:ext cx="12192000" cy="2790444"/>
              </a:xfrm>
              <a:prstGeom prst="rect">
                <a:avLst/>
              </a:prstGeom>
              <a:noFill/>
            </p:spPr>
            <p:txBody>
              <a:bodyPr wrap="square">
                <a:spAutoFit/>
              </a:bodyPr>
              <a:lstStyle/>
              <a:p>
                <a:pPr marL="285750" indent="-285750">
                  <a:buFont typeface="Arial" panose="020B0604020202020204" pitchFamily="34" charset="0"/>
                  <a:buChar char="•"/>
                </a:pPr>
                <a:r>
                  <a:rPr lang="zh-CN" altLang="en-US" dirty="0"/>
                  <a:t>通过控制宏模内像素均值</a:t>
                </a:r>
                <a14:m>
                  <m:oMath xmlns:m="http://schemas.openxmlformats.org/officeDocument/2006/math">
                    <m:r>
                      <a:rPr lang="zh-CN" altLang="en-US" i="1" smtClean="0">
                        <a:latin typeface="Cambria Math" panose="02040503050406030204" pitchFamily="18" charset="0"/>
                      </a:rPr>
                      <m:t>𝜑</m:t>
                    </m:r>
                  </m:oMath>
                </a14:m>
                <a:r>
                  <a:rPr lang="zh-CN" altLang="en-US" dirty="0"/>
                  <a:t>不变，只改变标准差</a:t>
                </a:r>
                <a14:m>
                  <m:oMath xmlns:m="http://schemas.openxmlformats.org/officeDocument/2006/math">
                    <m:r>
                      <a:rPr lang="zh-CN" altLang="en-US" i="1" smtClean="0">
                        <a:solidFill>
                          <a:srgbClr val="C00000"/>
                        </a:solidFill>
                        <a:latin typeface="Cambria Math" panose="02040503050406030204" pitchFamily="18" charset="0"/>
                      </a:rPr>
                      <m:t>𝛿𝜑</m:t>
                    </m:r>
                  </m:oMath>
                </a14:m>
                <a:r>
                  <a:rPr lang="zh-CN" altLang="en-US" dirty="0"/>
                  <a:t>，可以从宏观上来调控光束的偏振度</a:t>
                </a:r>
                <a:r>
                  <a:rPr lang="en-US" altLang="zh-CN" dirty="0"/>
                  <a:t>DOP</a:t>
                </a:r>
              </a:p>
              <a:p>
                <a:pPr>
                  <a:buNone/>
                </a:pPr>
                <a:r>
                  <a:rPr lang="zh-CN" altLang="en-US" dirty="0">
                    <a:solidFill>
                      <a:srgbClr val="C00000"/>
                    </a:solidFill>
                  </a:rPr>
                  <a:t>物理上：</a:t>
                </a:r>
                <a:r>
                  <a:rPr lang="zh-CN" altLang="en-US" dirty="0"/>
                  <a:t>由于方差的增大，单个像素的</a:t>
                </a:r>
                <a:r>
                  <a:rPr lang="zh-CN" altLang="zh-CN" dirty="0"/>
                  <a:t>相位</a:t>
                </a:r>
                <a:r>
                  <a:rPr lang="zh-CN" altLang="en-US" dirty="0"/>
                  <a:t>差产生较大差异，单个像素的光的差异就会增大，会存在偏振相互抵消减弱。</a:t>
                </a:r>
                <a:r>
                  <a:rPr lang="en-US" altLang="zh-CN" dirty="0" err="1"/>
                  <a:t>eg</a:t>
                </a:r>
                <a:r>
                  <a:rPr lang="en-US" altLang="zh-CN" dirty="0"/>
                  <a:t>:</a:t>
                </a:r>
                <a:r>
                  <a:rPr lang="zh-CN" altLang="en-US" dirty="0"/>
                  <a:t>一束</a:t>
                </a:r>
                <a:r>
                  <a:rPr lang="en-US" altLang="zh-CN" dirty="0"/>
                  <a:t>45°</a:t>
                </a:r>
                <a:r>
                  <a:rPr lang="zh-CN" altLang="en-US" dirty="0"/>
                  <a:t>的线偏振光，假如</a:t>
                </a:r>
                <a:r>
                  <a:rPr lang="en-US" altLang="zh-CN" dirty="0"/>
                  <a:t>SLM</a:t>
                </a:r>
                <a:r>
                  <a:rPr lang="zh-CN" altLang="en-US" dirty="0"/>
                  <a:t>引入的</a:t>
                </a:r>
                <a:r>
                  <a:rPr lang="zh-CN" altLang="zh-CN" dirty="0"/>
                  <a:t>相位</a:t>
                </a:r>
                <a:r>
                  <a:rPr lang="zh-CN" altLang="en-US" dirty="0"/>
                  <a:t>差在</a:t>
                </a:r>
                <a:r>
                  <a:rPr lang="en-US" altLang="zh-CN" dirty="0"/>
                  <a:t>0°</a:t>
                </a:r>
                <a:r>
                  <a:rPr lang="zh-CN" altLang="en-US" dirty="0"/>
                  <a:t>方向，对于引入的</a:t>
                </a:r>
                <a:r>
                  <a:rPr lang="zh-CN" altLang="zh-CN" dirty="0"/>
                  <a:t>相位</a:t>
                </a:r>
                <a:r>
                  <a:rPr lang="zh-CN" altLang="en-US" dirty="0"/>
                  <a:t>差均值为</a:t>
                </a:r>
                <a14:m>
                  <m:oMath xmlns:m="http://schemas.openxmlformats.org/officeDocument/2006/math">
                    <m:r>
                      <a:rPr lang="zh-CN" altLang="en-US" i="1" smtClean="0">
                        <a:latin typeface="Cambria Math" panose="02040503050406030204" pitchFamily="18" charset="0"/>
                      </a:rPr>
                      <m:t>𝜋</m:t>
                    </m:r>
                  </m:oMath>
                </a14:m>
                <a:r>
                  <a:rPr lang="zh-CN" altLang="en-US" dirty="0"/>
                  <a:t>，标准差为</a:t>
                </a:r>
                <a14:m>
                  <m:oMath xmlns:m="http://schemas.openxmlformats.org/officeDocument/2006/math">
                    <m:f>
                      <m:fPr>
                        <m:ctrlPr>
                          <a:rPr lang="zh-CN" altLang="en-US" i="1">
                            <a:latin typeface="Cambria Math" panose="02040503050406030204" pitchFamily="18" charset="0"/>
                          </a:rPr>
                        </m:ctrlPr>
                      </m:fPr>
                      <m:num>
                        <m:r>
                          <a:rPr lang="zh-CN" altLang="en-US" i="1">
                            <a:latin typeface="Cambria Math" panose="02040503050406030204" pitchFamily="18" charset="0"/>
                          </a:rPr>
                          <m:t>𝜋</m:t>
                        </m:r>
                      </m:num>
                      <m:den>
                        <m:r>
                          <a:rPr lang="en-US" altLang="zh-CN" b="0" i="1" smtClean="0">
                            <a:latin typeface="Cambria Math" panose="02040503050406030204" pitchFamily="18" charset="0"/>
                          </a:rPr>
                          <m:t>2</m:t>
                        </m:r>
                      </m:den>
                    </m:f>
                  </m:oMath>
                </a14:m>
                <a:r>
                  <a:rPr lang="zh-CN" altLang="en-US" dirty="0"/>
                  <a:t>时，引入</a:t>
                </a:r>
                <a:r>
                  <a:rPr lang="zh-CN" altLang="zh-CN" dirty="0"/>
                  <a:t>相位</a:t>
                </a:r>
                <a:r>
                  <a:rPr lang="zh-CN" altLang="en-US" dirty="0"/>
                  <a:t>差为</a:t>
                </a:r>
                <a14:m>
                  <m:oMath xmlns:m="http://schemas.openxmlformats.org/officeDocument/2006/math">
                    <m:f>
                      <m:fPr>
                        <m:ctrlPr>
                          <a:rPr lang="zh-CN" altLang="en-US" i="1">
                            <a:latin typeface="Cambria Math" panose="02040503050406030204" pitchFamily="18" charset="0"/>
                          </a:rPr>
                        </m:ctrlPr>
                      </m:fPr>
                      <m:num>
                        <m:r>
                          <a:rPr lang="zh-CN" altLang="en-US" i="1">
                            <a:latin typeface="Cambria Math" panose="02040503050406030204" pitchFamily="18" charset="0"/>
                          </a:rPr>
                          <m:t>𝜋</m:t>
                        </m:r>
                      </m:num>
                      <m:den>
                        <m:r>
                          <a:rPr lang="en-US" altLang="zh-CN" i="1">
                            <a:latin typeface="Cambria Math" panose="02040503050406030204" pitchFamily="18" charset="0"/>
                          </a:rPr>
                          <m:t>2</m:t>
                        </m:r>
                      </m:den>
                    </m:f>
                  </m:oMath>
                </a14:m>
                <a:r>
                  <a:rPr lang="zh-CN" altLang="en-US" dirty="0"/>
                  <a:t>的像素点会使光变成左旋圆偏振光，引入</a:t>
                </a:r>
                <a:r>
                  <a:rPr lang="zh-CN" altLang="zh-CN" dirty="0"/>
                  <a:t>相位</a:t>
                </a:r>
                <a:r>
                  <a:rPr lang="zh-CN" altLang="en-US" dirty="0"/>
                  <a:t>差为</a:t>
                </a:r>
                <a14:m>
                  <m:oMath xmlns:m="http://schemas.openxmlformats.org/officeDocument/2006/math">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3</m:t>
                        </m:r>
                        <m:r>
                          <a:rPr lang="zh-CN" altLang="en-US" i="1">
                            <a:latin typeface="Cambria Math" panose="02040503050406030204" pitchFamily="18" charset="0"/>
                          </a:rPr>
                          <m:t>𝜋</m:t>
                        </m:r>
                      </m:num>
                      <m:den>
                        <m:r>
                          <a:rPr lang="en-US" altLang="zh-CN" i="1">
                            <a:latin typeface="Cambria Math" panose="02040503050406030204" pitchFamily="18" charset="0"/>
                          </a:rPr>
                          <m:t>2</m:t>
                        </m:r>
                      </m:den>
                    </m:f>
                  </m:oMath>
                </a14:m>
                <a:r>
                  <a:rPr lang="zh-CN" altLang="en-US" dirty="0"/>
                  <a:t>的点会使光变成右旋圆偏振光，二者相加会相互抵消偏振。</a:t>
                </a:r>
                <a:endParaRPr lang="en-US" altLang="zh-CN" dirty="0"/>
              </a:p>
              <a:p>
                <a:pPr marL="285750" indent="-285750">
                  <a:buFont typeface="Arial" panose="020B0604020202020204" pitchFamily="34" charset="0"/>
                  <a:buChar char="•"/>
                </a:pPr>
                <a:r>
                  <a:rPr lang="zh-CN" altLang="en-US" dirty="0"/>
                  <a:t>通过控制宏模内像素标准差</a:t>
                </a:r>
                <a14:m>
                  <m:oMath xmlns:m="http://schemas.openxmlformats.org/officeDocument/2006/math">
                    <m:r>
                      <a:rPr lang="zh-CN" altLang="en-US" i="1" smtClean="0">
                        <a:latin typeface="Cambria Math" panose="02040503050406030204" pitchFamily="18" charset="0"/>
                      </a:rPr>
                      <m:t>𝛿𝜑</m:t>
                    </m:r>
                  </m:oMath>
                </a14:m>
                <a:r>
                  <a:rPr lang="zh-CN" altLang="en-US" dirty="0"/>
                  <a:t>不变，只改变均值</a:t>
                </a:r>
                <a14:m>
                  <m:oMath xmlns:m="http://schemas.openxmlformats.org/officeDocument/2006/math">
                    <m:r>
                      <a:rPr lang="zh-CN" altLang="en-US" i="1" smtClean="0">
                        <a:solidFill>
                          <a:srgbClr val="C00000"/>
                        </a:solidFill>
                        <a:latin typeface="Cambria Math" panose="02040503050406030204" pitchFamily="18" charset="0"/>
                      </a:rPr>
                      <m:t>𝜑</m:t>
                    </m:r>
                  </m:oMath>
                </a14:m>
                <a:r>
                  <a:rPr lang="zh-CN" altLang="en-US" dirty="0"/>
                  <a:t>，可以从宏观上来调控光束的偏振度</a:t>
                </a:r>
                <a:r>
                  <a:rPr lang="en-US" altLang="zh-CN" dirty="0"/>
                  <a:t>DOP</a:t>
                </a:r>
              </a:p>
              <a:p>
                <a:r>
                  <a:rPr lang="zh-CN" altLang="en-US" dirty="0">
                    <a:solidFill>
                      <a:srgbClr val="C00000"/>
                    </a:solidFill>
                  </a:rPr>
                  <a:t>物理上：</a:t>
                </a:r>
                <a:r>
                  <a:rPr lang="zh-CN" altLang="en-US" dirty="0"/>
                  <a:t>改变均值</a:t>
                </a:r>
                <a14:m>
                  <m:oMath xmlns:m="http://schemas.openxmlformats.org/officeDocument/2006/math">
                    <m:r>
                      <a:rPr lang="zh-CN" altLang="en-US" i="1">
                        <a:latin typeface="Cambria Math" panose="02040503050406030204" pitchFamily="18" charset="0"/>
                      </a:rPr>
                      <m:t>𝜑</m:t>
                    </m:r>
                  </m:oMath>
                </a14:m>
                <a:r>
                  <a:rPr lang="zh-CN" altLang="en-US" dirty="0"/>
                  <a:t>，导致引入相位差发生改变，单个像素点的具体偏振态发生改变，方差并没有改变，</a:t>
                </a:r>
                <a:r>
                  <a:rPr lang="en-US" altLang="zh-CN" dirty="0"/>
                  <a:t>DOP</a:t>
                </a:r>
                <a:r>
                  <a:rPr lang="zh-CN" altLang="en-US" dirty="0"/>
                  <a:t>大小几乎不变，宏观上光的偏振态会沿着庞加莱球的某一个球面特定轨迹移动</a:t>
                </a:r>
                <a:endParaRPr lang="en-US" altLang="zh-CN" dirty="0"/>
              </a:p>
              <a:p>
                <a:pPr marL="285750" indent="-285750">
                  <a:buFont typeface="Arial" panose="020B0604020202020204" pitchFamily="34" charset="0"/>
                  <a:buChar char="•"/>
                </a:pPr>
                <a:r>
                  <a:rPr lang="zh-CN" altLang="en-US" dirty="0"/>
                  <a:t>均值和标准差只是两个自由度，完整表达出斯托克斯球的每一个点需要三个自由度，于是作者通过旋转</a:t>
                </a:r>
                <a:r>
                  <a:rPr lang="en-US" altLang="zh-CN" dirty="0"/>
                  <a:t>HWP</a:t>
                </a:r>
                <a:r>
                  <a:rPr lang="zh-CN" altLang="en-US" dirty="0"/>
                  <a:t>和</a:t>
                </a:r>
                <a:r>
                  <a:rPr lang="en-US" altLang="zh-CN" dirty="0"/>
                  <a:t>QWP</a:t>
                </a:r>
                <a:r>
                  <a:rPr lang="zh-CN" altLang="en-US" dirty="0"/>
                  <a:t>两个偏振片来增加自由度，或者再增加一台</a:t>
                </a:r>
                <a:r>
                  <a:rPr lang="en-US" altLang="zh-CN" dirty="0"/>
                  <a:t>SLM</a:t>
                </a:r>
                <a:endParaRPr lang="zh-CN" altLang="zh-CN" dirty="0"/>
              </a:p>
            </p:txBody>
          </p:sp>
        </mc:Choice>
        <mc:Fallback>
          <p:sp>
            <p:nvSpPr>
              <p:cNvPr id="6" name="文本框 5">
                <a:extLst>
                  <a:ext uri="{FF2B5EF4-FFF2-40B4-BE49-F238E27FC236}">
                    <a16:creationId xmlns:a16="http://schemas.microsoft.com/office/drawing/2014/main" id="{79741F49-5DBC-9213-6E1E-DCC99E8F31E4}"/>
                  </a:ext>
                </a:extLst>
              </p:cNvPr>
              <p:cNvSpPr txBox="1">
                <a:spLocks noRot="1" noChangeAspect="1" noMove="1" noResize="1" noEditPoints="1" noAdjustHandles="1" noChangeArrowheads="1" noChangeShapeType="1" noTextEdit="1"/>
              </p:cNvSpPr>
              <p:nvPr/>
            </p:nvSpPr>
            <p:spPr>
              <a:xfrm>
                <a:off x="0" y="4005064"/>
                <a:ext cx="12192000" cy="2790444"/>
              </a:xfrm>
              <a:prstGeom prst="rect">
                <a:avLst/>
              </a:prstGeom>
              <a:blipFill>
                <a:blip r:embed="rId4"/>
                <a:stretch>
                  <a:fillRect l="-400" t="-1310" r="-1250" b="-2402"/>
                </a:stretch>
              </a:blipFill>
            </p:spPr>
            <p:txBody>
              <a:bodyPr/>
              <a:lstStyle/>
              <a:p>
                <a:r>
                  <a:rPr lang="zh-CN" altLang="en-US">
                    <a:noFill/>
                  </a:rPr>
                  <a:t> </a:t>
                </a:r>
              </a:p>
            </p:txBody>
          </p:sp>
        </mc:Fallback>
      </mc:AlternateContent>
      <p:cxnSp>
        <p:nvCxnSpPr>
          <p:cNvPr id="15" name="直接连接符 14">
            <a:extLst>
              <a:ext uri="{FF2B5EF4-FFF2-40B4-BE49-F238E27FC236}">
                <a16:creationId xmlns:a16="http://schemas.microsoft.com/office/drawing/2014/main" id="{B1A1C5A4-5463-7FC3-6EA8-637177F19FB2}"/>
              </a:ext>
            </a:extLst>
          </p:cNvPr>
          <p:cNvCxnSpPr>
            <a:cxnSpLocks/>
          </p:cNvCxnSpPr>
          <p:nvPr/>
        </p:nvCxnSpPr>
        <p:spPr>
          <a:xfrm>
            <a:off x="4295800" y="288032"/>
            <a:ext cx="0" cy="432048"/>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17" name="直接连接符 16">
            <a:extLst>
              <a:ext uri="{FF2B5EF4-FFF2-40B4-BE49-F238E27FC236}">
                <a16:creationId xmlns:a16="http://schemas.microsoft.com/office/drawing/2014/main" id="{7E97698B-6E33-7967-508B-62F6C9F75B0E}"/>
              </a:ext>
            </a:extLst>
          </p:cNvPr>
          <p:cNvCxnSpPr>
            <a:cxnSpLocks/>
          </p:cNvCxnSpPr>
          <p:nvPr/>
        </p:nvCxnSpPr>
        <p:spPr>
          <a:xfrm>
            <a:off x="4439816" y="288032"/>
            <a:ext cx="0" cy="432048"/>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19" name="直接箭头连接符 18">
            <a:extLst>
              <a:ext uri="{FF2B5EF4-FFF2-40B4-BE49-F238E27FC236}">
                <a16:creationId xmlns:a16="http://schemas.microsoft.com/office/drawing/2014/main" id="{54D0886F-098E-B516-E314-7EB28DF84EB4}"/>
              </a:ext>
            </a:extLst>
          </p:cNvPr>
          <p:cNvCxnSpPr>
            <a:cxnSpLocks/>
          </p:cNvCxnSpPr>
          <p:nvPr/>
        </p:nvCxnSpPr>
        <p:spPr>
          <a:xfrm>
            <a:off x="4295800" y="720080"/>
            <a:ext cx="7344816" cy="3861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0A1E9F58-8842-BCFF-0376-E2BF9AB41345}"/>
              </a:ext>
            </a:extLst>
          </p:cNvPr>
          <p:cNvCxnSpPr>
            <a:cxnSpLocks/>
          </p:cNvCxnSpPr>
          <p:nvPr/>
        </p:nvCxnSpPr>
        <p:spPr>
          <a:xfrm>
            <a:off x="4439816" y="720080"/>
            <a:ext cx="576064" cy="4320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7817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EF493-92B9-A284-28AC-73818F5C81A7}"/>
            </a:ext>
          </a:extLst>
        </p:cNvPr>
        <p:cNvGrpSpPr/>
        <p:nvPr/>
      </p:nvGrpSpPr>
      <p:grpSpPr>
        <a:xfrm>
          <a:off x="0" y="0"/>
          <a:ext cx="0" cy="0"/>
          <a:chOff x="0" y="0"/>
          <a:chExt cx="0" cy="0"/>
        </a:xfrm>
      </p:grpSpPr>
      <p:sp>
        <p:nvSpPr>
          <p:cNvPr id="11" name="Slide Number Placeholder 2">
            <a:extLst>
              <a:ext uri="{FF2B5EF4-FFF2-40B4-BE49-F238E27FC236}">
                <a16:creationId xmlns:a16="http://schemas.microsoft.com/office/drawing/2014/main" id="{55094978-2FAB-EDA8-BDE2-7BE4BB40FE55}"/>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32</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E0DAE168-253A-7995-C601-87CE2BDD71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pic>
        <p:nvPicPr>
          <p:cNvPr id="3" name="图片 2">
            <a:extLst>
              <a:ext uri="{FF2B5EF4-FFF2-40B4-BE49-F238E27FC236}">
                <a16:creationId xmlns:a16="http://schemas.microsoft.com/office/drawing/2014/main" id="{B87CE6CF-A696-1770-6A9D-EB27B8DCEA1F}"/>
              </a:ext>
            </a:extLst>
          </p:cNvPr>
          <p:cNvPicPr>
            <a:picLocks noChangeAspect="1"/>
          </p:cNvPicPr>
          <p:nvPr/>
        </p:nvPicPr>
        <p:blipFill>
          <a:blip r:embed="rId3"/>
          <a:stretch>
            <a:fillRect/>
          </a:stretch>
        </p:blipFill>
        <p:spPr>
          <a:xfrm>
            <a:off x="3719736" y="0"/>
            <a:ext cx="4074912" cy="3888433"/>
          </a:xfrm>
          <a:prstGeom prst="rect">
            <a:avLst/>
          </a:prstGeom>
        </p:spPr>
      </p:pic>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7C1FF974-6665-C054-6002-C55B1E22A908}"/>
                  </a:ext>
                </a:extLst>
              </p:cNvPr>
              <p:cNvSpPr txBox="1"/>
              <p:nvPr/>
            </p:nvSpPr>
            <p:spPr>
              <a:xfrm>
                <a:off x="0" y="3853955"/>
                <a:ext cx="12192000" cy="1200329"/>
              </a:xfrm>
              <a:prstGeom prst="rect">
                <a:avLst/>
              </a:prstGeom>
              <a:noFill/>
            </p:spPr>
            <p:txBody>
              <a:bodyPr wrap="square">
                <a:spAutoFit/>
              </a:bodyPr>
              <a:lstStyle/>
              <a:p>
                <a:pPr marL="285750" indent="-285750">
                  <a:buFont typeface="Arial" panose="020B0604020202020204" pitchFamily="34" charset="0"/>
                  <a:buChar char="•"/>
                </a:pPr>
                <a:r>
                  <a:rPr lang="zh-CN" altLang="en-US" dirty="0"/>
                  <a:t>传统线偏振相机</a:t>
                </a:r>
                <a:r>
                  <a:rPr lang="zh-CN" altLang="zh-CN" dirty="0"/>
                  <a:t>只进行“非完整 Stokes 测量”，缺少</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𝑆</m:t>
                        </m:r>
                      </m:e>
                      <m:sub>
                        <m:r>
                          <a:rPr lang="en-US" altLang="zh-CN" b="0" i="1" dirty="0" smtClean="0">
                            <a:latin typeface="Cambria Math" panose="02040503050406030204" pitchFamily="18" charset="0"/>
                          </a:rPr>
                          <m:t>3</m:t>
                        </m:r>
                      </m:sub>
                    </m:sSub>
                  </m:oMath>
                </a14:m>
                <a:r>
                  <a:rPr lang="zh-CN" altLang="zh-CN" dirty="0"/>
                  <a:t>信息</a:t>
                </a:r>
                <a:r>
                  <a:rPr lang="zh-CN" altLang="en-US" dirty="0"/>
                  <a:t>，难以对偏振图案进行复原，但是全斯托克斯测量就可以很好地将图案进行复原，作者在全斯托克斯测量及基础上以</a:t>
                </a:r>
                <a:r>
                  <a:rPr lang="en-US" altLang="zh-CN" dirty="0"/>
                  <a:t>RMSE&lt;0.15</a:t>
                </a:r>
                <a:r>
                  <a:rPr lang="zh-CN" altLang="en-US" dirty="0"/>
                  <a:t>为标准探究了宏模最小的像素宽度和一个微模最少包含的像素数目，最终得到了宏模长宽</a:t>
                </a:r>
                <a:r>
                  <a:rPr lang="en-US" altLang="zh-CN" dirty="0"/>
                  <a:t>25</a:t>
                </a:r>
                <a:r>
                  <a:rPr lang="zh-CN" altLang="en-US" dirty="0"/>
                  <a:t>个像素，一个宏模包含</a:t>
                </a:r>
                <a:r>
                  <a:rPr lang="en-US" altLang="zh-CN" dirty="0"/>
                  <a:t>25</a:t>
                </a:r>
                <a:r>
                  <a:rPr lang="zh-CN" altLang="en-US" dirty="0"/>
                  <a:t>个微模为最佳平衡点，后续的实际应用演示都以此为标准。</a:t>
                </a:r>
                <a:endParaRPr lang="zh-CN" altLang="zh-CN" dirty="0"/>
              </a:p>
            </p:txBody>
          </p:sp>
        </mc:Choice>
        <mc:Fallback>
          <p:sp>
            <p:nvSpPr>
              <p:cNvPr id="10" name="文本框 9">
                <a:extLst>
                  <a:ext uri="{FF2B5EF4-FFF2-40B4-BE49-F238E27FC236}">
                    <a16:creationId xmlns:a16="http://schemas.microsoft.com/office/drawing/2014/main" id="{7C1FF974-6665-C054-6002-C55B1E22A908}"/>
                  </a:ext>
                </a:extLst>
              </p:cNvPr>
              <p:cNvSpPr txBox="1">
                <a:spLocks noRot="1" noChangeAspect="1" noMove="1" noResize="1" noEditPoints="1" noAdjustHandles="1" noChangeArrowheads="1" noChangeShapeType="1" noTextEdit="1"/>
              </p:cNvSpPr>
              <p:nvPr/>
            </p:nvSpPr>
            <p:spPr>
              <a:xfrm>
                <a:off x="0" y="3853955"/>
                <a:ext cx="12192000" cy="1200329"/>
              </a:xfrm>
              <a:prstGeom prst="rect">
                <a:avLst/>
              </a:prstGeom>
              <a:blipFill>
                <a:blip r:embed="rId4"/>
                <a:stretch>
                  <a:fillRect l="-300" t="-2538" r="-250" b="-71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878244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622EC-E4C9-F539-923F-D9E91A9620BD}"/>
            </a:ext>
          </a:extLst>
        </p:cNvPr>
        <p:cNvGrpSpPr/>
        <p:nvPr/>
      </p:nvGrpSpPr>
      <p:grpSpPr>
        <a:xfrm>
          <a:off x="0" y="0"/>
          <a:ext cx="0" cy="0"/>
          <a:chOff x="0" y="0"/>
          <a:chExt cx="0" cy="0"/>
        </a:xfrm>
      </p:grpSpPr>
      <p:sp>
        <p:nvSpPr>
          <p:cNvPr id="11" name="Slide Number Placeholder 2">
            <a:extLst>
              <a:ext uri="{FF2B5EF4-FFF2-40B4-BE49-F238E27FC236}">
                <a16:creationId xmlns:a16="http://schemas.microsoft.com/office/drawing/2014/main" id="{E4561026-455E-8929-A54C-0D8EE68F1656}"/>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33</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0F95EC81-75B1-5A8C-D6A1-63977160B2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pic>
        <p:nvPicPr>
          <p:cNvPr id="6" name="图片 5">
            <a:extLst>
              <a:ext uri="{FF2B5EF4-FFF2-40B4-BE49-F238E27FC236}">
                <a16:creationId xmlns:a16="http://schemas.microsoft.com/office/drawing/2014/main" id="{71F6AFDF-3165-E086-D4A6-CD5E9ECE3880}"/>
              </a:ext>
            </a:extLst>
          </p:cNvPr>
          <p:cNvPicPr>
            <a:picLocks noChangeAspect="1"/>
          </p:cNvPicPr>
          <p:nvPr/>
        </p:nvPicPr>
        <p:blipFill>
          <a:blip r:embed="rId3"/>
          <a:stretch>
            <a:fillRect/>
          </a:stretch>
        </p:blipFill>
        <p:spPr>
          <a:xfrm>
            <a:off x="3647728" y="0"/>
            <a:ext cx="4896544" cy="4258229"/>
          </a:xfrm>
          <a:prstGeom prst="rect">
            <a:avLst/>
          </a:prstGeom>
        </p:spPr>
      </p:pic>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BBF714C8-026B-F600-FC22-C2BC2E3E63F3}"/>
                  </a:ext>
                </a:extLst>
              </p:cNvPr>
              <p:cNvSpPr txBox="1"/>
              <p:nvPr/>
            </p:nvSpPr>
            <p:spPr>
              <a:xfrm>
                <a:off x="0" y="4365104"/>
                <a:ext cx="12192000" cy="2049600"/>
              </a:xfrm>
              <a:prstGeom prst="rect">
                <a:avLst/>
              </a:prstGeom>
              <a:noFill/>
            </p:spPr>
            <p:txBody>
              <a:bodyPr wrap="square">
                <a:spAutoFit/>
              </a:bodyPr>
              <a:lstStyle/>
              <a:p>
                <a:pPr marL="285750" indent="-285750">
                  <a:buFont typeface="Arial" panose="020B0604020202020204" pitchFamily="34" charset="0"/>
                  <a:buChar char="•"/>
                </a:pPr>
                <a:r>
                  <a:rPr lang="en-US" altLang="zh-CN" dirty="0"/>
                  <a:t>RGB</a:t>
                </a:r>
                <a:r>
                  <a:rPr lang="zh-CN" altLang="en-US" dirty="0"/>
                  <a:t>空间三个自由度刚好对应斯托克斯球的三个自由度，通过线性变换就可以把</a:t>
                </a:r>
                <a:r>
                  <a:rPr lang="en-US" altLang="zh-CN" dirty="0"/>
                  <a:t>RGB</a:t>
                </a:r>
                <a:r>
                  <a:rPr lang="zh-CN" altLang="en-US" dirty="0"/>
                  <a:t>信息映射到斯托克斯参数上</a:t>
                </a:r>
                <a:endParaRPr lang="en-US" altLang="zh-CN" dirty="0"/>
              </a:p>
              <a:p>
                <a14:m>
                  <m:oMathPara xmlns:m="http://schemas.openxmlformats.org/officeDocument/2006/math">
                    <m:o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2</m:t>
                          </m:r>
                          <m:r>
                            <a:rPr lang="en-US" altLang="zh-CN" i="1">
                              <a:latin typeface="Cambria Math" panose="02040503050406030204" pitchFamily="18" charset="0"/>
                            </a:rPr>
                            <m:t>𝑅</m:t>
                          </m:r>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3</m:t>
                              </m:r>
                            </m:e>
                          </m:rad>
                        </m:den>
                      </m:f>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2</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2</m:t>
                          </m:r>
                          <m:r>
                            <a:rPr lang="en-US" altLang="zh-CN" i="1">
                              <a:latin typeface="Cambria Math" panose="02040503050406030204" pitchFamily="18" charset="0"/>
                            </a:rPr>
                            <m:t>𝐺</m:t>
                          </m:r>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3</m:t>
                              </m:r>
                            </m:e>
                          </m:rad>
                        </m:den>
                      </m:f>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2</m:t>
                          </m:r>
                          <m:r>
                            <a:rPr lang="en-US" altLang="zh-CN" i="1">
                              <a:latin typeface="Cambria Math" panose="02040503050406030204" pitchFamily="18" charset="0"/>
                            </a:rPr>
                            <m:t>𝐵</m:t>
                          </m:r>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3</m:t>
                              </m:r>
                            </m:e>
                          </m:rad>
                        </m:den>
                      </m:f>
                      <m:r>
                        <a:rPr lang="en-US" altLang="zh-CN" i="1">
                          <a:latin typeface="Cambria Math" panose="02040503050406030204" pitchFamily="18" charset="0"/>
                        </a:rPr>
                        <m:t>, </m:t>
                      </m:r>
                      <m:r>
                        <a:rPr lang="en-US" altLang="zh-CN" i="1">
                          <a:latin typeface="Cambria Math" panose="02040503050406030204" pitchFamily="18" charset="0"/>
                        </a:rPr>
                        <m:t>𝑅</m:t>
                      </m:r>
                      <m:r>
                        <a:rPr lang="en-US" altLang="zh-CN" i="1">
                          <a:latin typeface="Cambria Math" panose="02040503050406030204" pitchFamily="18" charset="0"/>
                        </a:rPr>
                        <m:t>,</m:t>
                      </m:r>
                      <m:r>
                        <a:rPr lang="en-US" altLang="zh-CN" i="1">
                          <a:latin typeface="Cambria Math" panose="02040503050406030204" pitchFamily="18" charset="0"/>
                        </a:rPr>
                        <m:t>𝐺</m:t>
                      </m:r>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0,1</m:t>
                          </m:r>
                        </m:e>
                      </m:d>
                    </m:oMath>
                  </m:oMathPara>
                </a14:m>
                <a:endParaRPr lang="en-US" altLang="zh-CN" dirty="0"/>
              </a:p>
              <a:p>
                <a:r>
                  <a:rPr lang="zh-CN" altLang="en-US" dirty="0"/>
                  <a:t>对于将</a:t>
                </a:r>
                <a:r>
                  <a:rPr lang="en-US" altLang="zh-CN" dirty="0"/>
                  <a:t>RGB</a:t>
                </a:r>
                <a:r>
                  <a:rPr lang="zh-CN" altLang="en-US" dirty="0"/>
                  <a:t>转换成了</a:t>
                </a:r>
                <a:r>
                  <a:rPr lang="en-US" altLang="zh-CN" dirty="0"/>
                  <a:t>DOP</a:t>
                </a:r>
                <a:r>
                  <a:rPr lang="zh-CN" altLang="en-US" dirty="0"/>
                  <a:t>的图像，作者利用三个毛玻璃片，将原本的光变成了杂散斑，提高了特征点数目，在最终光学神经网络</a:t>
                </a:r>
                <a:r>
                  <a:rPr lang="en-US" altLang="zh-CN" dirty="0"/>
                  <a:t>PNN</a:t>
                </a:r>
                <a:r>
                  <a:rPr lang="zh-CN" altLang="en-US" dirty="0"/>
                  <a:t>的分类结果测试中，得到了</a:t>
                </a:r>
                <a:r>
                  <a:rPr lang="en-US" altLang="zh-CN" dirty="0"/>
                  <a:t>50.4%</a:t>
                </a:r>
                <a:r>
                  <a:rPr lang="zh-CN" altLang="en-US" dirty="0"/>
                  <a:t>的正确率，相比于传统灰度编码的</a:t>
                </a:r>
                <a:r>
                  <a:rPr lang="en-US" altLang="zh-CN" dirty="0"/>
                  <a:t>43.3%</a:t>
                </a:r>
                <a:r>
                  <a:rPr lang="zh-CN" altLang="en-US" dirty="0"/>
                  <a:t>正确率来说取得提升</a:t>
                </a:r>
                <a:endParaRPr lang="en-US" altLang="zh-CN" dirty="0"/>
              </a:p>
              <a:p>
                <a:endParaRPr lang="en-US" altLang="zh-CN" dirty="0"/>
              </a:p>
              <a:p>
                <a:r>
                  <a:rPr lang="zh-CN" altLang="en-US" dirty="0"/>
                  <a:t>（感觉这一块内容不行，正确率有点低，提升不明显）</a:t>
                </a:r>
                <a:endParaRPr lang="zh-CN" altLang="zh-CN" dirty="0"/>
              </a:p>
            </p:txBody>
          </p:sp>
        </mc:Choice>
        <mc:Fallback>
          <p:sp>
            <p:nvSpPr>
              <p:cNvPr id="8" name="文本框 7">
                <a:extLst>
                  <a:ext uri="{FF2B5EF4-FFF2-40B4-BE49-F238E27FC236}">
                    <a16:creationId xmlns:a16="http://schemas.microsoft.com/office/drawing/2014/main" id="{BBF714C8-026B-F600-FC22-C2BC2E3E63F3}"/>
                  </a:ext>
                </a:extLst>
              </p:cNvPr>
              <p:cNvSpPr txBox="1">
                <a:spLocks noRot="1" noChangeAspect="1" noMove="1" noResize="1" noEditPoints="1" noAdjustHandles="1" noChangeArrowheads="1" noChangeShapeType="1" noTextEdit="1"/>
              </p:cNvSpPr>
              <p:nvPr/>
            </p:nvSpPr>
            <p:spPr>
              <a:xfrm>
                <a:off x="0" y="4365104"/>
                <a:ext cx="12192000" cy="2049600"/>
              </a:xfrm>
              <a:prstGeom prst="rect">
                <a:avLst/>
              </a:prstGeom>
              <a:blipFill>
                <a:blip r:embed="rId4"/>
                <a:stretch>
                  <a:fillRect l="-400" t="-1488" b="-38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042282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0C302-DE72-CC88-579E-F80A37C6F568}"/>
            </a:ext>
          </a:extLst>
        </p:cNvPr>
        <p:cNvGrpSpPr/>
        <p:nvPr/>
      </p:nvGrpSpPr>
      <p:grpSpPr>
        <a:xfrm>
          <a:off x="0" y="0"/>
          <a:ext cx="0" cy="0"/>
          <a:chOff x="0" y="0"/>
          <a:chExt cx="0" cy="0"/>
        </a:xfrm>
      </p:grpSpPr>
      <p:sp>
        <p:nvSpPr>
          <p:cNvPr id="11" name="Slide Number Placeholder 2">
            <a:extLst>
              <a:ext uri="{FF2B5EF4-FFF2-40B4-BE49-F238E27FC236}">
                <a16:creationId xmlns:a16="http://schemas.microsoft.com/office/drawing/2014/main" id="{64EEEA80-4087-C199-3B84-3B9740B01A18}"/>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34</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C405AF75-6CE0-7CE1-20B6-3A6AC25F12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pic>
        <p:nvPicPr>
          <p:cNvPr id="6" name="图片 5">
            <a:extLst>
              <a:ext uri="{FF2B5EF4-FFF2-40B4-BE49-F238E27FC236}">
                <a16:creationId xmlns:a16="http://schemas.microsoft.com/office/drawing/2014/main" id="{2908D385-0699-48E7-C802-688FA4D1A922}"/>
              </a:ext>
            </a:extLst>
          </p:cNvPr>
          <p:cNvPicPr>
            <a:picLocks noChangeAspect="1"/>
          </p:cNvPicPr>
          <p:nvPr/>
        </p:nvPicPr>
        <p:blipFill>
          <a:blip r:embed="rId3"/>
          <a:stretch>
            <a:fillRect/>
          </a:stretch>
        </p:blipFill>
        <p:spPr>
          <a:xfrm>
            <a:off x="3575720" y="20814"/>
            <a:ext cx="4993602" cy="4277153"/>
          </a:xfrm>
          <a:prstGeom prst="rect">
            <a:avLst/>
          </a:prstGeom>
        </p:spPr>
      </p:pic>
      <p:sp>
        <p:nvSpPr>
          <p:cNvPr id="8" name="文本框 7">
            <a:extLst>
              <a:ext uri="{FF2B5EF4-FFF2-40B4-BE49-F238E27FC236}">
                <a16:creationId xmlns:a16="http://schemas.microsoft.com/office/drawing/2014/main" id="{AF9E26B1-39B0-B35D-7FB1-EA4C093EAE2D}"/>
              </a:ext>
            </a:extLst>
          </p:cNvPr>
          <p:cNvSpPr txBox="1"/>
          <p:nvPr/>
        </p:nvSpPr>
        <p:spPr>
          <a:xfrm>
            <a:off x="0" y="4365104"/>
            <a:ext cx="12192000" cy="2031325"/>
          </a:xfrm>
          <a:prstGeom prst="rect">
            <a:avLst/>
          </a:prstGeom>
          <a:noFill/>
        </p:spPr>
        <p:txBody>
          <a:bodyPr wrap="square">
            <a:spAutoFit/>
          </a:bodyPr>
          <a:lstStyle/>
          <a:p>
            <a:pPr marL="285750" indent="-285750">
              <a:buFont typeface="Arial" panose="020B0604020202020204" pitchFamily="34" charset="0"/>
              <a:buChar char="•"/>
            </a:pPr>
            <a:r>
              <a:rPr lang="zh-CN" altLang="en-US" dirty="0"/>
              <a:t>通过</a:t>
            </a:r>
            <a:r>
              <a:rPr lang="en-US" altLang="zh-CN" dirty="0"/>
              <a:t>RGB</a:t>
            </a:r>
            <a:r>
              <a:rPr lang="zh-CN" altLang="en-US" dirty="0"/>
              <a:t>映射对</a:t>
            </a:r>
            <a:r>
              <a:rPr lang="en-US" altLang="zh-CN" dirty="0"/>
              <a:t>32×32</a:t>
            </a:r>
            <a:r>
              <a:rPr lang="zh-CN" altLang="en-US" dirty="0"/>
              <a:t>的图像进行偏振加密，再由深度神经网络</a:t>
            </a:r>
            <a:r>
              <a:rPr lang="en-US" altLang="zh-CN" dirty="0"/>
              <a:t>DNN</a:t>
            </a:r>
            <a:r>
              <a:rPr lang="zh-CN" altLang="en-US" dirty="0"/>
              <a:t>进行解密，最终能够解密出原本的图像信息。</a:t>
            </a:r>
            <a:endParaRPr lang="en-US" altLang="zh-CN" dirty="0"/>
          </a:p>
          <a:p>
            <a:pPr lvl="0"/>
            <a:r>
              <a:rPr lang="zh-CN" altLang="en-US" dirty="0"/>
              <a:t>作者进行了信息攻击测试：</a:t>
            </a:r>
            <a:endParaRPr lang="en-US" altLang="zh-CN" dirty="0"/>
          </a:p>
          <a:p>
            <a:pPr lvl="0"/>
            <a:r>
              <a:rPr lang="zh-CN" altLang="zh-CN" dirty="0"/>
              <a:t>攻击者拿到了正确的散斑密文</a:t>
            </a:r>
            <a:r>
              <a:rPr lang="zh-CN" altLang="en-US" dirty="0"/>
              <a:t>，</a:t>
            </a:r>
            <a:r>
              <a:rPr lang="zh-CN" altLang="zh-CN" dirty="0"/>
              <a:t>但只复制了部分 DNN 输出层权重</a:t>
            </a:r>
            <a:r>
              <a:rPr lang="zh-CN" altLang="en-US" dirty="0"/>
              <a:t>，最终几乎解码不出原本的图像信息</a:t>
            </a:r>
            <a:endParaRPr lang="en-US" altLang="zh-CN" dirty="0"/>
          </a:p>
          <a:p>
            <a:r>
              <a:rPr lang="zh-CN" altLang="zh-CN" dirty="0"/>
              <a:t>攻击者完整复制了 DNN</a:t>
            </a:r>
            <a:r>
              <a:rPr lang="zh-CN" altLang="en-US" dirty="0"/>
              <a:t>，</a:t>
            </a:r>
            <a:r>
              <a:rPr lang="zh-CN" altLang="zh-CN" dirty="0"/>
              <a:t>但截获的散斑相对于原相机位置发生了几个像素的平移</a:t>
            </a:r>
            <a:r>
              <a:rPr lang="zh-CN" altLang="en-US" dirty="0"/>
              <a:t>，最终几乎解码不出原本的图像信息</a:t>
            </a:r>
            <a:endParaRPr lang="en-US" altLang="zh-CN" dirty="0"/>
          </a:p>
          <a:p>
            <a:r>
              <a:rPr lang="zh-CN" altLang="en-US" dirty="0"/>
              <a:t>最终得出结论：该系统具有很好的安全性</a:t>
            </a:r>
            <a:endParaRPr lang="en-US" altLang="zh-CN" dirty="0"/>
          </a:p>
          <a:p>
            <a:endParaRPr lang="en-US" altLang="zh-CN" dirty="0"/>
          </a:p>
          <a:p>
            <a:r>
              <a:rPr lang="zh-CN" altLang="en-US" dirty="0"/>
              <a:t>理论很有新意，但是实际应用感觉有点水，</a:t>
            </a:r>
            <a:r>
              <a:rPr lang="zh-CN" altLang="zh-CN" dirty="0"/>
              <a:t>宽而不深</a:t>
            </a:r>
            <a:r>
              <a:rPr lang="zh-CN" altLang="en-US" dirty="0"/>
              <a:t>，讲故事没讲好</a:t>
            </a:r>
            <a:endParaRPr lang="en-US" altLang="zh-CN" dirty="0"/>
          </a:p>
        </p:txBody>
      </p:sp>
    </p:spTree>
    <p:extLst>
      <p:ext uri="{BB962C8B-B14F-4D97-AF65-F5344CB8AC3E}">
        <p14:creationId xmlns:p14="http://schemas.microsoft.com/office/powerpoint/2010/main" val="32343189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06D7A-D872-DCD0-1C50-DA668656FB68}"/>
            </a:ext>
          </a:extLst>
        </p:cNvPr>
        <p:cNvGrpSpPr/>
        <p:nvPr/>
      </p:nvGrpSpPr>
      <p:grpSpPr>
        <a:xfrm>
          <a:off x="0" y="0"/>
          <a:ext cx="0" cy="0"/>
          <a:chOff x="0" y="0"/>
          <a:chExt cx="0" cy="0"/>
        </a:xfrm>
      </p:grpSpPr>
      <p:sp>
        <p:nvSpPr>
          <p:cNvPr id="11" name="Slide Number Placeholder 2">
            <a:extLst>
              <a:ext uri="{FF2B5EF4-FFF2-40B4-BE49-F238E27FC236}">
                <a16:creationId xmlns:a16="http://schemas.microsoft.com/office/drawing/2014/main" id="{12FF108D-44D6-1A61-27CC-C8FF45FF150A}"/>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35</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2CAA1BBB-D014-66B9-B338-32B51586F5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cxnSp>
        <p:nvCxnSpPr>
          <p:cNvPr id="4" name="Straight Connector 4">
            <a:extLst>
              <a:ext uri="{FF2B5EF4-FFF2-40B4-BE49-F238E27FC236}">
                <a16:creationId xmlns:a16="http://schemas.microsoft.com/office/drawing/2014/main" id="{9E45D07F-50C5-9C8A-FE89-350D8E6EF149}"/>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6" name="文本框 5">
            <a:extLst>
              <a:ext uri="{FF2B5EF4-FFF2-40B4-BE49-F238E27FC236}">
                <a16:creationId xmlns:a16="http://schemas.microsoft.com/office/drawing/2014/main" id="{D7754F5C-6D02-60CB-800F-76E46553AD7C}"/>
              </a:ext>
            </a:extLst>
          </p:cNvPr>
          <p:cNvSpPr txBox="1"/>
          <p:nvPr/>
        </p:nvSpPr>
        <p:spPr>
          <a:xfrm>
            <a:off x="674729" y="68792"/>
            <a:ext cx="11424592" cy="369332"/>
          </a:xfrm>
          <a:prstGeom prst="rect">
            <a:avLst/>
          </a:prstGeom>
          <a:noFill/>
        </p:spPr>
        <p:txBody>
          <a:bodyPr wrap="square" rtlCol="0">
            <a:spAutoFit/>
          </a:bodyPr>
          <a:lstStyle/>
          <a:p>
            <a:r>
              <a:rPr lang="zh-CN" altLang="en-US" dirty="0"/>
              <a:t>启发</a:t>
            </a:r>
          </a:p>
        </p:txBody>
      </p:sp>
      <p:sp>
        <p:nvSpPr>
          <p:cNvPr id="7" name="文本框 6">
            <a:extLst>
              <a:ext uri="{FF2B5EF4-FFF2-40B4-BE49-F238E27FC236}">
                <a16:creationId xmlns:a16="http://schemas.microsoft.com/office/drawing/2014/main" id="{3770E474-43D4-4969-57B2-9A35C61CA45D}"/>
              </a:ext>
            </a:extLst>
          </p:cNvPr>
          <p:cNvSpPr txBox="1"/>
          <p:nvPr/>
        </p:nvSpPr>
        <p:spPr>
          <a:xfrm>
            <a:off x="119336" y="584013"/>
            <a:ext cx="11293476" cy="369332"/>
          </a:xfrm>
          <a:prstGeom prst="rect">
            <a:avLst/>
          </a:prstGeom>
          <a:noFill/>
        </p:spPr>
        <p:txBody>
          <a:bodyPr wrap="none" rtlCol="0">
            <a:spAutoFit/>
          </a:bodyPr>
          <a:lstStyle/>
          <a:p>
            <a:r>
              <a:rPr lang="en-US" altLang="zh-CN" dirty="0"/>
              <a:t>SLM</a:t>
            </a:r>
            <a:r>
              <a:rPr lang="zh-CN" altLang="en-US" dirty="0"/>
              <a:t>能调控相位差来改变偏振态，</a:t>
            </a:r>
            <a:r>
              <a:rPr lang="en-US" altLang="zh-CN" dirty="0"/>
              <a:t>DMD</a:t>
            </a:r>
            <a:r>
              <a:rPr lang="zh-CN" altLang="en-US" dirty="0"/>
              <a:t>能改变幅度和相位，能不能也通过微模和宏模的方式来进行</a:t>
            </a:r>
            <a:r>
              <a:rPr lang="en-US" altLang="zh-CN" dirty="0"/>
              <a:t>RGB</a:t>
            </a:r>
            <a:r>
              <a:rPr lang="zh-CN" altLang="en-US" dirty="0"/>
              <a:t>编码？</a:t>
            </a:r>
          </a:p>
        </p:txBody>
      </p:sp>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135A72D0-6B9B-C262-2E32-79DEE86A9674}"/>
                  </a:ext>
                </a:extLst>
              </p:cNvPr>
              <p:cNvSpPr txBox="1"/>
              <p:nvPr/>
            </p:nvSpPr>
            <p:spPr>
              <a:xfrm>
                <a:off x="152553" y="1060170"/>
                <a:ext cx="11946768" cy="1477328"/>
              </a:xfrm>
              <a:prstGeom prst="rect">
                <a:avLst/>
              </a:prstGeom>
              <a:noFill/>
            </p:spPr>
            <p:txBody>
              <a:bodyPr wrap="square" rtlCol="0">
                <a:spAutoFit/>
              </a:bodyPr>
              <a:lstStyle/>
              <a:p>
                <a:r>
                  <a:rPr lang="zh-CN" altLang="en-US" dirty="0"/>
                  <a:t>文章：</a:t>
                </a:r>
                <a:r>
                  <a:rPr lang="en-US" altLang="zh-CN" dirty="0" err="1"/>
                  <a:t>Superpixel</a:t>
                </a:r>
                <a:r>
                  <a:rPr lang="en-US" altLang="zh-CN" dirty="0"/>
                  <a:t>-based spatial amplitude and phase modulation using a digital micromirror  device</a:t>
                </a:r>
              </a:p>
              <a:p>
                <a:r>
                  <a:rPr lang="zh-CN" altLang="en-US" dirty="0"/>
                  <a:t>作者：</a:t>
                </a:r>
                <a:r>
                  <a:rPr lang="zh-CN" altLang="zh-CN" dirty="0"/>
                  <a:t>Goorden et al., Optics Express 22, 17999–18009 (2014); 2014 JIF = 3.488.</a:t>
                </a:r>
                <a:endParaRPr lang="en-US" altLang="zh-CN" dirty="0"/>
              </a:p>
              <a:p>
                <a:r>
                  <a:rPr lang="zh-CN" altLang="en-US" dirty="0"/>
                  <a:t>该文章通过把</a:t>
                </a:r>
                <a:r>
                  <a:rPr lang="zh-CN" altLang="zh-CN" dirty="0"/>
                  <a:t>4</a:t>
                </a:r>
                <a:r>
                  <a:rPr lang="en-US" altLang="zh-CN" dirty="0"/>
                  <a:t>×</a:t>
                </a:r>
                <a:r>
                  <a:rPr lang="zh-CN" altLang="zh-CN" dirty="0"/>
                  <a:t>4个微镜组成一个超像素，通过偏轴 4f 系统使16个微镜具有均匀分布于 0</a:t>
                </a:r>
                <a:r>
                  <a:rPr lang="en-US" altLang="zh-CN" dirty="0"/>
                  <a:t>-2</a:t>
                </a:r>
                <a14:m>
                  <m:oMath xmlns:m="http://schemas.openxmlformats.org/officeDocument/2006/math">
                    <m:r>
                      <a:rPr lang="zh-CN" altLang="en-US" i="1" smtClean="0">
                        <a:latin typeface="Cambria Math" panose="02040503050406030204" pitchFamily="18" charset="0"/>
                      </a:rPr>
                      <m:t>𝜋</m:t>
                    </m:r>
                  </m:oMath>
                </a14:m>
                <a:r>
                  <a:rPr lang="zh-CN" altLang="zh-CN" dirty="0"/>
                  <a:t> 的相位响应，再选择若干微镜打开，使复平面上的矢量相加得到目标复振幅。</a:t>
                </a:r>
                <a:endParaRPr lang="en-US" altLang="zh-CN" dirty="0"/>
              </a:p>
              <a:p>
                <a:r>
                  <a:rPr lang="zh-CN" altLang="en-US" dirty="0"/>
                  <a:t>结论：通过</a:t>
                </a:r>
                <a:r>
                  <a:rPr lang="en-US" altLang="zh-CN" dirty="0"/>
                  <a:t>DMD</a:t>
                </a:r>
                <a:r>
                  <a:rPr lang="zh-CN" altLang="en-US" dirty="0"/>
                  <a:t>可以控制光的幅度和相位</a:t>
                </a:r>
              </a:p>
            </p:txBody>
          </p:sp>
        </mc:Choice>
        <mc:Fallback>
          <p:sp>
            <p:nvSpPr>
              <p:cNvPr id="9" name="文本框 8">
                <a:extLst>
                  <a:ext uri="{FF2B5EF4-FFF2-40B4-BE49-F238E27FC236}">
                    <a16:creationId xmlns:a16="http://schemas.microsoft.com/office/drawing/2014/main" id="{135A72D0-6B9B-C262-2E32-79DEE86A9674}"/>
                  </a:ext>
                </a:extLst>
              </p:cNvPr>
              <p:cNvSpPr txBox="1">
                <a:spLocks noRot="1" noChangeAspect="1" noMove="1" noResize="1" noEditPoints="1" noAdjustHandles="1" noChangeArrowheads="1" noChangeShapeType="1" noTextEdit="1"/>
              </p:cNvSpPr>
              <p:nvPr/>
            </p:nvSpPr>
            <p:spPr>
              <a:xfrm>
                <a:off x="152553" y="1060170"/>
                <a:ext cx="11946768" cy="1477328"/>
              </a:xfrm>
              <a:prstGeom prst="rect">
                <a:avLst/>
              </a:prstGeom>
              <a:blipFill>
                <a:blip r:embed="rId3"/>
                <a:stretch>
                  <a:fillRect l="-408" t="-2479" b="-57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09231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SLIDE_COUNT" val="2"/>
  <p:tag name="ISPRING_PRESENTATION_TITLE" val="PowerPoint 演示文稿01"/>
  <p:tag name="KSO_WPP_MARK_KEY" val="6d347496-bef3-4ed8-be83-f3ee49e2f4f7"/>
  <p:tag name="COMMONDATA" val="eyJoZGlkIjoiY2U5NjU1M2FjYjViMmE5OTQyZDg4Y2Q1ZGRlODhlOGYifQ=="/>
</p:tagLst>
</file>

<file path=ppt/theme/theme1.xml><?xml version="1.0" encoding="utf-8"?>
<a:theme xmlns:a="http://schemas.openxmlformats.org/drawingml/2006/main" name="Office 主题">
  <a:themeElements>
    <a:clrScheme name="蓝色学术风主题配色">
      <a:dk1>
        <a:srgbClr val="262626"/>
      </a:dk1>
      <a:lt1>
        <a:srgbClr val="003760"/>
      </a:lt1>
      <a:dk2>
        <a:srgbClr val="EEECE1"/>
      </a:dk2>
      <a:lt2>
        <a:srgbClr val="EEECE1"/>
      </a:lt2>
      <a:accent1>
        <a:srgbClr val="003760"/>
      </a:accent1>
      <a:accent2>
        <a:srgbClr val="92CDDC"/>
      </a:accent2>
      <a:accent3>
        <a:srgbClr val="00B0F0"/>
      </a:accent3>
      <a:accent4>
        <a:srgbClr val="6565FF"/>
      </a:accent4>
      <a:accent5>
        <a:srgbClr val="4BACC6"/>
      </a:accent5>
      <a:accent6>
        <a:srgbClr val="002060"/>
      </a:accent6>
      <a:hlink>
        <a:srgbClr val="003760"/>
      </a:hlink>
      <a:folHlink>
        <a:srgbClr val="7F7F7F"/>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蓝色学术风主题配色">
    <a:dk1>
      <a:srgbClr val="262626"/>
    </a:dk1>
    <a:lt1>
      <a:srgbClr val="003760"/>
    </a:lt1>
    <a:dk2>
      <a:srgbClr val="EEECE1"/>
    </a:dk2>
    <a:lt2>
      <a:srgbClr val="EEECE1"/>
    </a:lt2>
    <a:accent1>
      <a:srgbClr val="003760"/>
    </a:accent1>
    <a:accent2>
      <a:srgbClr val="92CDDC"/>
    </a:accent2>
    <a:accent3>
      <a:srgbClr val="00B0F0"/>
    </a:accent3>
    <a:accent4>
      <a:srgbClr val="6565FF"/>
    </a:accent4>
    <a:accent5>
      <a:srgbClr val="4BACC6"/>
    </a:accent5>
    <a:accent6>
      <a:srgbClr val="002060"/>
    </a:accent6>
    <a:hlink>
      <a:srgbClr val="003760"/>
    </a:hlink>
    <a:folHlink>
      <a:srgbClr val="7F7F7F"/>
    </a:folHlink>
  </a:clrScheme>
</a:themeOverride>
</file>

<file path=docProps/app.xml><?xml version="1.0" encoding="utf-8"?>
<Properties xmlns="http://schemas.openxmlformats.org/officeDocument/2006/extended-properties" xmlns:vt="http://schemas.openxmlformats.org/officeDocument/2006/docPropsVTypes">
  <TotalTime>4495</TotalTime>
  <Words>8036</Words>
  <Application>Microsoft Office PowerPoint</Application>
  <PresentationFormat>宽屏</PresentationFormat>
  <Paragraphs>622</Paragraphs>
  <Slides>35</Slides>
  <Notes>23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35</vt:i4>
      </vt:variant>
    </vt:vector>
  </HeadingPairs>
  <TitlesOfParts>
    <vt:vector size="46" baseType="lpstr">
      <vt:lpstr>-apple-system</vt:lpstr>
      <vt:lpstr>黑体</vt:lpstr>
      <vt:lpstr>Microsoft YaHei</vt:lpstr>
      <vt:lpstr>Microsoft YaHei</vt:lpstr>
      <vt:lpstr>Arial</vt:lpstr>
      <vt:lpstr>Calibri</vt:lpstr>
      <vt:lpstr>Cambria Math</vt:lpstr>
      <vt:lpstr>Consolas</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演示文稿01</dc:title>
  <dc:creator>Administrator</dc:creator>
  <cp:lastModifiedBy>yh L</cp:lastModifiedBy>
  <cp:revision>256</cp:revision>
  <dcterms:created xsi:type="dcterms:W3CDTF">2017-02-11T06:33:00Z</dcterms:created>
  <dcterms:modified xsi:type="dcterms:W3CDTF">2026-08-24T13:10:03Z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2052-11.1.0.12132</vt:lpwstr>
  </property>
  <property fmtid="{D5CDD505-2E9C-101B-9397-08002B2CF9AE}" pid="3" name="ICV">
    <vt:lpwstr>0B8C7CAD01FA465C812CEDF306F48FDA</vt:lpwstr>
  </property>
</Properties>
</file>